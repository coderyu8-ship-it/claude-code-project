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9" r:id="rId1"/>
  </p:sldMasterIdLst>
  <p:notesMasterIdLst>
    <p:notesMasterId r:id="rId20"/>
  </p:notesMasterIdLst>
  <p:sldIdLst>
    <p:sldId id="256" r:id="rId2"/>
    <p:sldId id="257" r:id="rId3"/>
    <p:sldId id="260" r:id="rId4"/>
    <p:sldId id="258" r:id="rId5"/>
    <p:sldId id="261" r:id="rId6"/>
    <p:sldId id="259" r:id="rId7"/>
    <p:sldId id="262" r:id="rId8"/>
    <p:sldId id="263" r:id="rId9"/>
    <p:sldId id="264" r:id="rId10"/>
    <p:sldId id="265" r:id="rId11"/>
    <p:sldId id="266" r:id="rId12"/>
    <p:sldId id="275" r:id="rId34"/>
    <p:sldId id="274" r:id="rId33"/>
    <p:sldId id="272" r:id="rId18"/>
    <p:sldId id="273" r:id="rId19"/>
    <p:sldId id="267" r:id="rId13"/>
    <p:sldId id="268" r:id="rId14"/>
    <p:sldId id="269" r:id="rId15"/>
    <p:sldId id="270" r:id="rId16"/>
    <p:sldId id="271" r:id="rId17"/>
  </p:sldIdLst>
  <p:sldSz cx="12192000" cy="6858000"/>
  <p:notesSz cx="6858000" cy="9144000"/>
  <p:embeddedFontLst>
    <p:embeddedFont>
      <p:font typeface="Lato" panose="020F0502020204030203" pitchFamily="34" charset="0"/>
      <p:regular r:id="rId21"/>
      <p:bold r:id="rId22"/>
      <p:italic r:id="rId23"/>
      <p:boldItalic r:id="rId24"/>
    </p:embeddedFont>
    <p:embeddedFont>
      <p:font typeface="Lato Black" panose="020F0A02020204030203" pitchFamily="34" charset="0"/>
      <p:bold r:id="rId25"/>
      <p:boldItalic r:id="rId26"/>
    </p:embeddedFont>
    <p:embeddedFont>
      <p:font typeface="小塚ゴシック Pro B" panose="020B0800000000000000" pitchFamily="34" charset="-128"/>
      <p:bold r:id="rId27"/>
    </p:embeddedFont>
    <p:embeddedFont>
      <p:font typeface="小塚ゴシック Pro M" panose="020B0700000000000000" pitchFamily="34" charset="-128"/>
      <p:regular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A059"/>
    <a:srgbClr val="DAC396"/>
    <a:srgbClr val="FF6600"/>
    <a:srgbClr val="F9F9F9"/>
    <a:srgbClr val="F8F0E5"/>
    <a:srgbClr val="999999"/>
    <a:srgbClr val="2C2C2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755441B-8EC1-4DEB-A316-B9E18D9EBE71}">
  <a:tblStyle styleId="{8755441B-8EC1-4DEB-A316-B9E18D9EBE71}"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66" d="100"/>
          <a:sy n="66" d="100"/>
        </p:scale>
        <p:origin x="1314" y="92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6" Type="http://schemas.openxmlformats.org/officeDocument/2006/relationships/font" Target="fonts/font6.fntdata"/><Relationship Id="rId27" Type="http://schemas.openxmlformats.org/officeDocument/2006/relationships/font" Target="fonts/font7.fntdata"/><Relationship Id="rId28" Type="http://schemas.openxmlformats.org/officeDocument/2006/relationships/font" Target="fonts/font8.fntdata"/><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9.xml"/><Relationship Id="rId34"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6" name="Google Shape;9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 name="Google Shape;136;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7" name="Google Shape;21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2" name="Google Shape;16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5" name="Google Shape;25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7" name="Google Shape;307;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3" name="Google Shape;33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7" name="Google Shape;387;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4" name="Google Shape;464;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b7bf7d6c11_0_2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9" name="Google Shape;499;g3b7bf7d6c11_0_2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b7bf7d6c11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b7bf7d6c11_0_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5"/>
        <p:cNvGrpSpPr/>
        <p:nvPr/>
      </p:nvGrpSpPr>
      <p:grpSpPr>
        <a:xfrm>
          <a:off x="0" y="0"/>
          <a:ext cx="0" cy="0"/>
          <a:chOff x="0" y="0"/>
          <a:chExt cx="0" cy="0"/>
        </a:xfrm>
      </p:grpSpPr>
      <p:sp>
        <p:nvSpPr>
          <p:cNvPr id="566" name="Google Shape;566;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7" name="Google Shape;567;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11" name="Google Shape;611;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jp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18.png"/><Relationship Id="rId6" Type="http://schemas.openxmlformats.org/officeDocument/2006/relationships/image" Target="../media/image2.png"/><Relationship Id="rId7"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0.png"/><Relationship Id="rId7"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3.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28.png"/><Relationship Id="rId6" Type="http://schemas.openxmlformats.org/officeDocument/2006/relationships/image" Target="../media/image24.png"/><Relationship Id="rId7" Type="http://schemas.openxmlformats.org/officeDocument/2006/relationships/image" Target="../media/image3.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png"/><Relationship Id="rId9" Type="http://schemas.openxmlformats.org/officeDocument/2006/relationships/image" Target="../media/image43.png"/><Relationship Id="rId10"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40.png"/><Relationship Id="rId5" Type="http://schemas.openxmlformats.org/officeDocument/2006/relationships/image" Target="../media/image2.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52.png"/><Relationship Id="rId1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2.png"/><Relationship Id="rId9"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33.png"/><Relationship Id="rId6" Type="http://schemas.openxmlformats.org/officeDocument/2006/relationships/image" Target="../media/image32.png"/><Relationship Id="rId7" Type="http://schemas.openxmlformats.org/officeDocument/2006/relationships/image" Target="../media/image36.png"/><Relationship Id="rId8" Type="http://schemas.openxmlformats.org/officeDocument/2006/relationships/image" Target="../media/image2.png"/><Relationship Id="rId9"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83"/>
        <p:cNvGrpSpPr/>
        <p:nvPr/>
      </p:nvGrpSpPr>
      <p:grpSpPr>
        <a:xfrm>
          <a:off x="0" y="0"/>
          <a:ext cx="0" cy="0"/>
          <a:chOff x="0" y="0"/>
          <a:chExt cx="0" cy="0"/>
        </a:xfrm>
      </p:grpSpPr>
      <p:pic>
        <p:nvPicPr>
          <p:cNvPr id="5" name="図 4">
            <a:extLst>
              <a:ext uri="{FF2B5EF4-FFF2-40B4-BE49-F238E27FC236}">
                <a16:creationId xmlns:a16="http://schemas.microsoft.com/office/drawing/2014/main" id="{4435AD6D-BAF7-D031-94BE-A99E05721C4F}"/>
              </a:ext>
            </a:extLst>
          </p:cNvPr>
          <p:cNvPicPr>
            <a:picLocks noChangeAspect="1"/>
          </p:cNvPicPr>
          <p:nvPr/>
        </p:nvPicPr>
        <p:blipFill>
          <a:blip r:embed="rId3"/>
          <a:srcRect l="10564" b="11017"/>
          <a:stretch>
            <a:fillRect/>
          </a:stretch>
        </p:blipFill>
        <p:spPr>
          <a:xfrm>
            <a:off x="-147800" y="0"/>
            <a:ext cx="12339800" cy="6858000"/>
          </a:xfrm>
          <a:prstGeom prst="rect">
            <a:avLst/>
          </a:prstGeom>
        </p:spPr>
      </p:pic>
      <p:sp>
        <p:nvSpPr>
          <p:cNvPr id="86" name="Google Shape;86;p13"/>
          <p:cNvSpPr/>
          <p:nvPr/>
        </p:nvSpPr>
        <p:spPr>
          <a:xfrm rot="10800000" flipH="1">
            <a:off x="5162203" y="-125"/>
            <a:ext cx="1028700" cy="6860700"/>
          </a:xfrm>
          <a:prstGeom prst="rtTriangl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87" name="Google Shape;87;p13"/>
          <p:cNvSpPr/>
          <p:nvPr/>
        </p:nvSpPr>
        <p:spPr>
          <a:xfrm>
            <a:off x="-147800" y="0"/>
            <a:ext cx="5322900" cy="6860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88" name="Google Shape;88;p13"/>
          <p:cNvSpPr txBox="1"/>
          <p:nvPr/>
        </p:nvSpPr>
        <p:spPr>
          <a:xfrm>
            <a:off x="952500" y="1656450"/>
            <a:ext cx="24735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U-</a:t>
            </a:r>
            <a:r>
              <a:rPr lang="en-US" sz="1200" b="1"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ライティング</a:t>
            </a:r>
            <a:r>
              <a:rPr lang="en-US" sz="1200" b="1"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 </a:t>
            </a:r>
            <a:r>
              <a:rPr lang="en-US" sz="1200" b="1"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サービス紹介資料</a:t>
            </a:r>
            <a:endParaRPr b="1" dirty="0">
              <a:solidFill>
                <a:srgbClr val="666666"/>
              </a:solidFill>
              <a:latin typeface="小塚ゴシック Pro B" panose="020B0800000000000000" pitchFamily="34" charset="-128"/>
              <a:ea typeface="小塚ゴシック Pro B" panose="020B0800000000000000" pitchFamily="34" charset="-128"/>
            </a:endParaRPr>
          </a:p>
        </p:txBody>
      </p:sp>
      <p:sp>
        <p:nvSpPr>
          <p:cNvPr id="89" name="Google Shape;89;p13"/>
          <p:cNvSpPr/>
          <p:nvPr/>
        </p:nvSpPr>
        <p:spPr>
          <a:xfrm>
            <a:off x="952500" y="2090737"/>
            <a:ext cx="762000" cy="38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90" name="Google Shape;90;p13"/>
          <p:cNvSpPr txBox="1"/>
          <p:nvPr/>
        </p:nvSpPr>
        <p:spPr>
          <a:xfrm>
            <a:off x="952500" y="2414575"/>
            <a:ext cx="4514700" cy="443198"/>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広告制作・添削で縁をつなぐ</a:t>
            </a:r>
            <a:endParaRPr b="1" dirty="0">
              <a:solidFill>
                <a:srgbClr val="666666"/>
              </a:solidFill>
              <a:latin typeface="小塚ゴシック Pro B" panose="020B0800000000000000" pitchFamily="34" charset="-128"/>
              <a:ea typeface="小塚ゴシック Pro B" panose="020B0800000000000000" pitchFamily="34" charset="-128"/>
            </a:endParaRPr>
          </a:p>
        </p:txBody>
      </p:sp>
      <p:sp>
        <p:nvSpPr>
          <p:cNvPr id="91" name="Google Shape;91;p13"/>
          <p:cNvSpPr txBox="1"/>
          <p:nvPr/>
        </p:nvSpPr>
        <p:spPr>
          <a:xfrm>
            <a:off x="901014" y="2875501"/>
            <a:ext cx="4514700" cy="1772793"/>
          </a:xfrm>
          <a:prstGeom prst="rect">
            <a:avLst/>
          </a:prstGeom>
          <a:noFill/>
          <a:ln>
            <a:noFill/>
          </a:ln>
        </p:spPr>
        <p:txBody>
          <a:bodyPr spcFirstLastPara="1" wrap="square" lIns="0" tIns="0" rIns="0" bIns="0" anchor="t" anchorCtr="0">
            <a:spAutoFit/>
          </a:bodyPr>
          <a:lstStyle/>
          <a:p>
            <a:pPr marL="0" marR="0" lvl="0" indent="0" algn="l" rtl="0">
              <a:lnSpc>
                <a:spcPct val="119979"/>
              </a:lnSpc>
              <a:spcBef>
                <a:spcPts val="0"/>
              </a:spcBef>
              <a:spcAft>
                <a:spcPts val="0"/>
              </a:spcAft>
              <a:buNone/>
            </a:pPr>
            <a:r>
              <a:rPr lang="en-US" sz="4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U-</a:t>
            </a:r>
            <a:r>
              <a:rPr lang="en-US" sz="4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ライティング</a:t>
            </a:r>
            <a:b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Calibri"/>
                <a:sym typeface="Calibri"/>
              </a:rPr>
            </a:br>
            <a:r>
              <a:rPr lang="en-US" sz="4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サービス紹介</a:t>
            </a:r>
            <a:endParaRPr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92" name="Google Shape;92;p13"/>
          <p:cNvSpPr txBox="1"/>
          <p:nvPr/>
        </p:nvSpPr>
        <p:spPr>
          <a:xfrm>
            <a:off x="952500" y="4814744"/>
            <a:ext cx="24735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代表：上原 龍之介</a:t>
            </a:r>
            <a:endParaRPr b="1">
              <a:latin typeface="小塚ゴシック Pro B" panose="020B0800000000000000" pitchFamily="34" charset="-128"/>
              <a:ea typeface="小塚ゴシック Pro B" panose="020B0800000000000000" pitchFamily="34" charset="-128"/>
            </a:endParaRPr>
          </a:p>
        </p:txBody>
      </p:sp>
      <p:sp>
        <p:nvSpPr>
          <p:cNvPr id="6" name="スライド番号プレースホルダー 14">
            <a:extLst>
              <a:ext uri="{FF2B5EF4-FFF2-40B4-BE49-F238E27FC236}">
                <a16:creationId xmlns:a16="http://schemas.microsoft.com/office/drawing/2014/main" id="{E1B1AD87-E04D-FD71-76DB-D5D30437E1C8}"/>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7"/>
        <p:cNvGrpSpPr/>
        <p:nvPr/>
      </p:nvGrpSpPr>
      <p:grpSpPr>
        <a:xfrm>
          <a:off x="0" y="0"/>
          <a:ext cx="0" cy="0"/>
          <a:chOff x="0" y="0"/>
          <a:chExt cx="0" cy="0"/>
        </a:xfrm>
      </p:grpSpPr>
      <p:sp>
        <p:nvSpPr>
          <p:cNvPr id="98" name="Google Shape;98;p14"/>
          <p:cNvSpPr/>
          <p:nvPr/>
        </p:nvSpPr>
        <p:spPr>
          <a:xfrm>
            <a:off x="-147800" y="142950"/>
            <a:ext cx="6351600" cy="6787500"/>
          </a:xfrm>
          <a:prstGeom prst="rect">
            <a:avLst/>
          </a:prstGeom>
          <a:solidFill>
            <a:srgbClr val="F5F5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99" name="Google Shape;99;p14" descr="image.png"/>
          <p:cNvPicPr preferRelativeResize="0"/>
          <p:nvPr/>
        </p:nvPicPr>
        <p:blipFill rotWithShape="1">
          <a:blip r:embed="rId3">
            <a:alphaModFix/>
          </a:blip>
          <a:srcRect/>
          <a:stretch/>
        </p:blipFill>
        <p:spPr>
          <a:xfrm>
            <a:off x="762000" y="6429375"/>
            <a:ext cx="2617101" cy="238125"/>
          </a:xfrm>
          <a:prstGeom prst="rect">
            <a:avLst/>
          </a:prstGeom>
          <a:noFill/>
          <a:ln>
            <a:noFill/>
          </a:ln>
        </p:spPr>
      </p:pic>
      <p:sp>
        <p:nvSpPr>
          <p:cNvPr id="100" name="Google Shape;100;p14"/>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小塚ゴシック Pro B" panose="020B0800000000000000" pitchFamily="34" charset="-128"/>
                <a:cs typeface="Lato"/>
                <a:sym typeface="Lato"/>
              </a:rPr>
              <a:t>© U-Writing All Rights Reserved.</a:t>
            </a:r>
            <a:endParaRPr/>
          </a:p>
        </p:txBody>
      </p:sp>
      <p:sp>
        <p:nvSpPr>
          <p:cNvPr id="102" name="Google Shape;102;p14"/>
          <p:cNvSpPr txBox="1"/>
          <p:nvPr/>
        </p:nvSpPr>
        <p:spPr>
          <a:xfrm>
            <a:off x="1093589" y="3028950"/>
            <a:ext cx="4000000"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4500" i="0" u="none" strike="noStrike" cap="none" dirty="0">
                <a:solidFill>
                  <a:srgbClr val="DDDDDD"/>
                </a:solidFill>
                <a:latin typeface="Lato Black"/>
                <a:ea typeface="小塚ゴシック Pro B" panose="020B0800000000000000" pitchFamily="34" charset="-128"/>
                <a:cs typeface="Lato Black"/>
                <a:sym typeface="Lato Black"/>
              </a:rPr>
              <a:t>AGENDA</a:t>
            </a:r>
            <a:endParaRPr dirty="0"/>
          </a:p>
        </p:txBody>
      </p:sp>
      <p:sp>
        <p:nvSpPr>
          <p:cNvPr id="103" name="Google Shape;103;p14"/>
          <p:cNvSpPr txBox="1"/>
          <p:nvPr/>
        </p:nvSpPr>
        <p:spPr>
          <a:xfrm>
            <a:off x="6912050" y="1238250"/>
            <a:ext cx="4518000" cy="231000"/>
          </a:xfrm>
          <a:prstGeom prst="rect">
            <a:avLst/>
          </a:prstGeom>
          <a:noFill/>
          <a:ln>
            <a:noFill/>
          </a:ln>
        </p:spPr>
        <p:txBody>
          <a:bodyPr spcFirstLastPara="1" wrap="square" lIns="0" tIns="0" rIns="0" bIns="0" anchor="t" anchorCtr="0">
            <a:spAutoFit/>
          </a:bodyPr>
          <a:lstStyle/>
          <a:p>
            <a:pPr lvl="0"/>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01</a:t>
            </a:r>
            <a:r>
              <a:rPr lang="en-US" sz="15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t>
            </a:r>
            <a:r>
              <a:rPr lang="en-US" altLang="ja-JP" sz="15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○○様のお仕事について</a:t>
            </a:r>
            <a:endParaRPr dirty="0">
              <a:latin typeface="小塚ゴシック Pro B" panose="020B0800000000000000" pitchFamily="34" charset="-128"/>
              <a:ea typeface="小塚ゴシック Pro B" panose="020B0800000000000000" pitchFamily="34" charset="-128"/>
            </a:endParaRPr>
          </a:p>
        </p:txBody>
      </p:sp>
      <p:sp>
        <p:nvSpPr>
          <p:cNvPr id="104" name="Google Shape;104;p14"/>
          <p:cNvSpPr/>
          <p:nvPr/>
        </p:nvSpPr>
        <p:spPr>
          <a:xfrm>
            <a:off x="6912050" y="15906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05" name="Google Shape;105;p14"/>
          <p:cNvSpPr txBox="1"/>
          <p:nvPr/>
        </p:nvSpPr>
        <p:spPr>
          <a:xfrm>
            <a:off x="6912050" y="1695450"/>
            <a:ext cx="4518000" cy="230832"/>
          </a:xfrm>
          <a:prstGeom prst="rect">
            <a:avLst/>
          </a:prstGeom>
          <a:noFill/>
          <a:ln>
            <a:noFill/>
          </a:ln>
        </p:spPr>
        <p:txBody>
          <a:bodyPr spcFirstLastPara="1" wrap="square" lIns="0" tIns="0" rIns="0" bIns="0" anchor="t" anchorCtr="0">
            <a:spAutoFit/>
          </a:bodyPr>
          <a:lstStyle/>
          <a:p>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02 </a:t>
            </a:r>
            <a:r>
              <a:rPr lang="ja-JP" altLang="en-US" sz="15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私の仕事と想い</a:t>
            </a:r>
            <a:endParaRPr lang="ja-JP" altLang="en-US" sz="1600" dirty="0">
              <a:latin typeface="小塚ゴシック Pro B" panose="020B0800000000000000" pitchFamily="34" charset="-128"/>
              <a:ea typeface="小塚ゴシック Pro B" panose="020B0800000000000000" pitchFamily="34" charset="-128"/>
            </a:endParaRPr>
          </a:p>
        </p:txBody>
      </p:sp>
      <p:sp>
        <p:nvSpPr>
          <p:cNvPr id="106" name="Google Shape;106;p14"/>
          <p:cNvSpPr/>
          <p:nvPr/>
        </p:nvSpPr>
        <p:spPr>
          <a:xfrm>
            <a:off x="6912050" y="20478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07" name="Google Shape;107;p14"/>
          <p:cNvSpPr txBox="1"/>
          <p:nvPr/>
        </p:nvSpPr>
        <p:spPr>
          <a:xfrm>
            <a:off x="6912050" y="2152650"/>
            <a:ext cx="4518000" cy="230832"/>
          </a:xfrm>
          <a:prstGeom prst="rect">
            <a:avLst/>
          </a:prstGeom>
          <a:noFill/>
          <a:ln>
            <a:noFill/>
          </a:ln>
        </p:spPr>
        <p:txBody>
          <a:bodyPr spcFirstLastPara="1" wrap="square" lIns="0" tIns="0" rIns="0" bIns="0" anchor="t" anchorCtr="0">
            <a:spAutoFit/>
          </a:bodyPr>
          <a:lstStyle/>
          <a:p>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03 </a:t>
            </a:r>
            <a:r>
              <a:rPr lang="ja-JP" altLang="en-US" sz="15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お役に立てること・事例</a:t>
            </a:r>
            <a:endParaRPr lang="ja-JP" altLang="en-US" sz="1600" dirty="0">
              <a:latin typeface="小塚ゴシック Pro B" panose="020B0800000000000000" pitchFamily="34" charset="-128"/>
              <a:ea typeface="小塚ゴシック Pro B" panose="020B0800000000000000" pitchFamily="34" charset="-128"/>
            </a:endParaRPr>
          </a:p>
        </p:txBody>
      </p:sp>
      <p:sp>
        <p:nvSpPr>
          <p:cNvPr id="108" name="Google Shape;108;p14"/>
          <p:cNvSpPr/>
          <p:nvPr/>
        </p:nvSpPr>
        <p:spPr>
          <a:xfrm>
            <a:off x="6912050" y="25050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09" name="Google Shape;109;p14"/>
          <p:cNvSpPr txBox="1"/>
          <p:nvPr/>
        </p:nvSpPr>
        <p:spPr>
          <a:xfrm>
            <a:off x="6912050" y="2609850"/>
            <a:ext cx="4518000" cy="230832"/>
          </a:xfrm>
          <a:prstGeom prst="rect">
            <a:avLst/>
          </a:prstGeom>
          <a:noFill/>
          <a:ln>
            <a:noFill/>
          </a:ln>
        </p:spPr>
        <p:txBody>
          <a:bodyPr spcFirstLastPara="1" wrap="square" lIns="0" tIns="0" rIns="0" bIns="0" anchor="t" anchorCtr="0">
            <a:spAutoFit/>
          </a:bodyPr>
          <a:lstStyle/>
          <a:p>
            <a:r>
              <a:rPr lang="en-US" sz="1500" b="0"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04</a:t>
            </a:r>
            <a:r>
              <a:rPr lang="ja-JP" altLang="en-US" sz="1500"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 </a:t>
            </a:r>
            <a:r>
              <a:rPr lang="en-US" altLang="ja-JP"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次の一歩</a:t>
            </a:r>
            <a:endParaRPr lang="en-US" altLang="ja-JP"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10" name="Google Shape;110;p14"/>
          <p:cNvSpPr/>
          <p:nvPr/>
        </p:nvSpPr>
        <p:spPr>
          <a:xfrm>
            <a:off x="6912050" y="29622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1" name="Google Shape;121;p14"/>
          <p:cNvSpPr/>
          <p:nvPr/>
        </p:nvSpPr>
        <p:spPr>
          <a:xfrm>
            <a:off x="6912050" y="15906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2" name="Google Shape;122;p14"/>
          <p:cNvSpPr/>
          <p:nvPr/>
        </p:nvSpPr>
        <p:spPr>
          <a:xfrm>
            <a:off x="6912050" y="20478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3" name="Google Shape;123;p14"/>
          <p:cNvSpPr/>
          <p:nvPr/>
        </p:nvSpPr>
        <p:spPr>
          <a:xfrm>
            <a:off x="6912050" y="25050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24" name="Google Shape;124;p14"/>
          <p:cNvSpPr/>
          <p:nvPr/>
        </p:nvSpPr>
        <p:spPr>
          <a:xfrm>
            <a:off x="6912050" y="2962275"/>
            <a:ext cx="4518000" cy="9600"/>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30" name="Google Shape;130;p14"/>
          <p:cNvSpPr/>
          <p:nvPr/>
        </p:nvSpPr>
        <p:spPr>
          <a:xfrm flipH="1">
            <a:off x="5175075" y="0"/>
            <a:ext cx="1028700" cy="6884100"/>
          </a:xfrm>
          <a:prstGeom prst="rtTriangle">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31" name="Google Shape;131;p14" descr="image.png"/>
          <p:cNvPicPr preferRelativeResize="0"/>
          <p:nvPr/>
        </p:nvPicPr>
        <p:blipFill rotWithShape="1">
          <a:blip r:embed="rId3">
            <a:alphaModFix/>
          </a:blip>
          <a:srcRect/>
          <a:stretch/>
        </p:blipFill>
        <p:spPr>
          <a:xfrm>
            <a:off x="762000" y="6429375"/>
            <a:ext cx="10668000" cy="238125"/>
          </a:xfrm>
          <a:prstGeom prst="rect">
            <a:avLst/>
          </a:prstGeom>
          <a:noFill/>
          <a:ln>
            <a:noFill/>
          </a:ln>
        </p:spPr>
      </p:pic>
      <p:pic>
        <p:nvPicPr>
          <p:cNvPr id="132" name="Google Shape;132;p14"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3" name="スライド番号プレースホルダー 14">
            <a:extLst>
              <a:ext uri="{FF2B5EF4-FFF2-40B4-BE49-F238E27FC236}">
                <a16:creationId xmlns:a16="http://schemas.microsoft.com/office/drawing/2014/main" id="{2ABAD66C-A2BF-C3E3-2661-4F285A730611}"/>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2</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4"/>
        <p:cNvGrpSpPr/>
        <p:nvPr/>
      </p:nvGrpSpPr>
      <p:grpSpPr>
        <a:xfrm>
          <a:off x="0" y="0"/>
          <a:ext cx="0" cy="0"/>
          <a:chOff x="0" y="0"/>
          <a:chExt cx="0" cy="0"/>
        </a:xfrm>
      </p:grpSpPr>
      <p:pic>
        <p:nvPicPr>
          <p:cNvPr id="185" name="Google Shape;185;p17" title="プロフィール写真_顔リサイズ版.jpg"/>
          <p:cNvPicPr preferRelativeResize="0"/>
          <p:nvPr/>
        </p:nvPicPr>
        <p:blipFill>
          <a:blip r:embed="rId3">
            <a:alphaModFix/>
          </a:blip>
          <a:stretch>
            <a:fillRect/>
          </a:stretch>
        </p:blipFill>
        <p:spPr>
          <a:xfrm>
            <a:off x="762000" y="1699625"/>
            <a:ext cx="4523849" cy="4523849"/>
          </a:xfrm>
          <a:prstGeom prst="rect">
            <a:avLst/>
          </a:prstGeom>
          <a:noFill/>
          <a:ln>
            <a:noFill/>
          </a:ln>
          <a:effectLst>
            <a:outerShdw blurRad="50800" dist="38100" dir="2700000" algn="tl" rotWithShape="0">
              <a:prstClr val="black">
                <a:alpha val="40000"/>
              </a:prstClr>
            </a:outerShdw>
          </a:effectLst>
        </p:spPr>
      </p:pic>
      <p:sp>
        <p:nvSpPr>
          <p:cNvPr id="186" name="Google Shape;186;p17"/>
          <p:cNvSpPr/>
          <p:nvPr/>
        </p:nvSpPr>
        <p:spPr>
          <a:xfrm>
            <a:off x="373100" y="5070714"/>
            <a:ext cx="2814600" cy="846300"/>
          </a:xfrm>
          <a:prstGeom prst="trapezoid">
            <a:avLst>
              <a:gd name="adj" fmla="val 25000"/>
            </a:avLst>
          </a:prstGeom>
          <a:solidFill>
            <a:srgbClr val="FFFDF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87" name="Google Shape;187;p17"/>
          <p:cNvSpPr/>
          <p:nvPr/>
        </p:nvSpPr>
        <p:spPr>
          <a:xfrm rot="-5400000">
            <a:off x="4489950" y="3652834"/>
            <a:ext cx="2278800" cy="36600"/>
          </a:xfrm>
          <a:prstGeom prst="rect">
            <a:avLst/>
          </a:prstGeom>
          <a:solidFill>
            <a:srgbClr val="E0BE7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pic>
        <p:nvPicPr>
          <p:cNvPr id="188" name="Google Shape;188;p17"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189" name="Google Shape;189;p17" descr="image.png"/>
          <p:cNvPicPr preferRelativeResize="0"/>
          <p:nvPr/>
        </p:nvPicPr>
        <p:blipFill rotWithShape="1">
          <a:blip r:embed="rId5">
            <a:alphaModFix/>
          </a:blip>
          <a:srcRect/>
          <a:stretch/>
        </p:blipFill>
        <p:spPr>
          <a:xfrm>
            <a:off x="5372100" y="5150287"/>
            <a:ext cx="6057900" cy="1073200"/>
          </a:xfrm>
          <a:prstGeom prst="rect">
            <a:avLst/>
          </a:prstGeom>
          <a:noFill/>
          <a:ln>
            <a:noFill/>
          </a:ln>
        </p:spPr>
      </p:pic>
      <p:pic>
        <p:nvPicPr>
          <p:cNvPr id="190" name="Google Shape;190;p17" descr="image.png"/>
          <p:cNvPicPr preferRelativeResize="0"/>
          <p:nvPr/>
        </p:nvPicPr>
        <p:blipFill rotWithShape="1">
          <a:blip r:embed="rId6">
            <a:alphaModFix/>
          </a:blip>
          <a:srcRect/>
          <a:stretch/>
        </p:blipFill>
        <p:spPr>
          <a:xfrm>
            <a:off x="0" y="0"/>
            <a:ext cx="12192000" cy="142875"/>
          </a:xfrm>
          <a:prstGeom prst="rect">
            <a:avLst/>
          </a:prstGeom>
          <a:noFill/>
          <a:ln>
            <a:noFill/>
          </a:ln>
        </p:spPr>
      </p:pic>
      <p:sp>
        <p:nvSpPr>
          <p:cNvPr id="191" name="Google Shape;191;p17"/>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BRIEF BIOGRAPHY</a:t>
            </a:r>
            <a:endParaRPr>
              <a:latin typeface="小塚ゴシック Pro B" panose="020B0800000000000000" pitchFamily="34" charset="-128"/>
              <a:ea typeface="小塚ゴシック Pro B" panose="020B0800000000000000" pitchFamily="34" charset="-128"/>
            </a:endParaRPr>
          </a:p>
        </p:txBody>
      </p:sp>
      <p:sp>
        <p:nvSpPr>
          <p:cNvPr id="192" name="Google Shape;192;p17"/>
          <p:cNvSpPr txBox="1"/>
          <p:nvPr/>
        </p:nvSpPr>
        <p:spPr>
          <a:xfrm>
            <a:off x="762000" y="880025"/>
            <a:ext cx="40386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代表プロフィール</a:t>
            </a:r>
            <a:endParaRPr>
              <a:latin typeface="小塚ゴシック Pro B" panose="020B0800000000000000" pitchFamily="34" charset="-128"/>
              <a:ea typeface="小塚ゴシック Pro B" panose="020B0800000000000000" pitchFamily="34" charset="-128"/>
            </a:endParaRPr>
          </a:p>
        </p:txBody>
      </p:sp>
      <p:sp>
        <p:nvSpPr>
          <p:cNvPr id="193" name="Google Shape;193;p17"/>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95" name="Google Shape;195;p17"/>
          <p:cNvSpPr txBox="1"/>
          <p:nvPr/>
        </p:nvSpPr>
        <p:spPr>
          <a:xfrm>
            <a:off x="5600700" y="5340791"/>
            <a:ext cx="56388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仕事の理念：マーケティング迷子を減らす</a:t>
            </a:r>
            <a:endParaRPr>
              <a:latin typeface="小塚ゴシック Pro B" panose="020B0800000000000000" pitchFamily="34" charset="-128"/>
              <a:ea typeface="小塚ゴシック Pro B" panose="020B0800000000000000" pitchFamily="34" charset="-128"/>
            </a:endParaRPr>
          </a:p>
        </p:txBody>
      </p:sp>
      <p:sp>
        <p:nvSpPr>
          <p:cNvPr id="196" name="Google Shape;196;p17"/>
          <p:cNvSpPr txBox="1"/>
          <p:nvPr/>
        </p:nvSpPr>
        <p:spPr>
          <a:xfrm>
            <a:off x="5600700" y="5632196"/>
            <a:ext cx="56388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本当に必要なものだけを提案し、誇大広告は絶対にしません。</a:t>
            </a:r>
            <a:endParaRPr sz="105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59904"/>
              </a:lnSpc>
              <a:spcBef>
                <a:spcPts val="0"/>
              </a:spcBef>
              <a:spcAft>
                <a:spcPts val="0"/>
              </a:spcAft>
              <a:buNone/>
            </a:pPr>
            <a:r>
              <a:rPr lang="en-US" sz="1050"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消費者とクライアントが笑顔でつながる機会を増やすことが私の信念です。</a:t>
            </a:r>
            <a:endParaRPr dirty="0">
              <a:latin typeface="小塚ゴシック Pro M" panose="020B0700000000000000" pitchFamily="34" charset="-128"/>
              <a:ea typeface="小塚ゴシック Pro M" panose="020B0700000000000000" pitchFamily="34" charset="-128"/>
            </a:endParaRPr>
          </a:p>
        </p:txBody>
      </p:sp>
      <p:sp>
        <p:nvSpPr>
          <p:cNvPr id="197" name="Google Shape;197;p17"/>
          <p:cNvSpPr/>
          <p:nvPr/>
        </p:nvSpPr>
        <p:spPr>
          <a:xfrm>
            <a:off x="5581650" y="2477368"/>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98" name="Google Shape;198;p17"/>
          <p:cNvSpPr txBox="1"/>
          <p:nvPr/>
        </p:nvSpPr>
        <p:spPr>
          <a:xfrm>
            <a:off x="5875050" y="2264984"/>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ゲーム</a:t>
            </a: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制作</a:t>
            </a: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の</a:t>
            </a: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専門学校 卒業</a:t>
            </a:r>
            <a:endParaRPr>
              <a:latin typeface="小塚ゴシック Pro B" panose="020B0800000000000000" pitchFamily="34" charset="-128"/>
              <a:ea typeface="小塚ゴシック Pro B" panose="020B0800000000000000" pitchFamily="34" charset="-128"/>
            </a:endParaRPr>
          </a:p>
        </p:txBody>
      </p:sp>
      <p:sp>
        <p:nvSpPr>
          <p:cNvPr id="199" name="Google Shape;199;p17"/>
          <p:cNvSpPr txBox="1"/>
          <p:nvPr/>
        </p:nvSpPr>
        <p:spPr>
          <a:xfrm>
            <a:off x="5875050" y="2440184"/>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ゲームアプリのメールサポート業務（2年）に従事</a:t>
            </a:r>
            <a:endParaRPr dirty="0">
              <a:latin typeface="小塚ゴシック Pro M" panose="020B0700000000000000" pitchFamily="34" charset="-128"/>
              <a:ea typeface="小塚ゴシック Pro M" panose="020B0700000000000000" pitchFamily="34" charset="-128"/>
            </a:endParaRPr>
          </a:p>
        </p:txBody>
      </p:sp>
      <p:sp>
        <p:nvSpPr>
          <p:cNvPr id="200" name="Google Shape;200;p17"/>
          <p:cNvSpPr/>
          <p:nvPr/>
        </p:nvSpPr>
        <p:spPr>
          <a:xfrm>
            <a:off x="5581650" y="3235498"/>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01" name="Google Shape;201;p17"/>
          <p:cNvSpPr txBox="1"/>
          <p:nvPr/>
        </p:nvSpPr>
        <p:spPr>
          <a:xfrm>
            <a:off x="5875050" y="3023117"/>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建築業界</a:t>
            </a: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に転職</a:t>
            </a:r>
            <a:endParaRPr>
              <a:latin typeface="小塚ゴシック Pro B" panose="020B0800000000000000" pitchFamily="34" charset="-128"/>
              <a:ea typeface="小塚ゴシック Pro B" panose="020B0800000000000000" pitchFamily="34" charset="-128"/>
            </a:endParaRPr>
          </a:p>
        </p:txBody>
      </p:sp>
      <p:sp>
        <p:nvSpPr>
          <p:cNvPr id="202" name="Google Shape;202;p17"/>
          <p:cNvSpPr txBox="1"/>
          <p:nvPr/>
        </p:nvSpPr>
        <p:spPr>
          <a:xfrm>
            <a:off x="5875050" y="3198317"/>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建築積算の業務（3.5年）を経験</a:t>
            </a:r>
            <a:endParaRPr>
              <a:latin typeface="小塚ゴシック Pro M" panose="020B0700000000000000" pitchFamily="34" charset="-128"/>
              <a:ea typeface="小塚ゴシック Pro M" panose="020B0700000000000000" pitchFamily="34" charset="-128"/>
            </a:endParaRPr>
          </a:p>
        </p:txBody>
      </p:sp>
      <p:sp>
        <p:nvSpPr>
          <p:cNvPr id="203" name="Google Shape;203;p17"/>
          <p:cNvSpPr/>
          <p:nvPr/>
        </p:nvSpPr>
        <p:spPr>
          <a:xfrm>
            <a:off x="5581650" y="3993629"/>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04" name="Google Shape;204;p17"/>
          <p:cNvSpPr txBox="1"/>
          <p:nvPr/>
        </p:nvSpPr>
        <p:spPr>
          <a:xfrm>
            <a:off x="5875050" y="3781249"/>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フリーランスライターとして独立</a:t>
            </a:r>
            <a:endParaRPr>
              <a:latin typeface="小塚ゴシック Pro B" panose="020B0800000000000000" pitchFamily="34" charset="-128"/>
              <a:ea typeface="小塚ゴシック Pro B" panose="020B0800000000000000" pitchFamily="34" charset="-128"/>
            </a:endParaRPr>
          </a:p>
        </p:txBody>
      </p:sp>
      <p:sp>
        <p:nvSpPr>
          <p:cNvPr id="205" name="Google Shape;205;p17"/>
          <p:cNvSpPr txBox="1"/>
          <p:nvPr/>
        </p:nvSpPr>
        <p:spPr>
          <a:xfrm>
            <a:off x="5875050" y="3956449"/>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ライター歴5年</a:t>
            </a: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以上</a:t>
            </a:r>
            <a:r>
              <a:rPr lang="en-US" sz="120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。集客につながる文章・コンテンツ制作</a:t>
            </a: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を中心に対応</a:t>
            </a:r>
            <a:endParaRPr>
              <a:latin typeface="小塚ゴシック Pro M" panose="020B0700000000000000" pitchFamily="34" charset="-128"/>
              <a:ea typeface="小塚ゴシック Pro M" panose="020B0700000000000000" pitchFamily="34" charset="-128"/>
            </a:endParaRPr>
          </a:p>
        </p:txBody>
      </p:sp>
      <p:sp>
        <p:nvSpPr>
          <p:cNvPr id="206" name="Google Shape;206;p17"/>
          <p:cNvSpPr/>
          <p:nvPr/>
        </p:nvSpPr>
        <p:spPr>
          <a:xfrm>
            <a:off x="5581650" y="4751759"/>
            <a:ext cx="95400" cy="95400"/>
          </a:xfrm>
          <a:prstGeom prst="roundRect">
            <a:avLst>
              <a:gd name="adj" fmla="val 50000"/>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07" name="Google Shape;207;p17"/>
          <p:cNvSpPr txBox="1"/>
          <p:nvPr/>
        </p:nvSpPr>
        <p:spPr>
          <a:xfrm>
            <a:off x="5875050" y="4539383"/>
            <a:ext cx="5355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ライター兼集客プランナー（</a:t>
            </a:r>
            <a:r>
              <a:rPr lang="en-US" sz="1350" b="1" i="0" u="none" strike="noStrike" cap="none">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現在</a:t>
            </a:r>
            <a:r>
              <a:rPr lang="en-US" sz="1350" b="1">
                <a:solidFill>
                  <a:srgbClr val="444444"/>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08" name="Google Shape;208;p17"/>
          <p:cNvSpPr txBox="1"/>
          <p:nvPr/>
        </p:nvSpPr>
        <p:spPr>
          <a:xfrm>
            <a:off x="5875050" y="4714582"/>
            <a:ext cx="53550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公式LINE・Meta広告運用など、個人・</a:t>
            </a:r>
            <a:r>
              <a:rPr lang="en-US" sz="120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企業のマーケティング支援を行う</a:t>
            </a:r>
            <a:endParaRPr>
              <a:latin typeface="小塚ゴシック Pro M" panose="020B0700000000000000" pitchFamily="34" charset="-128"/>
              <a:ea typeface="小塚ゴシック Pro M" panose="020B0700000000000000" pitchFamily="34" charset="-128"/>
            </a:endParaRPr>
          </a:p>
        </p:txBody>
      </p:sp>
      <p:sp>
        <p:nvSpPr>
          <p:cNvPr id="209" name="Google Shape;209;p17"/>
          <p:cNvSpPr txBox="1"/>
          <p:nvPr/>
        </p:nvSpPr>
        <p:spPr>
          <a:xfrm>
            <a:off x="879475" y="5127789"/>
            <a:ext cx="21510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集客プランナー / ライター</a:t>
            </a:r>
            <a:endParaRPr>
              <a:latin typeface="小塚ゴシック Pro B" panose="020B0800000000000000" pitchFamily="34" charset="-128"/>
              <a:ea typeface="小塚ゴシック Pro B" panose="020B0800000000000000" pitchFamily="34" charset="-128"/>
            </a:endParaRPr>
          </a:p>
        </p:txBody>
      </p:sp>
      <p:sp>
        <p:nvSpPr>
          <p:cNvPr id="210" name="Google Shape;210;p17"/>
          <p:cNvSpPr txBox="1"/>
          <p:nvPr/>
        </p:nvSpPr>
        <p:spPr>
          <a:xfrm>
            <a:off x="879475" y="5246519"/>
            <a:ext cx="2258400" cy="678647"/>
          </a:xfrm>
          <a:prstGeom prst="rect">
            <a:avLst/>
          </a:prstGeom>
          <a:noFill/>
          <a:ln>
            <a:noFill/>
          </a:ln>
        </p:spPr>
        <p:txBody>
          <a:bodyPr spcFirstLastPara="1" wrap="square" lIns="0" tIns="0" rIns="0" bIns="0" anchor="t" anchorCtr="0">
            <a:spAutoFit/>
          </a:bodyPr>
          <a:lstStyle/>
          <a:p>
            <a:pPr marL="0" marR="0" lvl="0" indent="0" algn="l" rtl="0">
              <a:lnSpc>
                <a:spcPct val="139968"/>
              </a:lnSpc>
              <a:spcBef>
                <a:spcPts val="0"/>
              </a:spcBef>
              <a:spcAft>
                <a:spcPts val="0"/>
              </a:spcAft>
              <a:buNone/>
            </a:pPr>
            <a:r>
              <a:rPr lang="en-US" sz="3150" b="0"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上原 龍之介</a:t>
            </a:r>
            <a:endParaRPr>
              <a:latin typeface="小塚ゴシック Pro B" panose="020B0800000000000000" pitchFamily="34" charset="-128"/>
              <a:ea typeface="小塚ゴシック Pro B" panose="020B0800000000000000" pitchFamily="34" charset="-128"/>
            </a:endParaRPr>
          </a:p>
        </p:txBody>
      </p:sp>
      <p:sp>
        <p:nvSpPr>
          <p:cNvPr id="211" name="Google Shape;211;p17"/>
          <p:cNvSpPr/>
          <p:nvPr/>
        </p:nvSpPr>
        <p:spPr>
          <a:xfrm>
            <a:off x="373100" y="5878914"/>
            <a:ext cx="2814600" cy="38100"/>
          </a:xfrm>
          <a:prstGeom prst="trapezoid">
            <a:avLst>
              <a:gd name="adj" fmla="val 25000"/>
            </a:avLst>
          </a:prstGeom>
          <a:solidFill>
            <a:srgbClr val="C5A05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12" name="Google Shape;212;p17"/>
          <p:cNvSpPr/>
          <p:nvPr/>
        </p:nvSpPr>
        <p:spPr>
          <a:xfrm>
            <a:off x="190500" y="4953000"/>
            <a:ext cx="571500" cy="1270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13" name="Google Shape;213;p17"/>
          <p:cNvSpPr txBox="1"/>
          <p:nvPr/>
        </p:nvSpPr>
        <p:spPr>
          <a:xfrm>
            <a:off x="5581650" y="1544817"/>
            <a:ext cx="8610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略歴</a:t>
            </a:r>
            <a:endParaRPr>
              <a:latin typeface="小塚ゴシック Pro B" panose="020B0800000000000000" pitchFamily="34" charset="-128"/>
              <a:ea typeface="小塚ゴシック Pro B" panose="020B0800000000000000" pitchFamily="34" charset="-128"/>
            </a:endParaRPr>
          </a:p>
        </p:txBody>
      </p:sp>
      <p:sp>
        <p:nvSpPr>
          <p:cNvPr id="214" name="Google Shape;214;p17"/>
          <p:cNvSpPr/>
          <p:nvPr/>
        </p:nvSpPr>
        <p:spPr>
          <a:xfrm>
            <a:off x="5581650" y="2108479"/>
            <a:ext cx="5848500" cy="285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C6DAE7BF-E527-614B-F114-E4C38E4C486E}"/>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3</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7"/>
        <p:cNvGrpSpPr/>
        <p:nvPr/>
      </p:nvGrpSpPr>
      <p:grpSpPr>
        <a:xfrm>
          <a:off x="0" y="0"/>
          <a:ext cx="0" cy="0"/>
          <a:chOff x="0" y="0"/>
          <a:chExt cx="0" cy="0"/>
        </a:xfrm>
      </p:grpSpPr>
      <p:grpSp>
        <p:nvGrpSpPr>
          <p:cNvPr id="138" name="Google Shape;138;p15"/>
          <p:cNvGrpSpPr/>
          <p:nvPr/>
        </p:nvGrpSpPr>
        <p:grpSpPr>
          <a:xfrm>
            <a:off x="0" y="0"/>
            <a:ext cx="12643324" cy="6976048"/>
            <a:chOff x="0" y="0"/>
            <a:chExt cx="12643324" cy="6976048"/>
          </a:xfrm>
        </p:grpSpPr>
        <p:pic>
          <p:nvPicPr>
            <p:cNvPr id="139" name="Google Shape;139;p15"/>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140" name="Google Shape;140;p15"/>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141" name="Google Shape;141;p15"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142" name="Google Shape;142;p15" descr="image.png"/>
          <p:cNvPicPr preferRelativeResize="0"/>
          <p:nvPr/>
        </p:nvPicPr>
        <p:blipFill rotWithShape="1">
          <a:blip r:embed="rId5">
            <a:alphaModFix/>
          </a:blip>
          <a:srcRect/>
          <a:stretch/>
        </p:blipFill>
        <p:spPr>
          <a:xfrm>
            <a:off x="762000" y="2591692"/>
            <a:ext cx="3301900" cy="2651521"/>
          </a:xfrm>
          <a:prstGeom prst="rect">
            <a:avLst/>
          </a:prstGeom>
          <a:noFill/>
          <a:ln>
            <a:noFill/>
          </a:ln>
        </p:spPr>
      </p:pic>
      <p:pic>
        <p:nvPicPr>
          <p:cNvPr id="143" name="Google Shape;143;p15" descr="image.png"/>
          <p:cNvPicPr preferRelativeResize="0"/>
          <p:nvPr/>
        </p:nvPicPr>
        <p:blipFill rotWithShape="1">
          <a:blip r:embed="rId6">
            <a:alphaModFix/>
          </a:blip>
          <a:srcRect/>
          <a:stretch/>
        </p:blipFill>
        <p:spPr>
          <a:xfrm>
            <a:off x="4444900" y="2591692"/>
            <a:ext cx="3302049" cy="2651521"/>
          </a:xfrm>
          <a:prstGeom prst="rect">
            <a:avLst/>
          </a:prstGeom>
          <a:noFill/>
          <a:ln>
            <a:noFill/>
          </a:ln>
        </p:spPr>
      </p:pic>
      <p:pic>
        <p:nvPicPr>
          <p:cNvPr id="144" name="Google Shape;144;p15" descr="image.png"/>
          <p:cNvPicPr preferRelativeResize="0"/>
          <p:nvPr/>
        </p:nvPicPr>
        <p:blipFill rotWithShape="1">
          <a:blip r:embed="rId5">
            <a:alphaModFix/>
          </a:blip>
          <a:srcRect/>
          <a:stretch/>
        </p:blipFill>
        <p:spPr>
          <a:xfrm>
            <a:off x="8127950" y="2591692"/>
            <a:ext cx="3301900" cy="2651521"/>
          </a:xfrm>
          <a:prstGeom prst="rect">
            <a:avLst/>
          </a:prstGeom>
          <a:noFill/>
          <a:ln>
            <a:noFill/>
          </a:ln>
        </p:spPr>
      </p:pic>
      <p:pic>
        <p:nvPicPr>
          <p:cNvPr id="145" name="Google Shape;145;p15"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146" name="Google Shape;146;p1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WHY I DO THIS</a:t>
            </a:r>
            <a:endParaRPr>
              <a:latin typeface="小塚ゴシック Pro B" panose="020B0800000000000000" pitchFamily="34" charset="-128"/>
              <a:ea typeface="小塚ゴシック Pro B" panose="020B0800000000000000" pitchFamily="34" charset="-128"/>
            </a:endParaRPr>
          </a:p>
        </p:txBody>
      </p:sp>
      <p:sp>
        <p:nvSpPr>
          <p:cNvPr id="147" name="Google Shape;147;p15"/>
          <p:cNvSpPr txBox="1"/>
          <p:nvPr/>
        </p:nvSpPr>
        <p:spPr>
          <a:xfrm>
            <a:off x="762000" y="880025"/>
            <a:ext cx="106680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「マーケティング迷子」を減らしたい</a:t>
            </a:r>
            <a:endParaRPr>
              <a:latin typeface="小塚ゴシック Pro B" panose="020B0800000000000000" pitchFamily="34" charset="-128"/>
              <a:ea typeface="小塚ゴシック Pro B" panose="020B0800000000000000" pitchFamily="34" charset="-128"/>
            </a:endParaRPr>
          </a:p>
        </p:txBody>
      </p:sp>
      <p:sp>
        <p:nvSpPr>
          <p:cNvPr id="148" name="Google Shape;148;p15"/>
          <p:cNvSpPr txBox="1"/>
          <p:nvPr/>
        </p:nvSpPr>
        <p:spPr>
          <a:xfrm>
            <a:off x="762000" y="5651644"/>
            <a:ext cx="10668000"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24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だから私は、本当に必要なものだけを提案・制作します。</a:t>
            </a:r>
            <a:endParaRPr sz="2400" dirty="0">
              <a:solidFill>
                <a:srgbClr val="2C2C2C"/>
              </a:solidFill>
              <a:latin typeface="小塚ゴシック Pro B" panose="020B0800000000000000" pitchFamily="34" charset="-128"/>
              <a:ea typeface="小塚ゴシック Pro B" panose="020B0800000000000000" pitchFamily="34" charset="-128"/>
            </a:endParaRPr>
          </a:p>
        </p:txBody>
      </p:sp>
      <p:sp>
        <p:nvSpPr>
          <p:cNvPr id="149" name="Google Shape;149;p1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52" name="Google Shape;152;p15"/>
          <p:cNvSpPr txBox="1"/>
          <p:nvPr/>
        </p:nvSpPr>
        <p:spPr>
          <a:xfrm>
            <a:off x="104775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高いお金をかけたのに成果が出ない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3" name="Google Shape;153;p15"/>
          <p:cNvSpPr txBox="1"/>
          <p:nvPr/>
        </p:nvSpPr>
        <p:spPr>
          <a:xfrm>
            <a:off x="104775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数十万円かけてHP・LPを作った、講座やコンサルを受けた。それでも問い合わせが増えない。</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5" name="Google Shape;155;p15"/>
          <p:cNvSpPr txBox="1"/>
          <p:nvPr/>
        </p:nvSpPr>
        <p:spPr>
          <a:xfrm>
            <a:off x="4730650" y="3210817"/>
            <a:ext cx="28671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自力で頑張るが結果まで遠回りに</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6" name="Google Shape;156;p15"/>
          <p:cNvSpPr txBox="1"/>
          <p:nvPr/>
        </p:nvSpPr>
        <p:spPr>
          <a:xfrm>
            <a:off x="4730650" y="3987998"/>
            <a:ext cx="2730600" cy="590931"/>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もう一度自分で集客に取り組むものの、手探りのため結果が出るまで時間がかかる。</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8" name="Google Shape;158;p15"/>
          <p:cNvSpPr txBox="1"/>
          <p:nvPr/>
        </p:nvSpPr>
        <p:spPr>
          <a:xfrm>
            <a:off x="841370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専門家に頼みたいが費用が重い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9" name="Google Shape;159;p15"/>
          <p:cNvSpPr txBox="1"/>
          <p:nvPr/>
        </p:nvSpPr>
        <p:spPr>
          <a:xfrm>
            <a:off x="841370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早く結果を出すには専門家の力が必要。でも、また大きなお金がかかってしまう。</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2" name="スライド番号プレースホルダー 14">
            <a:extLst>
              <a:ext uri="{FF2B5EF4-FFF2-40B4-BE49-F238E27FC236}">
                <a16:creationId xmlns:a16="http://schemas.microsoft.com/office/drawing/2014/main" id="{F0F9276C-8430-0D4A-CE23-E09B5F8C5C5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4</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160" name="Rectangle 159"/>
          <p:cNvSpPr/>
          <p:nvPr/>
        </p:nvSpPr>
        <p:spPr>
          <a:xfrm>
            <a:off x="841370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声 03</a:t>
            </a:r>
          </a:p>
        </p:txBody>
      </p:sp>
      <p:sp>
        <p:nvSpPr>
          <p:cNvPr id="161" name="Rectangle 160"/>
          <p:cNvSpPr/>
          <p:nvPr/>
        </p:nvSpPr>
        <p:spPr>
          <a:xfrm>
            <a:off x="47306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声 02</a:t>
            </a:r>
          </a:p>
        </p:txBody>
      </p:sp>
      <p:sp>
        <p:nvSpPr>
          <p:cNvPr id="162" name="Rectangle 161"/>
          <p:cNvSpPr/>
          <p:nvPr/>
        </p:nvSpPr>
        <p:spPr>
          <a:xfrm>
            <a:off x="10477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声 01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8"/>
        <p:cNvGrpSpPr/>
        <p:nvPr/>
      </p:nvGrpSpPr>
      <p:grpSpPr>
        <a:xfrm>
          <a:off x="0" y="0"/>
          <a:ext cx="0" cy="0"/>
          <a:chOff x="0" y="0"/>
          <a:chExt cx="0" cy="0"/>
        </a:xfrm>
      </p:grpSpPr>
      <p:grpSp>
        <p:nvGrpSpPr>
          <p:cNvPr id="219" name="Google Shape;219;p18"/>
          <p:cNvGrpSpPr/>
          <p:nvPr/>
        </p:nvGrpSpPr>
        <p:grpSpPr>
          <a:xfrm>
            <a:off x="0" y="0"/>
            <a:ext cx="12643324" cy="6976048"/>
            <a:chOff x="0" y="0"/>
            <a:chExt cx="12643324" cy="6976048"/>
          </a:xfrm>
        </p:grpSpPr>
        <p:pic>
          <p:nvPicPr>
            <p:cNvPr id="220" name="Google Shape;220;p18"/>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221" name="Google Shape;221;p18"/>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222" name="Google Shape;222;p18"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223" name="Google Shape;223;p18" descr="image.png"/>
          <p:cNvPicPr preferRelativeResize="0"/>
          <p:nvPr/>
        </p:nvPicPr>
        <p:blipFill rotWithShape="1">
          <a:blip r:embed="rId5">
            <a:alphaModFix/>
          </a:blip>
          <a:srcRect/>
          <a:stretch/>
        </p:blipFill>
        <p:spPr>
          <a:xfrm>
            <a:off x="762000" y="1740996"/>
            <a:ext cx="5191125" cy="4236983"/>
          </a:xfrm>
          <a:prstGeom prst="rect">
            <a:avLst/>
          </a:prstGeom>
          <a:noFill/>
          <a:ln>
            <a:noFill/>
          </a:ln>
          <a:effectLst>
            <a:outerShdw blurRad="57150" dist="19050" dir="5400000" algn="bl" rotWithShape="0">
              <a:srgbClr val="000000">
                <a:alpha val="50000"/>
              </a:srgbClr>
            </a:outerShdw>
          </a:effectLst>
        </p:spPr>
      </p:pic>
      <p:pic>
        <p:nvPicPr>
          <p:cNvPr id="224" name="Google Shape;224;p18" descr="image.png"/>
          <p:cNvPicPr preferRelativeResize="0"/>
          <p:nvPr/>
        </p:nvPicPr>
        <p:blipFill rotWithShape="1">
          <a:blip r:embed="rId5">
            <a:alphaModFix/>
          </a:blip>
          <a:srcRect/>
          <a:stretch/>
        </p:blipFill>
        <p:spPr>
          <a:xfrm>
            <a:off x="6238875" y="1740996"/>
            <a:ext cx="5191125" cy="4236983"/>
          </a:xfrm>
          <a:prstGeom prst="rect">
            <a:avLst/>
          </a:prstGeom>
          <a:noFill/>
          <a:ln>
            <a:noFill/>
          </a:ln>
          <a:effectLst>
            <a:outerShdw blurRad="57150" dist="19050" dir="5400000" algn="bl" rotWithShape="0">
              <a:srgbClr val="000000">
                <a:alpha val="50000"/>
              </a:srgbClr>
            </a:outerShdw>
          </a:effectLst>
        </p:spPr>
      </p:pic>
      <p:pic>
        <p:nvPicPr>
          <p:cNvPr id="225" name="Google Shape;225;p18" descr="image.png"/>
          <p:cNvPicPr preferRelativeResize="0"/>
          <p:nvPr/>
        </p:nvPicPr>
        <p:blipFill rotWithShape="1">
          <a:blip r:embed="rId6">
            <a:alphaModFix/>
          </a:blip>
          <a:srcRect/>
          <a:stretch/>
        </p:blipFill>
        <p:spPr>
          <a:xfrm>
            <a:off x="0" y="0"/>
            <a:ext cx="12192000" cy="142875"/>
          </a:xfrm>
          <a:prstGeom prst="rect">
            <a:avLst/>
          </a:prstGeom>
          <a:noFill/>
          <a:ln>
            <a:noFill/>
          </a:ln>
        </p:spPr>
      </p:pic>
      <p:sp>
        <p:nvSpPr>
          <p:cNvPr id="226" name="Google Shape;226;p18"/>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OVERVIEW</a:t>
            </a:r>
            <a:endParaRPr>
              <a:latin typeface="小塚ゴシック Pro B" panose="020B0800000000000000" pitchFamily="34" charset="-128"/>
              <a:ea typeface="小塚ゴシック Pro B" panose="020B0800000000000000" pitchFamily="34" charset="-128"/>
            </a:endParaRPr>
          </a:p>
        </p:txBody>
      </p:sp>
      <p:sp>
        <p:nvSpPr>
          <p:cNvPr id="227" name="Google Shape;227;p18"/>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サービス概要</a:t>
            </a:r>
            <a:endParaRPr>
              <a:latin typeface="小塚ゴシック Pro B" panose="020B0800000000000000" pitchFamily="34" charset="-128"/>
              <a:ea typeface="小塚ゴシック Pro B" panose="020B0800000000000000" pitchFamily="34" charset="-128"/>
            </a:endParaRPr>
          </a:p>
        </p:txBody>
      </p:sp>
      <p:sp>
        <p:nvSpPr>
          <p:cNvPr id="228" name="Google Shape;228;p18"/>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230" name="Google Shape;230;p18"/>
          <p:cNvSpPr/>
          <p:nvPr/>
        </p:nvSpPr>
        <p:spPr>
          <a:xfrm>
            <a:off x="771525" y="1750516"/>
            <a:ext cx="5172075" cy="638175"/>
          </a:xfrm>
          <a:prstGeom prst="rect">
            <a:avLst/>
          </a:prstGeom>
          <a:solidFill>
            <a:srgbClr val="2C2C2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31" name="Google Shape;231;p18"/>
          <p:cNvSpPr txBox="1"/>
          <p:nvPr/>
        </p:nvSpPr>
        <p:spPr>
          <a:xfrm>
            <a:off x="962025" y="1977544"/>
            <a:ext cx="4791000" cy="231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dirty="0" err="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制作代行</a:t>
            </a:r>
            <a:r>
              <a:rPr lang="en-US" sz="1500" b="1" dirty="0" err="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サービス</a:t>
            </a:r>
            <a:r>
              <a:rPr lang="en-US" sz="1500" b="1" i="0" u="none" strike="noStrike" cap="none" dirty="0" err="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「カワリミ</a:t>
            </a:r>
            <a:r>
              <a:rPr lang="en-US" sz="1500" b="1" i="0" u="none" strike="noStrike" cap="none" dirty="0">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232" name="Google Shape;232;p18"/>
          <p:cNvSpPr/>
          <p:nvPr/>
        </p:nvSpPr>
        <p:spPr>
          <a:xfrm>
            <a:off x="6248400" y="1750516"/>
            <a:ext cx="5172075" cy="6381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33" name="Google Shape;233;p18"/>
          <p:cNvSpPr txBox="1"/>
          <p:nvPr/>
        </p:nvSpPr>
        <p:spPr>
          <a:xfrm>
            <a:off x="6438900" y="1977544"/>
            <a:ext cx="4791000" cy="2310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1" i="0" u="none" strike="noStrike" cap="none">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集客顧問</a:t>
            </a:r>
            <a:r>
              <a:rPr lang="en-US" sz="1500" b="1">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サービス</a:t>
            </a:r>
            <a:r>
              <a:rPr lang="en-US" sz="1500" b="1" i="0" u="none" strike="noStrike" cap="none">
                <a:solidFill>
                  <a:srgbClr val="FFFFFF"/>
                </a:solidFill>
                <a:latin typeface="小塚ゴシック Pro B" panose="020B0800000000000000" pitchFamily="34" charset="-128"/>
                <a:ea typeface="小塚ゴシック Pro B" panose="020B0800000000000000" pitchFamily="34" charset="-128"/>
                <a:cs typeface="Noto Sans JP"/>
                <a:sym typeface="Noto Sans JP"/>
              </a:rPr>
              <a:t>「ミチスジ」</a:t>
            </a:r>
            <a:endParaRPr>
              <a:latin typeface="小塚ゴシック Pro B" panose="020B0800000000000000" pitchFamily="34" charset="-128"/>
              <a:ea typeface="小塚ゴシック Pro B" panose="020B0800000000000000" pitchFamily="34" charset="-128"/>
            </a:endParaRPr>
          </a:p>
        </p:txBody>
      </p:sp>
      <p:sp>
        <p:nvSpPr>
          <p:cNvPr id="234" name="Google Shape;234;p18"/>
          <p:cNvSpPr txBox="1"/>
          <p:nvPr/>
        </p:nvSpPr>
        <p:spPr>
          <a:xfrm>
            <a:off x="1057275" y="2674441"/>
            <a:ext cx="48306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制作の時間が作れない方向け</a:t>
            </a:r>
            <a:endParaRPr>
              <a:latin typeface="小塚ゴシック Pro B" panose="020B0800000000000000" pitchFamily="34" charset="-128"/>
              <a:ea typeface="小塚ゴシック Pro B" panose="020B0800000000000000" pitchFamily="34" charset="-128"/>
            </a:endParaRPr>
          </a:p>
        </p:txBody>
      </p:sp>
      <p:sp>
        <p:nvSpPr>
          <p:cNvPr id="235" name="Google Shape;235;p18"/>
          <p:cNvSpPr txBox="1"/>
          <p:nvPr/>
        </p:nvSpPr>
        <p:spPr>
          <a:xfrm>
            <a:off x="1057275" y="3066901"/>
            <a:ext cx="46005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法規制を守る「守り」と売れる「攻め」の</a:t>
            </a:r>
            <a:r>
              <a:rPr lang="en-US" sz="1200"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広告作りを</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私が代行し、手間をかけずに成果だけを受け取れる環境を提供します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36" name="Google Shape;236;p18"/>
          <p:cNvSpPr/>
          <p:nvPr/>
        </p:nvSpPr>
        <p:spPr>
          <a:xfrm>
            <a:off x="1057275" y="3744962"/>
            <a:ext cx="4600575"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37" name="Google Shape;237;p18"/>
          <p:cNvSpPr txBox="1"/>
          <p:nvPr/>
        </p:nvSpPr>
        <p:spPr>
          <a:xfrm>
            <a:off x="6534150" y="2674441"/>
            <a:ext cx="48306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何から手をつけるべきか迷っている方向け</a:t>
            </a:r>
            <a:endParaRPr>
              <a:latin typeface="小塚ゴシック Pro B" panose="020B0800000000000000" pitchFamily="34" charset="-128"/>
              <a:ea typeface="小塚ゴシック Pro B" panose="020B0800000000000000" pitchFamily="34" charset="-128"/>
            </a:endParaRPr>
          </a:p>
        </p:txBody>
      </p:sp>
      <p:sp>
        <p:nvSpPr>
          <p:cNvPr id="238" name="Google Shape;238;p18"/>
          <p:cNvSpPr txBox="1"/>
          <p:nvPr/>
        </p:nvSpPr>
        <p:spPr>
          <a:xfrm>
            <a:off x="6534150" y="3066901"/>
            <a:ext cx="460057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現在の集客施策が合っているかを客観的に診断し、成果が出ない</a:t>
            </a:r>
            <a:endPar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60000"/>
              </a:lnSpc>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原因」の解明と、正解の道筋を提示します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39" name="Google Shape;239;p18"/>
          <p:cNvSpPr/>
          <p:nvPr/>
        </p:nvSpPr>
        <p:spPr>
          <a:xfrm>
            <a:off x="6534150" y="3744962"/>
            <a:ext cx="4600575"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40" name="Google Shape;240;p18"/>
          <p:cNvSpPr txBox="1"/>
          <p:nvPr/>
        </p:nvSpPr>
        <p:spPr>
          <a:xfrm>
            <a:off x="1676400" y="394498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LP・HP制作 / ライティング</a:t>
            </a:r>
            <a:endParaRPr>
              <a:latin typeface="小塚ゴシック Pro M" panose="020B0700000000000000" pitchFamily="34" charset="-128"/>
              <a:ea typeface="小塚ゴシック Pro M" panose="020B0700000000000000" pitchFamily="34" charset="-128"/>
            </a:endParaRPr>
          </a:p>
        </p:txBody>
      </p:sp>
      <p:sp>
        <p:nvSpPr>
          <p:cNvPr id="241" name="Google Shape;241;p18"/>
          <p:cNvSpPr txBox="1"/>
          <p:nvPr/>
        </p:nvSpPr>
        <p:spPr>
          <a:xfrm>
            <a:off x="1676400" y="4240262"/>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LINE構築・運用 / Meta広告運用</a:t>
            </a:r>
            <a:endParaRPr>
              <a:latin typeface="小塚ゴシック Pro M" panose="020B0700000000000000" pitchFamily="34" charset="-128"/>
              <a:ea typeface="小塚ゴシック Pro M" panose="020B0700000000000000" pitchFamily="34" charset="-128"/>
            </a:endParaRPr>
          </a:p>
        </p:txBody>
      </p:sp>
      <p:sp>
        <p:nvSpPr>
          <p:cNvPr id="242" name="Google Shape;242;p18"/>
          <p:cNvSpPr txBox="1"/>
          <p:nvPr/>
        </p:nvSpPr>
        <p:spPr>
          <a:xfrm>
            <a:off x="1676400" y="453553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チラシ・パンフレット制作</a:t>
            </a:r>
            <a:endParaRPr>
              <a:latin typeface="小塚ゴシック Pro M" panose="020B0700000000000000" pitchFamily="34" charset="-128"/>
              <a:ea typeface="小塚ゴシック Pro M" panose="020B0700000000000000" pitchFamily="34" charset="-128"/>
            </a:endParaRPr>
          </a:p>
        </p:txBody>
      </p:sp>
      <p:sp>
        <p:nvSpPr>
          <p:cNvPr id="243" name="Google Shape;243;p18"/>
          <p:cNvSpPr txBox="1"/>
          <p:nvPr/>
        </p:nvSpPr>
        <p:spPr>
          <a:xfrm>
            <a:off x="7153275" y="394498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月最大4時間のZoom相談</a:t>
            </a:r>
            <a:endParaRPr>
              <a:latin typeface="小塚ゴシック Pro M" panose="020B0700000000000000" pitchFamily="34" charset="-128"/>
              <a:ea typeface="小塚ゴシック Pro M" panose="020B0700000000000000" pitchFamily="34" charset="-128"/>
            </a:endParaRPr>
          </a:p>
        </p:txBody>
      </p:sp>
      <p:sp>
        <p:nvSpPr>
          <p:cNvPr id="244" name="Google Shape;244;p18"/>
          <p:cNvSpPr txBox="1"/>
          <p:nvPr/>
        </p:nvSpPr>
        <p:spPr>
          <a:xfrm>
            <a:off x="7153275" y="4240262"/>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制作物への添削・アドバイス</a:t>
            </a:r>
            <a:endParaRPr>
              <a:latin typeface="小塚ゴシック Pro M" panose="020B0700000000000000" pitchFamily="34" charset="-128"/>
              <a:ea typeface="小塚ゴシック Pro M" panose="020B0700000000000000" pitchFamily="34" charset="-128"/>
            </a:endParaRPr>
          </a:p>
        </p:txBody>
      </p:sp>
      <p:sp>
        <p:nvSpPr>
          <p:cNvPr id="245" name="Google Shape;245;p18"/>
          <p:cNvSpPr txBox="1"/>
          <p:nvPr/>
        </p:nvSpPr>
        <p:spPr>
          <a:xfrm>
            <a:off x="7153275" y="4535537"/>
            <a:ext cx="39814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集客施策の分析・改善提案</a:t>
            </a:r>
            <a:endParaRPr>
              <a:latin typeface="小塚ゴシック Pro M" panose="020B0700000000000000" pitchFamily="34" charset="-128"/>
              <a:ea typeface="小塚ゴシック Pro M" panose="020B0700000000000000" pitchFamily="34" charset="-128"/>
            </a:endParaRPr>
          </a:p>
        </p:txBody>
      </p:sp>
      <p:sp>
        <p:nvSpPr>
          <p:cNvPr id="246" name="Google Shape;246;p18"/>
          <p:cNvSpPr txBox="1"/>
          <p:nvPr/>
        </p:nvSpPr>
        <p:spPr>
          <a:xfrm>
            <a:off x="1438275" y="394498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47" name="Google Shape;247;p18"/>
          <p:cNvSpPr txBox="1"/>
          <p:nvPr/>
        </p:nvSpPr>
        <p:spPr>
          <a:xfrm>
            <a:off x="1438275" y="4240262"/>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48" name="Google Shape;248;p18"/>
          <p:cNvSpPr txBox="1"/>
          <p:nvPr/>
        </p:nvSpPr>
        <p:spPr>
          <a:xfrm>
            <a:off x="1438275" y="453553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49" name="Google Shape;249;p18"/>
          <p:cNvSpPr txBox="1"/>
          <p:nvPr/>
        </p:nvSpPr>
        <p:spPr>
          <a:xfrm>
            <a:off x="6915150" y="394498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50" name="Google Shape;250;p18"/>
          <p:cNvSpPr txBox="1"/>
          <p:nvPr/>
        </p:nvSpPr>
        <p:spPr>
          <a:xfrm>
            <a:off x="6915150" y="4240262"/>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51" name="Google Shape;251;p18"/>
          <p:cNvSpPr txBox="1"/>
          <p:nvPr/>
        </p:nvSpPr>
        <p:spPr>
          <a:xfrm>
            <a:off x="6915150" y="4535537"/>
            <a:ext cx="133350"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3" name="スライド番号プレースホルダー 14">
            <a:extLst>
              <a:ext uri="{FF2B5EF4-FFF2-40B4-BE49-F238E27FC236}">
                <a16:creationId xmlns:a16="http://schemas.microsoft.com/office/drawing/2014/main" id="{E69C2260-09E3-CA37-82BE-D470021C379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5</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pic>
        <p:nvPicPr>
          <p:cNvPr id="11" name="図 10" descr="ロゴ&#10;&#10;AI 生成コンテンツは誤りを含む可能性があります。">
            <a:extLst>
              <a:ext uri="{FF2B5EF4-FFF2-40B4-BE49-F238E27FC236}">
                <a16:creationId xmlns:a16="http://schemas.microsoft.com/office/drawing/2014/main" id="{94078B1F-EE8B-F0F3-B2C5-382B65F36109}"/>
              </a:ext>
            </a:extLst>
          </p:cNvPr>
          <p:cNvPicPr>
            <a:picLocks noChangeAspect="1"/>
          </p:cNvPicPr>
          <p:nvPr/>
        </p:nvPicPr>
        <p:blipFill>
          <a:blip r:embed="rId7"/>
          <a:stretch>
            <a:fillRect/>
          </a:stretch>
        </p:blipFill>
        <p:spPr>
          <a:xfrm>
            <a:off x="4627055" y="1294149"/>
            <a:ext cx="1384508" cy="1384508"/>
          </a:xfrm>
          <a:prstGeom prst="rect">
            <a:avLst/>
          </a:prstGeom>
        </p:spPr>
      </p:pic>
      <p:pic>
        <p:nvPicPr>
          <p:cNvPr id="13" name="図 12" descr="ロゴ&#10;&#10;AI 生成コンテンツは誤りを含む可能性があります。">
            <a:extLst>
              <a:ext uri="{FF2B5EF4-FFF2-40B4-BE49-F238E27FC236}">
                <a16:creationId xmlns:a16="http://schemas.microsoft.com/office/drawing/2014/main" id="{02AD27FB-1791-AAB2-837A-7BBCED27FD32}"/>
              </a:ext>
            </a:extLst>
          </p:cNvPr>
          <p:cNvPicPr>
            <a:picLocks noChangeAspect="1"/>
          </p:cNvPicPr>
          <p:nvPr/>
        </p:nvPicPr>
        <p:blipFill>
          <a:blip r:embed="rId8"/>
          <a:stretch>
            <a:fillRect/>
          </a:stretch>
        </p:blipFill>
        <p:spPr>
          <a:xfrm>
            <a:off x="10135647" y="1295126"/>
            <a:ext cx="1303878" cy="1303878"/>
          </a:xfrm>
          <a:prstGeom prst="rect">
            <a:avLst/>
          </a:prstGeom>
        </p:spPr>
      </p:pic>
      <p:sp>
        <p:nvSpPr>
          <p:cNvPr id="4" name="Google Shape;633;p30">
            <a:extLst>
              <a:ext uri="{FF2B5EF4-FFF2-40B4-BE49-F238E27FC236}">
                <a16:creationId xmlns:a16="http://schemas.microsoft.com/office/drawing/2014/main" id="{F1D4F382-9F80-DA6E-2CDA-4B7BD742553B}"/>
              </a:ext>
            </a:extLst>
          </p:cNvPr>
          <p:cNvSpPr txBox="1"/>
          <p:nvPr/>
        </p:nvSpPr>
        <p:spPr>
          <a:xfrm>
            <a:off x="1057266" y="5657119"/>
            <a:ext cx="460050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※30秒のスピーチ原稿の場合。LP制作は100,000円〜。</a:t>
            </a:r>
            <a:endParaRPr dirty="0">
              <a:latin typeface="小塚ゴシック Pro M" panose="020B0700000000000000" pitchFamily="34" charset="-128"/>
              <a:ea typeface="小塚ゴシック Pro M" panose="020B0700000000000000" pitchFamily="34" charset="-128"/>
            </a:endParaRPr>
          </a:p>
        </p:txBody>
      </p:sp>
      <p:sp>
        <p:nvSpPr>
          <p:cNvPr id="5" name="Google Shape;234;p18">
            <a:extLst>
              <a:ext uri="{FF2B5EF4-FFF2-40B4-BE49-F238E27FC236}">
                <a16:creationId xmlns:a16="http://schemas.microsoft.com/office/drawing/2014/main" id="{D3616421-EB6D-9D9B-9F76-7BB105FAFB58}"/>
              </a:ext>
            </a:extLst>
          </p:cNvPr>
          <p:cNvSpPr txBox="1"/>
          <p:nvPr/>
        </p:nvSpPr>
        <p:spPr>
          <a:xfrm>
            <a:off x="1057266" y="5068850"/>
            <a:ext cx="1462523" cy="603242"/>
          </a:xfrm>
          <a:prstGeom prst="rect">
            <a:avLst/>
          </a:prstGeom>
          <a:noFill/>
          <a:ln>
            <a:noFill/>
          </a:ln>
        </p:spPr>
        <p:txBody>
          <a:bodyPr spcFirstLastPara="1" wrap="square" lIns="0" tIns="0" rIns="0" bIns="0" anchor="t" anchorCtr="0">
            <a:spAutoFit/>
          </a:bodyPr>
          <a:lstStyle/>
          <a:p>
            <a:pPr lvl="0">
              <a:lnSpc>
                <a:spcPct val="139957"/>
              </a:lnSpc>
            </a:pPr>
            <a:r>
              <a:rPr lang="ja-JP" altLang="en-US" sz="28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料金：</a:t>
            </a:r>
            <a:endParaRPr sz="2800" dirty="0">
              <a:latin typeface="小塚ゴシック Pro B" panose="020B0800000000000000" pitchFamily="34" charset="-128"/>
              <a:ea typeface="小塚ゴシック Pro B" panose="020B0800000000000000" pitchFamily="34" charset="-128"/>
            </a:endParaRPr>
          </a:p>
        </p:txBody>
      </p:sp>
      <p:sp>
        <p:nvSpPr>
          <p:cNvPr id="6" name="Google Shape;236;p18">
            <a:extLst>
              <a:ext uri="{FF2B5EF4-FFF2-40B4-BE49-F238E27FC236}">
                <a16:creationId xmlns:a16="http://schemas.microsoft.com/office/drawing/2014/main" id="{5FD57E0D-5ABE-4DAD-9E2B-540BA33A8C5A}"/>
              </a:ext>
            </a:extLst>
          </p:cNvPr>
          <p:cNvSpPr/>
          <p:nvPr/>
        </p:nvSpPr>
        <p:spPr>
          <a:xfrm>
            <a:off x="1057275" y="5601717"/>
            <a:ext cx="4600575" cy="9525"/>
          </a:xfrm>
          <a:prstGeom prst="rect">
            <a:avLst/>
          </a:prstGeom>
          <a:solidFill>
            <a:srgbClr val="DAC39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7" name="Google Shape;235;p18">
            <a:extLst>
              <a:ext uri="{FF2B5EF4-FFF2-40B4-BE49-F238E27FC236}">
                <a16:creationId xmlns:a16="http://schemas.microsoft.com/office/drawing/2014/main" id="{4650A11F-EB34-A92B-5EFF-E3F850B34E0C}"/>
              </a:ext>
            </a:extLst>
          </p:cNvPr>
          <p:cNvSpPr txBox="1"/>
          <p:nvPr/>
        </p:nvSpPr>
        <p:spPr>
          <a:xfrm>
            <a:off x="2436645" y="4987414"/>
            <a:ext cx="1966954"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ja-JP" altLang="en-US" sz="28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単発</a:t>
            </a:r>
            <a:endParaRPr sz="2800" dirty="0">
              <a:latin typeface="小塚ゴシック Pro M" panose="020B0700000000000000" pitchFamily="34" charset="-128"/>
              <a:ea typeface="小塚ゴシック Pro M" panose="020B0700000000000000" pitchFamily="34" charset="-128"/>
            </a:endParaRPr>
          </a:p>
        </p:txBody>
      </p:sp>
      <p:sp>
        <p:nvSpPr>
          <p:cNvPr id="8" name="Google Shape;235;p18">
            <a:extLst>
              <a:ext uri="{FF2B5EF4-FFF2-40B4-BE49-F238E27FC236}">
                <a16:creationId xmlns:a16="http://schemas.microsoft.com/office/drawing/2014/main" id="{989708A4-D1B1-8156-D303-8F6D0B487507}"/>
              </a:ext>
            </a:extLst>
          </p:cNvPr>
          <p:cNvSpPr txBox="1"/>
          <p:nvPr/>
        </p:nvSpPr>
        <p:spPr>
          <a:xfrm>
            <a:off x="3250000" y="4639464"/>
            <a:ext cx="2650000" cy="132959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altLang="ja-JP" sz="3400" b="0" i="0" u="none" strike="noStrike" cap="none"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5,000円〜</a:t>
            </a:r>
            <a:endParaRPr sz="5400" dirty="0">
              <a:solidFill>
                <a:srgbClr val="C5A059"/>
              </a:solidFill>
              <a:latin typeface="小塚ゴシック Pro M" panose="020B0700000000000000" pitchFamily="34" charset="-128"/>
              <a:ea typeface="小塚ゴシック Pro M" panose="020B0700000000000000" pitchFamily="34" charset="-128"/>
            </a:endParaRPr>
          </a:p>
        </p:txBody>
      </p:sp>
      <p:sp>
        <p:nvSpPr>
          <p:cNvPr id="10" name="Google Shape;633;p30">
            <a:extLst>
              <a:ext uri="{FF2B5EF4-FFF2-40B4-BE49-F238E27FC236}">
                <a16:creationId xmlns:a16="http://schemas.microsoft.com/office/drawing/2014/main" id="{FEE06F82-ACD6-920F-4451-663AE6CCAC11}"/>
              </a:ext>
            </a:extLst>
          </p:cNvPr>
          <p:cNvSpPr txBox="1"/>
          <p:nvPr/>
        </p:nvSpPr>
        <p:spPr>
          <a:xfrm>
            <a:off x="6534137" y="5657119"/>
            <a:ext cx="3601510" cy="184666"/>
          </a:xfrm>
          <a:prstGeom prst="rect">
            <a:avLst/>
          </a:prstGeom>
          <a:noFill/>
          <a:ln>
            <a:noFill/>
          </a:ln>
        </p:spPr>
        <p:txBody>
          <a:bodyPr spcFirstLastPara="1" wrap="square" lIns="0" tIns="0" rIns="0" bIns="0" anchor="t" anchorCtr="0">
            <a:spAutoFit/>
          </a:bodyPr>
          <a:lstStyle/>
          <a:p>
            <a:pPr lvl="0">
              <a:buClr>
                <a:schemeClr val="dk1"/>
              </a:buClr>
            </a:pPr>
            <a:r>
              <a:rPr lang="en-US" altLang="ja-JP"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※月4時間まで。追加タスクは別途お見積り。</a:t>
            </a:r>
            <a:endParaRPr lang="ja-JP" altLang="en-US" sz="1200"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2" name="Google Shape;234;p18">
            <a:extLst>
              <a:ext uri="{FF2B5EF4-FFF2-40B4-BE49-F238E27FC236}">
                <a16:creationId xmlns:a16="http://schemas.microsoft.com/office/drawing/2014/main" id="{9ED0450F-C7E6-0A74-8E96-889E8E817CBE}"/>
              </a:ext>
            </a:extLst>
          </p:cNvPr>
          <p:cNvSpPr txBox="1"/>
          <p:nvPr/>
        </p:nvSpPr>
        <p:spPr>
          <a:xfrm>
            <a:off x="6534137" y="5068850"/>
            <a:ext cx="1462523" cy="603242"/>
          </a:xfrm>
          <a:prstGeom prst="rect">
            <a:avLst/>
          </a:prstGeom>
          <a:noFill/>
          <a:ln>
            <a:noFill/>
          </a:ln>
        </p:spPr>
        <p:txBody>
          <a:bodyPr spcFirstLastPara="1" wrap="square" lIns="0" tIns="0" rIns="0" bIns="0" anchor="t" anchorCtr="0">
            <a:spAutoFit/>
          </a:bodyPr>
          <a:lstStyle/>
          <a:p>
            <a:pPr lvl="0">
              <a:lnSpc>
                <a:spcPct val="139957"/>
              </a:lnSpc>
            </a:pPr>
            <a:r>
              <a:rPr lang="ja-JP" altLang="en-US" sz="28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料金：</a:t>
            </a:r>
            <a:endParaRPr sz="2800" dirty="0">
              <a:latin typeface="小塚ゴシック Pro B" panose="020B0800000000000000" pitchFamily="34" charset="-128"/>
              <a:ea typeface="小塚ゴシック Pro B" panose="020B0800000000000000" pitchFamily="34" charset="-128"/>
            </a:endParaRPr>
          </a:p>
        </p:txBody>
      </p:sp>
      <p:sp>
        <p:nvSpPr>
          <p:cNvPr id="14" name="Google Shape;235;p18">
            <a:extLst>
              <a:ext uri="{FF2B5EF4-FFF2-40B4-BE49-F238E27FC236}">
                <a16:creationId xmlns:a16="http://schemas.microsoft.com/office/drawing/2014/main" id="{9249C3C0-9B09-26F3-AB64-653857CBC8C3}"/>
              </a:ext>
            </a:extLst>
          </p:cNvPr>
          <p:cNvSpPr txBox="1"/>
          <p:nvPr/>
        </p:nvSpPr>
        <p:spPr>
          <a:xfrm>
            <a:off x="7913516" y="4987414"/>
            <a:ext cx="1966954"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ja-JP" altLang="en-US" sz="28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月額</a:t>
            </a:r>
            <a:endParaRPr sz="2800" dirty="0">
              <a:latin typeface="小塚ゴシック Pro M" panose="020B0700000000000000" pitchFamily="34" charset="-128"/>
              <a:ea typeface="小塚ゴシック Pro M" panose="020B0700000000000000" pitchFamily="34" charset="-128"/>
            </a:endParaRPr>
          </a:p>
        </p:txBody>
      </p:sp>
      <p:sp>
        <p:nvSpPr>
          <p:cNvPr id="15" name="Google Shape;235;p18">
            <a:extLst>
              <a:ext uri="{FF2B5EF4-FFF2-40B4-BE49-F238E27FC236}">
                <a16:creationId xmlns:a16="http://schemas.microsoft.com/office/drawing/2014/main" id="{60FC4DE6-D95D-0C5C-0622-D5B40FE3EE65}"/>
              </a:ext>
            </a:extLst>
          </p:cNvPr>
          <p:cNvSpPr txBox="1"/>
          <p:nvPr/>
        </p:nvSpPr>
        <p:spPr>
          <a:xfrm>
            <a:off x="8850000" y="4639464"/>
            <a:ext cx="2650000" cy="1329595"/>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altLang="ja-JP" sz="3400" b="0" i="0" u="none" strike="noStrike" cap="none"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49,800円〜</a:t>
            </a:r>
            <a:endParaRPr sz="5400" dirty="0">
              <a:solidFill>
                <a:srgbClr val="C5A059"/>
              </a:solidFill>
              <a:latin typeface="小塚ゴシック Pro M" panose="020B0700000000000000" pitchFamily="34" charset="-128"/>
              <a:ea typeface="小塚ゴシック Pro M" panose="020B0700000000000000" pitchFamily="34" charset="-128"/>
            </a:endParaRPr>
          </a:p>
        </p:txBody>
      </p:sp>
      <p:sp>
        <p:nvSpPr>
          <p:cNvPr id="16" name="Google Shape;236;p18">
            <a:extLst>
              <a:ext uri="{FF2B5EF4-FFF2-40B4-BE49-F238E27FC236}">
                <a16:creationId xmlns:a16="http://schemas.microsoft.com/office/drawing/2014/main" id="{F65F2211-B049-B64A-2AE2-8E428E7E0B08}"/>
              </a:ext>
            </a:extLst>
          </p:cNvPr>
          <p:cNvSpPr/>
          <p:nvPr/>
        </p:nvSpPr>
        <p:spPr>
          <a:xfrm>
            <a:off x="6489678" y="5601717"/>
            <a:ext cx="4600575" cy="9525"/>
          </a:xfrm>
          <a:prstGeom prst="rect">
            <a:avLst/>
          </a:prstGeom>
          <a:solidFill>
            <a:srgbClr val="DAC39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grpSp>
        <p:nvGrpSpPr>
          <p:cNvPr id="164" name="Google Shape;164;p16"/>
          <p:cNvGrpSpPr/>
          <p:nvPr/>
        </p:nvGrpSpPr>
        <p:grpSpPr>
          <a:xfrm>
            <a:off x="0" y="0"/>
            <a:ext cx="12643324" cy="6976048"/>
            <a:chOff x="0" y="0"/>
            <a:chExt cx="12643324" cy="6976048"/>
          </a:xfrm>
        </p:grpSpPr>
        <p:pic>
          <p:nvPicPr>
            <p:cNvPr id="165" name="Google Shape;165;p16"/>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166" name="Google Shape;166;p16"/>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167" name="Google Shape;167;p16"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168" name="Google Shape;168;p16"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169" name="Google Shape;169;p16"/>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71" name="Google Shape;171;p16"/>
          <p:cNvSpPr txBox="1"/>
          <p:nvPr/>
        </p:nvSpPr>
        <p:spPr>
          <a:xfrm>
            <a:off x="762000" y="1387078"/>
            <a:ext cx="51816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OUR STRENGTHS</a:t>
            </a:r>
            <a:endParaRPr>
              <a:latin typeface="小塚ゴシック Pro B" panose="020B0800000000000000" pitchFamily="34" charset="-128"/>
              <a:ea typeface="小塚ゴシック Pro B" panose="020B0800000000000000" pitchFamily="34" charset="-128"/>
            </a:endParaRPr>
          </a:p>
        </p:txBody>
      </p:sp>
      <p:sp>
        <p:nvSpPr>
          <p:cNvPr id="172" name="Google Shape;172;p16"/>
          <p:cNvSpPr txBox="1"/>
          <p:nvPr/>
        </p:nvSpPr>
        <p:spPr>
          <a:xfrm>
            <a:off x="762000" y="1695598"/>
            <a:ext cx="544068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U-ライティングが選ばれる理由</a:t>
            </a:r>
            <a:endParaRPr>
              <a:latin typeface="小塚ゴシック Pro B" panose="020B0800000000000000" pitchFamily="34" charset="-128"/>
              <a:ea typeface="小塚ゴシック Pro B" panose="020B0800000000000000" pitchFamily="34" charset="-128"/>
            </a:endParaRPr>
          </a:p>
        </p:txBody>
      </p:sp>
      <p:sp>
        <p:nvSpPr>
          <p:cNvPr id="173" name="Google Shape;173;p16"/>
          <p:cNvSpPr txBox="1"/>
          <p:nvPr/>
        </p:nvSpPr>
        <p:spPr>
          <a:xfrm>
            <a:off x="1000125" y="27947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❶ 守りと攻めの薬機法対応</a:t>
            </a:r>
            <a:endParaRPr sz="1800">
              <a:latin typeface="小塚ゴシック Pro B" panose="020B0800000000000000" pitchFamily="34" charset="-128"/>
              <a:ea typeface="小塚ゴシック Pro B" panose="020B0800000000000000" pitchFamily="34" charset="-128"/>
            </a:endParaRPr>
          </a:p>
        </p:txBody>
      </p:sp>
      <p:sp>
        <p:nvSpPr>
          <p:cNvPr id="174" name="Google Shape;174;p16"/>
          <p:cNvSpPr/>
          <p:nvPr/>
        </p:nvSpPr>
        <p:spPr>
          <a:xfrm>
            <a:off x="1000125" y="3531413"/>
            <a:ext cx="3194225" cy="17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75" name="Google Shape;175;p16"/>
          <p:cNvSpPr txBox="1"/>
          <p:nvPr/>
        </p:nvSpPr>
        <p:spPr>
          <a:xfrm>
            <a:off x="4494350" y="28115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❷ 集客の伴走支援</a:t>
            </a:r>
            <a:endParaRPr sz="1800">
              <a:latin typeface="小塚ゴシック Pro B" panose="020B0800000000000000" pitchFamily="34" charset="-128"/>
              <a:ea typeface="小塚ゴシック Pro B" panose="020B0800000000000000" pitchFamily="34" charset="-128"/>
            </a:endParaRPr>
          </a:p>
        </p:txBody>
      </p:sp>
      <p:sp>
        <p:nvSpPr>
          <p:cNvPr id="176" name="Google Shape;176;p16"/>
          <p:cNvSpPr/>
          <p:nvPr/>
        </p:nvSpPr>
        <p:spPr>
          <a:xfrm>
            <a:off x="1000125"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7" name="Google Shape;177;p16"/>
          <p:cNvSpPr/>
          <p:nvPr/>
        </p:nvSpPr>
        <p:spPr>
          <a:xfrm>
            <a:off x="4494350"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8" name="Google Shape;178;p16"/>
          <p:cNvSpPr/>
          <p:nvPr/>
        </p:nvSpPr>
        <p:spPr>
          <a:xfrm>
            <a:off x="4494350" y="3531413"/>
            <a:ext cx="3194225" cy="17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79" name="Google Shape;179;p16"/>
          <p:cNvSpPr txBox="1"/>
          <p:nvPr/>
        </p:nvSpPr>
        <p:spPr>
          <a:xfrm>
            <a:off x="1000125" y="3566269"/>
            <a:ext cx="3194225" cy="13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美容・健康分野において、法律を守りながら「売れる」表現を作るのが得意です。リスクを回避しつつ、単なる言い換えではない「ベネフィット」</a:t>
            </a: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「体験」</a:t>
            </a: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を</a:t>
            </a: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言語化</a:t>
            </a: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し、競合と差別化します。</a:t>
            </a:r>
            <a:endParaRPr>
              <a:latin typeface="小塚ゴシック Pro M" panose="020B0700000000000000" pitchFamily="34" charset="-128"/>
              <a:ea typeface="小塚ゴシック Pro M" panose="020B0700000000000000" pitchFamily="34" charset="-128"/>
            </a:endParaRPr>
          </a:p>
        </p:txBody>
      </p:sp>
      <p:sp>
        <p:nvSpPr>
          <p:cNvPr id="180" name="Google Shape;180;p16"/>
          <p:cNvSpPr txBox="1"/>
          <p:nvPr/>
        </p:nvSpPr>
        <p:spPr>
          <a:xfrm>
            <a:off x="4494350" y="3556904"/>
            <a:ext cx="3194225" cy="13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制作代行だけではありません。施策の立案から実行、効果検証まで一気通貫でサポート。単発の依頼ではなく、長期的なパートナーとして成果が出るまで並走します。</a:t>
            </a:r>
            <a:endParaRPr>
              <a:latin typeface="小塚ゴシック Pro M" panose="020B0700000000000000" pitchFamily="34" charset="-128"/>
              <a:ea typeface="小塚ゴシック Pro M" panose="020B0700000000000000" pitchFamily="34" charset="-128"/>
            </a:endParaRPr>
          </a:p>
        </p:txBody>
      </p:sp>
      <p:sp>
        <p:nvSpPr>
          <p:cNvPr id="2" name="スライド番号プレースホルダー 14">
            <a:extLst>
              <a:ext uri="{FF2B5EF4-FFF2-40B4-BE49-F238E27FC236}">
                <a16:creationId xmlns:a16="http://schemas.microsoft.com/office/drawing/2014/main" id="{2846CAE8-78CC-BC8C-2499-70AD56C5C972}"/>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6</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175" name="Google Shape;175;p16"/>
          <p:cNvSpPr txBox="1"/>
          <p:nvPr/>
        </p:nvSpPr>
        <p:spPr>
          <a:xfrm>
            <a:off x="7988575" y="2811500"/>
            <a:ext cx="3194225" cy="387798"/>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❸ 必要なものだけを提案</a:t>
            </a:r>
            <a:endParaRPr sz="1800">
              <a:latin typeface="小塚ゴシック Pro B" panose="020B0800000000000000" pitchFamily="34" charset="-128"/>
              <a:ea typeface="小塚ゴシック Pro B" panose="020B0800000000000000" pitchFamily="34" charset="-128"/>
            </a:endParaRPr>
          </a:p>
        </p:txBody>
      </p:sp>
      <p:sp>
        <p:nvSpPr>
          <p:cNvPr id="177" name="Google Shape;177;p16"/>
          <p:cNvSpPr/>
          <p:nvPr/>
        </p:nvSpPr>
        <p:spPr>
          <a:xfrm>
            <a:off x="7988575" y="3339525"/>
            <a:ext cx="3194225" cy="366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178" name="Google Shape;178;p16"/>
          <p:cNvSpPr/>
          <p:nvPr/>
        </p:nvSpPr>
        <p:spPr>
          <a:xfrm>
            <a:off x="7988575" y="3531413"/>
            <a:ext cx="3194225" cy="17500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180" name="Google Shape;180;p16"/>
          <p:cNvSpPr txBox="1"/>
          <p:nvPr/>
        </p:nvSpPr>
        <p:spPr>
          <a:xfrm>
            <a:off x="7988575" y="3556904"/>
            <a:ext cx="3194225" cy="1300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ご相談を受けても、本当に必要かを判断した上で受注します。不要なものは「作らなくていい」と正直にお伝えします。</a:t>
            </a:r>
            <a:endParaRPr>
              <a:latin typeface="小塚ゴシック Pro M" panose="020B0700000000000000" pitchFamily="34" charset="-128"/>
              <a:ea typeface="小塚ゴシック Pro M" panose="020B0700000000000000" pitchFamily="34"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6"/>
        <p:cNvGrpSpPr/>
        <p:nvPr/>
      </p:nvGrpSpPr>
      <p:grpSpPr>
        <a:xfrm>
          <a:off x="0" y="0"/>
          <a:ext cx="0" cy="0"/>
          <a:chOff x="0" y="0"/>
          <a:chExt cx="0" cy="0"/>
        </a:xfrm>
      </p:grpSpPr>
      <p:grpSp>
        <p:nvGrpSpPr>
          <p:cNvPr id="257" name="Google Shape;257;p19"/>
          <p:cNvGrpSpPr/>
          <p:nvPr/>
        </p:nvGrpSpPr>
        <p:grpSpPr>
          <a:xfrm>
            <a:off x="0" y="0"/>
            <a:ext cx="12643324" cy="6976048"/>
            <a:chOff x="0" y="0"/>
            <a:chExt cx="12643324" cy="6976048"/>
          </a:xfrm>
        </p:grpSpPr>
        <p:pic>
          <p:nvPicPr>
            <p:cNvPr id="258" name="Google Shape;258;p19"/>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259" name="Google Shape;259;p19"/>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260" name="Google Shape;260;p19"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261" name="Google Shape;261;p19"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262" name="Google Shape;262;p19"/>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01</a:t>
            </a:r>
            <a:endParaRPr>
              <a:latin typeface="小塚ゴシック Pro B" panose="020B0800000000000000" pitchFamily="34" charset="-128"/>
              <a:ea typeface="小塚ゴシック Pro B" panose="020B0800000000000000" pitchFamily="34" charset="-128"/>
            </a:endParaRPr>
          </a:p>
        </p:txBody>
      </p:sp>
      <p:sp>
        <p:nvSpPr>
          <p:cNvPr id="263" name="Google Shape;263;p19"/>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sp>
        <p:nvSpPr>
          <p:cNvPr id="264" name="Google Shape;264;p19"/>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pic>
        <p:nvPicPr>
          <p:cNvPr id="266" name="Google Shape;266;p19" descr="image.png"/>
          <p:cNvPicPr preferRelativeResize="0"/>
          <p:nvPr/>
        </p:nvPicPr>
        <p:blipFill rotWithShape="1">
          <a:blip r:embed="rId6">
            <a:alphaModFix/>
          </a:blip>
          <a:srcRect/>
          <a:stretch/>
        </p:blipFill>
        <p:spPr>
          <a:xfrm>
            <a:off x="762000" y="1740991"/>
            <a:ext cx="2019300" cy="266700"/>
          </a:xfrm>
          <a:prstGeom prst="rect">
            <a:avLst/>
          </a:prstGeom>
          <a:noFill/>
          <a:ln>
            <a:noFill/>
          </a:ln>
        </p:spPr>
      </p:pic>
      <p:sp>
        <p:nvSpPr>
          <p:cNvPr id="267" name="Google Shape;267;p19"/>
          <p:cNvSpPr txBox="1"/>
          <p:nvPr/>
        </p:nvSpPr>
        <p:spPr>
          <a:xfrm>
            <a:off x="762000" y="2198191"/>
            <a:ext cx="48156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機能性寝具の販促で</a:t>
            </a:r>
            <a:br>
              <a:rPr lang="en-US" sz="1800" b="1"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目標を大幅達成</a:t>
            </a:r>
            <a:endParaRPr b="1" dirty="0">
              <a:latin typeface="小塚ゴシック Pro B" panose="020B0800000000000000" pitchFamily="34" charset="-128"/>
              <a:ea typeface="小塚ゴシック Pro B" panose="020B0800000000000000" pitchFamily="34" charset="-128"/>
            </a:endParaRPr>
          </a:p>
        </p:txBody>
      </p:sp>
      <p:sp>
        <p:nvSpPr>
          <p:cNvPr id="268" name="Google Shape;268;p19"/>
          <p:cNvSpPr/>
          <p:nvPr/>
        </p:nvSpPr>
        <p:spPr>
          <a:xfrm>
            <a:off x="762000" y="5314354"/>
            <a:ext cx="4586287" cy="1019175"/>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69" name="Google Shape;269;p19"/>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1ヶ月で83.9万円</a:t>
            </a:r>
            <a:endParaRPr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endParaRPr>
          </a:p>
          <a:p>
            <a:pPr marL="0" lvl="0" indent="0" algn="l" rtl="0">
              <a:spcBef>
                <a:spcPts val="0"/>
              </a:spcBef>
              <a:spcAft>
                <a:spcPts val="0"/>
              </a:spcAft>
              <a:buNone/>
            </a:pPr>
            <a:r>
              <a:rPr lang="en-US" sz="24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目標比279%を達成</a:t>
            </a:r>
            <a:endParaRPr sz="2400" dirty="0">
              <a:latin typeface="小塚ゴシック Pro B" panose="020B0800000000000000" pitchFamily="34" charset="-128"/>
              <a:ea typeface="小塚ゴシック Pro B" panose="020B0800000000000000" pitchFamily="34" charset="-128"/>
            </a:endParaRPr>
          </a:p>
        </p:txBody>
      </p:sp>
      <p:sp>
        <p:nvSpPr>
          <p:cNvPr id="270" name="Google Shape;270;p19"/>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71" name="Google Shape;271;p19"/>
          <p:cNvSpPr txBox="1"/>
          <p:nvPr/>
        </p:nvSpPr>
        <p:spPr>
          <a:xfrm>
            <a:off x="762000" y="3282169"/>
            <a:ext cx="4586287"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272" name="Google Shape;272;p19"/>
          <p:cNvSpPr txBox="1"/>
          <p:nvPr/>
        </p:nvSpPr>
        <p:spPr>
          <a:xfrm>
            <a:off x="762000" y="4179305"/>
            <a:ext cx="4586287"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273" name="Google Shape;273;p19"/>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274" name="Google Shape;274;p19"/>
          <p:cNvPicPr preferRelativeResize="0"/>
          <p:nvPr/>
        </p:nvPicPr>
        <p:blipFill>
          <a:blip r:embed="rId7">
            <a:alphaModFix/>
          </a:blip>
          <a:stretch>
            <a:fillRect/>
          </a:stretch>
        </p:blipFill>
        <p:spPr>
          <a:xfrm>
            <a:off x="5704850" y="1601634"/>
            <a:ext cx="5725149" cy="4731891"/>
          </a:xfrm>
          <a:prstGeom prst="rect">
            <a:avLst/>
          </a:prstGeom>
          <a:noFill/>
          <a:ln>
            <a:noFill/>
          </a:ln>
          <a:effectLst>
            <a:outerShdw blurRad="57150" dist="19050" dir="5400000" algn="bl" rotWithShape="0">
              <a:srgbClr val="000000">
                <a:alpha val="50000"/>
              </a:srgbClr>
            </a:outerShdw>
          </a:effectLst>
        </p:spPr>
      </p:pic>
      <p:sp>
        <p:nvSpPr>
          <p:cNvPr id="275" name="Google Shape;275;p19"/>
          <p:cNvSpPr/>
          <p:nvPr/>
        </p:nvSpPr>
        <p:spPr>
          <a:xfrm>
            <a:off x="761938" y="3469492"/>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76" name="Google Shape;276;p19"/>
          <p:cNvSpPr/>
          <p:nvPr/>
        </p:nvSpPr>
        <p:spPr>
          <a:xfrm>
            <a:off x="761938" y="4372892"/>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77" name="Google Shape;277;p19"/>
          <p:cNvSpPr txBox="1"/>
          <p:nvPr/>
        </p:nvSpPr>
        <p:spPr>
          <a:xfrm>
            <a:off x="762000" y="3419168"/>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薬機法の規制により</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快眠</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疲労回復」などの直接的な効果効能を謳うことが難しく、商品の魅力をどう伝えるかが課題だった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78" name="Google Shape;278;p19"/>
          <p:cNvSpPr txBox="1"/>
          <p:nvPr/>
        </p:nvSpPr>
        <p:spPr>
          <a:xfrm>
            <a:off x="762000" y="4315731"/>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法に触れない範囲で「睡眠体験」や「朝の目覚め」の変化に焦点を当てたストーリーを構築。写真撮影のディレクションも行い、視覚的にベネフィットを訴求。</a:t>
            </a:r>
            <a:endParaRPr dirty="0">
              <a:latin typeface="小塚ゴシック Pro M" panose="020B0700000000000000" pitchFamily="34" charset="-128"/>
              <a:ea typeface="小塚ゴシック Pro M" panose="020B0700000000000000" pitchFamily="34" charset="-128"/>
            </a:endParaRPr>
          </a:p>
        </p:txBody>
      </p:sp>
      <p:sp>
        <p:nvSpPr>
          <p:cNvPr id="3" name="スライド番号プレースホルダー 14">
            <a:extLst>
              <a:ext uri="{FF2B5EF4-FFF2-40B4-BE49-F238E27FC236}">
                <a16:creationId xmlns:a16="http://schemas.microsoft.com/office/drawing/2014/main" id="{0D02922C-DFEE-CBD0-2F3A-95D459E945C8}"/>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7</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2"/>
        <p:cNvGrpSpPr/>
        <p:nvPr/>
      </p:nvGrpSpPr>
      <p:grpSpPr>
        <a:xfrm>
          <a:off x="0" y="0"/>
          <a:ext cx="0" cy="0"/>
          <a:chOff x="0" y="0"/>
          <a:chExt cx="0" cy="0"/>
        </a:xfrm>
      </p:grpSpPr>
      <p:grpSp>
        <p:nvGrpSpPr>
          <p:cNvPr id="283" name="Google Shape;283;p20"/>
          <p:cNvGrpSpPr/>
          <p:nvPr/>
        </p:nvGrpSpPr>
        <p:grpSpPr>
          <a:xfrm>
            <a:off x="0" y="0"/>
            <a:ext cx="12643324" cy="6976048"/>
            <a:chOff x="0" y="0"/>
            <a:chExt cx="12643324" cy="6976048"/>
          </a:xfrm>
        </p:grpSpPr>
        <p:pic>
          <p:nvPicPr>
            <p:cNvPr id="284" name="Google Shape;284;p20"/>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285" name="Google Shape;285;p20"/>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286" name="Google Shape;286;p20"/>
          <p:cNvSpPr/>
          <p:nvPr/>
        </p:nvSpPr>
        <p:spPr>
          <a:xfrm>
            <a:off x="762000" y="3463625"/>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287" name="Google Shape;287;p20"/>
          <p:cNvSpPr/>
          <p:nvPr/>
        </p:nvSpPr>
        <p:spPr>
          <a:xfrm>
            <a:off x="762000" y="4367025"/>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pic>
        <p:nvPicPr>
          <p:cNvPr id="288" name="Google Shape;288;p20"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289" name="Google Shape;289;p20"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290" name="Google Shape;290;p20"/>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02</a:t>
            </a:r>
            <a:endParaRPr>
              <a:latin typeface="小塚ゴシック Pro B" panose="020B0800000000000000" pitchFamily="34" charset="-128"/>
              <a:ea typeface="小塚ゴシック Pro B" panose="020B0800000000000000" pitchFamily="34" charset="-128"/>
            </a:endParaRPr>
          </a:p>
        </p:txBody>
      </p:sp>
      <p:sp>
        <p:nvSpPr>
          <p:cNvPr id="291" name="Google Shape;291;p20"/>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sp>
        <p:nvSpPr>
          <p:cNvPr id="292" name="Google Shape;292;p20"/>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pic>
        <p:nvPicPr>
          <p:cNvPr id="294" name="Google Shape;294;p20" descr="image.png"/>
          <p:cNvPicPr preferRelativeResize="0"/>
          <p:nvPr/>
        </p:nvPicPr>
        <p:blipFill rotWithShape="1">
          <a:blip r:embed="rId6">
            <a:alphaModFix/>
          </a:blip>
          <a:srcRect/>
          <a:stretch/>
        </p:blipFill>
        <p:spPr>
          <a:xfrm>
            <a:off x="762000" y="1749440"/>
            <a:ext cx="2019300" cy="266700"/>
          </a:xfrm>
          <a:prstGeom prst="rect">
            <a:avLst/>
          </a:prstGeom>
          <a:noFill/>
          <a:ln>
            <a:noFill/>
          </a:ln>
        </p:spPr>
      </p:pic>
      <p:sp>
        <p:nvSpPr>
          <p:cNvPr id="295" name="Google Shape;295;p20"/>
          <p:cNvSpPr txBox="1"/>
          <p:nvPr/>
        </p:nvSpPr>
        <p:spPr>
          <a:xfrm>
            <a:off x="762000" y="2206641"/>
            <a:ext cx="48156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健康グッズ（ツボ押し</a:t>
            </a: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シート</a:t>
            </a: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）の</a:t>
            </a:r>
            <a:br>
              <a:rPr lang="en-US" sz="1800" b="1"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販促で</a:t>
            </a: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スピードスタート</a:t>
            </a:r>
            <a:endParaRPr b="1">
              <a:latin typeface="小塚ゴシック Pro B" panose="020B0800000000000000" pitchFamily="34" charset="-128"/>
              <a:ea typeface="小塚ゴシック Pro B" panose="020B0800000000000000" pitchFamily="34" charset="-128"/>
            </a:endParaRPr>
          </a:p>
        </p:txBody>
      </p:sp>
      <p:sp>
        <p:nvSpPr>
          <p:cNvPr id="296" name="Google Shape;296;p20"/>
          <p:cNvSpPr txBox="1"/>
          <p:nvPr/>
        </p:nvSpPr>
        <p:spPr>
          <a:xfrm>
            <a:off x="762000" y="3276689"/>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297" name="Google Shape;297;p20"/>
          <p:cNvSpPr txBox="1"/>
          <p:nvPr/>
        </p:nvSpPr>
        <p:spPr>
          <a:xfrm>
            <a:off x="762000" y="3411156"/>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ニッチな健康グッズであり、短期間で認知を広げ、支援を集めるためのインパクトのあるページ構成が必要だった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298" name="Google Shape;298;p20"/>
          <p:cNvSpPr txBox="1"/>
          <p:nvPr/>
        </p:nvSpPr>
        <p:spPr>
          <a:xfrm>
            <a:off x="762000" y="4194300"/>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299" name="Google Shape;299;p20"/>
          <p:cNvSpPr txBox="1"/>
          <p:nvPr/>
        </p:nvSpPr>
        <p:spPr>
          <a:xfrm>
            <a:off x="762000" y="4318799"/>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ターゲットの「痛み」や「悩み」に深く寄り添う構成案を作成。利用シーンを具体的にイメージさせる撮影ディレクションを行い、共感を呼ぶページに仕上げた。</a:t>
            </a:r>
            <a:endParaRPr>
              <a:latin typeface="小塚ゴシック Pro M" panose="020B0700000000000000" pitchFamily="34" charset="-128"/>
              <a:ea typeface="小塚ゴシック Pro M" panose="020B0700000000000000" pitchFamily="34" charset="-128"/>
            </a:endParaRPr>
          </a:p>
        </p:txBody>
      </p:sp>
      <p:sp>
        <p:nvSpPr>
          <p:cNvPr id="300" name="Google Shape;300;p20"/>
          <p:cNvSpPr/>
          <p:nvPr/>
        </p:nvSpPr>
        <p:spPr>
          <a:xfrm>
            <a:off x="762000" y="5314354"/>
            <a:ext cx="4586400" cy="1019100"/>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01" name="Google Shape;301;p20"/>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3日で約50万円</a:t>
            </a:r>
            <a:endParaRPr sz="24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endParaRPr>
          </a:p>
          <a:p>
            <a:pPr marL="0" lvl="0" indent="0" algn="l" rtl="0">
              <a:spcBef>
                <a:spcPts val="0"/>
              </a:spcBef>
              <a:spcAft>
                <a:spcPts val="0"/>
              </a:spcAft>
              <a:buNone/>
            </a:pPr>
            <a:r>
              <a:rPr lang="en-US" sz="24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最終219万円を達成</a:t>
            </a:r>
            <a:endParaRPr sz="2400" dirty="0">
              <a:latin typeface="小塚ゴシック Pro B" panose="020B0800000000000000" pitchFamily="34" charset="-128"/>
              <a:ea typeface="小塚ゴシック Pro B" panose="020B0800000000000000" pitchFamily="34" charset="-128"/>
            </a:endParaRPr>
          </a:p>
        </p:txBody>
      </p:sp>
      <p:sp>
        <p:nvSpPr>
          <p:cNvPr id="302" name="Google Shape;302;p20"/>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03" name="Google Shape;303;p20"/>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304" name="Google Shape;304;p20"/>
          <p:cNvPicPr preferRelativeResize="0"/>
          <p:nvPr/>
        </p:nvPicPr>
        <p:blipFill>
          <a:blip r:embed="rId7">
            <a:alphaModFix/>
          </a:blip>
          <a:stretch>
            <a:fillRect/>
          </a:stretch>
        </p:blipFill>
        <p:spPr>
          <a:xfrm>
            <a:off x="5704850" y="1826798"/>
            <a:ext cx="5725151" cy="4502553"/>
          </a:xfrm>
          <a:prstGeom prst="rect">
            <a:avLst/>
          </a:prstGeom>
          <a:noFill/>
          <a:ln>
            <a:noFill/>
          </a:ln>
          <a:effectLst>
            <a:outerShdw blurRad="57150" dist="19050" dir="5400000" algn="bl" rotWithShape="0">
              <a:srgbClr val="000000">
                <a:alpha val="50000"/>
              </a:srgbClr>
            </a:outerShdw>
          </a:effectLst>
        </p:spPr>
      </p:pic>
      <p:sp>
        <p:nvSpPr>
          <p:cNvPr id="2" name="スライド番号プレースホルダー 14">
            <a:extLst>
              <a:ext uri="{FF2B5EF4-FFF2-40B4-BE49-F238E27FC236}">
                <a16:creationId xmlns:a16="http://schemas.microsoft.com/office/drawing/2014/main" id="{84C1FE33-3C96-A54A-C78D-92CB5A48D2CE}"/>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8</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8"/>
        <p:cNvGrpSpPr/>
        <p:nvPr/>
      </p:nvGrpSpPr>
      <p:grpSpPr>
        <a:xfrm>
          <a:off x="0" y="0"/>
          <a:ext cx="0" cy="0"/>
          <a:chOff x="0" y="0"/>
          <a:chExt cx="0" cy="0"/>
        </a:xfrm>
      </p:grpSpPr>
      <p:grpSp>
        <p:nvGrpSpPr>
          <p:cNvPr id="309" name="Google Shape;309;p21"/>
          <p:cNvGrpSpPr/>
          <p:nvPr/>
        </p:nvGrpSpPr>
        <p:grpSpPr>
          <a:xfrm>
            <a:off x="0" y="0"/>
            <a:ext cx="12643324" cy="6976048"/>
            <a:chOff x="0" y="0"/>
            <a:chExt cx="12643324" cy="6976048"/>
          </a:xfrm>
        </p:grpSpPr>
        <p:pic>
          <p:nvPicPr>
            <p:cNvPr id="310" name="Google Shape;310;p21"/>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11" name="Google Shape;311;p21"/>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312" name="Google Shape;312;p21"/>
          <p:cNvSpPr/>
          <p:nvPr/>
        </p:nvSpPr>
        <p:spPr>
          <a:xfrm>
            <a:off x="762000" y="3463625"/>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313" name="Google Shape;313;p21"/>
          <p:cNvSpPr/>
          <p:nvPr/>
        </p:nvSpPr>
        <p:spPr>
          <a:xfrm>
            <a:off x="762000" y="4367025"/>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pic>
        <p:nvPicPr>
          <p:cNvPr id="314" name="Google Shape;314;p21"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315" name="Google Shape;315;p21"/>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03</a:t>
            </a:r>
            <a:endParaRPr>
              <a:latin typeface="小塚ゴシック Pro B" panose="020B0800000000000000" pitchFamily="34" charset="-128"/>
              <a:ea typeface="小塚ゴシック Pro B" panose="020B0800000000000000" pitchFamily="34" charset="-128"/>
            </a:endParaRPr>
          </a:p>
        </p:txBody>
      </p:sp>
      <p:sp>
        <p:nvSpPr>
          <p:cNvPr id="316" name="Google Shape;316;p21"/>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pic>
        <p:nvPicPr>
          <p:cNvPr id="318" name="Google Shape;318;p21" descr="image.png"/>
          <p:cNvPicPr preferRelativeResize="0"/>
          <p:nvPr/>
        </p:nvPicPr>
        <p:blipFill rotWithShape="1">
          <a:blip r:embed="rId5">
            <a:alphaModFix/>
          </a:blip>
          <a:srcRect/>
          <a:stretch/>
        </p:blipFill>
        <p:spPr>
          <a:xfrm>
            <a:off x="762000" y="1749459"/>
            <a:ext cx="1389608" cy="266700"/>
          </a:xfrm>
          <a:prstGeom prst="rect">
            <a:avLst/>
          </a:prstGeom>
          <a:noFill/>
          <a:ln>
            <a:noFill/>
          </a:ln>
        </p:spPr>
      </p:pic>
      <p:sp>
        <p:nvSpPr>
          <p:cNvPr id="319" name="Google Shape;319;p21"/>
          <p:cNvSpPr txBox="1"/>
          <p:nvPr/>
        </p:nvSpPr>
        <p:spPr>
          <a:xfrm>
            <a:off x="762000" y="2196487"/>
            <a:ext cx="48156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オンライン講座</a:t>
            </a: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の</a:t>
            </a:r>
            <a:endParaRPr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30000"/>
              </a:lnSpc>
              <a:spcBef>
                <a:spcPts val="0"/>
              </a:spcBef>
              <a:spcAft>
                <a:spcPts val="0"/>
              </a:spcAft>
              <a:buNone/>
            </a:pP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月平均売上を</a:t>
            </a:r>
            <a:r>
              <a:rPr lang="en-US" sz="24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最大化</a:t>
            </a:r>
            <a:endParaRPr b="1">
              <a:latin typeface="小塚ゴシック Pro B" panose="020B0800000000000000" pitchFamily="34" charset="-128"/>
              <a:ea typeface="小塚ゴシック Pro B" panose="020B0800000000000000" pitchFamily="34" charset="-128"/>
            </a:endParaRPr>
          </a:p>
        </p:txBody>
      </p:sp>
      <p:sp>
        <p:nvSpPr>
          <p:cNvPr id="320" name="Google Shape;320;p21"/>
          <p:cNvSpPr txBox="1"/>
          <p:nvPr/>
        </p:nvSpPr>
        <p:spPr>
          <a:xfrm>
            <a:off x="762000" y="3276689"/>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321" name="Google Shape;321;p21"/>
          <p:cNvSpPr txBox="1"/>
          <p:nvPr/>
        </p:nvSpPr>
        <p:spPr>
          <a:xfrm>
            <a:off x="762000" y="3412490"/>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広告からの流入はあるものの、LPでの離脱が多く、成約率（CVR）が伸び悩んでいた。月商も横ばい状態が続いていた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322" name="Google Shape;322;p21"/>
          <p:cNvSpPr txBox="1"/>
          <p:nvPr/>
        </p:nvSpPr>
        <p:spPr>
          <a:xfrm>
            <a:off x="762000" y="4204412"/>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323" name="Google Shape;323;p21"/>
          <p:cNvSpPr txBox="1"/>
          <p:nvPr/>
        </p:nvSpPr>
        <p:spPr>
          <a:xfrm>
            <a:off x="762000" y="4317967"/>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Meta広告の運用に加え、LPの構成とデザインを抜本的に改修。さらにLINE公式アカウントのステップ配信を見直し、見込み客の教育から成約までの導線を最適化。</a:t>
            </a:r>
            <a:endParaRPr>
              <a:latin typeface="小塚ゴシック Pro M" panose="020B0700000000000000" pitchFamily="34" charset="-128"/>
              <a:ea typeface="小塚ゴシック Pro M" panose="020B0700000000000000" pitchFamily="34" charset="-128"/>
            </a:endParaRPr>
          </a:p>
        </p:txBody>
      </p:sp>
      <p:sp>
        <p:nvSpPr>
          <p:cNvPr id="324" name="Google Shape;324;p21"/>
          <p:cNvSpPr/>
          <p:nvPr/>
        </p:nvSpPr>
        <p:spPr>
          <a:xfrm>
            <a:off x="762000" y="5314354"/>
            <a:ext cx="4586400" cy="1019100"/>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25" name="Google Shape;325;p21"/>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月平均の売上が</a:t>
            </a: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50万円から150万円まで改善</a:t>
            </a:r>
            <a:endParaRPr sz="2400">
              <a:latin typeface="小塚ゴシック Pro B" panose="020B0800000000000000" pitchFamily="34" charset="-128"/>
              <a:ea typeface="小塚ゴシック Pro B" panose="020B0800000000000000" pitchFamily="34" charset="-128"/>
            </a:endParaRPr>
          </a:p>
        </p:txBody>
      </p:sp>
      <p:sp>
        <p:nvSpPr>
          <p:cNvPr id="326" name="Google Shape;326;p21"/>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27" name="Google Shape;327;p21"/>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328" name="Google Shape;328;p21" descr="image.png"/>
          <p:cNvPicPr preferRelativeResize="0"/>
          <p:nvPr/>
        </p:nvPicPr>
        <p:blipFill rotWithShape="1">
          <a:blip r:embed="rId6">
            <a:alphaModFix/>
          </a:blip>
          <a:srcRect/>
          <a:stretch/>
        </p:blipFill>
        <p:spPr>
          <a:xfrm>
            <a:off x="762000" y="6429375"/>
            <a:ext cx="10668000" cy="238125"/>
          </a:xfrm>
          <a:prstGeom prst="rect">
            <a:avLst/>
          </a:prstGeom>
          <a:noFill/>
          <a:ln>
            <a:noFill/>
          </a:ln>
        </p:spPr>
      </p:pic>
      <p:sp>
        <p:nvSpPr>
          <p:cNvPr id="329" name="Google Shape;329;p21"/>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pic>
        <p:nvPicPr>
          <p:cNvPr id="330" name="Google Shape;330;p21" descr="「オンライン講座の月平均売上を最大化」というイメージで、選択スライドの挿絵を作成して欲しい"/>
          <p:cNvPicPr preferRelativeResize="0"/>
          <p:nvPr/>
        </p:nvPicPr>
        <p:blipFill rotWithShape="1">
          <a:blip r:embed="rId7">
            <a:alphaModFix/>
          </a:blip>
          <a:srcRect b="5784"/>
          <a:stretch/>
        </p:blipFill>
        <p:spPr>
          <a:xfrm>
            <a:off x="5834375" y="1181150"/>
            <a:ext cx="5468375" cy="5152200"/>
          </a:xfrm>
          <a:prstGeom prst="rect">
            <a:avLst/>
          </a:prstGeom>
          <a:noFill/>
          <a:ln>
            <a:noFill/>
          </a:ln>
          <a:effectLst>
            <a:outerShdw blurRad="57150" dist="19050" dir="5400000" algn="bl" rotWithShape="0">
              <a:srgbClr val="000000">
                <a:alpha val="50000"/>
              </a:srgbClr>
            </a:outerShdw>
          </a:effectLst>
        </p:spPr>
      </p:pic>
      <p:sp>
        <p:nvSpPr>
          <p:cNvPr id="2" name="スライド番号プレースホルダー 14">
            <a:extLst>
              <a:ext uri="{FF2B5EF4-FFF2-40B4-BE49-F238E27FC236}">
                <a16:creationId xmlns:a16="http://schemas.microsoft.com/office/drawing/2014/main" id="{45654F57-5C0A-1901-9A64-50EA7C38CA63}"/>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9</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4"/>
        <p:cNvGrpSpPr/>
        <p:nvPr/>
      </p:nvGrpSpPr>
      <p:grpSpPr>
        <a:xfrm>
          <a:off x="0" y="0"/>
          <a:ext cx="0" cy="0"/>
          <a:chOff x="0" y="0"/>
          <a:chExt cx="0" cy="0"/>
        </a:xfrm>
      </p:grpSpPr>
      <p:grpSp>
        <p:nvGrpSpPr>
          <p:cNvPr id="335" name="Google Shape;335;p22"/>
          <p:cNvGrpSpPr/>
          <p:nvPr/>
        </p:nvGrpSpPr>
        <p:grpSpPr>
          <a:xfrm>
            <a:off x="0" y="0"/>
            <a:ext cx="12643324" cy="6976048"/>
            <a:chOff x="0" y="0"/>
            <a:chExt cx="12643324" cy="6976048"/>
          </a:xfrm>
        </p:grpSpPr>
        <p:pic>
          <p:nvPicPr>
            <p:cNvPr id="336" name="Google Shape;336;p22"/>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37" name="Google Shape;337;p22"/>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338" name="Google Shape;338;p22"/>
          <p:cNvSpPr/>
          <p:nvPr/>
        </p:nvSpPr>
        <p:spPr>
          <a:xfrm>
            <a:off x="762000" y="3463625"/>
            <a:ext cx="4586400" cy="539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sp>
        <p:nvSpPr>
          <p:cNvPr id="339" name="Google Shape;339;p22"/>
          <p:cNvSpPr/>
          <p:nvPr/>
        </p:nvSpPr>
        <p:spPr>
          <a:xfrm>
            <a:off x="762000" y="4367025"/>
            <a:ext cx="4586400" cy="807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小塚ゴシック Pro B" panose="020B0800000000000000" pitchFamily="34" charset="-128"/>
              <a:ea typeface="小塚ゴシック Pro B" panose="020B0800000000000000" pitchFamily="34" charset="-128"/>
              <a:cs typeface="Calibri"/>
              <a:sym typeface="Calibri"/>
            </a:endParaRPr>
          </a:p>
        </p:txBody>
      </p:sp>
      <p:pic>
        <p:nvPicPr>
          <p:cNvPr id="340" name="Google Shape;340;p22"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341" name="Google Shape;341;p22"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342" name="Google Shape;342;p22"/>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CASE STUDY 04</a:t>
            </a:r>
            <a:endParaRPr>
              <a:latin typeface="小塚ゴシック Pro B" panose="020B0800000000000000" pitchFamily="34" charset="-128"/>
              <a:ea typeface="小塚ゴシック Pro B" panose="020B0800000000000000" pitchFamily="34" charset="-128"/>
            </a:endParaRPr>
          </a:p>
        </p:txBody>
      </p:sp>
      <p:sp>
        <p:nvSpPr>
          <p:cNvPr id="343" name="Google Shape;343;p22"/>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導入実績・成果</a:t>
            </a:r>
            <a:endParaRPr>
              <a:latin typeface="小塚ゴシック Pro B" panose="020B0800000000000000" pitchFamily="34" charset="-128"/>
              <a:ea typeface="小塚ゴシック Pro B" panose="020B0800000000000000" pitchFamily="34" charset="-128"/>
            </a:endParaRPr>
          </a:p>
        </p:txBody>
      </p:sp>
      <p:sp>
        <p:nvSpPr>
          <p:cNvPr id="344" name="Google Shape;344;p22"/>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pic>
        <p:nvPicPr>
          <p:cNvPr id="346" name="Google Shape;346;p22" descr="image.png"/>
          <p:cNvPicPr preferRelativeResize="0"/>
          <p:nvPr/>
        </p:nvPicPr>
        <p:blipFill rotWithShape="1">
          <a:blip r:embed="rId6">
            <a:alphaModFix/>
          </a:blip>
          <a:srcRect/>
          <a:stretch/>
        </p:blipFill>
        <p:spPr>
          <a:xfrm>
            <a:off x="762000" y="1740991"/>
            <a:ext cx="1485900" cy="266700"/>
          </a:xfrm>
          <a:prstGeom prst="rect">
            <a:avLst/>
          </a:prstGeom>
          <a:noFill/>
          <a:ln>
            <a:noFill/>
          </a:ln>
        </p:spPr>
      </p:pic>
      <p:sp>
        <p:nvSpPr>
          <p:cNvPr id="347" name="Google Shape;347;p22"/>
          <p:cNvSpPr txBox="1"/>
          <p:nvPr/>
        </p:nvSpPr>
        <p:spPr>
          <a:xfrm>
            <a:off x="762000" y="2198200"/>
            <a:ext cx="4954200" cy="960263"/>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Web</a:t>
            </a:r>
            <a:r>
              <a:rPr lang="en-US" sz="24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コンテンツ</a:t>
            </a:r>
            <a:r>
              <a:rPr lang="en-US" sz="24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記事</a:t>
            </a:r>
            <a:r>
              <a:rPr lang="en-US" sz="24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を制作し</a:t>
            </a:r>
            <a:r>
              <a:rPr lang="en-US" sz="24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br>
              <a:rPr lang="en-US" sz="1800" b="1"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24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会社と求職者のミスマッチ減</a:t>
            </a:r>
            <a:endParaRPr b="1" dirty="0">
              <a:latin typeface="小塚ゴシック Pro B" panose="020B0800000000000000" pitchFamily="34" charset="-128"/>
              <a:ea typeface="小塚ゴシック Pro B" panose="020B0800000000000000" pitchFamily="34" charset="-128"/>
            </a:endParaRPr>
          </a:p>
        </p:txBody>
      </p:sp>
      <p:sp>
        <p:nvSpPr>
          <p:cNvPr id="348" name="Google Shape;348;p22"/>
          <p:cNvSpPr txBox="1"/>
          <p:nvPr/>
        </p:nvSpPr>
        <p:spPr>
          <a:xfrm>
            <a:off x="762000" y="3276302"/>
            <a:ext cx="4586287"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課題</a:t>
            </a:r>
            <a:endParaRPr>
              <a:latin typeface="小塚ゴシック Pro B" panose="020B0800000000000000" pitchFamily="34" charset="-128"/>
              <a:ea typeface="小塚ゴシック Pro B" panose="020B0800000000000000" pitchFamily="34" charset="-128"/>
            </a:endParaRPr>
          </a:p>
        </p:txBody>
      </p:sp>
      <p:sp>
        <p:nvSpPr>
          <p:cNvPr id="349" name="Google Shape;349;p22"/>
          <p:cNvSpPr txBox="1"/>
          <p:nvPr/>
        </p:nvSpPr>
        <p:spPr>
          <a:xfrm>
            <a:off x="762000" y="3411050"/>
            <a:ext cx="45864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当初は会社案内のパンフレット制作依頼。ヒアリングの結果</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p>
          <a:p>
            <a:pPr marL="0" marR="0" lvl="0" indent="0" algn="l" rtl="0">
              <a:lnSpc>
                <a:spcPct val="160000"/>
              </a:lnSpc>
              <a:spcBef>
                <a:spcPts val="0"/>
              </a:spcBef>
              <a:spcAft>
                <a:spcPts val="0"/>
              </a:spcAft>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会社HPの情報発信力の不足から、ミスマッチが発生していた</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350" name="Google Shape;350;p22"/>
          <p:cNvSpPr txBox="1"/>
          <p:nvPr/>
        </p:nvSpPr>
        <p:spPr>
          <a:xfrm>
            <a:off x="762000" y="4198368"/>
            <a:ext cx="4586400" cy="1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解決策</a:t>
            </a:r>
            <a:endParaRPr>
              <a:latin typeface="小塚ゴシック Pro B" panose="020B0800000000000000" pitchFamily="34" charset="-128"/>
              <a:ea typeface="小塚ゴシック Pro B" panose="020B0800000000000000" pitchFamily="34" charset="-128"/>
            </a:endParaRPr>
          </a:p>
        </p:txBody>
      </p:sp>
      <p:sp>
        <p:nvSpPr>
          <p:cNvPr id="351" name="Google Shape;351;p22"/>
          <p:cNvSpPr txBox="1"/>
          <p:nvPr/>
        </p:nvSpPr>
        <p:spPr>
          <a:xfrm>
            <a:off x="762000" y="4333116"/>
            <a:ext cx="45864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パンフレット制作を中止し、「</a:t>
            </a:r>
            <a:r>
              <a:rPr lang="en-US" sz="120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会社HPに会社が求める人物像・代表の想いを載せた記事</a:t>
            </a: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」制作を提案。</a:t>
            </a:r>
            <a:r>
              <a:rPr lang="en-US" sz="120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応募前後に会社が求める人物像を伝えておくことでミスマッチを減らせるように。</a:t>
            </a:r>
            <a:endParaRPr>
              <a:latin typeface="小塚ゴシック Pro M" panose="020B0700000000000000" pitchFamily="34" charset="-128"/>
              <a:ea typeface="小塚ゴシック Pro M" panose="020B0700000000000000" pitchFamily="34" charset="-128"/>
            </a:endParaRPr>
          </a:p>
        </p:txBody>
      </p:sp>
      <p:sp>
        <p:nvSpPr>
          <p:cNvPr id="352" name="Google Shape;352;p22"/>
          <p:cNvSpPr/>
          <p:nvPr/>
        </p:nvSpPr>
        <p:spPr>
          <a:xfrm>
            <a:off x="762000" y="5314354"/>
            <a:ext cx="4586400" cy="1019100"/>
          </a:xfrm>
          <a:prstGeom prst="rect">
            <a:avLst/>
          </a:prstGeom>
          <a:solidFill>
            <a:srgbClr val="FFFC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53" name="Google Shape;353;p22"/>
          <p:cNvSpPr txBox="1"/>
          <p:nvPr/>
        </p:nvSpPr>
        <p:spPr>
          <a:xfrm>
            <a:off x="1941625" y="5459538"/>
            <a:ext cx="3327300" cy="738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240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記事公開1週間以内で</a:t>
            </a:r>
            <a:endParaRPr sz="2400">
              <a:solidFill>
                <a:srgbClr val="666666"/>
              </a:solidFill>
              <a:latin typeface="小塚ゴシック Pro B" panose="020B0800000000000000" pitchFamily="34" charset="-128"/>
              <a:ea typeface="小塚ゴシック Pro B" panose="020B0800000000000000" pitchFamily="34" charset="-128"/>
              <a:cs typeface="Noto Sans JP"/>
              <a:sym typeface="Noto Sans JP"/>
            </a:endParaRPr>
          </a:p>
          <a:p>
            <a:pPr marL="0" lvl="0" indent="0" algn="l" rtl="0">
              <a:spcBef>
                <a:spcPts val="0"/>
              </a:spcBef>
              <a:spcAft>
                <a:spcPts val="0"/>
              </a:spcAft>
              <a:buNone/>
            </a:pPr>
            <a:r>
              <a:rPr lang="en-US" sz="24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1人内定</a:t>
            </a:r>
            <a:endParaRPr sz="2400" b="1">
              <a:solidFill>
                <a:srgbClr val="2C2C2C"/>
              </a:solidFill>
              <a:latin typeface="小塚ゴシック Pro B" panose="020B0800000000000000" pitchFamily="34" charset="-128"/>
              <a:ea typeface="小塚ゴシック Pro B" panose="020B0800000000000000" pitchFamily="34" charset="-128"/>
            </a:endParaRPr>
          </a:p>
        </p:txBody>
      </p:sp>
      <p:sp>
        <p:nvSpPr>
          <p:cNvPr id="354" name="Google Shape;354;p22"/>
          <p:cNvSpPr/>
          <p:nvPr/>
        </p:nvSpPr>
        <p:spPr>
          <a:xfrm>
            <a:off x="762000" y="5314354"/>
            <a:ext cx="57300" cy="1019100"/>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55" name="Google Shape;355;p22"/>
          <p:cNvSpPr txBox="1"/>
          <p:nvPr/>
        </p:nvSpPr>
        <p:spPr>
          <a:xfrm>
            <a:off x="909988" y="5591975"/>
            <a:ext cx="94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実 績</a:t>
            </a:r>
            <a:endParaRPr sz="3000">
              <a:latin typeface="小塚ゴシック Pro B" panose="020B0800000000000000" pitchFamily="34" charset="-128"/>
              <a:ea typeface="小塚ゴシック Pro B" panose="020B0800000000000000" pitchFamily="34" charset="-128"/>
            </a:endParaRPr>
          </a:p>
        </p:txBody>
      </p:sp>
      <p:pic>
        <p:nvPicPr>
          <p:cNvPr id="356" name="Google Shape;356;p22"/>
          <p:cNvPicPr preferRelativeResize="0"/>
          <p:nvPr/>
        </p:nvPicPr>
        <p:blipFill>
          <a:blip r:embed="rId7">
            <a:alphaModFix/>
          </a:blip>
          <a:stretch>
            <a:fillRect/>
          </a:stretch>
        </p:blipFill>
        <p:spPr>
          <a:xfrm>
            <a:off x="5716305" y="2591300"/>
            <a:ext cx="5713694" cy="3000675"/>
          </a:xfrm>
          <a:prstGeom prst="rect">
            <a:avLst/>
          </a:prstGeom>
          <a:noFill/>
          <a:ln>
            <a:noFill/>
          </a:ln>
          <a:effectLst>
            <a:outerShdw blurRad="57150" dist="19050" dir="5400000" algn="bl" rotWithShape="0">
              <a:srgbClr val="000000">
                <a:alpha val="50000"/>
              </a:srgbClr>
            </a:outerShdw>
          </a:effectLst>
        </p:spPr>
      </p:pic>
      <p:sp>
        <p:nvSpPr>
          <p:cNvPr id="2" name="スライド番号プレースホルダー 14">
            <a:extLst>
              <a:ext uri="{FF2B5EF4-FFF2-40B4-BE49-F238E27FC236}">
                <a16:creationId xmlns:a16="http://schemas.microsoft.com/office/drawing/2014/main" id="{71355869-818E-E34C-9371-41581712390B}"/>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10</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0"/>
        <p:cNvGrpSpPr/>
        <p:nvPr/>
      </p:nvGrpSpPr>
      <p:grpSpPr>
        <a:xfrm>
          <a:off x="0" y="0"/>
          <a:ext cx="0" cy="0"/>
          <a:chOff x="0" y="0"/>
          <a:chExt cx="0" cy="0"/>
        </a:xfrm>
      </p:grpSpPr>
      <p:grpSp>
        <p:nvGrpSpPr>
          <p:cNvPr id="361" name="Google Shape;361;p23"/>
          <p:cNvGrpSpPr/>
          <p:nvPr/>
        </p:nvGrpSpPr>
        <p:grpSpPr>
          <a:xfrm>
            <a:off x="0" y="0"/>
            <a:ext cx="12643324" cy="6976048"/>
            <a:chOff x="0" y="0"/>
            <a:chExt cx="12643324" cy="6976048"/>
          </a:xfrm>
        </p:grpSpPr>
        <p:pic>
          <p:nvPicPr>
            <p:cNvPr id="362" name="Google Shape;362;p23"/>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63" name="Google Shape;363;p23"/>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364" name="Google Shape;364;p23"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365" name="Google Shape;365;p23" descr="image.png"/>
          <p:cNvPicPr preferRelativeResize="0"/>
          <p:nvPr/>
        </p:nvPicPr>
        <p:blipFill rotWithShape="1">
          <a:blip r:embed="rId5">
            <a:alphaModFix/>
          </a:blip>
          <a:srcRect/>
          <a:stretch/>
        </p:blipFill>
        <p:spPr>
          <a:xfrm>
            <a:off x="762000" y="5703391"/>
            <a:ext cx="10668000" cy="518070"/>
          </a:xfrm>
          <a:prstGeom prst="rect">
            <a:avLst/>
          </a:prstGeom>
          <a:noFill/>
          <a:ln>
            <a:noFill/>
          </a:ln>
        </p:spPr>
      </p:pic>
      <p:pic>
        <p:nvPicPr>
          <p:cNvPr id="366" name="Google Shape;366;p23" descr="image.png"/>
          <p:cNvPicPr preferRelativeResize="0"/>
          <p:nvPr/>
        </p:nvPicPr>
        <p:blipFill rotWithShape="1">
          <a:blip r:embed="rId6">
            <a:alphaModFix/>
          </a:blip>
          <a:srcRect/>
          <a:stretch/>
        </p:blipFill>
        <p:spPr>
          <a:xfrm>
            <a:off x="0" y="0"/>
            <a:ext cx="12192000" cy="142875"/>
          </a:xfrm>
          <a:prstGeom prst="rect">
            <a:avLst/>
          </a:prstGeom>
          <a:noFill/>
          <a:ln>
            <a:noFill/>
          </a:ln>
        </p:spPr>
      </p:pic>
      <p:sp>
        <p:nvSpPr>
          <p:cNvPr id="367" name="Google Shape;367;p23"/>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PRICE PLAN</a:t>
            </a:r>
            <a:endParaRPr>
              <a:latin typeface="小塚ゴシック Pro B" panose="020B0800000000000000" pitchFamily="34" charset="-128"/>
              <a:ea typeface="小塚ゴシック Pro B" panose="020B0800000000000000" pitchFamily="34" charset="-128"/>
            </a:endParaRPr>
          </a:p>
        </p:txBody>
      </p:sp>
      <p:sp>
        <p:nvSpPr>
          <p:cNvPr id="368" name="Google Shape;368;p23"/>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提供サービス</a:t>
            </a:r>
            <a:r>
              <a:rPr lang="en-US" sz="27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&amp; </a:t>
            </a:r>
            <a:r>
              <a:rPr lang="en-US" sz="27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料金</a:t>
            </a:r>
            <a:r>
              <a:rPr lang="ja-JP" altLang="en-US" sz="27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一覧</a:t>
            </a:r>
            <a:endParaRPr dirty="0">
              <a:latin typeface="小塚ゴシック Pro B" panose="020B0800000000000000" pitchFamily="34" charset="-128"/>
              <a:ea typeface="小塚ゴシック Pro B" panose="020B0800000000000000" pitchFamily="34" charset="-128"/>
            </a:endParaRPr>
          </a:p>
        </p:txBody>
      </p:sp>
      <p:graphicFrame>
        <p:nvGraphicFramePr>
          <p:cNvPr id="369" name="Google Shape;369;p23"/>
          <p:cNvGraphicFramePr/>
          <p:nvPr>
            <p:extLst>
              <p:ext uri="{D42A27DB-BD31-4B8C-83A1-F6EECF244321}">
                <p14:modId xmlns:p14="http://schemas.microsoft.com/office/powerpoint/2010/main" val="3774374282"/>
              </p:ext>
            </p:extLst>
          </p:nvPr>
        </p:nvGraphicFramePr>
        <p:xfrm>
          <a:off x="762000" y="1931491"/>
          <a:ext cx="10668000" cy="3581375"/>
        </p:xfrm>
        <a:graphic>
          <a:graphicData uri="http://schemas.openxmlformats.org/drawingml/2006/table">
            <a:tbl>
              <a:tblPr firstRow="1" bandRow="1">
                <a:noFill/>
                <a:tableStyleId>{8755441B-8EC1-4DEB-A316-B9E18D9EBE71}</a:tableStyleId>
              </a:tblPr>
              <a:tblGrid>
                <a:gridCol w="32004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2133600">
                  <a:extLst>
                    <a:ext uri="{9D8B030D-6E8A-4147-A177-3AD203B41FA5}">
                      <a16:colId xmlns:a16="http://schemas.microsoft.com/office/drawing/2014/main" val="20002"/>
                    </a:ext>
                  </a:extLst>
                </a:gridCol>
              </a:tblGrid>
              <a:tr h="716275">
                <a:tc>
                  <a:txBody>
                    <a:bodyPr/>
                    <a:lstStyle/>
                    <a:p>
                      <a:pPr marL="0" marR="0" lvl="0" indent="0" algn="ctr" rtl="0">
                        <a:spcBef>
                          <a:spcPts val="0"/>
                        </a:spcBef>
                        <a:spcAft>
                          <a:spcPts val="0"/>
                        </a:spcAft>
                        <a:buNone/>
                      </a:pPr>
                      <a:r>
                        <a:rPr lang="en-US" sz="12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プラン名</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ctr" rtl="0">
                        <a:spcBef>
                          <a:spcPts val="0"/>
                        </a:spcBef>
                        <a:spcAft>
                          <a:spcPts val="0"/>
                        </a:spcAft>
                        <a:buNone/>
                      </a:pPr>
                      <a:r>
                        <a:rPr lang="en-US" sz="12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内容</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価格</a:t>
                      </a:r>
                      <a:r>
                        <a:rPr lang="ja-JP" altLang="en-US" sz="12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（税込）</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extLst>
                  <a:ext uri="{0D108BD9-81ED-4DB2-BD59-A6C34878D82A}">
                    <a16:rowId xmlns:a16="http://schemas.microsoft.com/office/drawing/2014/main" val="10000"/>
                  </a:ext>
                </a:extLst>
              </a:tr>
              <a:tr h="716275">
                <a:tc>
                  <a:txBody>
                    <a:bodyPr/>
                    <a:lstStyle/>
                    <a:p>
                      <a:pPr marL="0" marR="0" lvl="0" indent="0" algn="ctr" rtl="0">
                        <a:spcBef>
                          <a:spcPts val="0"/>
                        </a:spcBef>
                        <a:spcAft>
                          <a:spcPts val="0"/>
                        </a:spcAft>
                        <a:buNone/>
                      </a:pPr>
                      <a:r>
                        <a:rPr lang="en-US" sz="1200" b="1"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制作代行「カワリミ</a:t>
                      </a:r>
                      <a:r>
                        <a:rPr lang="en-US" sz="1200" b="1"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集客活動に必要な</a:t>
                      </a:r>
                      <a:r>
                        <a:rPr lang="en-US" sz="1200" b="1"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広告物の制作</a:t>
                      </a:r>
                      <a:r>
                        <a:rPr lang="en-US" sz="1200" b="1"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を代行</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します</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・HP</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、チラシ、LINE構築</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・運用、Meta広告運用</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など</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zh-CN" alt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単発  　</a:t>
                      </a:r>
                      <a:r>
                        <a:rPr lang="en-US" altLang="zh-CN"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5,000</a:t>
                      </a:r>
                      <a:r>
                        <a:rPr lang="zh-CN" alt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円</a:t>
                      </a:r>
                      <a:r>
                        <a:rPr lang="en-US" altLang="zh-CN"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lang="zh-CN" altLang="en-US"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1"/>
                  </a:ext>
                </a:extLst>
              </a:tr>
              <a:tr h="716275">
                <a:tc>
                  <a:txBody>
                    <a:bodyPr/>
                    <a:lstStyle/>
                    <a:p>
                      <a:pPr marL="0" marR="0" lvl="0" indent="0" algn="ctr" rtl="0">
                        <a:spcBef>
                          <a:spcPts val="0"/>
                        </a:spcBef>
                        <a:spcAft>
                          <a:spcPts val="0"/>
                        </a:spcAft>
                        <a:buNone/>
                      </a:pPr>
                      <a:r>
                        <a:rPr lang="en-US" sz="1200" b="1"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集客顧問「ミチスジ</a:t>
                      </a:r>
                      <a:r>
                        <a:rPr lang="en-US" sz="1200" b="1"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a:t>
                      </a:r>
                      <a:endParaRPr sz="1200" b="1"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顧問プラン</a:t>
                      </a:r>
                      <a:endParaRPr sz="12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集客に必要な広告物の添削、活動方針や戦略をアドバイス</a:t>
                      </a:r>
                      <a:r>
                        <a:rPr lang="en-US" sz="1200" b="1"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endParaRPr sz="1200" b="1"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月最大4時間のZoom相談</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にて対応します。</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ja-JP" alt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月額　</a:t>
                      </a:r>
                      <a:r>
                        <a:rPr lang="en-US" altLang="ja-JP"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49,800</a:t>
                      </a:r>
                      <a:r>
                        <a:rPr lang="ja-JP" alt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円</a:t>
                      </a:r>
                      <a:r>
                        <a:rPr lang="ja-JP" alt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lang="ja-JP" altLang="en-US"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2"/>
                  </a:ext>
                </a:extLst>
              </a:tr>
              <a:tr h="716275">
                <a:tc>
                  <a:txBody>
                    <a:bodyPr/>
                    <a:lstStyle/>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集客顧問「ミチスジ</a:t>
                      </a:r>
                      <a:r>
                        <a:rPr lang="en-US" sz="12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a:t>
                      </a:r>
                      <a:endParaRPr sz="12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体験プラン</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「ミチスジ」の体験プラン。最大2時間のZoom相談で、</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1"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現在の広告物を添削、対応方針を提案</a:t>
                      </a:r>
                      <a:r>
                        <a:rPr lang="en-US" sz="1200"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します</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単発</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14,800円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extLst>
                  <a:ext uri="{0D108BD9-81ED-4DB2-BD59-A6C34878D82A}">
                    <a16:rowId xmlns:a16="http://schemas.microsoft.com/office/drawing/2014/main" val="10003"/>
                  </a:ext>
                </a:extLst>
              </a:tr>
              <a:tr h="716275">
                <a:tc>
                  <a:txBody>
                    <a:bodyPr/>
                    <a:lstStyle/>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集客顧問「ミチスジ」</a:t>
                      </a:r>
                      <a:endParaRPr sz="1200" b="1"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ctr" rtl="0">
                        <a:spcBef>
                          <a:spcPts val="0"/>
                        </a:spcBef>
                        <a:spcAft>
                          <a:spcPts val="0"/>
                        </a:spcAft>
                        <a:buNone/>
                      </a:pPr>
                      <a:r>
                        <a:rPr lang="en-US" sz="1200" b="1"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提案プラン</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b="1" i="0" u="none" strike="noStrike" cap="none"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現状分析と</a:t>
                      </a:r>
                      <a:r>
                        <a:rPr lang="ja-JP" altLang="en-US" sz="1200" b="1" i="0" u="none" strike="noStrike" cap="none" dirty="0">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必要な</a:t>
                      </a:r>
                      <a:r>
                        <a:rPr lang="en-US" sz="1200" b="1" i="0" u="none" strike="noStrike" cap="none" dirty="0" err="1">
                          <a:solidFill>
                            <a:srgbClr val="FF0000"/>
                          </a:solidFill>
                          <a:latin typeface="小塚ゴシック Pro M" panose="020B0700000000000000" pitchFamily="34" charset="-128"/>
                          <a:ea typeface="小塚ゴシック Pro M" panose="020B0700000000000000" pitchFamily="34" charset="-128"/>
                          <a:cs typeface="Noto Sans JP"/>
                          <a:sym typeface="Noto Sans JP"/>
                        </a:rPr>
                        <a:t>施策を提案する提案書の作成</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endParaRPr sz="1800" b="1" dirty="0">
                        <a:solidFill>
                          <a:srgbClr val="2C2C2C"/>
                        </a:solidFill>
                        <a:latin typeface="小塚ゴシック Pro M" panose="020B0700000000000000" pitchFamily="34" charset="-128"/>
                        <a:ea typeface="小塚ゴシック Pro M" panose="020B0700000000000000" pitchFamily="34" charset="-128"/>
                      </a:endParaRPr>
                    </a:p>
                    <a:p>
                      <a:pPr marL="0" marR="0" lvl="0" indent="0" algn="l" rtl="0">
                        <a:spcBef>
                          <a:spcPts val="0"/>
                        </a:spcBef>
                        <a:spcAft>
                          <a:spcPts val="0"/>
                        </a:spcAft>
                        <a:buNone/>
                      </a:pP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サービスと集客活動の両面で提案</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いたします</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tc>
                  <a:txBody>
                    <a:bodyPr/>
                    <a:lstStyle/>
                    <a:p>
                      <a:pPr marL="0" marR="0" lvl="0" indent="0" algn="l" rtl="0">
                        <a:spcBef>
                          <a:spcPts val="0"/>
                        </a:spcBef>
                        <a:spcAft>
                          <a:spcPts val="0"/>
                        </a:spcAft>
                        <a:buNone/>
                      </a:pP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単発</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49</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8</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00円</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CF0"/>
                    </a:solidFill>
                  </a:tcPr>
                </a:tc>
                <a:extLst>
                  <a:ext uri="{0D108BD9-81ED-4DB2-BD59-A6C34878D82A}">
                    <a16:rowId xmlns:a16="http://schemas.microsoft.com/office/drawing/2014/main" val="10004"/>
                  </a:ext>
                </a:extLst>
              </a:tr>
            </a:tbl>
          </a:graphicData>
        </a:graphic>
      </p:graphicFrame>
      <p:sp>
        <p:nvSpPr>
          <p:cNvPr id="370" name="Google Shape;370;p23"/>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372" name="Google Shape;372;p23"/>
          <p:cNvSpPr/>
          <p:nvPr/>
        </p:nvSpPr>
        <p:spPr>
          <a:xfrm>
            <a:off x="762000" y="2498228"/>
            <a:ext cx="3200400" cy="285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3" name="Google Shape;373;p23"/>
          <p:cNvSpPr/>
          <p:nvPr/>
        </p:nvSpPr>
        <p:spPr>
          <a:xfrm>
            <a:off x="3962400" y="2498228"/>
            <a:ext cx="5334000" cy="285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4" name="Google Shape;374;p23"/>
          <p:cNvSpPr/>
          <p:nvPr/>
        </p:nvSpPr>
        <p:spPr>
          <a:xfrm>
            <a:off x="9296400" y="2498228"/>
            <a:ext cx="2133600" cy="28575"/>
          </a:xfrm>
          <a:prstGeom prst="rect">
            <a:avLst/>
          </a:prstGeom>
          <a:solidFill>
            <a:srgbClr val="C5A0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5" name="Google Shape;375;p23"/>
          <p:cNvSpPr txBox="1"/>
          <p:nvPr/>
        </p:nvSpPr>
        <p:spPr>
          <a:xfrm>
            <a:off x="914400" y="5855791"/>
            <a:ext cx="10363200" cy="258532"/>
          </a:xfrm>
          <a:prstGeom prst="rect">
            <a:avLst/>
          </a:prstGeom>
          <a:noFill/>
          <a:ln>
            <a:noFill/>
          </a:ln>
        </p:spPr>
        <p:txBody>
          <a:bodyPr spcFirstLastPara="1" wrap="square" lIns="0" tIns="0" rIns="0" bIns="0" anchor="t" anchorCtr="0">
            <a:spAutoFit/>
          </a:bodyPr>
          <a:lstStyle/>
          <a:p>
            <a:pPr marL="0" marR="0" lvl="0" indent="0" algn="ctr" rtl="0">
              <a:lnSpc>
                <a:spcPct val="159904"/>
              </a:lnSpc>
              <a:spcBef>
                <a:spcPts val="0"/>
              </a:spcBef>
              <a:spcAft>
                <a:spcPts val="0"/>
              </a:spcAft>
              <a:buNone/>
            </a:pPr>
            <a:r>
              <a:rPr lang="en-US" sz="105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「ミチスジ」顧問プラン契約期間中は、制作代行「カワリミ」の費用が 20% OFF になります。</a:t>
            </a:r>
            <a:endParaRPr dirty="0">
              <a:latin typeface="小塚ゴシック Pro M" panose="020B0700000000000000" pitchFamily="34" charset="-128"/>
              <a:ea typeface="小塚ゴシック Pro M" panose="020B0700000000000000" pitchFamily="34" charset="-128"/>
            </a:endParaRPr>
          </a:p>
        </p:txBody>
      </p:sp>
      <p:sp>
        <p:nvSpPr>
          <p:cNvPr id="376" name="Google Shape;376;p23"/>
          <p:cNvSpPr/>
          <p:nvPr/>
        </p:nvSpPr>
        <p:spPr>
          <a:xfrm>
            <a:off x="762000" y="4012703"/>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7" name="Google Shape;377;p23"/>
          <p:cNvSpPr/>
          <p:nvPr/>
        </p:nvSpPr>
        <p:spPr>
          <a:xfrm>
            <a:off x="3962400" y="4012703"/>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8" name="Google Shape;378;p23"/>
          <p:cNvSpPr/>
          <p:nvPr/>
        </p:nvSpPr>
        <p:spPr>
          <a:xfrm>
            <a:off x="9296400" y="4012703"/>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79" name="Google Shape;379;p23"/>
          <p:cNvSpPr/>
          <p:nvPr/>
        </p:nvSpPr>
        <p:spPr>
          <a:xfrm>
            <a:off x="762000" y="4755653"/>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0" name="Google Shape;380;p23"/>
          <p:cNvSpPr/>
          <p:nvPr/>
        </p:nvSpPr>
        <p:spPr>
          <a:xfrm>
            <a:off x="3962400" y="4755653"/>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1" name="Google Shape;381;p23"/>
          <p:cNvSpPr/>
          <p:nvPr/>
        </p:nvSpPr>
        <p:spPr>
          <a:xfrm>
            <a:off x="9296400" y="4755653"/>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2" name="Google Shape;382;p23"/>
          <p:cNvSpPr/>
          <p:nvPr/>
        </p:nvSpPr>
        <p:spPr>
          <a:xfrm>
            <a:off x="762000" y="5498603"/>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3" name="Google Shape;383;p23"/>
          <p:cNvSpPr/>
          <p:nvPr/>
        </p:nvSpPr>
        <p:spPr>
          <a:xfrm>
            <a:off x="3962400" y="5498603"/>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84" name="Google Shape;384;p23"/>
          <p:cNvSpPr/>
          <p:nvPr/>
        </p:nvSpPr>
        <p:spPr>
          <a:xfrm>
            <a:off x="9296400" y="5498603"/>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E482C485-F437-2943-D54A-FC8BFFC4F6E2}"/>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11</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3" name="Google Shape;376;p23">
            <a:extLst>
              <a:ext uri="{FF2B5EF4-FFF2-40B4-BE49-F238E27FC236}">
                <a16:creationId xmlns:a16="http://schemas.microsoft.com/office/drawing/2014/main" id="{5A1C4D8C-BD24-B7E8-AA27-C3CC223D70D6}"/>
              </a:ext>
            </a:extLst>
          </p:cNvPr>
          <p:cNvSpPr/>
          <p:nvPr/>
        </p:nvSpPr>
        <p:spPr>
          <a:xfrm>
            <a:off x="762000" y="3333750"/>
            <a:ext cx="32004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 name="Google Shape;377;p23">
            <a:extLst>
              <a:ext uri="{FF2B5EF4-FFF2-40B4-BE49-F238E27FC236}">
                <a16:creationId xmlns:a16="http://schemas.microsoft.com/office/drawing/2014/main" id="{5221970A-F39B-D2B8-8A31-5F30C0CB60CC}"/>
              </a:ext>
            </a:extLst>
          </p:cNvPr>
          <p:cNvSpPr/>
          <p:nvPr/>
        </p:nvSpPr>
        <p:spPr>
          <a:xfrm>
            <a:off x="3962400" y="3333750"/>
            <a:ext cx="53340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6" name="Google Shape;378;p23">
            <a:extLst>
              <a:ext uri="{FF2B5EF4-FFF2-40B4-BE49-F238E27FC236}">
                <a16:creationId xmlns:a16="http://schemas.microsoft.com/office/drawing/2014/main" id="{8EA815A4-BC03-840F-5C2D-93BC8D0D88E0}"/>
              </a:ext>
            </a:extLst>
          </p:cNvPr>
          <p:cNvSpPr/>
          <p:nvPr/>
        </p:nvSpPr>
        <p:spPr>
          <a:xfrm>
            <a:off x="9296400" y="3325467"/>
            <a:ext cx="213360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8"/>
        <p:cNvGrpSpPr/>
        <p:nvPr/>
      </p:nvGrpSpPr>
      <p:grpSpPr>
        <a:xfrm>
          <a:off x="0" y="0"/>
          <a:ext cx="0" cy="0"/>
          <a:chOff x="0" y="0"/>
          <a:chExt cx="0" cy="0"/>
        </a:xfrm>
      </p:grpSpPr>
      <p:grpSp>
        <p:nvGrpSpPr>
          <p:cNvPr id="389" name="Google Shape;389;p24"/>
          <p:cNvGrpSpPr/>
          <p:nvPr/>
        </p:nvGrpSpPr>
        <p:grpSpPr>
          <a:xfrm>
            <a:off x="0" y="0"/>
            <a:ext cx="12643324" cy="6976048"/>
            <a:chOff x="0" y="0"/>
            <a:chExt cx="12643324" cy="6976048"/>
          </a:xfrm>
        </p:grpSpPr>
        <p:pic>
          <p:nvPicPr>
            <p:cNvPr id="390" name="Google Shape;390;p24"/>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391" name="Google Shape;391;p24"/>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sp>
        <p:nvSpPr>
          <p:cNvPr id="392" name="Google Shape;392;p24"/>
          <p:cNvSpPr/>
          <p:nvPr/>
        </p:nvSpPr>
        <p:spPr>
          <a:xfrm>
            <a:off x="5505450" y="5076676"/>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393" name="Google Shape;393;p24"/>
          <p:cNvSpPr/>
          <p:nvPr/>
        </p:nvSpPr>
        <p:spPr>
          <a:xfrm>
            <a:off x="5505450" y="3724126"/>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pic>
        <p:nvPicPr>
          <p:cNvPr id="394" name="Google Shape;394;p24"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395" name="Google Shape;395;p24" descr="image.png"/>
          <p:cNvPicPr preferRelativeResize="0"/>
          <p:nvPr/>
        </p:nvPicPr>
        <p:blipFill rotWithShape="1">
          <a:blip r:embed="rId5">
            <a:alphaModFix/>
          </a:blip>
          <a:srcRect/>
          <a:stretch/>
        </p:blipFill>
        <p:spPr>
          <a:xfrm>
            <a:off x="762000" y="1740998"/>
            <a:ext cx="4267200" cy="4497878"/>
          </a:xfrm>
          <a:prstGeom prst="rect">
            <a:avLst/>
          </a:prstGeom>
          <a:noFill/>
          <a:ln>
            <a:noFill/>
          </a:ln>
        </p:spPr>
      </p:pic>
      <p:pic>
        <p:nvPicPr>
          <p:cNvPr id="396" name="Google Shape;396;p24" descr="image.png"/>
          <p:cNvPicPr preferRelativeResize="0"/>
          <p:nvPr/>
        </p:nvPicPr>
        <p:blipFill rotWithShape="1">
          <a:blip r:embed="rId6">
            <a:alphaModFix/>
          </a:blip>
          <a:srcRect/>
          <a:stretch/>
        </p:blipFill>
        <p:spPr>
          <a:xfrm>
            <a:off x="1143000" y="5021322"/>
            <a:ext cx="3505200" cy="828526"/>
          </a:xfrm>
          <a:prstGeom prst="rect">
            <a:avLst/>
          </a:prstGeom>
          <a:noFill/>
          <a:ln>
            <a:noFill/>
          </a:ln>
        </p:spPr>
      </p:pic>
      <p:pic>
        <p:nvPicPr>
          <p:cNvPr id="397" name="Google Shape;397;p24"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398" name="Google Shape;398;p24"/>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KAWARIMI</a:t>
            </a:r>
            <a:endParaRPr>
              <a:latin typeface="小塚ゴシック Pro B" panose="020B0800000000000000" pitchFamily="34" charset="-128"/>
              <a:ea typeface="小塚ゴシック Pro B" panose="020B0800000000000000" pitchFamily="34" charset="-128"/>
            </a:endParaRPr>
          </a:p>
        </p:txBody>
      </p:sp>
      <p:sp>
        <p:nvSpPr>
          <p:cNvPr id="399" name="Google Shape;399;p24"/>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制作代行サービス「カワリミ」</a:t>
            </a:r>
            <a:r>
              <a:rPr lang="en-US" sz="27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詳細</a:t>
            </a:r>
            <a:endParaRPr>
              <a:latin typeface="小塚ゴシック Pro B" panose="020B0800000000000000" pitchFamily="34" charset="-128"/>
              <a:ea typeface="小塚ゴシック Pro B" panose="020B0800000000000000" pitchFamily="34" charset="-128"/>
            </a:endParaRPr>
          </a:p>
        </p:txBody>
      </p:sp>
      <p:sp>
        <p:nvSpPr>
          <p:cNvPr id="400" name="Google Shape;400;p24"/>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02" name="Google Shape;402;p24"/>
          <p:cNvSpPr txBox="1"/>
          <p:nvPr/>
        </p:nvSpPr>
        <p:spPr>
          <a:xfrm>
            <a:off x="1143000" y="2169616"/>
            <a:ext cx="3505200" cy="116339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あなたの代わりに制作・運用を</a:t>
            </a:r>
            <a:endParaRPr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40000"/>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代行。 手を動かさずに「成果」</a:t>
            </a:r>
            <a:endParaRPr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40000"/>
              </a:lnSpc>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だけを</a:t>
            </a:r>
            <a:r>
              <a:rPr lang="en-US" sz="18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受け取れます</a:t>
            </a: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403" name="Google Shape;403;p24"/>
          <p:cNvSpPr txBox="1"/>
          <p:nvPr/>
        </p:nvSpPr>
        <p:spPr>
          <a:xfrm>
            <a:off x="1143000" y="3666000"/>
            <a:ext cx="3505200" cy="118186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法規制（薬機法・景表法）を守る「守り」と、売上を作るための「攻め」。この両輪を回す制作物を、プロのライター/ディレクターが一気通貫で制作します。</a:t>
            </a:r>
            <a:endParaRPr>
              <a:latin typeface="小塚ゴシック Pro M" panose="020B0700000000000000" pitchFamily="34" charset="-128"/>
              <a:ea typeface="小塚ゴシック Pro M" panose="020B0700000000000000" pitchFamily="34" charset="-128"/>
            </a:endParaRPr>
          </a:p>
        </p:txBody>
      </p:sp>
      <p:sp>
        <p:nvSpPr>
          <p:cNvPr id="404" name="Google Shape;404;p24"/>
          <p:cNvSpPr txBox="1"/>
          <p:nvPr/>
        </p:nvSpPr>
        <p:spPr>
          <a:xfrm>
            <a:off x="1305000" y="5296998"/>
            <a:ext cx="3181200" cy="27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単発</a:t>
            </a:r>
            <a:r>
              <a:rPr lang="en-US" sz="1800" b="1"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 5,000円〜</a:t>
            </a:r>
            <a:endParaRPr sz="1800" dirty="0">
              <a:latin typeface="小塚ゴシック Pro B" panose="020B0800000000000000" pitchFamily="34" charset="-128"/>
              <a:ea typeface="小塚ゴシック Pro B" panose="020B0800000000000000" pitchFamily="34" charset="-128"/>
            </a:endParaRPr>
          </a:p>
        </p:txBody>
      </p:sp>
      <p:sp>
        <p:nvSpPr>
          <p:cNvPr id="405" name="Google Shape;405;p24"/>
          <p:cNvSpPr txBox="1"/>
          <p:nvPr/>
        </p:nvSpPr>
        <p:spPr>
          <a:xfrm>
            <a:off x="1302870" y="5542087"/>
            <a:ext cx="3181350" cy="258532"/>
          </a:xfrm>
          <a:prstGeom prst="rect">
            <a:avLst/>
          </a:prstGeom>
          <a:noFill/>
          <a:ln>
            <a:noFill/>
          </a:ln>
        </p:spPr>
        <p:txBody>
          <a:bodyPr spcFirstLastPara="1" wrap="square" lIns="0" tIns="0" rIns="0" bIns="0" anchor="t" anchorCtr="0">
            <a:spAutoFit/>
          </a:bodyPr>
          <a:lstStyle/>
          <a:p>
            <a:pPr marL="0" marR="0" lvl="0" indent="0" algn="ctr" rtl="0">
              <a:lnSpc>
                <a:spcPct val="159904"/>
              </a:lnSpc>
              <a:spcBef>
                <a:spcPts val="0"/>
              </a:spcBef>
              <a:spcAft>
                <a:spcPts val="0"/>
              </a:spcAft>
              <a:buNone/>
            </a:pPr>
            <a:r>
              <a:rPr lang="en-US" sz="1050"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a:t>
            </a:r>
            <a:r>
              <a:rPr lang="en-US" sz="1050"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内容により変動</a:t>
            </a:r>
            <a:r>
              <a:rPr lang="en-US" sz="1050"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 / </a:t>
            </a:r>
            <a:r>
              <a:rPr lang="en-US" sz="1050" i="0" u="none" strike="noStrike" cap="none" dirty="0" err="1">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見積無料</a:t>
            </a:r>
            <a:r>
              <a:rPr lang="en-US" sz="1050" i="0" u="none" strike="noStrike" cap="none"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409" name="Google Shape;409;p24"/>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カワリミをおすすめする理由3選</a:t>
            </a:r>
            <a:endParaRPr>
              <a:latin typeface="小塚ゴシック Pro B" panose="020B0800000000000000" pitchFamily="34" charset="-128"/>
              <a:ea typeface="小塚ゴシック Pro B" panose="020B0800000000000000" pitchFamily="34" charset="-128"/>
            </a:endParaRPr>
          </a:p>
        </p:txBody>
      </p:sp>
      <p:sp>
        <p:nvSpPr>
          <p:cNvPr id="410" name="Google Shape;410;p24"/>
          <p:cNvSpPr/>
          <p:nvPr/>
        </p:nvSpPr>
        <p:spPr>
          <a:xfrm>
            <a:off x="5505450" y="2371576"/>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13" name="Google Shape;413;p24"/>
          <p:cNvSpPr txBox="1"/>
          <p:nvPr/>
        </p:nvSpPr>
        <p:spPr>
          <a:xfrm>
            <a:off x="6276975" y="2862402"/>
            <a:ext cx="4903817" cy="553998"/>
          </a:xfrm>
          <a:prstGeom prst="rect">
            <a:avLst/>
          </a:prstGeom>
          <a:noFill/>
          <a:ln>
            <a:noFill/>
          </a:ln>
        </p:spPr>
        <p:txBody>
          <a:bodyPr spcFirstLastPara="1" wrap="square" lIns="0" tIns="0" rIns="0" bIns="0" anchor="t" anchorCtr="0">
            <a:spAutoFit/>
          </a:bodyPr>
          <a:lstStyle/>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企画・構成から制作まで丸投げOK。 本業に集中できます。</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a:p>
            <a:pPr marL="0" lvl="0" indent="0" algn="l" rtl="0">
              <a:lnSpc>
                <a:spcPct val="150000"/>
              </a:lnSpc>
              <a:spcBef>
                <a:spcPts val="0"/>
              </a:spcBef>
              <a:spcAft>
                <a:spcPts val="0"/>
              </a:spcAft>
              <a:buSzPts val="1100"/>
              <a:buNone/>
            </a:pP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※制作に必要な情報・素材のご提供のみお願いします。</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414" name="Google Shape;414;p24"/>
          <p:cNvSpPr txBox="1"/>
          <p:nvPr/>
        </p:nvSpPr>
        <p:spPr>
          <a:xfrm>
            <a:off x="6276975" y="4214860"/>
            <a:ext cx="4903817" cy="553998"/>
          </a:xfrm>
          <a:prstGeom prst="rect">
            <a:avLst/>
          </a:prstGeom>
          <a:noFill/>
          <a:ln>
            <a:noFill/>
          </a:ln>
        </p:spPr>
        <p:txBody>
          <a:bodyPr spcFirstLastPara="1" wrap="square" lIns="0" tIns="0" rIns="0" bIns="0" anchor="t" anchorCtr="0">
            <a:spAutoFit/>
          </a:bodyPr>
          <a:lstStyle/>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法律を遵守しながら、ターゲットの心理を突くセールスライティングで成果を作ります</a:t>
            </a: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415" name="Google Shape;415;p24"/>
          <p:cNvSpPr txBox="1"/>
          <p:nvPr/>
        </p:nvSpPr>
        <p:spPr>
          <a:xfrm>
            <a:off x="6276975" y="5556827"/>
            <a:ext cx="4903817" cy="553998"/>
          </a:xfrm>
          <a:prstGeom prst="rect">
            <a:avLst/>
          </a:prstGeom>
          <a:noFill/>
          <a:ln>
            <a:noFill/>
          </a:ln>
        </p:spPr>
        <p:txBody>
          <a:bodyPr spcFirstLastPara="1" wrap="square" lIns="0" tIns="0" rIns="0" bIns="0" anchor="t" anchorCtr="0">
            <a:spAutoFit/>
          </a:bodyPr>
          <a:lstStyle/>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制作物の相談を受けたときは、本当に必要なのかを判断した上で受注</a:t>
            </a: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a:p>
            <a:pPr marL="0" lvl="0" indent="0" algn="l" rtl="0">
              <a:lnSpc>
                <a:spcPct val="150000"/>
              </a:lnSpc>
              <a:spcBef>
                <a:spcPts val="0"/>
              </a:spcBef>
              <a:spcAft>
                <a:spcPts val="0"/>
              </a:spcAft>
              <a:buSzPts val="1100"/>
              <a:buNone/>
            </a:pPr>
            <a:r>
              <a:rPr lang="en-US" sz="1200"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お互いの時間とお金を大事にします</a:t>
            </a:r>
            <a:r>
              <a:rPr lang="en-US"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sz="1200"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416" name="Google Shape;416;p24"/>
          <p:cNvSpPr txBox="1"/>
          <p:nvPr/>
        </p:nvSpPr>
        <p:spPr>
          <a:xfrm>
            <a:off x="6276975" y="2547720"/>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ja-JP" altLang="en-US" sz="135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制作の手間を減らせる</a:t>
            </a:r>
            <a:endParaRPr dirty="0">
              <a:latin typeface="小塚ゴシック Pro B" panose="020B0800000000000000" pitchFamily="34" charset="-128"/>
              <a:ea typeface="小塚ゴシック Pro B" panose="020B0800000000000000" pitchFamily="34" charset="-128"/>
            </a:endParaRPr>
          </a:p>
        </p:txBody>
      </p:sp>
      <p:sp>
        <p:nvSpPr>
          <p:cNvPr id="417" name="Google Shape;417;p24"/>
          <p:cNvSpPr txBox="1"/>
          <p:nvPr/>
        </p:nvSpPr>
        <p:spPr>
          <a:xfrm>
            <a:off x="6276975" y="3887178"/>
            <a:ext cx="2512574" cy="290849"/>
          </a:xfrm>
          <a:prstGeom prst="rect">
            <a:avLst/>
          </a:prstGeom>
          <a:noFill/>
          <a:ln>
            <a:noFill/>
          </a:ln>
        </p:spPr>
        <p:txBody>
          <a:bodyPr spcFirstLastPara="1" wrap="square" lIns="0" tIns="0" rIns="0" bIns="0" anchor="t" anchorCtr="0">
            <a:spAutoFit/>
          </a:bodyPr>
          <a:lstStyle/>
          <a:p>
            <a:pPr marL="0" lvl="0" indent="0" algn="l" rtl="0">
              <a:lnSpc>
                <a:spcPct val="139925"/>
              </a:lnSpc>
              <a:spcBef>
                <a:spcPts val="0"/>
              </a:spcBef>
              <a:spcAft>
                <a:spcPts val="0"/>
              </a:spcAft>
              <a:buNone/>
            </a:pPr>
            <a:r>
              <a:rPr lang="en-US" sz="135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薬機法を守り</a:t>
            </a:r>
            <a:r>
              <a:rPr lang="ja-JP" altLang="en-US"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ながら</a:t>
            </a:r>
            <a:r>
              <a:rPr lang="en-US"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r>
              <a:rPr lang="en-US" sz="135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攻める</a:t>
            </a:r>
            <a:r>
              <a:rPr lang="en-US"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418" name="Google Shape;418;p24"/>
          <p:cNvSpPr txBox="1"/>
          <p:nvPr/>
        </p:nvSpPr>
        <p:spPr>
          <a:xfrm>
            <a:off x="6276975" y="5231635"/>
            <a:ext cx="3283800" cy="290849"/>
          </a:xfrm>
          <a:prstGeom prst="rect">
            <a:avLst/>
          </a:prstGeom>
          <a:noFill/>
          <a:ln>
            <a:noFill/>
          </a:ln>
        </p:spPr>
        <p:txBody>
          <a:bodyPr spcFirstLastPara="1" wrap="square" lIns="0" tIns="0" rIns="0" bIns="0" anchor="t" anchorCtr="0">
            <a:spAutoFit/>
          </a:bodyPr>
          <a:lstStyle/>
          <a:p>
            <a:pPr marL="0" lvl="0" indent="0" algn="l" rtl="0">
              <a:lnSpc>
                <a:spcPct val="139925"/>
              </a:lnSpc>
              <a:spcBef>
                <a:spcPts val="0"/>
              </a:spcBef>
              <a:spcAft>
                <a:spcPts val="0"/>
              </a:spcAft>
              <a:buNone/>
            </a:pPr>
            <a:r>
              <a:rPr lang="en-US" sz="135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現状に合わせた制作物の提案も可能</a:t>
            </a:r>
            <a:endParaRPr sz="135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422" name="Google Shape;422;p24"/>
          <p:cNvSpPr txBox="1"/>
          <p:nvPr/>
        </p:nvSpPr>
        <p:spPr>
          <a:xfrm>
            <a:off x="1143000" y="5895076"/>
            <a:ext cx="3505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dirty="0">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※単発5,000円は30秒のスピーチ原稿が対象。</a:t>
            </a:r>
            <a:endParaRPr dirty="0">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C9BDD6D9-4066-5D99-1194-CEC174D8704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12</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8" name="楕円 7">
            <a:extLst>
              <a:ext uri="{FF2B5EF4-FFF2-40B4-BE49-F238E27FC236}">
                <a16:creationId xmlns:a16="http://schemas.microsoft.com/office/drawing/2014/main" id="{F1AAE6EE-C7C4-F826-4AA4-AF4153B43305}"/>
              </a:ext>
            </a:extLst>
          </p:cNvPr>
          <p:cNvSpPr/>
          <p:nvPr/>
        </p:nvSpPr>
        <p:spPr>
          <a:xfrm>
            <a:off x="5693070" y="2488294"/>
            <a:ext cx="374108" cy="374108"/>
          </a:xfrm>
          <a:prstGeom prst="ellipse">
            <a:avLst/>
          </a:prstGeom>
          <a:solidFill>
            <a:srgbClr val="F9F9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小塚ゴシック Pro B" panose="020B0800000000000000" pitchFamily="34" charset="-128"/>
              <a:ea typeface="小塚ゴシック Pro B" panose="020B0800000000000000" pitchFamily="34" charset="-128"/>
            </a:endParaRPr>
          </a:p>
        </p:txBody>
      </p:sp>
      <p:pic>
        <p:nvPicPr>
          <p:cNvPr id="420" name="Google Shape;420;p24" descr="image.png"/>
          <p:cNvPicPr preferRelativeResize="0"/>
          <p:nvPr/>
        </p:nvPicPr>
        <p:blipFill rotWithShape="1">
          <a:blip r:embed="rId8">
            <a:alphaModFix/>
          </a:blip>
          <a:srcRect/>
          <a:stretch/>
        </p:blipFill>
        <p:spPr>
          <a:xfrm>
            <a:off x="5791200" y="2564400"/>
            <a:ext cx="177849" cy="228600"/>
          </a:xfrm>
          <a:prstGeom prst="rect">
            <a:avLst/>
          </a:prstGeom>
          <a:noFill/>
          <a:ln>
            <a:noFill/>
          </a:ln>
        </p:spPr>
      </p:pic>
      <p:sp>
        <p:nvSpPr>
          <p:cNvPr id="9" name="楕円 8">
            <a:extLst>
              <a:ext uri="{FF2B5EF4-FFF2-40B4-BE49-F238E27FC236}">
                <a16:creationId xmlns:a16="http://schemas.microsoft.com/office/drawing/2014/main" id="{EFF0D5D9-AE6E-AA72-329F-69D6EDDE7DF5}"/>
              </a:ext>
            </a:extLst>
          </p:cNvPr>
          <p:cNvSpPr/>
          <p:nvPr/>
        </p:nvSpPr>
        <p:spPr>
          <a:xfrm>
            <a:off x="5693070" y="3840752"/>
            <a:ext cx="374108" cy="374108"/>
          </a:xfrm>
          <a:prstGeom prst="ellipse">
            <a:avLst/>
          </a:prstGeom>
          <a:solidFill>
            <a:srgbClr val="F9F9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小塚ゴシック Pro B" panose="020B0800000000000000" pitchFamily="34" charset="-128"/>
              <a:ea typeface="小塚ゴシック Pro B" panose="020B0800000000000000" pitchFamily="34" charset="-128"/>
            </a:endParaRPr>
          </a:p>
        </p:txBody>
      </p:sp>
      <p:pic>
        <p:nvPicPr>
          <p:cNvPr id="408" name="Google Shape;408;p24" descr="image.png"/>
          <p:cNvPicPr preferRelativeResize="0"/>
          <p:nvPr/>
        </p:nvPicPr>
        <p:blipFill rotWithShape="1">
          <a:blip r:embed="rId9">
            <a:alphaModFix/>
          </a:blip>
          <a:srcRect/>
          <a:stretch/>
        </p:blipFill>
        <p:spPr>
          <a:xfrm>
            <a:off x="5786205" y="3913506"/>
            <a:ext cx="177849" cy="228600"/>
          </a:xfrm>
          <a:prstGeom prst="rect">
            <a:avLst/>
          </a:prstGeom>
          <a:noFill/>
          <a:ln>
            <a:noFill/>
          </a:ln>
        </p:spPr>
      </p:pic>
      <p:sp>
        <p:nvSpPr>
          <p:cNvPr id="11" name="楕円 10">
            <a:extLst>
              <a:ext uri="{FF2B5EF4-FFF2-40B4-BE49-F238E27FC236}">
                <a16:creationId xmlns:a16="http://schemas.microsoft.com/office/drawing/2014/main" id="{22480BEF-4AF5-7CE4-7D0A-F9A7AF4A5947}"/>
              </a:ext>
            </a:extLst>
          </p:cNvPr>
          <p:cNvSpPr/>
          <p:nvPr/>
        </p:nvSpPr>
        <p:spPr>
          <a:xfrm>
            <a:off x="5693070" y="5177578"/>
            <a:ext cx="374108" cy="374108"/>
          </a:xfrm>
          <a:prstGeom prst="ellipse">
            <a:avLst/>
          </a:prstGeom>
          <a:solidFill>
            <a:srgbClr val="F9F9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小塚ゴシック Pro B" panose="020B0800000000000000" pitchFamily="34" charset="-128"/>
              <a:ea typeface="小塚ゴシック Pro B" panose="020B0800000000000000" pitchFamily="34" charset="-128"/>
            </a:endParaRPr>
          </a:p>
        </p:txBody>
      </p:sp>
      <p:pic>
        <p:nvPicPr>
          <p:cNvPr id="421" name="Google Shape;421;p24"/>
          <p:cNvPicPr preferRelativeResize="0"/>
          <p:nvPr/>
        </p:nvPicPr>
        <p:blipFill>
          <a:blip r:embed="rId10">
            <a:alphaModFix/>
          </a:blip>
          <a:stretch>
            <a:fillRect/>
          </a:stretch>
        </p:blipFill>
        <p:spPr>
          <a:xfrm>
            <a:off x="5760127" y="5265911"/>
            <a:ext cx="230004" cy="23000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6"/>
        <p:cNvGrpSpPr/>
        <p:nvPr/>
      </p:nvGrpSpPr>
      <p:grpSpPr>
        <a:xfrm>
          <a:off x="0" y="0"/>
          <a:ext cx="0" cy="0"/>
          <a:chOff x="0" y="0"/>
          <a:chExt cx="0" cy="0"/>
        </a:xfrm>
      </p:grpSpPr>
      <p:grpSp>
        <p:nvGrpSpPr>
          <p:cNvPr id="427" name="Google Shape;427;p25"/>
          <p:cNvGrpSpPr/>
          <p:nvPr/>
        </p:nvGrpSpPr>
        <p:grpSpPr>
          <a:xfrm>
            <a:off x="0" y="0"/>
            <a:ext cx="12643324" cy="6976048"/>
            <a:chOff x="0" y="0"/>
            <a:chExt cx="12643324" cy="6976048"/>
          </a:xfrm>
        </p:grpSpPr>
        <p:pic>
          <p:nvPicPr>
            <p:cNvPr id="428" name="Google Shape;428;p25"/>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429" name="Google Shape;429;p25"/>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430" name="Google Shape;430;p25"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431" name="Google Shape;431;p25" descr="image.png"/>
          <p:cNvPicPr preferRelativeResize="0"/>
          <p:nvPr/>
        </p:nvPicPr>
        <p:blipFill rotWithShape="1">
          <a:blip r:embed="rId5">
            <a:alphaModFix/>
          </a:blip>
          <a:srcRect/>
          <a:stretch/>
        </p:blipFill>
        <p:spPr>
          <a:xfrm>
            <a:off x="0" y="0"/>
            <a:ext cx="12192000" cy="142875"/>
          </a:xfrm>
          <a:prstGeom prst="rect">
            <a:avLst/>
          </a:prstGeom>
          <a:noFill/>
          <a:ln>
            <a:noFill/>
          </a:ln>
        </p:spPr>
      </p:pic>
      <p:sp>
        <p:nvSpPr>
          <p:cNvPr id="432" name="Google Shape;432;p2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MENU</a:t>
            </a:r>
            <a:endParaRPr>
              <a:latin typeface="小塚ゴシック Pro B" panose="020B0800000000000000" pitchFamily="34" charset="-128"/>
              <a:ea typeface="小塚ゴシック Pro B" panose="020B0800000000000000" pitchFamily="34" charset="-128"/>
            </a:endParaRPr>
          </a:p>
        </p:txBody>
      </p:sp>
      <p:sp>
        <p:nvSpPr>
          <p:cNvPr id="433" name="Google Shape;433;p25"/>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制作メニュー・料金</a:t>
            </a:r>
            <a:r>
              <a:rPr lang="en-US" sz="270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例</a:t>
            </a:r>
            <a:endParaRPr>
              <a:latin typeface="小塚ゴシック Pro B" panose="020B0800000000000000" pitchFamily="34" charset="-128"/>
              <a:ea typeface="小塚ゴシック Pro B" panose="020B0800000000000000" pitchFamily="34" charset="-128"/>
            </a:endParaRPr>
          </a:p>
        </p:txBody>
      </p:sp>
      <p:graphicFrame>
        <p:nvGraphicFramePr>
          <p:cNvPr id="434" name="Google Shape;434;p25"/>
          <p:cNvGraphicFramePr/>
          <p:nvPr>
            <p:extLst>
              <p:ext uri="{D42A27DB-BD31-4B8C-83A1-F6EECF244321}">
                <p14:modId xmlns:p14="http://schemas.microsoft.com/office/powerpoint/2010/main" val="1701399045"/>
              </p:ext>
            </p:extLst>
          </p:nvPr>
        </p:nvGraphicFramePr>
        <p:xfrm>
          <a:off x="762000" y="1836241"/>
          <a:ext cx="10668000" cy="3638600"/>
        </p:xfrm>
        <a:graphic>
          <a:graphicData uri="http://schemas.openxmlformats.org/drawingml/2006/table">
            <a:tbl>
              <a:tblPr firstRow="1" bandRow="1">
                <a:noFill/>
                <a:tableStyleId>{8755441B-8EC1-4DEB-A316-B9E18D9EBE71}</a:tableStyleId>
              </a:tblPr>
              <a:tblGrid>
                <a:gridCol w="3555950">
                  <a:extLst>
                    <a:ext uri="{9D8B030D-6E8A-4147-A177-3AD203B41FA5}">
                      <a16:colId xmlns:a16="http://schemas.microsoft.com/office/drawing/2014/main" val="20000"/>
                    </a:ext>
                  </a:extLst>
                </a:gridCol>
                <a:gridCol w="3555950">
                  <a:extLst>
                    <a:ext uri="{9D8B030D-6E8A-4147-A177-3AD203B41FA5}">
                      <a16:colId xmlns:a16="http://schemas.microsoft.com/office/drawing/2014/main" val="20001"/>
                    </a:ext>
                  </a:extLst>
                </a:gridCol>
                <a:gridCol w="3556100">
                  <a:extLst>
                    <a:ext uri="{9D8B030D-6E8A-4147-A177-3AD203B41FA5}">
                      <a16:colId xmlns:a16="http://schemas.microsoft.com/office/drawing/2014/main" val="20002"/>
                    </a:ext>
                  </a:extLst>
                </a:gridCol>
              </a:tblGrid>
              <a:tr h="454825">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カテゴリ</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ー</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メニュー内容</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tc>
                  <a:txBody>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価格</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r>
                        <a:rPr lang="ja-JP" alt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税込</a:t>
                      </a:r>
                      <a:r>
                        <a:rPr 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9F9F9"/>
                    </a:solidFill>
                  </a:tcPr>
                </a:tc>
                <a:extLst>
                  <a:ext uri="{0D108BD9-81ED-4DB2-BD59-A6C34878D82A}">
                    <a16:rowId xmlns:a16="http://schemas.microsoft.com/office/drawing/2014/main" val="10000"/>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Web制作</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LP制作</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Wix</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ペライチ</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WordPress）</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100,000円〜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1"/>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Web制作</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HP制作</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Wix</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ペライチ</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WordPress</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100,000円〜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2"/>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Web制作</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LPライティング</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（構成・原稿</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・ワイヤー</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作成</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80,000円〜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3"/>
                  </a:ext>
                </a:extLst>
              </a:tr>
              <a:tr h="454825">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SNS/</a:t>
                      </a: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広告</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LINE構築</a:t>
                      </a:r>
                      <a:r>
                        <a:rPr lang="en-US" sz="1200" b="1"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運用</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（配信代行含む</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初月50,000円</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～、月額</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30,000円〜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4"/>
                  </a:ext>
                </a:extLst>
              </a:tr>
              <a:tr h="454825">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SNS/</a:t>
                      </a: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広告</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Meta広告運用</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（FB</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Instagram）</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初月30,000円</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月額</a:t>
                      </a:r>
                      <a:r>
                        <a:rPr lang="en-US"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広告費の20%</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5"/>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紙媒体</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チラシ制作</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（片面</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両面</a:t>
                      </a: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30,000円 / 50,000円〜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6"/>
                  </a:ext>
                </a:extLst>
              </a:tr>
              <a:tr h="454825">
                <a:tc>
                  <a:txBody>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B" panose="020B0800000000000000" pitchFamily="34" charset="-128"/>
                          <a:ea typeface="小塚ゴシック Pro B" panose="020B0800000000000000" pitchFamily="34" charset="-128"/>
                          <a:cs typeface="Noto Sans JP"/>
                          <a:sym typeface="Noto Sans JP"/>
                        </a:rPr>
                        <a:t>その他</a:t>
                      </a:r>
                      <a:endParaRPr dirty="0">
                        <a:latin typeface="小塚ゴシック Pro B" panose="020B0800000000000000" pitchFamily="34" charset="-128"/>
                        <a:ea typeface="小塚ゴシック Pro B" panose="020B08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スピーチ原稿</a:t>
                      </a:r>
                      <a:r>
                        <a:rPr lang="en-US" sz="1200" b="1"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 / </a:t>
                      </a:r>
                      <a:r>
                        <a:rPr lang="en-US" sz="1200" b="1"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営業資料</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None/>
                      </a:pPr>
                      <a:r>
                        <a:rPr lang="en-US" sz="1200" b="0" i="0" u="none" strike="noStrike" cap="none"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5,000円 / 50,000円〜</a:t>
                      </a:r>
                      <a:endParaRPr dirty="0">
                        <a:latin typeface="小塚ゴシック Pro M" panose="020B0700000000000000" pitchFamily="34" charset="-128"/>
                        <a:ea typeface="小塚ゴシック Pro M" panose="020B0700000000000000" pitchFamily="34" charset="-128"/>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chemeClr val="bg1"/>
                    </a:solidFill>
                  </a:tcPr>
                </a:tc>
                <a:extLst>
                  <a:ext uri="{0D108BD9-81ED-4DB2-BD59-A6C34878D82A}">
                    <a16:rowId xmlns:a16="http://schemas.microsoft.com/office/drawing/2014/main" val="10007"/>
                  </a:ext>
                </a:extLst>
              </a:tr>
            </a:tbl>
          </a:graphicData>
        </a:graphic>
      </p:graphicFrame>
      <p:sp>
        <p:nvSpPr>
          <p:cNvPr id="435" name="Google Shape;435;p25"/>
          <p:cNvSpPr txBox="1"/>
          <p:nvPr/>
        </p:nvSpPr>
        <p:spPr>
          <a:xfrm>
            <a:off x="762000" y="5617666"/>
            <a:ext cx="10668000" cy="221599"/>
          </a:xfrm>
          <a:prstGeom prst="rect">
            <a:avLst/>
          </a:prstGeom>
          <a:noFill/>
          <a:ln>
            <a:noFill/>
          </a:ln>
        </p:spPr>
        <p:txBody>
          <a:bodyPr spcFirstLastPara="1" wrap="square" lIns="0" tIns="0" rIns="0" bIns="0" anchor="t" anchorCtr="0">
            <a:spAutoFit/>
          </a:bodyPr>
          <a:lstStyle/>
          <a:p>
            <a:pPr marL="0" marR="0" lvl="0" indent="0" algn="r" rtl="0">
              <a:lnSpc>
                <a:spcPct val="159888"/>
              </a:lnSpc>
              <a:spcBef>
                <a:spcPts val="0"/>
              </a:spcBef>
              <a:spcAft>
                <a:spcPts val="0"/>
              </a:spcAft>
              <a:buNone/>
            </a:pPr>
            <a:r>
              <a:rPr lang="en-US" sz="9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※上記は目安です。内容やボリュームにより変動する場合がございます。お気軽にお見積りをご依頼ください。</a:t>
            </a:r>
            <a:endParaRPr>
              <a:latin typeface="小塚ゴシック Pro M" panose="020B0700000000000000" pitchFamily="34" charset="-128"/>
              <a:ea typeface="小塚ゴシック Pro M" panose="020B0700000000000000" pitchFamily="34" charset="-128"/>
            </a:endParaRPr>
          </a:p>
        </p:txBody>
      </p:sp>
      <p:sp>
        <p:nvSpPr>
          <p:cNvPr id="436" name="Google Shape;436;p2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38" name="Google Shape;438;p25"/>
          <p:cNvSpPr/>
          <p:nvPr/>
        </p:nvSpPr>
        <p:spPr>
          <a:xfrm>
            <a:off x="76200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39" name="Google Shape;439;p25"/>
          <p:cNvSpPr/>
          <p:nvPr/>
        </p:nvSpPr>
        <p:spPr>
          <a:xfrm>
            <a:off x="4317950" y="2260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0" name="Google Shape;440;p25"/>
          <p:cNvSpPr/>
          <p:nvPr/>
        </p:nvSpPr>
        <p:spPr>
          <a:xfrm>
            <a:off x="7873900" y="2260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1" name="Google Shape;441;p25"/>
          <p:cNvSpPr/>
          <p:nvPr/>
        </p:nvSpPr>
        <p:spPr>
          <a:xfrm>
            <a:off x="76200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2" name="Google Shape;442;p25"/>
          <p:cNvSpPr/>
          <p:nvPr/>
        </p:nvSpPr>
        <p:spPr>
          <a:xfrm>
            <a:off x="4317950" y="2717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3" name="Google Shape;443;p25"/>
          <p:cNvSpPr/>
          <p:nvPr/>
        </p:nvSpPr>
        <p:spPr>
          <a:xfrm>
            <a:off x="7873900" y="2717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4" name="Google Shape;444;p25"/>
          <p:cNvSpPr/>
          <p:nvPr/>
        </p:nvSpPr>
        <p:spPr>
          <a:xfrm>
            <a:off x="76200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5" name="Google Shape;445;p25"/>
          <p:cNvSpPr/>
          <p:nvPr/>
        </p:nvSpPr>
        <p:spPr>
          <a:xfrm>
            <a:off x="4317950" y="3174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6" name="Google Shape;446;p25"/>
          <p:cNvSpPr/>
          <p:nvPr/>
        </p:nvSpPr>
        <p:spPr>
          <a:xfrm>
            <a:off x="7873900" y="3174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7" name="Google Shape;447;p25"/>
          <p:cNvSpPr/>
          <p:nvPr/>
        </p:nvSpPr>
        <p:spPr>
          <a:xfrm>
            <a:off x="76200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8" name="Google Shape;448;p25"/>
          <p:cNvSpPr/>
          <p:nvPr/>
        </p:nvSpPr>
        <p:spPr>
          <a:xfrm>
            <a:off x="4317950" y="36317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49" name="Google Shape;449;p25"/>
          <p:cNvSpPr/>
          <p:nvPr/>
        </p:nvSpPr>
        <p:spPr>
          <a:xfrm>
            <a:off x="7873900" y="36317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0" name="Google Shape;450;p25"/>
          <p:cNvSpPr/>
          <p:nvPr/>
        </p:nvSpPr>
        <p:spPr>
          <a:xfrm>
            <a:off x="76200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1" name="Google Shape;451;p25"/>
          <p:cNvSpPr/>
          <p:nvPr/>
        </p:nvSpPr>
        <p:spPr>
          <a:xfrm>
            <a:off x="4317950" y="40889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2" name="Google Shape;452;p25"/>
          <p:cNvSpPr/>
          <p:nvPr/>
        </p:nvSpPr>
        <p:spPr>
          <a:xfrm>
            <a:off x="7873900" y="40889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3" name="Google Shape;453;p25"/>
          <p:cNvSpPr/>
          <p:nvPr/>
        </p:nvSpPr>
        <p:spPr>
          <a:xfrm>
            <a:off x="76200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4" name="Google Shape;454;p25"/>
          <p:cNvSpPr/>
          <p:nvPr/>
        </p:nvSpPr>
        <p:spPr>
          <a:xfrm>
            <a:off x="4317950" y="45461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5" name="Google Shape;455;p25"/>
          <p:cNvSpPr/>
          <p:nvPr/>
        </p:nvSpPr>
        <p:spPr>
          <a:xfrm>
            <a:off x="7873900" y="45461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6" name="Google Shape;456;p25"/>
          <p:cNvSpPr/>
          <p:nvPr/>
        </p:nvSpPr>
        <p:spPr>
          <a:xfrm>
            <a:off x="76200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7" name="Google Shape;457;p25"/>
          <p:cNvSpPr/>
          <p:nvPr/>
        </p:nvSpPr>
        <p:spPr>
          <a:xfrm>
            <a:off x="4317950" y="50033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8" name="Google Shape;458;p25"/>
          <p:cNvSpPr/>
          <p:nvPr/>
        </p:nvSpPr>
        <p:spPr>
          <a:xfrm>
            <a:off x="7873900" y="50033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59" name="Google Shape;459;p25"/>
          <p:cNvSpPr/>
          <p:nvPr/>
        </p:nvSpPr>
        <p:spPr>
          <a:xfrm>
            <a:off x="76200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0" name="Google Shape;460;p25"/>
          <p:cNvSpPr/>
          <p:nvPr/>
        </p:nvSpPr>
        <p:spPr>
          <a:xfrm>
            <a:off x="4317950" y="5460503"/>
            <a:ext cx="3555950"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61" name="Google Shape;461;p25"/>
          <p:cNvSpPr/>
          <p:nvPr/>
        </p:nvSpPr>
        <p:spPr>
          <a:xfrm>
            <a:off x="7873900" y="5460503"/>
            <a:ext cx="3556099" cy="9525"/>
          </a:xfrm>
          <a:prstGeom prst="rect">
            <a:avLst/>
          </a:prstGeom>
          <a:solidFill>
            <a:srgbClr val="EEEEE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5892FF0E-A426-E32A-779E-5DEBF91F9753}"/>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13</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5"/>
        <p:cNvGrpSpPr/>
        <p:nvPr/>
      </p:nvGrpSpPr>
      <p:grpSpPr>
        <a:xfrm>
          <a:off x="0" y="0"/>
          <a:ext cx="0" cy="0"/>
          <a:chOff x="0" y="0"/>
          <a:chExt cx="0" cy="0"/>
        </a:xfrm>
      </p:grpSpPr>
      <p:grpSp>
        <p:nvGrpSpPr>
          <p:cNvPr id="466" name="Google Shape;466;p26"/>
          <p:cNvGrpSpPr/>
          <p:nvPr/>
        </p:nvGrpSpPr>
        <p:grpSpPr>
          <a:xfrm>
            <a:off x="0" y="0"/>
            <a:ext cx="12643324" cy="6976048"/>
            <a:chOff x="0" y="0"/>
            <a:chExt cx="12643324" cy="6976048"/>
          </a:xfrm>
        </p:grpSpPr>
        <p:pic>
          <p:nvPicPr>
            <p:cNvPr id="467" name="Google Shape;467;p26"/>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468" name="Google Shape;468;p26"/>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469" name="Google Shape;469;p26"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470" name="Google Shape;470;p26" descr="image.png"/>
          <p:cNvPicPr preferRelativeResize="0"/>
          <p:nvPr/>
        </p:nvPicPr>
        <p:blipFill rotWithShape="1">
          <a:blip r:embed="rId5">
            <a:alphaModFix/>
          </a:blip>
          <a:srcRect/>
          <a:stretch/>
        </p:blipFill>
        <p:spPr>
          <a:xfrm>
            <a:off x="762000" y="1740999"/>
            <a:ext cx="4267200" cy="4497727"/>
          </a:xfrm>
          <a:prstGeom prst="rect">
            <a:avLst/>
          </a:prstGeom>
          <a:noFill/>
          <a:ln>
            <a:noFill/>
          </a:ln>
        </p:spPr>
      </p:pic>
      <p:pic>
        <p:nvPicPr>
          <p:cNvPr id="471" name="Google Shape;471;p26" descr="image.png"/>
          <p:cNvPicPr preferRelativeResize="0"/>
          <p:nvPr/>
        </p:nvPicPr>
        <p:blipFill rotWithShape="1">
          <a:blip r:embed="rId6">
            <a:alphaModFix/>
          </a:blip>
          <a:srcRect/>
          <a:stretch/>
        </p:blipFill>
        <p:spPr>
          <a:xfrm>
            <a:off x="1143000" y="5021312"/>
            <a:ext cx="3505200" cy="828526"/>
          </a:xfrm>
          <a:prstGeom prst="rect">
            <a:avLst/>
          </a:prstGeom>
          <a:noFill/>
          <a:ln>
            <a:noFill/>
          </a:ln>
        </p:spPr>
      </p:pic>
      <p:pic>
        <p:nvPicPr>
          <p:cNvPr id="472" name="Google Shape;472;p26"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473" name="Google Shape;473;p26"/>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MICHISUJI</a:t>
            </a:r>
            <a:endParaRPr>
              <a:latin typeface="小塚ゴシック Pro B" panose="020B0800000000000000" pitchFamily="34" charset="-128"/>
              <a:ea typeface="小塚ゴシック Pro B" panose="020B0800000000000000" pitchFamily="34" charset="-128"/>
            </a:endParaRPr>
          </a:p>
        </p:txBody>
      </p:sp>
      <p:sp>
        <p:nvSpPr>
          <p:cNvPr id="474" name="Google Shape;474;p26"/>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集客顧問サービス「ミチスジ」詳細</a:t>
            </a:r>
            <a:endParaRPr>
              <a:latin typeface="小塚ゴシック Pro B" panose="020B0800000000000000" pitchFamily="34" charset="-128"/>
              <a:ea typeface="小塚ゴシック Pro B" panose="020B0800000000000000" pitchFamily="34" charset="-128"/>
            </a:endParaRPr>
          </a:p>
        </p:txBody>
      </p:sp>
      <p:sp>
        <p:nvSpPr>
          <p:cNvPr id="475" name="Google Shape;475;p26"/>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477" name="Google Shape;477;p26"/>
          <p:cNvSpPr txBox="1"/>
          <p:nvPr/>
        </p:nvSpPr>
        <p:spPr>
          <a:xfrm>
            <a:off x="1143000" y="2216004"/>
            <a:ext cx="3505200" cy="116339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成果</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が出ない</a:t>
            </a: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集客活動の</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「原因」を解明し</a:t>
            </a: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、現状に合った</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正解の</a:t>
            </a:r>
            <a:endPar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a:p>
            <a:pPr marL="0" marR="0" lvl="0" indent="0" algn="l" rtl="0">
              <a:lnSpc>
                <a:spcPct val="140000"/>
              </a:lnSpc>
              <a:spcBef>
                <a:spcPts val="0"/>
              </a:spcBef>
              <a:spcAft>
                <a:spcPts val="0"/>
              </a:spcAft>
              <a:buNone/>
            </a:pPr>
            <a:r>
              <a:rPr lang="en-US" sz="1800" b="1"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道筋」を提示</a:t>
            </a:r>
            <a:r>
              <a:rPr lang="en-US" sz="1800" b="1"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します</a:t>
            </a: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478" name="Google Shape;478;p26"/>
          <p:cNvSpPr txBox="1"/>
          <p:nvPr/>
        </p:nvSpPr>
        <p:spPr>
          <a:xfrm>
            <a:off x="1143000" y="367091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何から手をつければいいかわからない</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施策が合っているか不安」という経営者・担当者様に、プロの視点で客観的な診断とアドバイスを行います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479" name="Google Shape;479;p26"/>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ミチスジ</a:t>
            </a: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のサポート内容</a:t>
            </a:r>
            <a:endParaRPr>
              <a:latin typeface="小塚ゴシック Pro B" panose="020B0800000000000000" pitchFamily="34" charset="-128"/>
              <a:ea typeface="小塚ゴシック Pro B" panose="020B0800000000000000" pitchFamily="34" charset="-128"/>
            </a:endParaRPr>
          </a:p>
        </p:txBody>
      </p:sp>
      <p:sp>
        <p:nvSpPr>
          <p:cNvPr id="480" name="Google Shape;480;p26"/>
          <p:cNvSpPr txBox="1"/>
          <p:nvPr/>
        </p:nvSpPr>
        <p:spPr>
          <a:xfrm>
            <a:off x="1304925" y="5242062"/>
            <a:ext cx="3181200" cy="27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月額 49,800円〜</a:t>
            </a:r>
            <a:endParaRPr sz="1800" dirty="0">
              <a:latin typeface="小塚ゴシック Pro B" panose="020B0800000000000000" pitchFamily="34" charset="-128"/>
              <a:ea typeface="小塚ゴシック Pro B" panose="020B0800000000000000" pitchFamily="34" charset="-128"/>
            </a:endParaRPr>
          </a:p>
        </p:txBody>
      </p:sp>
      <p:sp>
        <p:nvSpPr>
          <p:cNvPr id="481" name="Google Shape;481;p26"/>
          <p:cNvSpPr txBox="1"/>
          <p:nvPr/>
        </p:nvSpPr>
        <p:spPr>
          <a:xfrm>
            <a:off x="1304925" y="5601242"/>
            <a:ext cx="3181200" cy="161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0" i="0" u="none" strike="noStrike" cap="none">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（月最大4時間・制作代行 20%OFF特典付き）</a:t>
            </a:r>
            <a:endParaRPr>
              <a:latin typeface="小塚ゴシック Pro B" panose="020B0800000000000000" pitchFamily="34" charset="-128"/>
              <a:ea typeface="小塚ゴシック Pro B" panose="020B0800000000000000" pitchFamily="34" charset="-128"/>
            </a:endParaRPr>
          </a:p>
        </p:txBody>
      </p:sp>
      <p:sp>
        <p:nvSpPr>
          <p:cNvPr id="482" name="Google Shape;482;p26"/>
          <p:cNvSpPr/>
          <p:nvPr/>
        </p:nvSpPr>
        <p:spPr>
          <a:xfrm>
            <a:off x="5505451" y="2371576"/>
            <a:ext cx="5924550" cy="116205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83" name="Google Shape;483;p26"/>
          <p:cNvSpPr/>
          <p:nvPr/>
        </p:nvSpPr>
        <p:spPr>
          <a:xfrm>
            <a:off x="5505451" y="3724126"/>
            <a:ext cx="5924550" cy="116205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84" name="Google Shape;484;p26"/>
          <p:cNvSpPr/>
          <p:nvPr/>
        </p:nvSpPr>
        <p:spPr>
          <a:xfrm>
            <a:off x="5505451" y="5076676"/>
            <a:ext cx="5924550" cy="116205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488" name="Google Shape;488;p26"/>
          <p:cNvSpPr txBox="1"/>
          <p:nvPr/>
        </p:nvSpPr>
        <p:spPr>
          <a:xfrm>
            <a:off x="6276975" y="2876401"/>
            <a:ext cx="4903826"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集客施策の壁打ち、進捗確認、ネクストアクションの策定など、対面でじっくり相談できます</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489" name="Google Shape;489;p26"/>
          <p:cNvSpPr txBox="1"/>
          <p:nvPr/>
        </p:nvSpPr>
        <p:spPr>
          <a:xfrm>
            <a:off x="6276975" y="4228951"/>
            <a:ext cx="4903826"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お客様が作成されたチラシ、LP、SNS投稿などの添削を行い、改善点をフィードバックします。</a:t>
            </a:r>
            <a:endParaRPr>
              <a:latin typeface="小塚ゴシック Pro M" panose="020B0700000000000000" pitchFamily="34" charset="-128"/>
              <a:ea typeface="小塚ゴシック Pro M" panose="020B0700000000000000" pitchFamily="34" charset="-128"/>
            </a:endParaRPr>
          </a:p>
        </p:txBody>
      </p:sp>
      <p:sp>
        <p:nvSpPr>
          <p:cNvPr id="490" name="Google Shape;490;p26"/>
          <p:cNvSpPr txBox="1"/>
          <p:nvPr/>
        </p:nvSpPr>
        <p:spPr>
          <a:xfrm>
            <a:off x="6276975" y="5581501"/>
            <a:ext cx="4903826"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実施した施策の結果を分析し、「なぜうまくいかなかったのか」「次はどうすべきか」の仮説立てと検証を支援します。</a:t>
            </a:r>
            <a:endParaRPr>
              <a:latin typeface="小塚ゴシック Pro M" panose="020B0700000000000000" pitchFamily="34" charset="-128"/>
              <a:ea typeface="小塚ゴシック Pro M" panose="020B0700000000000000" pitchFamily="34" charset="-128"/>
            </a:endParaRPr>
          </a:p>
        </p:txBody>
      </p:sp>
      <p:pic>
        <p:nvPicPr>
          <p:cNvPr id="491" name="Google Shape;491;p26"/>
          <p:cNvPicPr preferRelativeResize="0"/>
          <p:nvPr/>
        </p:nvPicPr>
        <p:blipFill>
          <a:blip r:embed="rId8">
            <a:alphaModFix/>
          </a:blip>
          <a:stretch>
            <a:fillRect/>
          </a:stretch>
        </p:blipFill>
        <p:spPr>
          <a:xfrm>
            <a:off x="5641912" y="2459667"/>
            <a:ext cx="479550" cy="364915"/>
          </a:xfrm>
          <a:prstGeom prst="rect">
            <a:avLst/>
          </a:prstGeom>
          <a:noFill/>
          <a:ln>
            <a:noFill/>
          </a:ln>
        </p:spPr>
      </p:pic>
      <p:pic>
        <p:nvPicPr>
          <p:cNvPr id="492" name="Google Shape;492;p26"/>
          <p:cNvPicPr preferRelativeResize="0"/>
          <p:nvPr/>
        </p:nvPicPr>
        <p:blipFill>
          <a:blip r:embed="rId9">
            <a:alphaModFix/>
          </a:blip>
          <a:stretch>
            <a:fillRect/>
          </a:stretch>
        </p:blipFill>
        <p:spPr>
          <a:xfrm>
            <a:off x="5623050" y="3808457"/>
            <a:ext cx="559974" cy="479975"/>
          </a:xfrm>
          <a:prstGeom prst="rect">
            <a:avLst/>
          </a:prstGeom>
          <a:noFill/>
          <a:ln>
            <a:noFill/>
          </a:ln>
        </p:spPr>
      </p:pic>
      <p:pic>
        <p:nvPicPr>
          <p:cNvPr id="493" name="Google Shape;493;p26"/>
          <p:cNvPicPr preferRelativeResize="0"/>
          <p:nvPr/>
        </p:nvPicPr>
        <p:blipFill>
          <a:blip r:embed="rId10">
            <a:alphaModFix/>
          </a:blip>
          <a:stretch>
            <a:fillRect/>
          </a:stretch>
        </p:blipFill>
        <p:spPr>
          <a:xfrm>
            <a:off x="5623050" y="5206975"/>
            <a:ext cx="479538" cy="457200"/>
          </a:xfrm>
          <a:prstGeom prst="rect">
            <a:avLst/>
          </a:prstGeom>
          <a:noFill/>
          <a:ln>
            <a:noFill/>
          </a:ln>
        </p:spPr>
      </p:pic>
      <p:sp>
        <p:nvSpPr>
          <p:cNvPr id="494" name="Google Shape;494;p26"/>
          <p:cNvSpPr txBox="1"/>
          <p:nvPr/>
        </p:nvSpPr>
        <p:spPr>
          <a:xfrm>
            <a:off x="6276975" y="250582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Zoom相談（月最大4時間）</a:t>
            </a:r>
            <a:endParaRPr>
              <a:latin typeface="小塚ゴシック Pro B" panose="020B0800000000000000" pitchFamily="34" charset="-128"/>
              <a:ea typeface="小塚ゴシック Pro B" panose="020B0800000000000000" pitchFamily="34" charset="-128"/>
            </a:endParaRPr>
          </a:p>
        </p:txBody>
      </p:sp>
      <p:sp>
        <p:nvSpPr>
          <p:cNvPr id="495" name="Google Shape;495;p26"/>
          <p:cNvSpPr txBox="1"/>
          <p:nvPr/>
        </p:nvSpPr>
        <p:spPr>
          <a:xfrm>
            <a:off x="6276975" y="388564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制作物への添削・アドバイス</a:t>
            </a:r>
            <a:endParaRPr>
              <a:latin typeface="小塚ゴシック Pro B" panose="020B0800000000000000" pitchFamily="34" charset="-128"/>
              <a:ea typeface="小塚ゴシック Pro B" panose="020B0800000000000000" pitchFamily="34" charset="-128"/>
            </a:endParaRPr>
          </a:p>
        </p:txBody>
      </p:sp>
      <p:sp>
        <p:nvSpPr>
          <p:cNvPr id="496" name="Google Shape;496;p26"/>
          <p:cNvSpPr txBox="1"/>
          <p:nvPr/>
        </p:nvSpPr>
        <p:spPr>
          <a:xfrm>
            <a:off x="6276975" y="5276704"/>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集客施策の分析・仮説検証</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4B07FFF7-4938-23D1-852B-91B7B8A3689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14</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0"/>
        <p:cNvGrpSpPr/>
        <p:nvPr/>
      </p:nvGrpSpPr>
      <p:grpSpPr>
        <a:xfrm>
          <a:off x="0" y="0"/>
          <a:ext cx="0" cy="0"/>
          <a:chOff x="0" y="0"/>
          <a:chExt cx="0" cy="0"/>
        </a:xfrm>
      </p:grpSpPr>
      <p:grpSp>
        <p:nvGrpSpPr>
          <p:cNvPr id="501" name="Google Shape;501;p27"/>
          <p:cNvGrpSpPr/>
          <p:nvPr/>
        </p:nvGrpSpPr>
        <p:grpSpPr>
          <a:xfrm>
            <a:off x="0" y="0"/>
            <a:ext cx="12643324" cy="6976048"/>
            <a:chOff x="0" y="0"/>
            <a:chExt cx="12643324" cy="6976048"/>
          </a:xfrm>
        </p:grpSpPr>
        <p:pic>
          <p:nvPicPr>
            <p:cNvPr id="502" name="Google Shape;502;p27"/>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03" name="Google Shape;503;p27"/>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04" name="Google Shape;504;p27"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505" name="Google Shape;505;p27" descr="image.png"/>
          <p:cNvPicPr preferRelativeResize="0"/>
          <p:nvPr/>
        </p:nvPicPr>
        <p:blipFill rotWithShape="1">
          <a:blip r:embed="rId5">
            <a:alphaModFix/>
          </a:blip>
          <a:srcRect/>
          <a:stretch/>
        </p:blipFill>
        <p:spPr>
          <a:xfrm>
            <a:off x="762000" y="1740991"/>
            <a:ext cx="4267200" cy="4545508"/>
          </a:xfrm>
          <a:prstGeom prst="rect">
            <a:avLst/>
          </a:prstGeom>
          <a:noFill/>
          <a:ln>
            <a:noFill/>
          </a:ln>
        </p:spPr>
      </p:pic>
      <p:pic>
        <p:nvPicPr>
          <p:cNvPr id="506" name="Google Shape;506;p27" descr="image.png"/>
          <p:cNvPicPr preferRelativeResize="0"/>
          <p:nvPr/>
        </p:nvPicPr>
        <p:blipFill rotWithShape="1">
          <a:blip r:embed="rId6">
            <a:alphaModFix/>
          </a:blip>
          <a:srcRect/>
          <a:stretch/>
        </p:blipFill>
        <p:spPr>
          <a:xfrm>
            <a:off x="1143000" y="4844206"/>
            <a:ext cx="3505200" cy="567630"/>
          </a:xfrm>
          <a:prstGeom prst="rect">
            <a:avLst/>
          </a:prstGeom>
          <a:noFill/>
          <a:ln>
            <a:noFill/>
          </a:ln>
        </p:spPr>
      </p:pic>
      <p:pic>
        <p:nvPicPr>
          <p:cNvPr id="507" name="Google Shape;507;p27"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508" name="Google Shape;508;p27"/>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MICHISUJI TRIAL</a:t>
            </a:r>
            <a:endParaRPr>
              <a:latin typeface="小塚ゴシック Pro B" panose="020B0800000000000000" pitchFamily="34" charset="-128"/>
              <a:ea typeface="小塚ゴシック Pro B" panose="020B0800000000000000" pitchFamily="34" charset="-128"/>
            </a:endParaRPr>
          </a:p>
        </p:txBody>
      </p:sp>
      <p:sp>
        <p:nvSpPr>
          <p:cNvPr id="509" name="Google Shape;509;p27"/>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集客顧問「ミチスジ」体験プラン詳細</a:t>
            </a:r>
            <a:endParaRPr>
              <a:latin typeface="小塚ゴシック Pro B" panose="020B0800000000000000" pitchFamily="34" charset="-128"/>
              <a:ea typeface="小塚ゴシック Pro B" panose="020B0800000000000000" pitchFamily="34" charset="-128"/>
            </a:endParaRPr>
          </a:p>
        </p:txBody>
      </p:sp>
      <p:sp>
        <p:nvSpPr>
          <p:cNvPr id="510" name="Google Shape;510;p27"/>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12" name="Google Shape;512;p27"/>
          <p:cNvSpPr txBox="1"/>
          <p:nvPr/>
        </p:nvSpPr>
        <p:spPr>
          <a:xfrm>
            <a:off x="1143000" y="2216582"/>
            <a:ext cx="3505200"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まずは1回、プロの視点で</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現状を整理・診断</a:t>
            </a: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513" name="Google Shape;513;p27"/>
          <p:cNvSpPr txBox="1"/>
          <p:nvPr/>
        </p:nvSpPr>
        <p:spPr>
          <a:xfrm>
            <a:off x="1143000" y="368424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継続契約の前に、単発で相談したい方向け。現状の悩みや手持ちの制作物をその場で添削し、今すぐできる改善点をアドバイスします</a:t>
            </a: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514" name="Google Shape;514;p27"/>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体験プランの内容</a:t>
            </a:r>
            <a:endParaRPr>
              <a:latin typeface="小塚ゴシック Pro B" panose="020B0800000000000000" pitchFamily="34" charset="-128"/>
              <a:ea typeface="小塚ゴシック Pro B" panose="020B0800000000000000" pitchFamily="34" charset="-128"/>
            </a:endParaRPr>
          </a:p>
        </p:txBody>
      </p:sp>
      <p:sp>
        <p:nvSpPr>
          <p:cNvPr id="515" name="Google Shape;515;p27"/>
          <p:cNvSpPr txBox="1"/>
          <p:nvPr/>
        </p:nvSpPr>
        <p:spPr>
          <a:xfrm>
            <a:off x="1304925" y="5031901"/>
            <a:ext cx="3181200" cy="184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単発</a:t>
            </a:r>
            <a:r>
              <a:rPr lang="en-US" sz="1200" b="1"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 14,800円</a:t>
            </a:r>
            <a:endParaRPr dirty="0">
              <a:latin typeface="小塚ゴシック Pro B" panose="020B0800000000000000" pitchFamily="34" charset="-128"/>
              <a:ea typeface="小塚ゴシック Pro B" panose="020B0800000000000000" pitchFamily="34" charset="-128"/>
            </a:endParaRPr>
          </a:p>
        </p:txBody>
      </p:sp>
      <p:sp>
        <p:nvSpPr>
          <p:cNvPr id="516" name="Google Shape;516;p27"/>
          <p:cNvSpPr/>
          <p:nvPr/>
        </p:nvSpPr>
        <p:spPr>
          <a:xfrm>
            <a:off x="5505451" y="23715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7" name="Google Shape;517;p27"/>
          <p:cNvSpPr/>
          <p:nvPr/>
        </p:nvSpPr>
        <p:spPr>
          <a:xfrm>
            <a:off x="5505451" y="349552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8" name="Google Shape;518;p27"/>
          <p:cNvSpPr/>
          <p:nvPr/>
        </p:nvSpPr>
        <p:spPr>
          <a:xfrm>
            <a:off x="5505451" y="46194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22" name="Google Shape;522;p27"/>
          <p:cNvSpPr txBox="1"/>
          <p:nvPr/>
        </p:nvSpPr>
        <p:spPr>
          <a:xfrm>
            <a:off x="6276975" y="28764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課題のヒアリングから壁打ちまで、対面形式でじっくり対応します。</a:t>
            </a:r>
            <a:endParaRPr>
              <a:latin typeface="小塚ゴシック Pro M" panose="020B0700000000000000" pitchFamily="34" charset="-128"/>
              <a:ea typeface="小塚ゴシック Pro M" panose="020B0700000000000000" pitchFamily="34" charset="-128"/>
            </a:endParaRPr>
          </a:p>
        </p:txBody>
      </p:sp>
      <p:sp>
        <p:nvSpPr>
          <p:cNvPr id="523" name="Google Shape;523;p27"/>
          <p:cNvSpPr txBox="1"/>
          <p:nvPr/>
        </p:nvSpPr>
        <p:spPr>
          <a:xfrm>
            <a:off x="6276975" y="400035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チラシやLPなどを画面共有しながら、その場で改善点を指摘します。</a:t>
            </a:r>
            <a:endParaRPr>
              <a:latin typeface="小塚ゴシック Pro M" panose="020B0700000000000000" pitchFamily="34" charset="-128"/>
              <a:ea typeface="小塚ゴシック Pro M" panose="020B0700000000000000" pitchFamily="34" charset="-128"/>
            </a:endParaRPr>
          </a:p>
        </p:txBody>
      </p:sp>
      <p:sp>
        <p:nvSpPr>
          <p:cNvPr id="524" name="Google Shape;524;p27"/>
          <p:cNvSpPr txBox="1"/>
          <p:nvPr/>
        </p:nvSpPr>
        <p:spPr>
          <a:xfrm>
            <a:off x="6276975" y="51243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「まず何から手を付けるべきか」の優先順位と方向性を提示します。</a:t>
            </a:r>
            <a:endParaRPr>
              <a:latin typeface="小塚ゴシック Pro M" panose="020B0700000000000000" pitchFamily="34" charset="-128"/>
              <a:ea typeface="小塚ゴシック Pro M" panose="020B0700000000000000" pitchFamily="34" charset="-128"/>
            </a:endParaRPr>
          </a:p>
        </p:txBody>
      </p:sp>
      <p:pic>
        <p:nvPicPr>
          <p:cNvPr id="525" name="Google Shape;525;p27"/>
          <p:cNvPicPr preferRelativeResize="0"/>
          <p:nvPr/>
        </p:nvPicPr>
        <p:blipFill>
          <a:blip r:embed="rId8">
            <a:alphaModFix/>
          </a:blip>
          <a:stretch>
            <a:fillRect/>
          </a:stretch>
        </p:blipFill>
        <p:spPr>
          <a:xfrm>
            <a:off x="5649413" y="2485877"/>
            <a:ext cx="466725" cy="381000"/>
          </a:xfrm>
          <a:prstGeom prst="rect">
            <a:avLst/>
          </a:prstGeom>
          <a:noFill/>
          <a:ln>
            <a:noFill/>
          </a:ln>
        </p:spPr>
      </p:pic>
      <p:pic>
        <p:nvPicPr>
          <p:cNvPr id="526" name="Google Shape;526;p27"/>
          <p:cNvPicPr preferRelativeResize="0"/>
          <p:nvPr/>
        </p:nvPicPr>
        <p:blipFill>
          <a:blip r:embed="rId9">
            <a:alphaModFix/>
          </a:blip>
          <a:stretch>
            <a:fillRect/>
          </a:stretch>
        </p:blipFill>
        <p:spPr>
          <a:xfrm>
            <a:off x="5677975" y="3624114"/>
            <a:ext cx="409575" cy="371475"/>
          </a:xfrm>
          <a:prstGeom prst="rect">
            <a:avLst/>
          </a:prstGeom>
          <a:noFill/>
          <a:ln>
            <a:noFill/>
          </a:ln>
        </p:spPr>
      </p:pic>
      <p:pic>
        <p:nvPicPr>
          <p:cNvPr id="527" name="Google Shape;527;p27"/>
          <p:cNvPicPr preferRelativeResize="0"/>
          <p:nvPr/>
        </p:nvPicPr>
        <p:blipFill>
          <a:blip r:embed="rId10">
            <a:alphaModFix/>
          </a:blip>
          <a:stretch>
            <a:fillRect/>
          </a:stretch>
        </p:blipFill>
        <p:spPr>
          <a:xfrm>
            <a:off x="5720838" y="4786494"/>
            <a:ext cx="323850" cy="314325"/>
          </a:xfrm>
          <a:prstGeom prst="rect">
            <a:avLst/>
          </a:prstGeom>
          <a:noFill/>
          <a:ln>
            <a:noFill/>
          </a:ln>
        </p:spPr>
      </p:pic>
      <p:sp>
        <p:nvSpPr>
          <p:cNvPr id="528" name="Google Shape;528;p27"/>
          <p:cNvSpPr txBox="1"/>
          <p:nvPr/>
        </p:nvSpPr>
        <p:spPr>
          <a:xfrm>
            <a:off x="6276975" y="250582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最大2時間のZoom相談</a:t>
            </a:r>
            <a:endParaRPr>
              <a:latin typeface="小塚ゴシック Pro B" panose="020B0800000000000000" pitchFamily="34" charset="-128"/>
              <a:ea typeface="小塚ゴシック Pro B" panose="020B0800000000000000" pitchFamily="34" charset="-128"/>
            </a:endParaRPr>
          </a:p>
        </p:txBody>
      </p:sp>
      <p:sp>
        <p:nvSpPr>
          <p:cNvPr id="529" name="Google Shape;529;p27"/>
          <p:cNvSpPr txBox="1"/>
          <p:nvPr/>
        </p:nvSpPr>
        <p:spPr>
          <a:xfrm>
            <a:off x="6276975" y="3636387"/>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現状の添削・フィードバック</a:t>
            </a:r>
            <a:endParaRPr>
              <a:latin typeface="小塚ゴシック Pro B" panose="020B0800000000000000" pitchFamily="34" charset="-128"/>
              <a:ea typeface="小塚ゴシック Pro B" panose="020B0800000000000000" pitchFamily="34" charset="-128"/>
            </a:endParaRPr>
          </a:p>
        </p:txBody>
      </p:sp>
      <p:sp>
        <p:nvSpPr>
          <p:cNvPr id="530" name="Google Shape;530;p27"/>
          <p:cNvSpPr txBox="1"/>
          <p:nvPr/>
        </p:nvSpPr>
        <p:spPr>
          <a:xfrm>
            <a:off x="6276975" y="4766070"/>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対応方針のご提案</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D096BC58-C7D1-A752-9354-14A740D719A1}"/>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15</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4"/>
        <p:cNvGrpSpPr/>
        <p:nvPr/>
      </p:nvGrpSpPr>
      <p:grpSpPr>
        <a:xfrm>
          <a:off x="0" y="0"/>
          <a:ext cx="0" cy="0"/>
          <a:chOff x="0" y="0"/>
          <a:chExt cx="0" cy="0"/>
        </a:xfrm>
      </p:grpSpPr>
      <p:grpSp>
        <p:nvGrpSpPr>
          <p:cNvPr id="535" name="Google Shape;535;p28"/>
          <p:cNvGrpSpPr/>
          <p:nvPr/>
        </p:nvGrpSpPr>
        <p:grpSpPr>
          <a:xfrm>
            <a:off x="0" y="0"/>
            <a:ext cx="12643324" cy="6976048"/>
            <a:chOff x="0" y="0"/>
            <a:chExt cx="12643324" cy="6976048"/>
          </a:xfrm>
        </p:grpSpPr>
        <p:pic>
          <p:nvPicPr>
            <p:cNvPr id="536" name="Google Shape;536;p28"/>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37" name="Google Shape;537;p28"/>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38" name="Google Shape;538;p28"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539" name="Google Shape;539;p28" descr="image.png"/>
          <p:cNvPicPr preferRelativeResize="0"/>
          <p:nvPr/>
        </p:nvPicPr>
        <p:blipFill rotWithShape="1">
          <a:blip r:embed="rId5">
            <a:alphaModFix/>
          </a:blip>
          <a:srcRect/>
          <a:stretch/>
        </p:blipFill>
        <p:spPr>
          <a:xfrm>
            <a:off x="762000" y="1740991"/>
            <a:ext cx="4267200" cy="4545508"/>
          </a:xfrm>
          <a:prstGeom prst="rect">
            <a:avLst/>
          </a:prstGeom>
          <a:noFill/>
          <a:ln>
            <a:noFill/>
          </a:ln>
        </p:spPr>
      </p:pic>
      <p:pic>
        <p:nvPicPr>
          <p:cNvPr id="540" name="Google Shape;540;p28" descr="image.png"/>
          <p:cNvPicPr preferRelativeResize="0"/>
          <p:nvPr/>
        </p:nvPicPr>
        <p:blipFill rotWithShape="1">
          <a:blip r:embed="rId6">
            <a:alphaModFix/>
          </a:blip>
          <a:srcRect/>
          <a:stretch/>
        </p:blipFill>
        <p:spPr>
          <a:xfrm>
            <a:off x="1143000" y="4844206"/>
            <a:ext cx="3505200" cy="567630"/>
          </a:xfrm>
          <a:prstGeom prst="rect">
            <a:avLst/>
          </a:prstGeom>
          <a:noFill/>
          <a:ln>
            <a:noFill/>
          </a:ln>
        </p:spPr>
      </p:pic>
      <p:pic>
        <p:nvPicPr>
          <p:cNvPr id="541" name="Google Shape;541;p28" descr="image.png"/>
          <p:cNvPicPr preferRelativeResize="0"/>
          <p:nvPr/>
        </p:nvPicPr>
        <p:blipFill rotWithShape="1">
          <a:blip r:embed="rId7">
            <a:alphaModFix/>
          </a:blip>
          <a:srcRect/>
          <a:stretch/>
        </p:blipFill>
        <p:spPr>
          <a:xfrm>
            <a:off x="0" y="0"/>
            <a:ext cx="12192000" cy="142875"/>
          </a:xfrm>
          <a:prstGeom prst="rect">
            <a:avLst/>
          </a:prstGeom>
          <a:noFill/>
          <a:ln>
            <a:noFill/>
          </a:ln>
        </p:spPr>
      </p:pic>
      <p:sp>
        <p:nvSpPr>
          <p:cNvPr id="542" name="Google Shape;542;p28"/>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SERVICE DETAIL: MICHISUJI PROPOSAL</a:t>
            </a:r>
            <a:endParaRPr>
              <a:latin typeface="小塚ゴシック Pro B" panose="020B0800000000000000" pitchFamily="34" charset="-128"/>
              <a:ea typeface="小塚ゴシック Pro B" panose="020B0800000000000000" pitchFamily="34" charset="-128"/>
            </a:endParaRPr>
          </a:p>
        </p:txBody>
      </p:sp>
      <p:sp>
        <p:nvSpPr>
          <p:cNvPr id="543" name="Google Shape;543;p28"/>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集客顧問「ミチスジ」提案プラン詳細</a:t>
            </a:r>
            <a:endParaRPr>
              <a:latin typeface="小塚ゴシック Pro B" panose="020B0800000000000000" pitchFamily="34" charset="-128"/>
              <a:ea typeface="小塚ゴシック Pro B" panose="020B0800000000000000" pitchFamily="34" charset="-128"/>
            </a:endParaRPr>
          </a:p>
        </p:txBody>
      </p:sp>
      <p:sp>
        <p:nvSpPr>
          <p:cNvPr id="544" name="Google Shape;544;p28"/>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46" name="Google Shape;546;p28"/>
          <p:cNvSpPr txBox="1"/>
          <p:nvPr/>
        </p:nvSpPr>
        <p:spPr>
          <a:xfrm>
            <a:off x="1143000" y="2211301"/>
            <a:ext cx="3505200"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分析に基づいた『正解の道筋』を</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 </a:t>
            </a:r>
            <a:r>
              <a:rPr lang="en-US" sz="1800" b="1" i="0" u="none" strike="noStrike" cap="none" dirty="0" err="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提案書として可視化</a:t>
            </a: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547" name="Google Shape;547;p28"/>
          <p:cNvSpPr txBox="1"/>
          <p:nvPr/>
        </p:nvSpPr>
        <p:spPr>
          <a:xfrm>
            <a:off x="1143000" y="368424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ヒアリングと現状データをもとに分析し、必要な施策をまとめた「提案書」を納品します。</a:t>
            </a:r>
            <a:endPar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※分析範囲により変動します。</a:t>
            </a:r>
            <a:endParaRPr dirty="0">
              <a:latin typeface="小塚ゴシック Pro M" panose="020B0700000000000000" pitchFamily="34" charset="-128"/>
              <a:ea typeface="小塚ゴシック Pro M" panose="020B0700000000000000" pitchFamily="34" charset="-128"/>
            </a:endParaRPr>
          </a:p>
        </p:txBody>
      </p:sp>
      <p:sp>
        <p:nvSpPr>
          <p:cNvPr id="548" name="Google Shape;548;p28"/>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提案プランの内容</a:t>
            </a:r>
            <a:endParaRPr>
              <a:latin typeface="小塚ゴシック Pro B" panose="020B0800000000000000" pitchFamily="34" charset="-128"/>
              <a:ea typeface="小塚ゴシック Pro B" panose="020B0800000000000000" pitchFamily="34" charset="-128"/>
            </a:endParaRPr>
          </a:p>
        </p:txBody>
      </p:sp>
      <p:sp>
        <p:nvSpPr>
          <p:cNvPr id="549" name="Google Shape;549;p28"/>
          <p:cNvSpPr txBox="1"/>
          <p:nvPr/>
        </p:nvSpPr>
        <p:spPr>
          <a:xfrm>
            <a:off x="1304925" y="5036804"/>
            <a:ext cx="3181200" cy="184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単発 49,800円〜</a:t>
            </a:r>
            <a:endParaRPr dirty="0">
              <a:latin typeface="小塚ゴシック Pro B" panose="020B0800000000000000" pitchFamily="34" charset="-128"/>
              <a:ea typeface="小塚ゴシック Pro B" panose="020B0800000000000000" pitchFamily="34" charset="-128"/>
            </a:endParaRPr>
          </a:p>
        </p:txBody>
      </p:sp>
      <p:sp>
        <p:nvSpPr>
          <p:cNvPr id="550" name="Google Shape;550;p28"/>
          <p:cNvSpPr/>
          <p:nvPr/>
        </p:nvSpPr>
        <p:spPr>
          <a:xfrm>
            <a:off x="5505451" y="2371576"/>
            <a:ext cx="5924550" cy="1181234"/>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51" name="Google Shape;551;p28"/>
          <p:cNvSpPr/>
          <p:nvPr/>
        </p:nvSpPr>
        <p:spPr>
          <a:xfrm>
            <a:off x="5505451" y="3743160"/>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52" name="Google Shape;552;p28"/>
          <p:cNvSpPr/>
          <p:nvPr/>
        </p:nvSpPr>
        <p:spPr>
          <a:xfrm>
            <a:off x="5505451" y="4867110"/>
            <a:ext cx="5924550" cy="1162200"/>
          </a:xfrm>
          <a:prstGeom prst="roundRect">
            <a:avLst>
              <a:gd name="adj" fmla="val 3278"/>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56" name="Google Shape;556;p28"/>
          <p:cNvSpPr txBox="1"/>
          <p:nvPr/>
        </p:nvSpPr>
        <p:spPr>
          <a:xfrm>
            <a:off x="6276975" y="2876401"/>
            <a:ext cx="4772025"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共有いただいたデータや競合他社の状況を専門家の視点で深掘り分析します</a:t>
            </a:r>
            <a:r>
              <a:rPr lang="en-US" sz="1200" b="0" i="0" u="none" strike="noStrike" cap="none" dirty="0">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a:t>
            </a:r>
            <a:endParaRPr dirty="0">
              <a:latin typeface="小塚ゴシック Pro M" panose="020B0700000000000000" pitchFamily="34" charset="-128"/>
              <a:ea typeface="小塚ゴシック Pro M" panose="020B0700000000000000" pitchFamily="34" charset="-128"/>
            </a:endParaRPr>
          </a:p>
        </p:txBody>
      </p:sp>
      <p:sp>
        <p:nvSpPr>
          <p:cNvPr id="557" name="Google Shape;557;p28"/>
          <p:cNvSpPr txBox="1"/>
          <p:nvPr/>
        </p:nvSpPr>
        <p:spPr>
          <a:xfrm>
            <a:off x="6276975" y="4247985"/>
            <a:ext cx="4772025"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集客とサービス改善の両面から、実行可能な施策を資料化します。</a:t>
            </a:r>
            <a:endParaRPr>
              <a:latin typeface="小塚ゴシック Pro M" panose="020B0700000000000000" pitchFamily="34" charset="-128"/>
              <a:ea typeface="小塚ゴシック Pro M" panose="020B0700000000000000" pitchFamily="34" charset="-128"/>
            </a:endParaRPr>
          </a:p>
        </p:txBody>
      </p:sp>
      <p:sp>
        <p:nvSpPr>
          <p:cNvPr id="558" name="Google Shape;558;p28"/>
          <p:cNvSpPr txBox="1"/>
          <p:nvPr/>
        </p:nvSpPr>
        <p:spPr>
          <a:xfrm>
            <a:off x="6276975" y="5371935"/>
            <a:ext cx="4772025"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作成した提案書をもとに、実行に向けた詳細な解説とアドバイスを実施します。</a:t>
            </a:r>
            <a:endParaRPr>
              <a:latin typeface="小塚ゴシック Pro M" panose="020B0700000000000000" pitchFamily="34" charset="-128"/>
              <a:ea typeface="小塚ゴシック Pro M" panose="020B0700000000000000" pitchFamily="34" charset="-128"/>
            </a:endParaRPr>
          </a:p>
        </p:txBody>
      </p:sp>
      <p:pic>
        <p:nvPicPr>
          <p:cNvPr id="559" name="Google Shape;559;p28"/>
          <p:cNvPicPr preferRelativeResize="0"/>
          <p:nvPr/>
        </p:nvPicPr>
        <p:blipFill>
          <a:blip r:embed="rId8">
            <a:alphaModFix/>
          </a:blip>
          <a:stretch>
            <a:fillRect/>
          </a:stretch>
        </p:blipFill>
        <p:spPr>
          <a:xfrm>
            <a:off x="5648415" y="2434301"/>
            <a:ext cx="468732" cy="425129"/>
          </a:xfrm>
          <a:prstGeom prst="rect">
            <a:avLst/>
          </a:prstGeom>
          <a:noFill/>
          <a:ln>
            <a:noFill/>
          </a:ln>
        </p:spPr>
      </p:pic>
      <p:pic>
        <p:nvPicPr>
          <p:cNvPr id="560" name="Google Shape;560;p28"/>
          <p:cNvPicPr preferRelativeResize="0"/>
          <p:nvPr/>
        </p:nvPicPr>
        <p:blipFill>
          <a:blip r:embed="rId9">
            <a:alphaModFix/>
          </a:blip>
          <a:stretch>
            <a:fillRect/>
          </a:stretch>
        </p:blipFill>
        <p:spPr>
          <a:xfrm>
            <a:off x="5694941" y="3755268"/>
            <a:ext cx="375695" cy="425129"/>
          </a:xfrm>
          <a:prstGeom prst="rect">
            <a:avLst/>
          </a:prstGeom>
          <a:noFill/>
          <a:ln>
            <a:noFill/>
          </a:ln>
        </p:spPr>
      </p:pic>
      <p:pic>
        <p:nvPicPr>
          <p:cNvPr id="561" name="Google Shape;561;p28"/>
          <p:cNvPicPr preferRelativeResize="0"/>
          <p:nvPr/>
        </p:nvPicPr>
        <p:blipFill>
          <a:blip r:embed="rId10">
            <a:alphaModFix/>
          </a:blip>
          <a:stretch>
            <a:fillRect/>
          </a:stretch>
        </p:blipFill>
        <p:spPr>
          <a:xfrm>
            <a:off x="5675171" y="4946721"/>
            <a:ext cx="415242" cy="425129"/>
          </a:xfrm>
          <a:prstGeom prst="rect">
            <a:avLst/>
          </a:prstGeom>
          <a:noFill/>
          <a:ln>
            <a:noFill/>
          </a:ln>
        </p:spPr>
      </p:pic>
      <p:sp>
        <p:nvSpPr>
          <p:cNvPr id="562" name="Google Shape;562;p28"/>
          <p:cNvSpPr txBox="1"/>
          <p:nvPr/>
        </p:nvSpPr>
        <p:spPr>
          <a:xfrm>
            <a:off x="6276975" y="2505829"/>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現状分析・競合リサーチ</a:t>
            </a:r>
            <a:endParaRPr>
              <a:latin typeface="小塚ゴシック Pro B" panose="020B0800000000000000" pitchFamily="34" charset="-128"/>
              <a:ea typeface="小塚ゴシック Pro B" panose="020B0800000000000000" pitchFamily="34" charset="-128"/>
            </a:endParaRPr>
          </a:p>
        </p:txBody>
      </p:sp>
      <p:sp>
        <p:nvSpPr>
          <p:cNvPr id="563" name="Google Shape;563;p28"/>
          <p:cNvSpPr txBox="1"/>
          <p:nvPr/>
        </p:nvSpPr>
        <p:spPr>
          <a:xfrm>
            <a:off x="6276975" y="3884021"/>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具体的な施策の提案書作成</a:t>
            </a:r>
            <a:endParaRPr>
              <a:latin typeface="小塚ゴシック Pro B" panose="020B0800000000000000" pitchFamily="34" charset="-128"/>
              <a:ea typeface="小塚ゴシック Pro B" panose="020B0800000000000000" pitchFamily="34" charset="-128"/>
            </a:endParaRPr>
          </a:p>
        </p:txBody>
      </p:sp>
      <p:sp>
        <p:nvSpPr>
          <p:cNvPr id="564" name="Google Shape;564;p28"/>
          <p:cNvSpPr txBox="1"/>
          <p:nvPr/>
        </p:nvSpPr>
        <p:spPr>
          <a:xfrm>
            <a:off x="6276975" y="5013704"/>
            <a:ext cx="2302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提案プレゼン・質疑応答</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F1C10DE7-9CD4-BE23-74A6-F20F916219D4}"/>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16</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68"/>
        <p:cNvGrpSpPr/>
        <p:nvPr/>
      </p:nvGrpSpPr>
      <p:grpSpPr>
        <a:xfrm>
          <a:off x="0" y="0"/>
          <a:ext cx="0" cy="0"/>
          <a:chOff x="0" y="0"/>
          <a:chExt cx="0" cy="0"/>
        </a:xfrm>
      </p:grpSpPr>
      <p:grpSp>
        <p:nvGrpSpPr>
          <p:cNvPr id="569" name="Google Shape;569;p29"/>
          <p:cNvGrpSpPr/>
          <p:nvPr/>
        </p:nvGrpSpPr>
        <p:grpSpPr>
          <a:xfrm>
            <a:off x="0" y="0"/>
            <a:ext cx="12643324" cy="6976048"/>
            <a:chOff x="0" y="0"/>
            <a:chExt cx="12643324" cy="6976048"/>
          </a:xfrm>
        </p:grpSpPr>
        <p:pic>
          <p:nvPicPr>
            <p:cNvPr id="570" name="Google Shape;570;p29"/>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71" name="Google Shape;571;p29"/>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72" name="Google Shape;572;p29" descr="image.png"/>
          <p:cNvPicPr preferRelativeResize="0"/>
          <p:nvPr/>
        </p:nvPicPr>
        <p:blipFill rotWithShape="1">
          <a:blip r:embed="rId4">
            <a:alphaModFix/>
          </a:blip>
          <a:srcRect/>
          <a:stretch/>
        </p:blipFill>
        <p:spPr>
          <a:xfrm>
            <a:off x="762000" y="6429375"/>
            <a:ext cx="10668000" cy="238125"/>
          </a:xfrm>
          <a:prstGeom prst="rect">
            <a:avLst/>
          </a:prstGeom>
          <a:noFill/>
          <a:ln>
            <a:noFill/>
          </a:ln>
        </p:spPr>
      </p:pic>
      <p:pic>
        <p:nvPicPr>
          <p:cNvPr id="573" name="Google Shape;573;p29" descr="image.png"/>
          <p:cNvPicPr preferRelativeResize="0"/>
          <p:nvPr/>
        </p:nvPicPr>
        <p:blipFill rotWithShape="1">
          <a:blip r:embed="rId5">
            <a:alphaModFix/>
          </a:blip>
          <a:srcRect/>
          <a:stretch/>
        </p:blipFill>
        <p:spPr>
          <a:xfrm>
            <a:off x="762000" y="1741000"/>
            <a:ext cx="5143500" cy="4548100"/>
          </a:xfrm>
          <a:prstGeom prst="rect">
            <a:avLst/>
          </a:prstGeom>
          <a:noFill/>
          <a:ln>
            <a:noFill/>
          </a:ln>
        </p:spPr>
      </p:pic>
      <p:pic>
        <p:nvPicPr>
          <p:cNvPr id="574" name="Google Shape;574;p29" descr="image.png"/>
          <p:cNvPicPr preferRelativeResize="0"/>
          <p:nvPr/>
        </p:nvPicPr>
        <p:blipFill rotWithShape="1">
          <a:blip r:embed="rId6">
            <a:alphaModFix/>
          </a:blip>
          <a:srcRect/>
          <a:stretch/>
        </p:blipFill>
        <p:spPr>
          <a:xfrm>
            <a:off x="6286500" y="1741000"/>
            <a:ext cx="5143500" cy="4548100"/>
          </a:xfrm>
          <a:prstGeom prst="rect">
            <a:avLst/>
          </a:prstGeom>
          <a:noFill/>
          <a:ln>
            <a:noFill/>
          </a:ln>
        </p:spPr>
      </p:pic>
      <p:pic>
        <p:nvPicPr>
          <p:cNvPr id="575" name="Google Shape;575;p29" descr="image.png"/>
          <p:cNvPicPr preferRelativeResize="0"/>
          <p:nvPr/>
        </p:nvPicPr>
        <p:blipFill rotWithShape="1">
          <a:blip r:embed="rId7">
            <a:alphaModFix/>
          </a:blip>
          <a:srcRect/>
          <a:stretch/>
        </p:blipFill>
        <p:spPr>
          <a:xfrm>
            <a:off x="6677025" y="5238425"/>
            <a:ext cx="4362450" cy="907287"/>
          </a:xfrm>
          <a:prstGeom prst="rect">
            <a:avLst/>
          </a:prstGeom>
          <a:noFill/>
          <a:ln>
            <a:noFill/>
          </a:ln>
        </p:spPr>
      </p:pic>
      <p:pic>
        <p:nvPicPr>
          <p:cNvPr id="576" name="Google Shape;576;p29" descr="image.png"/>
          <p:cNvPicPr preferRelativeResize="0"/>
          <p:nvPr/>
        </p:nvPicPr>
        <p:blipFill rotWithShape="1">
          <a:blip r:embed="rId8">
            <a:alphaModFix/>
          </a:blip>
          <a:srcRect/>
          <a:stretch/>
        </p:blipFill>
        <p:spPr>
          <a:xfrm>
            <a:off x="0" y="0"/>
            <a:ext cx="12192000" cy="142875"/>
          </a:xfrm>
          <a:prstGeom prst="rect">
            <a:avLst/>
          </a:prstGeom>
          <a:noFill/>
          <a:ln>
            <a:noFill/>
          </a:ln>
        </p:spPr>
      </p:pic>
      <p:sp>
        <p:nvSpPr>
          <p:cNvPr id="577" name="Google Shape;577;p29"/>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PROSPECTIVE CLIENTS &amp; PARTNERS</a:t>
            </a:r>
            <a:endParaRPr>
              <a:latin typeface="小塚ゴシック Pro B" panose="020B0800000000000000" pitchFamily="34" charset="-128"/>
              <a:ea typeface="小塚ゴシック Pro B" panose="020B0800000000000000" pitchFamily="34" charset="-128"/>
            </a:endParaRPr>
          </a:p>
        </p:txBody>
      </p:sp>
      <p:sp>
        <p:nvSpPr>
          <p:cNvPr id="578" name="Google Shape;578;p29"/>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ご紹介いただきたい方</a:t>
            </a:r>
            <a:endParaRPr>
              <a:latin typeface="小塚ゴシック Pro B" panose="020B0800000000000000" pitchFamily="34" charset="-128"/>
              <a:ea typeface="小塚ゴシック Pro B" panose="020B0800000000000000" pitchFamily="34" charset="-128"/>
            </a:endParaRPr>
          </a:p>
        </p:txBody>
      </p:sp>
      <p:sp>
        <p:nvSpPr>
          <p:cNvPr id="579" name="Google Shape;579;p29"/>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81" name="Google Shape;581;p29"/>
          <p:cNvSpPr txBox="1"/>
          <p:nvPr/>
        </p:nvSpPr>
        <p:spPr>
          <a:xfrm>
            <a:off x="1502866" y="2183516"/>
            <a:ext cx="4012108" cy="276999"/>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見込み客（クライアント）</a:t>
            </a:r>
            <a:endParaRPr>
              <a:latin typeface="小塚ゴシック Pro B" panose="020B0800000000000000" pitchFamily="34" charset="-128"/>
              <a:ea typeface="小塚ゴシック Pro B" panose="020B0800000000000000" pitchFamily="34" charset="-128"/>
            </a:endParaRPr>
          </a:p>
        </p:txBody>
      </p:sp>
      <p:sp>
        <p:nvSpPr>
          <p:cNvPr id="582" name="Google Shape;582;p29"/>
          <p:cNvSpPr txBox="1"/>
          <p:nvPr/>
        </p:nvSpPr>
        <p:spPr>
          <a:xfrm>
            <a:off x="1152525" y="2705929"/>
            <a:ext cx="43626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「集客」や「制作」が追いついていない経営者様や担当者様をご紹介ください。</a:t>
            </a:r>
            <a:endParaRPr>
              <a:latin typeface="小塚ゴシック Pro M" panose="020B0700000000000000" pitchFamily="34" charset="-128"/>
              <a:ea typeface="小塚ゴシック Pro M" panose="020B0700000000000000" pitchFamily="34" charset="-128"/>
            </a:endParaRPr>
          </a:p>
        </p:txBody>
      </p:sp>
      <p:sp>
        <p:nvSpPr>
          <p:cNvPr id="583" name="Google Shape;583;p29"/>
          <p:cNvSpPr txBox="1"/>
          <p:nvPr/>
        </p:nvSpPr>
        <p:spPr>
          <a:xfrm>
            <a:off x="7027366" y="2183516"/>
            <a:ext cx="4012108" cy="276999"/>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協業パートナー</a:t>
            </a:r>
            <a:endParaRPr>
              <a:latin typeface="小塚ゴシック Pro B" panose="020B0800000000000000" pitchFamily="34" charset="-128"/>
              <a:ea typeface="小塚ゴシック Pro B" panose="020B0800000000000000" pitchFamily="34" charset="-128"/>
            </a:endParaRPr>
          </a:p>
        </p:txBody>
      </p:sp>
      <p:sp>
        <p:nvSpPr>
          <p:cNvPr id="584" name="Google Shape;584;p29"/>
          <p:cNvSpPr txBox="1"/>
          <p:nvPr/>
        </p:nvSpPr>
        <p:spPr>
          <a:xfrm>
            <a:off x="6677025" y="2705929"/>
            <a:ext cx="4362600"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クライアント様の満足度向上や、業務効率化のために協業できるパートナー様を募集しています。</a:t>
            </a:r>
            <a:endParaRPr>
              <a:latin typeface="小塚ゴシック Pro M" panose="020B0700000000000000" pitchFamily="34" charset="-128"/>
              <a:ea typeface="小塚ゴシック Pro M" panose="020B0700000000000000" pitchFamily="34" charset="-128"/>
            </a:endParaRPr>
          </a:p>
        </p:txBody>
      </p:sp>
      <p:pic>
        <p:nvPicPr>
          <p:cNvPr id="585" name="Google Shape;585;p29" descr="image.png"/>
          <p:cNvPicPr preferRelativeResize="0"/>
          <p:nvPr/>
        </p:nvPicPr>
        <p:blipFill rotWithShape="1">
          <a:blip r:embed="rId9">
            <a:alphaModFix/>
          </a:blip>
          <a:srcRect/>
          <a:stretch/>
        </p:blipFill>
        <p:spPr>
          <a:xfrm>
            <a:off x="1152525" y="2188666"/>
            <a:ext cx="207466" cy="266700"/>
          </a:xfrm>
          <a:prstGeom prst="rect">
            <a:avLst/>
          </a:prstGeom>
          <a:noFill/>
          <a:ln>
            <a:noFill/>
          </a:ln>
        </p:spPr>
      </p:pic>
      <p:sp>
        <p:nvSpPr>
          <p:cNvPr id="586" name="Google Shape;586;p29"/>
          <p:cNvSpPr txBox="1"/>
          <p:nvPr/>
        </p:nvSpPr>
        <p:spPr>
          <a:xfrm>
            <a:off x="1343025" y="3472625"/>
            <a:ext cx="4659000" cy="415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美容・健康</a:t>
            </a: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商品やサービスを提供する</a:t>
            </a: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企業・個人事業主</a:t>
            </a:r>
            <a:br>
              <a:rPr lang="en-US" sz="1800" b="0" i="0" u="none" strike="noStrike" cap="none">
                <a:solidFill>
                  <a:schemeClr val="dk1"/>
                </a:solidFill>
                <a:latin typeface="小塚ゴシック Pro M" panose="020B0700000000000000" pitchFamily="34" charset="-128"/>
                <a:ea typeface="小塚ゴシック Pro M" panose="020B0700000000000000" pitchFamily="34" charset="-128"/>
                <a:cs typeface="Calibri"/>
                <a:sym typeface="Calibri"/>
              </a:rPr>
            </a:br>
            <a:r>
              <a:rPr lang="en-US" sz="13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（美容サロン、整体院、医療クリニック、健康食品など）</a:t>
            </a:r>
            <a:endParaRPr>
              <a:latin typeface="小塚ゴシック Pro M" panose="020B0700000000000000" pitchFamily="34" charset="-128"/>
              <a:ea typeface="小塚ゴシック Pro M" panose="020B0700000000000000" pitchFamily="34" charset="-128"/>
            </a:endParaRPr>
          </a:p>
        </p:txBody>
      </p:sp>
      <p:sp>
        <p:nvSpPr>
          <p:cNvPr id="587" name="Google Shape;587;p29"/>
          <p:cNvSpPr txBox="1"/>
          <p:nvPr/>
        </p:nvSpPr>
        <p:spPr>
          <a:xfrm>
            <a:off x="1343025" y="4015552"/>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a:t>
            </a: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活動</a:t>
            </a: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の成果が</a:t>
            </a: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思うように出せない</a:t>
            </a: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方</a:t>
            </a:r>
            <a:endParaRPr>
              <a:latin typeface="小塚ゴシック Pro M" panose="020B0700000000000000" pitchFamily="34" charset="-128"/>
              <a:ea typeface="小塚ゴシック Pro M" panose="020B0700000000000000" pitchFamily="34" charset="-128"/>
            </a:endParaRPr>
          </a:p>
        </p:txBody>
      </p:sp>
      <p:sp>
        <p:nvSpPr>
          <p:cNvPr id="588" name="Google Shape;588;p29"/>
          <p:cNvSpPr txBox="1"/>
          <p:nvPr/>
        </p:nvSpPr>
        <p:spPr>
          <a:xfrm>
            <a:off x="1343025" y="4358452"/>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制作物の修正や新規作成にリソースが割けない方</a:t>
            </a:r>
            <a:endParaRPr>
              <a:latin typeface="小塚ゴシック Pro M" panose="020B0700000000000000" pitchFamily="34" charset="-128"/>
              <a:ea typeface="小塚ゴシック Pro M" panose="020B0700000000000000" pitchFamily="34" charset="-128"/>
            </a:endParaRPr>
          </a:p>
        </p:txBody>
      </p:sp>
      <p:sp>
        <p:nvSpPr>
          <p:cNvPr id="589" name="Google Shape;589;p29"/>
          <p:cNvSpPr txBox="1"/>
          <p:nvPr/>
        </p:nvSpPr>
        <p:spPr>
          <a:xfrm>
            <a:off x="1343025" y="4701352"/>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薬機法を考慮した表現が必要な方</a:t>
            </a:r>
            <a:endParaRPr>
              <a:latin typeface="小塚ゴシック Pro M" panose="020B0700000000000000" pitchFamily="34" charset="-128"/>
              <a:ea typeface="小塚ゴシック Pro M" panose="020B0700000000000000" pitchFamily="34" charset="-128"/>
            </a:endParaRPr>
          </a:p>
        </p:txBody>
      </p:sp>
      <p:pic>
        <p:nvPicPr>
          <p:cNvPr id="590" name="Google Shape;590;p29" descr="image.png"/>
          <p:cNvPicPr preferRelativeResize="0"/>
          <p:nvPr/>
        </p:nvPicPr>
        <p:blipFill rotWithShape="1">
          <a:blip r:embed="rId10">
            <a:alphaModFix/>
          </a:blip>
          <a:srcRect/>
          <a:stretch/>
        </p:blipFill>
        <p:spPr>
          <a:xfrm>
            <a:off x="6677025" y="2188666"/>
            <a:ext cx="207466" cy="266700"/>
          </a:xfrm>
          <a:prstGeom prst="rect">
            <a:avLst/>
          </a:prstGeom>
          <a:noFill/>
          <a:ln>
            <a:noFill/>
          </a:ln>
        </p:spPr>
      </p:pic>
      <p:sp>
        <p:nvSpPr>
          <p:cNvPr id="591" name="Google Shape;591;p29"/>
          <p:cNvSpPr txBox="1"/>
          <p:nvPr/>
        </p:nvSpPr>
        <p:spPr>
          <a:xfrm>
            <a:off x="6867525" y="3472627"/>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Web制作会社</a:t>
            </a:r>
            <a:endParaRPr>
              <a:latin typeface="小塚ゴシック Pro M" panose="020B0700000000000000" pitchFamily="34" charset="-128"/>
              <a:ea typeface="小塚ゴシック Pro M" panose="020B0700000000000000" pitchFamily="34" charset="-128"/>
            </a:endParaRPr>
          </a:p>
        </p:txBody>
      </p:sp>
      <p:sp>
        <p:nvSpPr>
          <p:cNvPr id="592" name="Google Shape;592;p29"/>
          <p:cNvSpPr txBox="1"/>
          <p:nvPr/>
        </p:nvSpPr>
        <p:spPr>
          <a:xfrm>
            <a:off x="6867525" y="3815527"/>
            <a:ext cx="4172100" cy="207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経営・財務コンサルタント</a:t>
            </a:r>
            <a:endParaRPr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593" name="Google Shape;593;p29"/>
          <p:cNvSpPr txBox="1"/>
          <p:nvPr/>
        </p:nvSpPr>
        <p:spPr>
          <a:xfrm>
            <a:off x="6867525" y="4158427"/>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医療・美容機器ディーラー</a:t>
            </a:r>
            <a:endParaRPr>
              <a:latin typeface="小塚ゴシック Pro M" panose="020B0700000000000000" pitchFamily="34" charset="-128"/>
              <a:ea typeface="小塚ゴシック Pro M" panose="020B0700000000000000" pitchFamily="34" charset="-128"/>
            </a:endParaRPr>
          </a:p>
        </p:txBody>
      </p:sp>
      <p:sp>
        <p:nvSpPr>
          <p:cNvPr id="594" name="Google Shape;594;p29"/>
          <p:cNvSpPr txBox="1"/>
          <p:nvPr/>
        </p:nvSpPr>
        <p:spPr>
          <a:xfrm>
            <a:off x="6819900" y="5381302"/>
            <a:ext cx="40767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協業メリット</a:t>
            </a:r>
            <a:endParaRPr>
              <a:latin typeface="小塚ゴシック Pro M" panose="020B0700000000000000" pitchFamily="34" charset="-128"/>
              <a:ea typeface="小塚ゴシック Pro M" panose="020B0700000000000000" pitchFamily="34" charset="-128"/>
            </a:endParaRPr>
          </a:p>
        </p:txBody>
      </p:sp>
      <p:sp>
        <p:nvSpPr>
          <p:cNvPr id="595" name="Google Shape;595;p29"/>
          <p:cNvSpPr txBox="1"/>
          <p:nvPr/>
        </p:nvSpPr>
        <p:spPr>
          <a:xfrm>
            <a:off x="6819900" y="5628950"/>
            <a:ext cx="4076700" cy="452400"/>
          </a:xfrm>
          <a:prstGeom prst="rect">
            <a:avLst/>
          </a:prstGeom>
          <a:noFill/>
          <a:ln>
            <a:noFill/>
          </a:ln>
        </p:spPr>
        <p:txBody>
          <a:bodyPr spcFirstLastPara="1" wrap="square" lIns="0" tIns="0" rIns="0" bIns="0" anchor="t" anchorCtr="0">
            <a:spAutoFit/>
          </a:bodyPr>
          <a:lstStyle/>
          <a:p>
            <a:pPr marL="0" marR="0" lvl="0" indent="0" algn="l" rtl="0">
              <a:lnSpc>
                <a:spcPct val="93277"/>
              </a:lnSpc>
              <a:spcBef>
                <a:spcPts val="0"/>
              </a:spcBef>
              <a:spcAft>
                <a:spcPts val="0"/>
              </a:spcAft>
              <a:buNone/>
            </a:pPr>
            <a:r>
              <a:rPr lang="en-US" sz="105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05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ライティング工程の丸投げで工数削減</a:t>
            </a:r>
            <a:br>
              <a:rPr lang="en-US" sz="1800" b="0" i="0" u="none" strike="noStrike" cap="none" dirty="0">
                <a:solidFill>
                  <a:schemeClr val="dk1"/>
                </a:solidFill>
                <a:latin typeface="小塚ゴシック Pro M" panose="020B0700000000000000" pitchFamily="34" charset="-128"/>
                <a:ea typeface="小塚ゴシック Pro M" panose="020B0700000000000000" pitchFamily="34" charset="-128"/>
                <a:cs typeface="Calibri"/>
                <a:sym typeface="Calibri"/>
              </a:rPr>
            </a:br>
            <a:r>
              <a:rPr lang="en-US" sz="105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05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薬機法対応による信頼性向上</a:t>
            </a:r>
            <a:br>
              <a:rPr lang="en-US" sz="1800" b="0" i="0" u="none" strike="noStrike" cap="none" dirty="0">
                <a:solidFill>
                  <a:schemeClr val="dk1"/>
                </a:solidFill>
                <a:latin typeface="小塚ゴシック Pro M" panose="020B0700000000000000" pitchFamily="34" charset="-128"/>
                <a:ea typeface="小塚ゴシック Pro M" panose="020B0700000000000000" pitchFamily="34" charset="-128"/>
                <a:cs typeface="Calibri"/>
                <a:sym typeface="Calibri"/>
              </a:rPr>
            </a:br>
            <a:r>
              <a:rPr lang="en-US" sz="105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a:t>
            </a:r>
            <a:r>
              <a:rPr lang="en-US" sz="105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クライアントへの付加価値提供</a:t>
            </a:r>
            <a:endParaRPr dirty="0">
              <a:latin typeface="小塚ゴシック Pro M" panose="020B0700000000000000" pitchFamily="34" charset="-128"/>
              <a:ea typeface="小塚ゴシック Pro M" panose="020B0700000000000000" pitchFamily="34" charset="-128"/>
            </a:endParaRPr>
          </a:p>
        </p:txBody>
      </p:sp>
      <p:sp>
        <p:nvSpPr>
          <p:cNvPr id="596" name="Google Shape;596;p29"/>
          <p:cNvSpPr txBox="1"/>
          <p:nvPr/>
        </p:nvSpPr>
        <p:spPr>
          <a:xfrm>
            <a:off x="1152525" y="34440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597" name="Google Shape;597;p29"/>
          <p:cNvSpPr txBox="1"/>
          <p:nvPr/>
        </p:nvSpPr>
        <p:spPr>
          <a:xfrm>
            <a:off x="1152525" y="39869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598" name="Google Shape;598;p29"/>
          <p:cNvSpPr txBox="1"/>
          <p:nvPr/>
        </p:nvSpPr>
        <p:spPr>
          <a:xfrm>
            <a:off x="1152525" y="43298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599" name="Google Shape;599;p29"/>
          <p:cNvSpPr txBox="1"/>
          <p:nvPr/>
        </p:nvSpPr>
        <p:spPr>
          <a:xfrm>
            <a:off x="1152525" y="46727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0" name="Google Shape;600;p29"/>
          <p:cNvSpPr txBox="1"/>
          <p:nvPr/>
        </p:nvSpPr>
        <p:spPr>
          <a:xfrm>
            <a:off x="6677025" y="34440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1" name="Google Shape;601;p29"/>
          <p:cNvSpPr txBox="1"/>
          <p:nvPr/>
        </p:nvSpPr>
        <p:spPr>
          <a:xfrm>
            <a:off x="6677025" y="37869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2" name="Google Shape;602;p29"/>
          <p:cNvSpPr txBox="1"/>
          <p:nvPr/>
        </p:nvSpPr>
        <p:spPr>
          <a:xfrm>
            <a:off x="6677025" y="41298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3" name="Google Shape;603;p29"/>
          <p:cNvSpPr txBox="1"/>
          <p:nvPr/>
        </p:nvSpPr>
        <p:spPr>
          <a:xfrm>
            <a:off x="1343025" y="5044250"/>
            <a:ext cx="3067200" cy="415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AIや制作会社に広告制作を依頼しても</a:t>
            </a:r>
            <a:endParaRPr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集客につながらない方</a:t>
            </a:r>
            <a:endParaRPr>
              <a:latin typeface="小塚ゴシック Pro M" panose="020B0700000000000000" pitchFamily="34" charset="-128"/>
              <a:ea typeface="小塚ゴシック Pro M" panose="020B0700000000000000" pitchFamily="34" charset="-128"/>
            </a:endParaRPr>
          </a:p>
        </p:txBody>
      </p:sp>
      <p:sp>
        <p:nvSpPr>
          <p:cNvPr id="604" name="Google Shape;604;p29"/>
          <p:cNvSpPr txBox="1"/>
          <p:nvPr/>
        </p:nvSpPr>
        <p:spPr>
          <a:xfrm>
            <a:off x="1152525" y="5015677"/>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05" name="Google Shape;605;p29"/>
          <p:cNvSpPr txBox="1"/>
          <p:nvPr/>
        </p:nvSpPr>
        <p:spPr>
          <a:xfrm>
            <a:off x="6867525" y="4533227"/>
            <a:ext cx="4237076"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レンタルスペース運営者・店舗物件中心の不動産仲介</a:t>
            </a:r>
            <a:endParaRPr dirty="0">
              <a:latin typeface="小塚ゴシック Pro M" panose="020B0700000000000000" pitchFamily="34" charset="-128"/>
              <a:ea typeface="小塚ゴシック Pro M" panose="020B0700000000000000" pitchFamily="34" charset="-128"/>
            </a:endParaRPr>
          </a:p>
        </p:txBody>
      </p:sp>
      <p:sp>
        <p:nvSpPr>
          <p:cNvPr id="606" name="Google Shape;606;p29"/>
          <p:cNvSpPr txBox="1"/>
          <p:nvPr/>
        </p:nvSpPr>
        <p:spPr>
          <a:xfrm>
            <a:off x="6677025" y="4504652"/>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dirty="0">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dirty="0">
              <a:latin typeface="小塚ゴシック Pro B" panose="020B0800000000000000" pitchFamily="34" charset="-128"/>
              <a:ea typeface="小塚ゴシック Pro B" panose="020B0800000000000000" pitchFamily="34" charset="-128"/>
            </a:endParaRPr>
          </a:p>
        </p:txBody>
      </p:sp>
      <p:sp>
        <p:nvSpPr>
          <p:cNvPr id="607" name="Google Shape;607;p29"/>
          <p:cNvSpPr txBox="1"/>
          <p:nvPr/>
        </p:nvSpPr>
        <p:spPr>
          <a:xfrm>
            <a:off x="6867525" y="4881129"/>
            <a:ext cx="4172100" cy="2079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経営者コミュニティ・マッチングサービス運営者</a:t>
            </a:r>
            <a:endParaRPr>
              <a:latin typeface="小塚ゴシック Pro M" panose="020B0700000000000000" pitchFamily="34" charset="-128"/>
              <a:ea typeface="小塚ゴシック Pro M" panose="020B0700000000000000" pitchFamily="34" charset="-128"/>
            </a:endParaRPr>
          </a:p>
        </p:txBody>
      </p:sp>
      <p:sp>
        <p:nvSpPr>
          <p:cNvPr id="608" name="Google Shape;608;p29"/>
          <p:cNvSpPr txBox="1"/>
          <p:nvPr/>
        </p:nvSpPr>
        <p:spPr>
          <a:xfrm>
            <a:off x="6677025" y="4852554"/>
            <a:ext cx="762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58A34867-441F-C04C-963D-93807D46194D}"/>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17</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12"/>
        <p:cNvGrpSpPr/>
        <p:nvPr/>
      </p:nvGrpSpPr>
      <p:grpSpPr>
        <a:xfrm>
          <a:off x="0" y="0"/>
          <a:ext cx="0" cy="0"/>
          <a:chOff x="0" y="0"/>
          <a:chExt cx="0" cy="0"/>
        </a:xfrm>
      </p:grpSpPr>
      <p:grpSp>
        <p:nvGrpSpPr>
          <p:cNvPr id="613" name="Google Shape;613;p30"/>
          <p:cNvGrpSpPr/>
          <p:nvPr/>
        </p:nvGrpSpPr>
        <p:grpSpPr>
          <a:xfrm>
            <a:off x="0" y="0"/>
            <a:ext cx="12643324" cy="6976048"/>
            <a:chOff x="0" y="0"/>
            <a:chExt cx="12643324" cy="6976048"/>
          </a:xfrm>
        </p:grpSpPr>
        <p:pic>
          <p:nvPicPr>
            <p:cNvPr id="614" name="Google Shape;614;p30"/>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615" name="Google Shape;615;p30"/>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616" name="Google Shape;616;p30" descr="image.png"/>
          <p:cNvPicPr preferRelativeResize="0"/>
          <p:nvPr/>
        </p:nvPicPr>
        <p:blipFill rotWithShape="1">
          <a:blip r:embed="rId4">
            <a:alphaModFix/>
          </a:blip>
          <a:srcRect/>
          <a:stretch/>
        </p:blipFill>
        <p:spPr>
          <a:xfrm>
            <a:off x="762000" y="1740999"/>
            <a:ext cx="5143500" cy="4561061"/>
          </a:xfrm>
          <a:prstGeom prst="rect">
            <a:avLst/>
          </a:prstGeom>
          <a:noFill/>
          <a:ln>
            <a:noFill/>
          </a:ln>
        </p:spPr>
      </p:pic>
      <p:pic>
        <p:nvPicPr>
          <p:cNvPr id="617" name="Google Shape;617;p30" descr="image.png"/>
          <p:cNvPicPr preferRelativeResize="0"/>
          <p:nvPr/>
        </p:nvPicPr>
        <p:blipFill rotWithShape="1">
          <a:blip r:embed="rId5">
            <a:alphaModFix/>
          </a:blip>
          <a:srcRect/>
          <a:stretch/>
        </p:blipFill>
        <p:spPr>
          <a:xfrm>
            <a:off x="762000" y="6429375"/>
            <a:ext cx="10668000" cy="238125"/>
          </a:xfrm>
          <a:prstGeom prst="rect">
            <a:avLst/>
          </a:prstGeom>
          <a:noFill/>
          <a:ln>
            <a:noFill/>
          </a:ln>
        </p:spPr>
      </p:pic>
      <p:pic>
        <p:nvPicPr>
          <p:cNvPr id="618" name="Google Shape;618;p30" descr="image.png"/>
          <p:cNvPicPr preferRelativeResize="0"/>
          <p:nvPr/>
        </p:nvPicPr>
        <p:blipFill rotWithShape="1">
          <a:blip r:embed="rId6">
            <a:alphaModFix/>
          </a:blip>
          <a:srcRect/>
          <a:stretch/>
        </p:blipFill>
        <p:spPr>
          <a:xfrm>
            <a:off x="6334125" y="1487322"/>
            <a:ext cx="5095875" cy="1114127"/>
          </a:xfrm>
          <a:prstGeom prst="rect">
            <a:avLst/>
          </a:prstGeom>
          <a:noFill/>
          <a:ln>
            <a:noFill/>
          </a:ln>
        </p:spPr>
      </p:pic>
      <p:pic>
        <p:nvPicPr>
          <p:cNvPr id="619" name="Google Shape;619;p30" descr="image.png"/>
          <p:cNvPicPr preferRelativeResize="0"/>
          <p:nvPr/>
        </p:nvPicPr>
        <p:blipFill rotWithShape="1">
          <a:blip r:embed="rId7">
            <a:alphaModFix/>
          </a:blip>
          <a:srcRect/>
          <a:stretch/>
        </p:blipFill>
        <p:spPr>
          <a:xfrm>
            <a:off x="6334125" y="2791949"/>
            <a:ext cx="5095875" cy="1114127"/>
          </a:xfrm>
          <a:prstGeom prst="rect">
            <a:avLst/>
          </a:prstGeom>
          <a:noFill/>
          <a:ln>
            <a:noFill/>
          </a:ln>
        </p:spPr>
      </p:pic>
      <p:pic>
        <p:nvPicPr>
          <p:cNvPr id="620" name="Google Shape;620;p30" descr="image.png"/>
          <p:cNvPicPr preferRelativeResize="0"/>
          <p:nvPr/>
        </p:nvPicPr>
        <p:blipFill rotWithShape="1">
          <a:blip r:embed="rId8">
            <a:alphaModFix/>
          </a:blip>
          <a:srcRect/>
          <a:stretch/>
        </p:blipFill>
        <p:spPr>
          <a:xfrm>
            <a:off x="6334125" y="4096577"/>
            <a:ext cx="5095875" cy="1114127"/>
          </a:xfrm>
          <a:prstGeom prst="rect">
            <a:avLst/>
          </a:prstGeom>
          <a:noFill/>
          <a:ln>
            <a:noFill/>
          </a:ln>
        </p:spPr>
      </p:pic>
      <p:pic>
        <p:nvPicPr>
          <p:cNvPr id="621" name="Google Shape;621;p30" descr="image.png"/>
          <p:cNvPicPr preferRelativeResize="0"/>
          <p:nvPr/>
        </p:nvPicPr>
        <p:blipFill rotWithShape="1">
          <a:blip r:embed="rId9">
            <a:alphaModFix/>
          </a:blip>
          <a:srcRect/>
          <a:stretch/>
        </p:blipFill>
        <p:spPr>
          <a:xfrm>
            <a:off x="6334125" y="5401205"/>
            <a:ext cx="5095875" cy="900856"/>
          </a:xfrm>
          <a:prstGeom prst="rect">
            <a:avLst/>
          </a:prstGeom>
          <a:noFill/>
          <a:ln>
            <a:noFill/>
          </a:ln>
        </p:spPr>
      </p:pic>
      <p:pic>
        <p:nvPicPr>
          <p:cNvPr id="622" name="Google Shape;622;p30" descr="image.png"/>
          <p:cNvPicPr preferRelativeResize="0"/>
          <p:nvPr/>
        </p:nvPicPr>
        <p:blipFill rotWithShape="1">
          <a:blip r:embed="rId10">
            <a:alphaModFix/>
          </a:blip>
          <a:srcRect/>
          <a:stretch/>
        </p:blipFill>
        <p:spPr>
          <a:xfrm>
            <a:off x="6534150" y="1853886"/>
            <a:ext cx="381000" cy="381000"/>
          </a:xfrm>
          <a:prstGeom prst="rect">
            <a:avLst/>
          </a:prstGeom>
          <a:noFill/>
          <a:ln>
            <a:noFill/>
          </a:ln>
        </p:spPr>
      </p:pic>
      <p:pic>
        <p:nvPicPr>
          <p:cNvPr id="623" name="Google Shape;623;p30" descr="image.png"/>
          <p:cNvPicPr preferRelativeResize="0"/>
          <p:nvPr/>
        </p:nvPicPr>
        <p:blipFill rotWithShape="1">
          <a:blip r:embed="rId11">
            <a:alphaModFix/>
          </a:blip>
          <a:srcRect/>
          <a:stretch/>
        </p:blipFill>
        <p:spPr>
          <a:xfrm>
            <a:off x="6534150" y="3158513"/>
            <a:ext cx="381000" cy="381000"/>
          </a:xfrm>
          <a:prstGeom prst="rect">
            <a:avLst/>
          </a:prstGeom>
          <a:noFill/>
          <a:ln>
            <a:noFill/>
          </a:ln>
        </p:spPr>
      </p:pic>
      <p:pic>
        <p:nvPicPr>
          <p:cNvPr id="624" name="Google Shape;624;p30" descr="image.png"/>
          <p:cNvPicPr preferRelativeResize="0"/>
          <p:nvPr/>
        </p:nvPicPr>
        <p:blipFill rotWithShape="1">
          <a:blip r:embed="rId12">
            <a:alphaModFix/>
          </a:blip>
          <a:srcRect/>
          <a:stretch/>
        </p:blipFill>
        <p:spPr>
          <a:xfrm>
            <a:off x="6534150" y="4463141"/>
            <a:ext cx="381000" cy="381000"/>
          </a:xfrm>
          <a:prstGeom prst="rect">
            <a:avLst/>
          </a:prstGeom>
          <a:noFill/>
          <a:ln>
            <a:noFill/>
          </a:ln>
        </p:spPr>
      </p:pic>
      <p:pic>
        <p:nvPicPr>
          <p:cNvPr id="625" name="Google Shape;625;p30" descr="image.png"/>
          <p:cNvPicPr preferRelativeResize="0"/>
          <p:nvPr/>
        </p:nvPicPr>
        <p:blipFill rotWithShape="1">
          <a:blip r:embed="rId13">
            <a:alphaModFix/>
          </a:blip>
          <a:srcRect/>
          <a:stretch/>
        </p:blipFill>
        <p:spPr>
          <a:xfrm>
            <a:off x="6534150" y="5661059"/>
            <a:ext cx="381000" cy="381000"/>
          </a:xfrm>
          <a:prstGeom prst="rect">
            <a:avLst/>
          </a:prstGeom>
          <a:noFill/>
          <a:ln>
            <a:noFill/>
          </a:ln>
        </p:spPr>
      </p:pic>
      <p:pic>
        <p:nvPicPr>
          <p:cNvPr id="626" name="Google Shape;626;p30" descr="image.png"/>
          <p:cNvPicPr preferRelativeResize="0"/>
          <p:nvPr/>
        </p:nvPicPr>
        <p:blipFill rotWithShape="1">
          <a:blip r:embed="rId14">
            <a:alphaModFix/>
          </a:blip>
          <a:srcRect/>
          <a:stretch/>
        </p:blipFill>
        <p:spPr>
          <a:xfrm>
            <a:off x="0" y="0"/>
            <a:ext cx="12192000" cy="142875"/>
          </a:xfrm>
          <a:prstGeom prst="rect">
            <a:avLst/>
          </a:prstGeom>
          <a:noFill/>
          <a:ln>
            <a:noFill/>
          </a:ln>
        </p:spPr>
      </p:pic>
      <p:sp>
        <p:nvSpPr>
          <p:cNvPr id="627" name="Google Shape;627;p30"/>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REFERRAL PROGRAM</a:t>
            </a:r>
            <a:endParaRPr>
              <a:latin typeface="小塚ゴシック Pro B" panose="020B0800000000000000" pitchFamily="34" charset="-128"/>
              <a:ea typeface="小塚ゴシック Pro B" panose="020B0800000000000000" pitchFamily="34" charset="-128"/>
            </a:endParaRPr>
          </a:p>
        </p:txBody>
      </p:sp>
      <p:sp>
        <p:nvSpPr>
          <p:cNvPr id="628" name="Google Shape;628;p30"/>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紹介パートナー制度のご案内</a:t>
            </a:r>
            <a:endParaRPr>
              <a:latin typeface="小塚ゴシック Pro B" panose="020B0800000000000000" pitchFamily="34" charset="-128"/>
              <a:ea typeface="小塚ゴシック Pro B" panose="020B0800000000000000" pitchFamily="34" charset="-128"/>
            </a:endParaRPr>
          </a:p>
        </p:txBody>
      </p:sp>
      <p:sp>
        <p:nvSpPr>
          <p:cNvPr id="629" name="Google Shape;629;p30"/>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631" name="Google Shape;631;p30"/>
          <p:cNvSpPr txBox="1"/>
          <p:nvPr/>
        </p:nvSpPr>
        <p:spPr>
          <a:xfrm>
            <a:off x="1162050" y="2020679"/>
            <a:ext cx="4510500" cy="471026"/>
          </a:xfrm>
          <a:prstGeom prst="rect">
            <a:avLst/>
          </a:prstGeom>
          <a:noFill/>
          <a:ln>
            <a:noFill/>
          </a:ln>
        </p:spPr>
        <p:txBody>
          <a:bodyPr spcFirstLastPara="1" wrap="square" lIns="0" tIns="0" rIns="0" bIns="0" anchor="t" anchorCtr="0">
            <a:spAutoFit/>
          </a:bodyPr>
          <a:lstStyle/>
          <a:p>
            <a:pPr marL="0" marR="0" lvl="0" indent="0" algn="l" rtl="0">
              <a:lnSpc>
                <a:spcPct val="109166"/>
              </a:lnSpc>
              <a:spcBef>
                <a:spcPts val="0"/>
              </a:spcBef>
              <a:spcAft>
                <a:spcPts val="0"/>
              </a:spcAft>
              <a:buNone/>
            </a:pPr>
            <a:r>
              <a:rPr lang="en-US" sz="1404"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見込み客をご紹介いただき、一部プランの契約につながれば、紹介料をお支払いします。</a:t>
            </a:r>
            <a:endParaRPr>
              <a:latin typeface="小塚ゴシック Pro B" panose="020B0800000000000000" pitchFamily="34" charset="-128"/>
              <a:ea typeface="小塚ゴシック Pro B" panose="020B0800000000000000" pitchFamily="34" charset="-128"/>
            </a:endParaRPr>
          </a:p>
        </p:txBody>
      </p:sp>
      <p:sp>
        <p:nvSpPr>
          <p:cNvPr id="632" name="Google Shape;632;p30"/>
          <p:cNvSpPr txBox="1"/>
          <p:nvPr/>
        </p:nvSpPr>
        <p:spPr>
          <a:xfrm>
            <a:off x="1162050" y="2757963"/>
            <a:ext cx="4510500" cy="5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集客顧問「ミチスジ」</a:t>
            </a:r>
            <a:r>
              <a:rPr lang="en-US" sz="1200" b="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顧問プラン</a:t>
            </a:r>
            <a:r>
              <a:rPr lang="en-US" sz="1200" b="1" i="0" u="none" strike="noStrike" cap="none">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の</a:t>
            </a:r>
            <a:r>
              <a:rPr lang="en-US" sz="1200" b="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契約時</a:t>
            </a:r>
            <a:endParaRPr sz="120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毎月：</a:t>
            </a:r>
            <a:r>
              <a:rPr lang="en-US" sz="1200" b="0" i="0" u="none" strike="noStrike" cap="none">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契約金額20%</a:t>
            </a:r>
            <a:endParaRPr sz="1200" b="0" i="0" u="none" strike="noStrike" cap="none">
              <a:solidFill>
                <a:srgbClr val="C5A059"/>
              </a:solidFill>
              <a:latin typeface="小塚ゴシック Pro M" panose="020B0700000000000000" pitchFamily="34" charset="-128"/>
              <a:ea typeface="小塚ゴシック Pro M" panose="020B0700000000000000" pitchFamily="34" charset="-128"/>
              <a:cs typeface="Noto Sans JP"/>
              <a:sym typeface="Noto Sans JP"/>
            </a:endParaRPr>
          </a:p>
          <a:p>
            <a:pPr marL="0" lvl="0" indent="0" algn="l" rtl="0">
              <a:spcBef>
                <a:spcPts val="0"/>
              </a:spcBef>
              <a:spcAft>
                <a:spcPts val="0"/>
              </a:spcAft>
              <a:buClr>
                <a:schemeClr val="dk1"/>
              </a:buClr>
              <a:buFont typeface="Arial"/>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※契約が続く限り、着金を確認してからお支払い。</a:t>
            </a:r>
            <a:endParaRPr sz="1200">
              <a:solidFill>
                <a:srgbClr val="C5A059"/>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633" name="Google Shape;633;p30"/>
          <p:cNvSpPr txBox="1"/>
          <p:nvPr/>
        </p:nvSpPr>
        <p:spPr>
          <a:xfrm>
            <a:off x="1162050" y="3516675"/>
            <a:ext cx="2974200" cy="5541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制作代行「カワリミ」の</a:t>
            </a:r>
            <a:r>
              <a:rPr lang="ja-JP" altLang="en-US" sz="1200" b="1" i="0" u="none" strike="noStrike" cap="none" dirty="0">
                <a:solidFill>
                  <a:srgbClr val="2C2C2C"/>
                </a:solidFill>
                <a:latin typeface="小塚ゴシック Pro M" panose="020B0700000000000000" pitchFamily="34" charset="-128"/>
                <a:ea typeface="小塚ゴシック Pro M" panose="020B0700000000000000" pitchFamily="34" charset="-128"/>
                <a:cs typeface="Noto Sans JP"/>
                <a:sym typeface="Noto Sans JP"/>
              </a:rPr>
              <a:t>契約時</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単発：</a:t>
            </a:r>
            <a:r>
              <a:rPr lang="en-US" sz="1200" b="0" i="0" u="none" strike="noStrike" cap="none" dirty="0">
                <a:solidFill>
                  <a:srgbClr val="C5A059"/>
                </a:solidFill>
                <a:latin typeface="小塚ゴシック Pro M" panose="020B0700000000000000" pitchFamily="34" charset="-128"/>
                <a:ea typeface="小塚ゴシック Pro M" panose="020B0700000000000000" pitchFamily="34" charset="-128"/>
                <a:cs typeface="Noto Sans JP"/>
                <a:sym typeface="Noto Sans JP"/>
              </a:rPr>
              <a:t>契約金額の10%</a:t>
            </a:r>
            <a:endParaRPr sz="1200" dirty="0">
              <a:solidFill>
                <a:srgbClr val="333333"/>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spcBef>
                <a:spcPts val="0"/>
              </a:spcBef>
              <a:spcAft>
                <a:spcPts val="0"/>
              </a:spcAft>
              <a:buNone/>
            </a:pPr>
            <a:r>
              <a:rPr lang="en-US" sz="1200" b="0" i="0" u="none" strike="noStrike" cap="none"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※契約金額10万円以上の場合</a:t>
            </a:r>
            <a:r>
              <a:rPr lang="en-US" sz="1200" dirty="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に限ります。</a:t>
            </a:r>
            <a:endParaRPr dirty="0">
              <a:latin typeface="小塚ゴシック Pro M" panose="020B0700000000000000" pitchFamily="34" charset="-128"/>
              <a:ea typeface="小塚ゴシック Pro M" panose="020B0700000000000000" pitchFamily="34" charset="-128"/>
            </a:endParaRPr>
          </a:p>
        </p:txBody>
      </p:sp>
      <p:sp>
        <p:nvSpPr>
          <p:cNvPr id="634" name="Google Shape;634;p30"/>
          <p:cNvSpPr/>
          <p:nvPr/>
        </p:nvSpPr>
        <p:spPr>
          <a:xfrm>
            <a:off x="1162050" y="4279860"/>
            <a:ext cx="4295700" cy="9600"/>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635" name="Google Shape;635;p30"/>
          <p:cNvSpPr txBox="1"/>
          <p:nvPr/>
        </p:nvSpPr>
        <p:spPr>
          <a:xfrm>
            <a:off x="1162050" y="4450373"/>
            <a:ext cx="4295700" cy="29546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rgbClr val="666666"/>
                </a:solidFill>
                <a:latin typeface="小塚ゴシック Pro B" panose="020B0800000000000000" pitchFamily="34" charset="-128"/>
                <a:ea typeface="小塚ゴシック Pro B" panose="020B0800000000000000" pitchFamily="34" charset="-128"/>
                <a:cs typeface="Noto Sans JP"/>
                <a:sym typeface="Noto Sans JP"/>
              </a:rPr>
              <a:t>こんなメリットがあります</a:t>
            </a:r>
            <a:endParaRPr>
              <a:latin typeface="小塚ゴシック Pro B" panose="020B0800000000000000" pitchFamily="34" charset="-128"/>
              <a:ea typeface="小塚ゴシック Pro B" panose="020B0800000000000000" pitchFamily="34" charset="-128"/>
            </a:endParaRPr>
          </a:p>
        </p:txBody>
      </p:sp>
      <p:sp>
        <p:nvSpPr>
          <p:cNvPr id="636" name="Google Shape;636;p30"/>
          <p:cNvSpPr txBox="1"/>
          <p:nvPr/>
        </p:nvSpPr>
        <p:spPr>
          <a:xfrm>
            <a:off x="1781175" y="4911554"/>
            <a:ext cx="2743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dirty="0" err="1">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自社サービスの付加価値として提案可能</a:t>
            </a:r>
            <a:endParaRPr dirty="0">
              <a:latin typeface="小塚ゴシック Pro M" panose="020B0700000000000000" pitchFamily="34" charset="-128"/>
              <a:ea typeface="小塚ゴシック Pro M" panose="020B0700000000000000" pitchFamily="34" charset="-128"/>
            </a:endParaRPr>
          </a:p>
        </p:txBody>
      </p:sp>
      <p:sp>
        <p:nvSpPr>
          <p:cNvPr id="637" name="Google Shape;637;p30"/>
          <p:cNvSpPr txBox="1"/>
          <p:nvPr/>
        </p:nvSpPr>
        <p:spPr>
          <a:xfrm>
            <a:off x="1781175" y="5206829"/>
            <a:ext cx="2743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リスクなく新たな収益源を確保</a:t>
            </a:r>
            <a:endParaRPr>
              <a:latin typeface="小塚ゴシック Pro M" panose="020B0700000000000000" pitchFamily="34" charset="-128"/>
              <a:ea typeface="小塚ゴシック Pro M" panose="020B0700000000000000" pitchFamily="34" charset="-128"/>
            </a:endParaRPr>
          </a:p>
        </p:txBody>
      </p:sp>
      <p:sp>
        <p:nvSpPr>
          <p:cNvPr id="638" name="Google Shape;638;p30"/>
          <p:cNvSpPr txBox="1"/>
          <p:nvPr/>
        </p:nvSpPr>
        <p:spPr>
          <a:xfrm>
            <a:off x="1781175" y="5502104"/>
            <a:ext cx="27432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333333"/>
                </a:solidFill>
                <a:latin typeface="小塚ゴシック Pro M" panose="020B0700000000000000" pitchFamily="34" charset="-128"/>
                <a:ea typeface="小塚ゴシック Pro M" panose="020B0700000000000000" pitchFamily="34" charset="-128"/>
                <a:cs typeface="Noto Sans JP"/>
                <a:sym typeface="Noto Sans JP"/>
              </a:rPr>
              <a:t>専門的な薬機法対応をアウトソース</a:t>
            </a:r>
            <a:endParaRPr>
              <a:latin typeface="小塚ゴシック Pro M" panose="020B0700000000000000" pitchFamily="34" charset="-128"/>
              <a:ea typeface="小塚ゴシック Pro M" panose="020B0700000000000000" pitchFamily="34" charset="-128"/>
            </a:endParaRPr>
          </a:p>
        </p:txBody>
      </p:sp>
      <p:sp>
        <p:nvSpPr>
          <p:cNvPr id="639" name="Google Shape;639;p30"/>
          <p:cNvSpPr txBox="1"/>
          <p:nvPr/>
        </p:nvSpPr>
        <p:spPr>
          <a:xfrm>
            <a:off x="1543050" y="4911554"/>
            <a:ext cx="1335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40" name="Google Shape;640;p30"/>
          <p:cNvSpPr txBox="1"/>
          <p:nvPr/>
        </p:nvSpPr>
        <p:spPr>
          <a:xfrm>
            <a:off x="1543050" y="5206829"/>
            <a:ext cx="1335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41" name="Google Shape;641;p30"/>
          <p:cNvSpPr txBox="1"/>
          <p:nvPr/>
        </p:nvSpPr>
        <p:spPr>
          <a:xfrm>
            <a:off x="1543050" y="5502104"/>
            <a:ext cx="133500" cy="1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a:t>
            </a:r>
            <a:endParaRPr>
              <a:latin typeface="小塚ゴシック Pro B" panose="020B0800000000000000" pitchFamily="34" charset="-128"/>
              <a:ea typeface="小塚ゴシック Pro B" panose="020B0800000000000000" pitchFamily="34" charset="-128"/>
            </a:endParaRPr>
          </a:p>
        </p:txBody>
      </p:sp>
      <p:sp>
        <p:nvSpPr>
          <p:cNvPr id="642" name="Google Shape;642;p30"/>
          <p:cNvSpPr txBox="1"/>
          <p:nvPr/>
        </p:nvSpPr>
        <p:spPr>
          <a:xfrm>
            <a:off x="7105650" y="1687347"/>
            <a:ext cx="433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ご紹介・お繋ぎ</a:t>
            </a:r>
            <a:endParaRPr>
              <a:latin typeface="小塚ゴシック Pro B" panose="020B0800000000000000" pitchFamily="34" charset="-128"/>
              <a:ea typeface="小塚ゴシック Pro B" panose="020B0800000000000000" pitchFamily="34" charset="-128"/>
            </a:endParaRPr>
          </a:p>
        </p:txBody>
      </p:sp>
      <p:sp>
        <p:nvSpPr>
          <p:cNvPr id="643" name="Google Shape;643;p30"/>
          <p:cNvSpPr txBox="1"/>
          <p:nvPr/>
        </p:nvSpPr>
        <p:spPr>
          <a:xfrm>
            <a:off x="7105650" y="1974884"/>
            <a:ext cx="41244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課題をお持ちのお客様やパートナー様に、U-</a:t>
            </a:r>
            <a:r>
              <a:rPr lang="en-US" sz="105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ライティング</a:t>
            </a: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の</a:t>
            </a:r>
            <a:endParaRPr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サービスをご紹介ください。</a:t>
            </a:r>
            <a:endParaRPr>
              <a:latin typeface="小塚ゴシック Pro M" panose="020B0700000000000000" pitchFamily="34" charset="-128"/>
              <a:ea typeface="小塚ゴシック Pro M" panose="020B0700000000000000" pitchFamily="34" charset="-128"/>
            </a:endParaRPr>
          </a:p>
        </p:txBody>
      </p:sp>
      <p:sp>
        <p:nvSpPr>
          <p:cNvPr id="644" name="Google Shape;644;p30"/>
          <p:cNvSpPr txBox="1"/>
          <p:nvPr/>
        </p:nvSpPr>
        <p:spPr>
          <a:xfrm>
            <a:off x="7105650" y="2991975"/>
            <a:ext cx="433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商談・ご提案（弊社担当）</a:t>
            </a:r>
            <a:endParaRPr>
              <a:latin typeface="小塚ゴシック Pro B" panose="020B0800000000000000" pitchFamily="34" charset="-128"/>
              <a:ea typeface="小塚ゴシック Pro B" panose="020B0800000000000000" pitchFamily="34" charset="-128"/>
            </a:endParaRPr>
          </a:p>
        </p:txBody>
      </p:sp>
      <p:sp>
        <p:nvSpPr>
          <p:cNvPr id="645" name="Google Shape;645;p30"/>
          <p:cNvSpPr txBox="1"/>
          <p:nvPr/>
        </p:nvSpPr>
        <p:spPr>
          <a:xfrm>
            <a:off x="7105650" y="3279511"/>
            <a:ext cx="41244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具体的なヒアリングや提案はすべて弊社で行います。</a:t>
            </a:r>
            <a:endParaRPr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進捗は随時ご共有いたします。</a:t>
            </a:r>
            <a:endParaRPr>
              <a:latin typeface="小塚ゴシック Pro M" panose="020B0700000000000000" pitchFamily="34" charset="-128"/>
              <a:ea typeface="小塚ゴシック Pro M" panose="020B0700000000000000" pitchFamily="34" charset="-128"/>
            </a:endParaRPr>
          </a:p>
        </p:txBody>
      </p:sp>
      <p:sp>
        <p:nvSpPr>
          <p:cNvPr id="646" name="Google Shape;646;p30"/>
          <p:cNvSpPr txBox="1"/>
          <p:nvPr/>
        </p:nvSpPr>
        <p:spPr>
          <a:xfrm>
            <a:off x="7105650" y="4296602"/>
            <a:ext cx="433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ご契約・業務開始</a:t>
            </a:r>
            <a:endParaRPr>
              <a:latin typeface="小塚ゴシック Pro B" panose="020B0800000000000000" pitchFamily="34" charset="-128"/>
              <a:ea typeface="小塚ゴシック Pro B" panose="020B0800000000000000" pitchFamily="34" charset="-128"/>
            </a:endParaRPr>
          </a:p>
        </p:txBody>
      </p:sp>
      <p:sp>
        <p:nvSpPr>
          <p:cNvPr id="647" name="Google Shape;647;p30"/>
          <p:cNvSpPr txBox="1"/>
          <p:nvPr/>
        </p:nvSpPr>
        <p:spPr>
          <a:xfrm>
            <a:off x="7105650" y="4584138"/>
            <a:ext cx="41244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お客様と弊社で契約を締結し、制作・コンサルティング業務を開始します。</a:t>
            </a:r>
            <a:endParaRPr>
              <a:latin typeface="小塚ゴシック Pro M" panose="020B0700000000000000" pitchFamily="34" charset="-128"/>
              <a:ea typeface="小塚ゴシック Pro M" panose="020B0700000000000000" pitchFamily="34" charset="-128"/>
            </a:endParaRPr>
          </a:p>
        </p:txBody>
      </p:sp>
      <p:sp>
        <p:nvSpPr>
          <p:cNvPr id="648" name="Google Shape;648;p30"/>
          <p:cNvSpPr txBox="1"/>
          <p:nvPr/>
        </p:nvSpPr>
        <p:spPr>
          <a:xfrm>
            <a:off x="7105650" y="5601230"/>
            <a:ext cx="40605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報酬のお支払い</a:t>
            </a:r>
            <a:endParaRPr>
              <a:latin typeface="小塚ゴシック Pro B" panose="020B0800000000000000" pitchFamily="34" charset="-128"/>
              <a:ea typeface="小塚ゴシック Pro B" panose="020B0800000000000000" pitchFamily="34" charset="-128"/>
            </a:endParaRPr>
          </a:p>
        </p:txBody>
      </p:sp>
      <p:sp>
        <p:nvSpPr>
          <p:cNvPr id="649" name="Google Shape;649;p30"/>
          <p:cNvSpPr txBox="1"/>
          <p:nvPr/>
        </p:nvSpPr>
        <p:spPr>
          <a:xfrm>
            <a:off x="7105650" y="5888766"/>
            <a:ext cx="38673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契約金の入金を確認後</a:t>
            </a:r>
            <a:r>
              <a:rPr lang="en-US" sz="1050" b="0" i="0" u="none" strike="noStrike" cap="none">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、紹介料をお支払いいたします。</a:t>
            </a:r>
            <a:endParaRPr>
              <a:latin typeface="小塚ゴシック Pro M" panose="020B0700000000000000" pitchFamily="34" charset="-128"/>
              <a:ea typeface="小塚ゴシック Pro M" panose="020B0700000000000000" pitchFamily="34" charset="-128"/>
            </a:endParaRPr>
          </a:p>
        </p:txBody>
      </p:sp>
      <p:sp>
        <p:nvSpPr>
          <p:cNvPr id="650" name="Google Shape;650;p30"/>
          <p:cNvSpPr/>
          <p:nvPr/>
        </p:nvSpPr>
        <p:spPr>
          <a:xfrm>
            <a:off x="1162050" y="2610623"/>
            <a:ext cx="4295700" cy="9600"/>
          </a:xfrm>
          <a:prstGeom prst="rect">
            <a:avLst/>
          </a:prstGeom>
          <a:solidFill>
            <a:srgbClr val="DDDD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2" name="スライド番号プレースホルダー 14">
            <a:extLst>
              <a:ext uri="{FF2B5EF4-FFF2-40B4-BE49-F238E27FC236}">
                <a16:creationId xmlns:a16="http://schemas.microsoft.com/office/drawing/2014/main" id="{EA2A231C-3334-5727-1332-ED3893DE3EDA}"/>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18</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38" name="Google Shape;138;p15"/>
          <p:cNvGrpSpPr/>
          <p:nvPr/>
        </p:nvGrpSpPr>
        <p:grpSpPr>
          <a:xfrm>
            <a:off x="0" y="0"/>
            <a:ext cx="12643324" cy="6976048"/>
            <a:chOff x="0" y="0"/>
            <a:chExt cx="12643324" cy="6976048"/>
          </a:xfrm>
        </p:grpSpPr>
        <p:pic>
          <p:nvPicPr>
            <p:cNvPr id="139" name="Google Shape;139;p15"/>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140" name="Google Shape;140;p15"/>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141" name="Google Shape;141;p15" descr="image.png"/>
          <p:cNvPicPr preferRelativeResize="0"/>
          <p:nvPr/>
        </p:nvPicPr>
        <p:blipFill rotWithShape="1">
          <a:blip r:embed="rId8">
            <a:alphaModFix/>
          </a:blip>
          <a:srcRect/>
          <a:stretch/>
        </p:blipFill>
        <p:spPr>
          <a:xfrm>
            <a:off x="762000" y="6429375"/>
            <a:ext cx="10668000" cy="238125"/>
          </a:xfrm>
          <a:prstGeom prst="rect">
            <a:avLst/>
          </a:prstGeom>
          <a:noFill/>
          <a:ln>
            <a:noFill/>
          </a:ln>
        </p:spPr>
      </p:pic>
      <p:pic>
        <p:nvPicPr>
          <p:cNvPr id="142" name="Google Shape;142;p15" descr="image.png"/>
          <p:cNvPicPr preferRelativeResize="0"/>
          <p:nvPr/>
        </p:nvPicPr>
        <p:blipFill rotWithShape="1">
          <a:blip r:embed="rId6">
            <a:alphaModFix/>
          </a:blip>
          <a:srcRect/>
          <a:stretch/>
        </p:blipFill>
        <p:spPr>
          <a:xfrm>
            <a:off x="762000" y="2591692"/>
            <a:ext cx="3301900" cy="2651521"/>
          </a:xfrm>
          <a:prstGeom prst="rect">
            <a:avLst/>
          </a:prstGeom>
          <a:noFill/>
          <a:ln>
            <a:noFill/>
          </a:ln>
        </p:spPr>
      </p:pic>
      <p:pic>
        <p:nvPicPr>
          <p:cNvPr id="143" name="Google Shape;143;p15" descr="image.png"/>
          <p:cNvPicPr preferRelativeResize="0"/>
          <p:nvPr/>
        </p:nvPicPr>
        <p:blipFill rotWithShape="1">
          <a:blip r:embed="rId5">
            <a:alphaModFix/>
          </a:blip>
          <a:srcRect/>
          <a:stretch/>
        </p:blipFill>
        <p:spPr>
          <a:xfrm>
            <a:off x="4444900" y="2591692"/>
            <a:ext cx="3302049" cy="2651521"/>
          </a:xfrm>
          <a:prstGeom prst="rect">
            <a:avLst/>
          </a:prstGeom>
          <a:noFill/>
          <a:ln>
            <a:noFill/>
          </a:ln>
        </p:spPr>
      </p:pic>
      <p:pic>
        <p:nvPicPr>
          <p:cNvPr id="144" name="Google Shape;144;p15" descr="image.png"/>
          <p:cNvPicPr preferRelativeResize="0"/>
          <p:nvPr/>
        </p:nvPicPr>
        <p:blipFill rotWithShape="1">
          <a:blip r:embed="rId6">
            <a:alphaModFix/>
          </a:blip>
          <a:srcRect/>
          <a:stretch/>
        </p:blipFill>
        <p:spPr>
          <a:xfrm>
            <a:off x="8127950" y="2591692"/>
            <a:ext cx="3301900" cy="2651521"/>
          </a:xfrm>
          <a:prstGeom prst="rect">
            <a:avLst/>
          </a:prstGeom>
          <a:noFill/>
          <a:ln>
            <a:noFill/>
          </a:ln>
        </p:spPr>
      </p:pic>
      <p:pic>
        <p:nvPicPr>
          <p:cNvPr id="145" name="Google Shape;145;p15"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146" name="Google Shape;146;p15"/>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REFERRAL KEYWORDS</a:t>
            </a:r>
            <a:endParaRPr>
              <a:latin typeface="小塚ゴシック Pro B" panose="020B0800000000000000" pitchFamily="34" charset="-128"/>
              <a:ea typeface="小塚ゴシック Pro B" panose="020B0800000000000000" pitchFamily="34" charset="-128"/>
            </a:endParaRPr>
          </a:p>
        </p:txBody>
      </p:sp>
      <p:sp>
        <p:nvSpPr>
          <p:cNvPr id="147" name="Google Shape;147;p15"/>
          <p:cNvSpPr txBox="1"/>
          <p:nvPr/>
        </p:nvSpPr>
        <p:spPr>
          <a:xfrm>
            <a:off x="762000" y="880025"/>
            <a:ext cx="10668000" cy="581698"/>
          </a:xfrm>
          <a:prstGeom prst="rect">
            <a:avLst/>
          </a:prstGeom>
          <a:noFill/>
          <a:ln>
            <a:noFill/>
          </a:ln>
        </p:spPr>
        <p:txBody>
          <a:bodyPr spcFirstLastPara="1" wrap="square" lIns="0" tIns="0" rIns="0" bIns="0" anchor="t" anchorCtr="0">
            <a:spAutoFit/>
          </a:bodyPr>
          <a:lstStyle/>
          <a:p>
            <a:pPr marL="0" marR="0" lvl="0" indent="0" algn="l" rtl="0">
              <a:lnSpc>
                <a:spcPct val="139962"/>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こんな声を聞いたら、ご紹介ください</a:t>
            </a:r>
            <a:endParaRPr>
              <a:latin typeface="小塚ゴシック Pro B" panose="020B0800000000000000" pitchFamily="34" charset="-128"/>
              <a:ea typeface="小塚ゴシック Pro B" panose="020B0800000000000000" pitchFamily="34" charset="-128"/>
            </a:endParaRPr>
          </a:p>
        </p:txBody>
      </p:sp>
      <p:sp>
        <p:nvSpPr>
          <p:cNvPr id="148" name="Google Shape;148;p15"/>
          <p:cNvSpPr txBox="1"/>
          <p:nvPr/>
        </p:nvSpPr>
        <p:spPr>
          <a:xfrm>
            <a:off x="762000" y="5651644"/>
            <a:ext cx="10668000"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24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合言葉は「マーケティング迷子」です。</a:t>
            </a:r>
            <a:endParaRPr sz="2400" dirty="0">
              <a:solidFill>
                <a:srgbClr val="2C2C2C"/>
              </a:solidFill>
              <a:latin typeface="小塚ゴシック Pro B" panose="020B0800000000000000" pitchFamily="34" charset="-128"/>
              <a:ea typeface="小塚ゴシック Pro B" panose="020B0800000000000000" pitchFamily="34" charset="-128"/>
            </a:endParaRPr>
          </a:p>
        </p:txBody>
      </p:sp>
      <p:sp>
        <p:nvSpPr>
          <p:cNvPr id="149" name="Google Shape;149;p15"/>
          <p:cNvSpPr txBox="1"/>
          <p:nvPr/>
        </p:nvSpPr>
        <p:spPr>
          <a:xfrm>
            <a:off x="762000" y="6534150"/>
            <a:ext cx="1651099" cy="1333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152" name="Google Shape;152;p15"/>
          <p:cNvSpPr txBox="1"/>
          <p:nvPr/>
        </p:nvSpPr>
        <p:spPr>
          <a:xfrm>
            <a:off x="104775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「チラシやLPを作ったけど反応がない」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3" name="Google Shape;153;p15"/>
          <p:cNvSpPr txBox="1"/>
          <p:nvPr/>
        </p:nvSpPr>
        <p:spPr>
          <a:xfrm>
            <a:off x="104775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作った後に成果が出ていない方。原因の診断から改善までお手伝いします。</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5" name="Google Shape;155;p15"/>
          <p:cNvSpPr txBox="1"/>
          <p:nvPr/>
        </p:nvSpPr>
        <p:spPr>
          <a:xfrm>
            <a:off x="4730650" y="3210817"/>
            <a:ext cx="28671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「この表現、薬機法的に大丈夫？」</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6" name="Google Shape;156;p15"/>
          <p:cNvSpPr txBox="1"/>
          <p:nvPr/>
        </p:nvSpPr>
        <p:spPr>
          <a:xfrm>
            <a:off x="4730650" y="3987998"/>
            <a:ext cx="2730600" cy="590931"/>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美容・健康分野で表現に悩む方。守りながら「売れる」表現を作ります。</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158" name="Google Shape;158;p15"/>
          <p:cNvSpPr txBox="1"/>
          <p:nvPr/>
        </p:nvSpPr>
        <p:spPr>
          <a:xfrm>
            <a:off x="8413700" y="3210817"/>
            <a:ext cx="2866800" cy="650050"/>
          </a:xfrm>
          <a:prstGeom prst="rect">
            <a:avLst/>
          </a:prstGeom>
          <a:noFill/>
          <a:ln>
            <a:noFill/>
          </a:ln>
        </p:spPr>
        <p:txBody>
          <a:bodyPr spcFirstLastPara="1" wrap="square" lIns="0" tIns="0" rIns="0" bIns="0" anchor="t" anchorCtr="0">
            <a:spAutoFit/>
          </a:bodyPr>
          <a:lstStyle/>
          <a:p>
            <a:pPr marL="0" lvl="0" indent="0" algn="l" rtl="0">
              <a:lnSpc>
                <a:spcPct val="128333"/>
              </a:lnSpc>
              <a:spcBef>
                <a:spcPts val="0"/>
              </a:spcBef>
              <a:spcAft>
                <a:spcPts val="0"/>
              </a:spcAft>
              <a:buNone/>
            </a:pPr>
            <a:r>
              <a:rPr lang="en-US"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「集客まで手が回らない」</a:t>
            </a:r>
            <a:br>
              <a:rPr lang="en-US" sz="180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sz="16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endParaRPr>
          </a:p>
        </p:txBody>
      </p:sp>
      <p:sp>
        <p:nvSpPr>
          <p:cNvPr id="159" name="Google Shape;159;p15"/>
          <p:cNvSpPr txBox="1"/>
          <p:nvPr/>
        </p:nvSpPr>
        <p:spPr>
          <a:xfrm>
            <a:off x="8413700" y="3987998"/>
            <a:ext cx="2730300" cy="886397"/>
          </a:xfrm>
          <a:prstGeom prst="rect">
            <a:avLst/>
          </a:prstGeom>
          <a:noFill/>
          <a:ln>
            <a:noFill/>
          </a:ln>
        </p:spPr>
        <p:txBody>
          <a:bodyPr spcFirstLastPara="1" wrap="square" lIns="0" tIns="0" rIns="0" bIns="0" anchor="t" anchorCtr="0">
            <a:spAutoFit/>
          </a:bodyPr>
          <a:lstStyle/>
          <a:p>
            <a:pPr marL="0" lvl="0" indent="0" algn="l" rtl="0">
              <a:lnSpc>
                <a:spcPct val="160000"/>
              </a:lnSpc>
              <a:spcBef>
                <a:spcPts val="0"/>
              </a:spcBef>
              <a:spcAft>
                <a:spcPts val="0"/>
              </a:spcAft>
              <a:buNone/>
            </a:pPr>
            <a:r>
              <a:rPr lang="en-US"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本業が忙しい方、迷っている方。制作代行と集客顧問で支えます。</a:t>
            </a:r>
            <a:endParaRPr sz="1200">
              <a:solidFill>
                <a:srgbClr val="666666"/>
              </a:solidFill>
              <a:latin typeface="小塚ゴシック Pro M" panose="020B0700000000000000" pitchFamily="34" charset="-128"/>
              <a:ea typeface="小塚ゴシック Pro M" panose="020B0700000000000000" pitchFamily="34" charset="-128"/>
              <a:cs typeface="Noto Sans JP"/>
              <a:sym typeface="Noto Sans JP"/>
            </a:endParaRPr>
          </a:p>
        </p:txBody>
      </p:sp>
      <p:sp>
        <p:nvSpPr>
          <p:cNvPr id="2" name="スライド番号プレースホルダー 14">
            <a:extLst>
              <a:ext uri="{FF2B5EF4-FFF2-40B4-BE49-F238E27FC236}">
                <a16:creationId xmlns:a16="http://schemas.microsoft.com/office/drawing/2014/main" id="{F0F9276C-8430-0D4A-CE23-E09B5F8C5C56}"/>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4</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
        <p:nvSpPr>
          <p:cNvPr id="160" name="Rectangle 159"/>
          <p:cNvSpPr/>
          <p:nvPr/>
        </p:nvSpPr>
        <p:spPr>
          <a:xfrm>
            <a:off x="841370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KEYWORD 03</a:t>
            </a:r>
          </a:p>
        </p:txBody>
      </p:sp>
      <p:sp>
        <p:nvSpPr>
          <p:cNvPr id="161" name="Rectangle 160"/>
          <p:cNvSpPr/>
          <p:nvPr/>
        </p:nvSpPr>
        <p:spPr>
          <a:xfrm>
            <a:off x="47306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KEYWORD 02</a:t>
            </a:r>
          </a:p>
        </p:txBody>
      </p:sp>
      <p:sp>
        <p:nvSpPr>
          <p:cNvPr id="162" name="Rectangle 161"/>
          <p:cNvSpPr/>
          <p:nvPr/>
        </p:nvSpPr>
        <p:spPr>
          <a:xfrm>
            <a:off x="1047750" y="2496442"/>
            <a:ext cx="737889" cy="266700"/>
          </a:xfrm>
          <a:prstGeom prst="rect">
            <a:avLst/>
          </a:prstGeom>
          <a:solidFill>
            <a:srgbClr val="C6A1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rPr>
              <a:t>KEYWORD 01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501" name="Google Shape;501;p27"/>
          <p:cNvGrpSpPr/>
          <p:nvPr/>
        </p:nvGrpSpPr>
        <p:grpSpPr>
          <a:xfrm>
            <a:off x="0" y="0"/>
            <a:ext cx="12643324" cy="6976048"/>
            <a:chOff x="0" y="0"/>
            <a:chExt cx="12643324" cy="6976048"/>
          </a:xfrm>
        </p:grpSpPr>
        <p:pic>
          <p:nvPicPr>
            <p:cNvPr id="502" name="Google Shape;502;p27"/>
            <p:cNvPicPr preferRelativeResize="0"/>
            <p:nvPr/>
          </p:nvPicPr>
          <p:blipFill>
            <a:blip r:embed="rId3">
              <a:alphaModFix/>
            </a:blip>
            <a:stretch>
              <a:fillRect/>
            </a:stretch>
          </p:blipFill>
          <p:spPr>
            <a:xfrm>
              <a:off x="0" y="0"/>
              <a:ext cx="12643315" cy="6976048"/>
            </a:xfrm>
            <a:prstGeom prst="rect">
              <a:avLst/>
            </a:prstGeom>
            <a:noFill/>
            <a:ln>
              <a:noFill/>
            </a:ln>
          </p:spPr>
        </p:pic>
        <p:pic>
          <p:nvPicPr>
            <p:cNvPr id="503" name="Google Shape;503;p27"/>
            <p:cNvPicPr preferRelativeResize="0"/>
            <p:nvPr/>
          </p:nvPicPr>
          <p:blipFill rotWithShape="1">
            <a:blip r:embed="rId3">
              <a:alphaModFix/>
            </a:blip>
            <a:srcRect l="88432" t="69407" b="11568"/>
            <a:stretch/>
          </p:blipFill>
          <p:spPr>
            <a:xfrm>
              <a:off x="11180801" y="5648888"/>
              <a:ext cx="1462523" cy="1327158"/>
            </a:xfrm>
            <a:prstGeom prst="rect">
              <a:avLst/>
            </a:prstGeom>
            <a:noFill/>
            <a:ln>
              <a:noFill/>
            </a:ln>
          </p:spPr>
        </p:pic>
      </p:grpSp>
      <p:pic>
        <p:nvPicPr>
          <p:cNvPr id="504" name="Google Shape;504;p27" descr="image.png"/>
          <p:cNvPicPr preferRelativeResize="0"/>
          <p:nvPr/>
        </p:nvPicPr>
        <p:blipFill rotWithShape="1">
          <a:blip r:embed="rId8">
            <a:alphaModFix/>
          </a:blip>
          <a:srcRect/>
          <a:stretch/>
        </p:blipFill>
        <p:spPr>
          <a:xfrm>
            <a:off x="762000" y="6429375"/>
            <a:ext cx="10668000" cy="238125"/>
          </a:xfrm>
          <a:prstGeom prst="rect">
            <a:avLst/>
          </a:prstGeom>
          <a:noFill/>
          <a:ln>
            <a:noFill/>
          </a:ln>
        </p:spPr>
      </p:pic>
      <p:pic>
        <p:nvPicPr>
          <p:cNvPr id="505" name="Google Shape;505;p27" descr="image.png"/>
          <p:cNvPicPr preferRelativeResize="0"/>
          <p:nvPr/>
        </p:nvPicPr>
        <p:blipFill rotWithShape="1">
          <a:blip r:embed="rId6">
            <a:alphaModFix/>
          </a:blip>
          <a:srcRect/>
          <a:stretch/>
        </p:blipFill>
        <p:spPr>
          <a:xfrm>
            <a:off x="762000" y="1740991"/>
            <a:ext cx="4267200" cy="4545508"/>
          </a:xfrm>
          <a:prstGeom prst="rect">
            <a:avLst/>
          </a:prstGeom>
          <a:noFill/>
          <a:ln>
            <a:noFill/>
          </a:ln>
        </p:spPr>
      </p:pic>
      <p:pic>
        <p:nvPicPr>
          <p:cNvPr id="506" name="Google Shape;506;p27" descr="image.png"/>
          <p:cNvPicPr preferRelativeResize="0"/>
          <p:nvPr/>
        </p:nvPicPr>
        <p:blipFill rotWithShape="1">
          <a:blip r:embed="rId5">
            <a:alphaModFix/>
          </a:blip>
          <a:srcRect/>
          <a:stretch/>
        </p:blipFill>
        <p:spPr>
          <a:xfrm>
            <a:off x="1143000" y="4844206"/>
            <a:ext cx="3505200" cy="567630"/>
          </a:xfrm>
          <a:prstGeom prst="rect">
            <a:avLst/>
          </a:prstGeom>
          <a:noFill/>
          <a:ln>
            <a:noFill/>
          </a:ln>
        </p:spPr>
      </p:pic>
      <p:pic>
        <p:nvPicPr>
          <p:cNvPr id="507" name="Google Shape;507;p27" descr="image.png"/>
          <p:cNvPicPr preferRelativeResize="0"/>
          <p:nvPr/>
        </p:nvPicPr>
        <p:blipFill rotWithShape="1">
          <a:blip r:embed="rId4">
            <a:alphaModFix/>
          </a:blip>
          <a:srcRect/>
          <a:stretch/>
        </p:blipFill>
        <p:spPr>
          <a:xfrm>
            <a:off x="0" y="0"/>
            <a:ext cx="12192000" cy="142875"/>
          </a:xfrm>
          <a:prstGeom prst="rect">
            <a:avLst/>
          </a:prstGeom>
          <a:noFill/>
          <a:ln>
            <a:noFill/>
          </a:ln>
        </p:spPr>
      </p:pic>
      <p:sp>
        <p:nvSpPr>
          <p:cNvPr id="508" name="Google Shape;508;p27"/>
          <p:cNvSpPr txBox="1"/>
          <p:nvPr/>
        </p:nvSpPr>
        <p:spPr>
          <a:xfrm>
            <a:off x="762000" y="571500"/>
            <a:ext cx="10668000"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1" i="0" u="none" strike="noStrike" cap="none">
                <a:solidFill>
                  <a:srgbClr val="C5A059"/>
                </a:solidFill>
                <a:latin typeface="小塚ゴシック Pro B" panose="020B0800000000000000" pitchFamily="34" charset="-128"/>
                <a:ea typeface="小塚ゴシック Pro B" panose="020B0800000000000000" pitchFamily="34" charset="-128"/>
                <a:cs typeface="Lato"/>
                <a:sym typeface="Lato"/>
              </a:rPr>
              <a:t>NEXT STEP</a:t>
            </a:r>
            <a:endParaRPr>
              <a:latin typeface="小塚ゴシック Pro B" panose="020B0800000000000000" pitchFamily="34" charset="-128"/>
              <a:ea typeface="小塚ゴシック Pro B" panose="020B0800000000000000" pitchFamily="34" charset="-128"/>
            </a:endParaRPr>
          </a:p>
        </p:txBody>
      </p:sp>
      <p:sp>
        <p:nvSpPr>
          <p:cNvPr id="509" name="Google Shape;509;p27"/>
          <p:cNvSpPr txBox="1"/>
          <p:nvPr/>
        </p:nvSpPr>
        <p:spPr>
          <a:xfrm>
            <a:off x="762000" y="880020"/>
            <a:ext cx="11201400" cy="581698"/>
          </a:xfrm>
          <a:prstGeom prst="rect">
            <a:avLst/>
          </a:prstGeom>
          <a:noFill/>
          <a:ln>
            <a:noFill/>
          </a:ln>
        </p:spPr>
        <p:txBody>
          <a:bodyPr spcFirstLastPara="1" wrap="square" lIns="0" tIns="0" rIns="0" bIns="0" anchor="t" anchorCtr="0">
            <a:spAutoFit/>
          </a:bodyPr>
          <a:lstStyle/>
          <a:p>
            <a:pPr marL="0" marR="0" lvl="0" indent="0" algn="l" rtl="0">
              <a:lnSpc>
                <a:spcPct val="139963"/>
              </a:lnSpc>
              <a:spcBef>
                <a:spcPts val="0"/>
              </a:spcBef>
              <a:spcAft>
                <a:spcPts val="0"/>
              </a:spcAft>
              <a:buNone/>
            </a:pPr>
            <a:r>
              <a:rPr lang="en-US" sz="2700"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次の一歩</a:t>
            </a:r>
            <a:endParaRPr>
              <a:latin typeface="小塚ゴシック Pro B" panose="020B0800000000000000" pitchFamily="34" charset="-128"/>
              <a:ea typeface="小塚ゴシック Pro B" panose="020B0800000000000000" pitchFamily="34" charset="-128"/>
            </a:endParaRPr>
          </a:p>
        </p:txBody>
      </p:sp>
      <p:sp>
        <p:nvSpPr>
          <p:cNvPr id="510" name="Google Shape;510;p27"/>
          <p:cNvSpPr txBox="1"/>
          <p:nvPr/>
        </p:nvSpPr>
        <p:spPr>
          <a:xfrm>
            <a:off x="762000" y="6534150"/>
            <a:ext cx="1651200" cy="1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999999"/>
                </a:solidFill>
                <a:latin typeface="Lato"/>
                <a:ea typeface="Lato"/>
                <a:cs typeface="Lato"/>
                <a:sym typeface="Lato"/>
              </a:rPr>
              <a:t>© U-Writing All Rights Reserved.</a:t>
            </a:r>
            <a:endParaRPr/>
          </a:p>
        </p:txBody>
      </p:sp>
      <p:sp>
        <p:nvSpPr>
          <p:cNvPr id="512" name="Google Shape;512;p27"/>
          <p:cNvSpPr txBox="1"/>
          <p:nvPr/>
        </p:nvSpPr>
        <p:spPr>
          <a:xfrm>
            <a:off x="1143000" y="2216582"/>
            <a:ext cx="3505200"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まずは1回、迷子ポイントを</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dirty="0">
              <a:latin typeface="小塚ゴシック Pro B" panose="020B0800000000000000" pitchFamily="34" charset="-128"/>
              <a:ea typeface="小塚ゴシック Pro B" panose="020B0800000000000000" pitchFamily="34" charset="-128"/>
            </a:endParaRPr>
          </a:p>
          <a:p>
            <a:pPr marL="0" marR="0" lvl="0" indent="0" algn="l" rtl="0">
              <a:lnSpc>
                <a:spcPct val="140000"/>
              </a:lnSpc>
              <a:spcBef>
                <a:spcPts val="0"/>
              </a:spcBef>
              <a:spcAft>
                <a:spcPts val="0"/>
              </a:spcAft>
              <a:buNone/>
            </a:pPr>
            <a:r>
              <a:rPr lang="en-US" sz="1800" b="1" i="0" u="none" strike="noStrike" cap="none" dirty="0">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一緒に整理しませんか。</a:t>
            </a:r>
            <a:br>
              <a:rPr lang="en-US" sz="1800" b="0" i="0" u="none" strike="noStrike" cap="none" dirty="0">
                <a:solidFill>
                  <a:schemeClr val="dk1"/>
                </a:solidFill>
                <a:latin typeface="小塚ゴシック Pro B" panose="020B0800000000000000" pitchFamily="34" charset="-128"/>
                <a:ea typeface="小塚ゴシック Pro B" panose="020B0800000000000000" pitchFamily="34" charset="-128"/>
                <a:cs typeface="Calibri"/>
                <a:sym typeface="Calibri"/>
              </a:rPr>
            </a:br>
            <a:endParaRPr dirty="0">
              <a:latin typeface="小塚ゴシック Pro B" panose="020B0800000000000000" pitchFamily="34" charset="-128"/>
              <a:ea typeface="小塚ゴシック Pro B" panose="020B0800000000000000" pitchFamily="34" charset="-128"/>
            </a:endParaRPr>
          </a:p>
        </p:txBody>
      </p:sp>
      <p:sp>
        <p:nvSpPr>
          <p:cNvPr id="513" name="Google Shape;513;p27"/>
          <p:cNvSpPr txBox="1"/>
          <p:nvPr/>
        </p:nvSpPr>
        <p:spPr>
          <a:xfrm>
            <a:off x="1143000" y="3684240"/>
            <a:ext cx="3505200"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666666"/>
                </a:solidFill>
                <a:latin typeface="小塚ゴシック Pro M" panose="020B0700000000000000" pitchFamily="34" charset="-128"/>
                <a:ea typeface="小塚ゴシック Pro M" panose="020B0700000000000000" pitchFamily="34" charset="-128"/>
                <a:cs typeface="Noto Sans JP"/>
                <a:sym typeface="Noto Sans JP"/>
              </a:rPr>
              <a:t>ご状況に合わせて3つの進め方からお選びいただけます。必要のない契約はおすすめしません。</a:t>
            </a:r>
            <a:endParaRPr dirty="0">
              <a:latin typeface="小塚ゴシック Pro M" panose="020B0700000000000000" pitchFamily="34" charset="-128"/>
              <a:ea typeface="小塚ゴシック Pro M" panose="020B0700000000000000" pitchFamily="34" charset="-128"/>
            </a:endParaRPr>
          </a:p>
        </p:txBody>
      </p:sp>
      <p:sp>
        <p:nvSpPr>
          <p:cNvPr id="514" name="Google Shape;514;p27"/>
          <p:cNvSpPr txBox="1"/>
          <p:nvPr/>
        </p:nvSpPr>
        <p:spPr>
          <a:xfrm>
            <a:off x="5505450" y="1931491"/>
            <a:ext cx="6686700" cy="302519"/>
          </a:xfrm>
          <a:prstGeom prst="rect">
            <a:avLst/>
          </a:prstGeom>
          <a:noFill/>
          <a:ln>
            <a:noFill/>
          </a:ln>
        </p:spPr>
        <p:txBody>
          <a:bodyPr spcFirstLastPara="1" wrap="square" lIns="0" tIns="0" rIns="0" bIns="0" anchor="t" anchorCtr="0">
            <a:spAutoFit/>
          </a:bodyPr>
          <a:lstStyle/>
          <a:p>
            <a:pPr marL="0" marR="0" lvl="0" indent="0" algn="l" rtl="0">
              <a:lnSpc>
                <a:spcPct val="139957"/>
              </a:lnSpc>
              <a:spcBef>
                <a:spcPts val="0"/>
              </a:spcBef>
              <a:spcAft>
                <a:spcPts val="0"/>
              </a:spcAft>
              <a:buNone/>
            </a:pPr>
            <a:r>
              <a:rPr lang="en-US" sz="1404" b="1" i="0" u="none" strike="noStrike" cap="none">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進め方</a:t>
            </a:r>
            <a:endParaRPr>
              <a:latin typeface="小塚ゴシック Pro B" panose="020B0800000000000000" pitchFamily="34" charset="-128"/>
              <a:ea typeface="小塚ゴシック Pro B" panose="020B0800000000000000" pitchFamily="34" charset="-128"/>
            </a:endParaRPr>
          </a:p>
        </p:txBody>
      </p:sp>
      <p:sp>
        <p:nvSpPr>
          <p:cNvPr id="515" name="Google Shape;515;p27"/>
          <p:cNvSpPr txBox="1"/>
          <p:nvPr/>
        </p:nvSpPr>
        <p:spPr>
          <a:xfrm>
            <a:off x="1304925" y="5031901"/>
            <a:ext cx="3181200" cy="1848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dirty="0" err="1">
                <a:solidFill>
                  <a:srgbClr val="C5A059"/>
                </a:solidFill>
                <a:latin typeface="小塚ゴシック Pro B" panose="020B0800000000000000" pitchFamily="34" charset="-128"/>
                <a:ea typeface="小塚ゴシック Pro B" panose="020B0800000000000000" pitchFamily="34" charset="-128"/>
                <a:cs typeface="Noto Sans JP"/>
                <a:sym typeface="Noto Sans JP"/>
              </a:rPr>
              <a:t>まずは体験プラン 単発14,800円</a:t>
            </a:r>
            <a:endParaRPr dirty="0">
              <a:latin typeface="小塚ゴシック Pro B" panose="020B0800000000000000" pitchFamily="34" charset="-128"/>
              <a:ea typeface="小塚ゴシック Pro B" panose="020B0800000000000000" pitchFamily="34" charset="-128"/>
            </a:endParaRPr>
          </a:p>
        </p:txBody>
      </p:sp>
      <p:sp>
        <p:nvSpPr>
          <p:cNvPr id="516" name="Google Shape;516;p27"/>
          <p:cNvSpPr/>
          <p:nvPr/>
        </p:nvSpPr>
        <p:spPr>
          <a:xfrm>
            <a:off x="5505451" y="23715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7" name="Google Shape;517;p27"/>
          <p:cNvSpPr/>
          <p:nvPr/>
        </p:nvSpPr>
        <p:spPr>
          <a:xfrm>
            <a:off x="5505451" y="349552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18" name="Google Shape;518;p27"/>
          <p:cNvSpPr/>
          <p:nvPr/>
        </p:nvSpPr>
        <p:spPr>
          <a:xfrm>
            <a:off x="5505451" y="4619476"/>
            <a:ext cx="5924550" cy="933600"/>
          </a:xfrm>
          <a:prstGeom prst="roundRect">
            <a:avLst>
              <a:gd name="adj" fmla="val 4081"/>
            </a:avLst>
          </a:prstGeom>
          <a:solidFill>
            <a:srgbClr val="FFFFFF"/>
          </a:solidFill>
          <a:ln w="9525" cap="flat" cmpd="sng">
            <a:solidFill>
              <a:srgbClr val="EEEEE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小塚ゴシック Pro B" panose="020B0800000000000000" pitchFamily="34" charset="-128"/>
              <a:ea typeface="小塚ゴシック Pro B" panose="020B0800000000000000" pitchFamily="34" charset="-128"/>
              <a:cs typeface="Calibri"/>
              <a:sym typeface="Calibri"/>
            </a:endParaRPr>
          </a:p>
        </p:txBody>
      </p:sp>
      <p:sp>
        <p:nvSpPr>
          <p:cNvPr id="522" name="Google Shape;522;p27"/>
          <p:cNvSpPr txBox="1"/>
          <p:nvPr/>
        </p:nvSpPr>
        <p:spPr>
          <a:xfrm>
            <a:off x="6276975" y="28764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最大2時間のZoom相談で、現状の添削と優先順位をご提案します。</a:t>
            </a:r>
            <a:endParaRPr>
              <a:latin typeface="小塚ゴシック Pro M" panose="020B0700000000000000" pitchFamily="34" charset="-128"/>
              <a:ea typeface="小塚ゴシック Pro M" panose="020B0700000000000000" pitchFamily="34" charset="-128"/>
            </a:endParaRPr>
          </a:p>
        </p:txBody>
      </p:sp>
      <p:sp>
        <p:nvSpPr>
          <p:cNvPr id="523" name="Google Shape;523;p27"/>
          <p:cNvSpPr txBox="1"/>
          <p:nvPr/>
        </p:nvSpPr>
        <p:spPr>
          <a:xfrm>
            <a:off x="6276975" y="400035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必要なものだけを、無料でお見積りします。</a:t>
            </a:r>
            <a:endParaRPr>
              <a:latin typeface="小塚ゴシック Pro M" panose="020B0700000000000000" pitchFamily="34" charset="-128"/>
              <a:ea typeface="小塚ゴシック Pro M" panose="020B0700000000000000" pitchFamily="34" charset="-128"/>
            </a:endParaRPr>
          </a:p>
        </p:txBody>
      </p:sp>
      <p:sp>
        <p:nvSpPr>
          <p:cNvPr id="524" name="Google Shape;524;p27"/>
          <p:cNvSpPr txBox="1"/>
          <p:nvPr/>
        </p:nvSpPr>
        <p:spPr>
          <a:xfrm>
            <a:off x="6276975" y="5124301"/>
            <a:ext cx="5429400" cy="276999"/>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a:solidFill>
                  <a:srgbClr val="555555"/>
                </a:solidFill>
                <a:latin typeface="小塚ゴシック Pro M" panose="020B0700000000000000" pitchFamily="34" charset="-128"/>
                <a:ea typeface="小塚ゴシック Pro M" panose="020B0700000000000000" pitchFamily="34" charset="-128"/>
                <a:cs typeface="Noto Sans JP"/>
                <a:sym typeface="Noto Sans JP"/>
              </a:rPr>
              <a:t>集客や広告でお困りの方がいれば、ぜひおつなぎください。</a:t>
            </a:r>
            <a:endParaRPr>
              <a:latin typeface="小塚ゴシック Pro M" panose="020B0700000000000000" pitchFamily="34" charset="-128"/>
              <a:ea typeface="小塚ゴシック Pro M" panose="020B0700000000000000" pitchFamily="34" charset="-128"/>
            </a:endParaRPr>
          </a:p>
        </p:txBody>
      </p:sp>
      <p:pic>
        <p:nvPicPr>
          <p:cNvPr id="525" name="Google Shape;525;p27"/>
          <p:cNvPicPr preferRelativeResize="0"/>
          <p:nvPr/>
        </p:nvPicPr>
        <p:blipFill>
          <a:blip r:embed="rId2">
            <a:alphaModFix/>
          </a:blip>
          <a:stretch>
            <a:fillRect/>
          </a:stretch>
        </p:blipFill>
        <p:spPr>
          <a:xfrm>
            <a:off x="5649413" y="2485877"/>
            <a:ext cx="466725" cy="381000"/>
          </a:xfrm>
          <a:prstGeom prst="rect">
            <a:avLst/>
          </a:prstGeom>
          <a:noFill/>
          <a:ln>
            <a:noFill/>
          </a:ln>
        </p:spPr>
      </p:pic>
      <p:pic>
        <p:nvPicPr>
          <p:cNvPr id="526" name="Google Shape;526;p27"/>
          <p:cNvPicPr preferRelativeResize="0"/>
          <p:nvPr/>
        </p:nvPicPr>
        <p:blipFill>
          <a:blip r:embed="rId9">
            <a:alphaModFix/>
          </a:blip>
          <a:stretch>
            <a:fillRect/>
          </a:stretch>
        </p:blipFill>
        <p:spPr>
          <a:xfrm>
            <a:off x="5677975" y="3624114"/>
            <a:ext cx="409575" cy="371475"/>
          </a:xfrm>
          <a:prstGeom prst="rect">
            <a:avLst/>
          </a:prstGeom>
          <a:noFill/>
          <a:ln>
            <a:noFill/>
          </a:ln>
        </p:spPr>
      </p:pic>
      <p:pic>
        <p:nvPicPr>
          <p:cNvPr id="527" name="Google Shape;527;p27"/>
          <p:cNvPicPr preferRelativeResize="0"/>
          <p:nvPr/>
        </p:nvPicPr>
        <p:blipFill>
          <a:blip r:embed="rId7">
            <a:alphaModFix/>
          </a:blip>
          <a:stretch>
            <a:fillRect/>
          </a:stretch>
        </p:blipFill>
        <p:spPr>
          <a:xfrm>
            <a:off x="5720838" y="4786494"/>
            <a:ext cx="323850" cy="314325"/>
          </a:xfrm>
          <a:prstGeom prst="rect">
            <a:avLst/>
          </a:prstGeom>
          <a:noFill/>
          <a:ln>
            <a:noFill/>
          </a:ln>
        </p:spPr>
      </p:pic>
      <p:sp>
        <p:nvSpPr>
          <p:cNvPr id="528" name="Google Shape;528;p27"/>
          <p:cNvSpPr txBox="1"/>
          <p:nvPr/>
        </p:nvSpPr>
        <p:spPr>
          <a:xfrm>
            <a:off x="6276975" y="2505829"/>
            <a:ext cx="40000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① 体験プラン</a:t>
            </a:r>
            <a:endParaRPr>
              <a:latin typeface="小塚ゴシック Pro B" panose="020B0800000000000000" pitchFamily="34" charset="-128"/>
              <a:ea typeface="小塚ゴシック Pro B" panose="020B0800000000000000" pitchFamily="34" charset="-128"/>
            </a:endParaRPr>
          </a:p>
        </p:txBody>
      </p:sp>
      <p:sp>
        <p:nvSpPr>
          <p:cNvPr id="529" name="Google Shape;529;p27"/>
          <p:cNvSpPr txBox="1"/>
          <p:nvPr/>
        </p:nvSpPr>
        <p:spPr>
          <a:xfrm>
            <a:off x="6276975" y="3636387"/>
            <a:ext cx="40000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② 制作・顧問のお見積り</a:t>
            </a:r>
            <a:endParaRPr>
              <a:latin typeface="小塚ゴシック Pro B" panose="020B0800000000000000" pitchFamily="34" charset="-128"/>
              <a:ea typeface="小塚ゴシック Pro B" panose="020B0800000000000000" pitchFamily="34" charset="-128"/>
            </a:endParaRPr>
          </a:p>
        </p:txBody>
      </p:sp>
      <p:sp>
        <p:nvSpPr>
          <p:cNvPr id="530" name="Google Shape;530;p27"/>
          <p:cNvSpPr txBox="1"/>
          <p:nvPr/>
        </p:nvSpPr>
        <p:spPr>
          <a:xfrm>
            <a:off x="6276975" y="4766070"/>
            <a:ext cx="40000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a:solidFill>
                  <a:srgbClr val="2C2C2C"/>
                </a:solidFill>
                <a:latin typeface="小塚ゴシック Pro B" panose="020B0800000000000000" pitchFamily="34" charset="-128"/>
                <a:ea typeface="小塚ゴシック Pro B" panose="020B0800000000000000" pitchFamily="34" charset="-128"/>
                <a:cs typeface="Noto Sans JP"/>
                <a:sym typeface="Noto Sans JP"/>
              </a:rPr>
              <a:t>③ お知り合いのご紹介</a:t>
            </a:r>
            <a:endParaRPr>
              <a:latin typeface="小塚ゴシック Pro B" panose="020B0800000000000000" pitchFamily="34" charset="-128"/>
              <a:ea typeface="小塚ゴシック Pro B" panose="020B0800000000000000" pitchFamily="34" charset="-128"/>
            </a:endParaRPr>
          </a:p>
        </p:txBody>
      </p:sp>
      <p:sp>
        <p:nvSpPr>
          <p:cNvPr id="2" name="スライド番号プレースホルダー 14">
            <a:extLst>
              <a:ext uri="{FF2B5EF4-FFF2-40B4-BE49-F238E27FC236}">
                <a16:creationId xmlns:a16="http://schemas.microsoft.com/office/drawing/2014/main" id="{D096BC58-C7D1-A752-9354-14A740D719A1}"/>
              </a:ext>
            </a:extLst>
          </p:cNvPr>
          <p:cNvSpPr txBox="1">
            <a:spLocks/>
          </p:cNvSpPr>
          <p:nvPr/>
        </p:nvSpPr>
        <p:spPr>
          <a:xfrm>
            <a:off x="8789549" y="6420836"/>
            <a:ext cx="2743200" cy="365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4B6131FB-BBC3-4224-AAE6-4E406EC349F0}" type="slidenum">
              <a:rPr kumimoji="1" lang="ja-JP" altLang="en-US" b="1" smtClean="0">
                <a:solidFill>
                  <a:srgbClr val="2C2C2C"/>
                </a:solidFill>
                <a:latin typeface="小塚ゴシック Pro B" panose="020B0800000000000000" pitchFamily="34" charset="-128"/>
                <a:ea typeface="小塚ゴシック Pro B" panose="020B0800000000000000" pitchFamily="34" charset="-128"/>
              </a:rPr>
              <a:pPr algn="r"/>
              <a:t>15</a:t>
            </a:fld>
            <a:endParaRPr kumimoji="1" lang="ja-JP" altLang="en-US" b="1" dirty="0">
              <a:solidFill>
                <a:srgbClr val="2C2C2C"/>
              </a:solidFill>
              <a:latin typeface="小塚ゴシック Pro B" panose="020B0800000000000000" pitchFamily="34" charset="-128"/>
              <a:ea typeface="小塚ゴシック Pro B" panose="020B0800000000000000" pitchFamily="34" charset="-128"/>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219</TotalTime>
  <Words>1262</Words>
  <Application>Microsoft Office PowerPoint</Application>
  <PresentationFormat>ワイド画面</PresentationFormat>
  <Paragraphs>316</Paragraphs>
  <Slides>18</Slides>
  <Notes>18</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Calibri</vt:lpstr>
      <vt:lpstr>Arial</vt:lpstr>
      <vt:lpstr>Lato Black</vt:lpstr>
      <vt:lpstr>小塚ゴシック Pro B</vt:lpstr>
      <vt:lpstr>Lato</vt:lpstr>
      <vt:lpstr>小塚ゴシック Pro M</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龍之介 上原</cp:lastModifiedBy>
  <cp:revision>34</cp:revision>
  <cp:lastPrinted>2026-01-14T16:37:51Z</cp:lastPrinted>
  <dcterms:modified xsi:type="dcterms:W3CDTF">2026-03-08T17:20:04Z</dcterms:modified>
</cp:coreProperties>
</file>