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59" r:id="rId1"/>
  </p:sldMasterIdLst>
  <p:notesMasterIdLst>
    <p:notesMasterId r:id="rId20"/>
  </p:notesMasterIdLst>
  <p:sldIdLst>
    <p:sldId id="256" r:id="rId2"/>
    <p:sldId id="257" r:id="rId3"/>
    <p:sldId id="260" r:id="rId4"/>
    <p:sldId id="258" r:id="rId5"/>
    <p:sldId id="261" r:id="rId6"/>
    <p:sldId id="259" r:id="rId7"/>
    <p:sldId id="262" r:id="rId8"/>
    <p:sldId id="263" r:id="rId9"/>
    <p:sldId id="264" r:id="rId10"/>
    <p:sldId id="265" r:id="rId11"/>
    <p:sldId id="275" r:id="rId34"/>
    <p:sldId id="266" r:id="rId12"/>
    <p:sldId id="276" r:id="rId35"/>
    <p:sldId id="274" r:id="rId33"/>
    <p:sldId id="272" r:id="rId18"/>
    <p:sldId id="273" r:id="rId19"/>
    <p:sldId id="267" r:id="rId13"/>
    <p:sldId id="268" r:id="rId14"/>
    <p:sldId id="269" r:id="rId15"/>
    <p:sldId id="270" r:id="rId16"/>
    <p:sldId id="271" r:id="rId17"/>
  </p:sldIdLst>
  <p:sldSz cx="12192000" cy="6858000"/>
  <p:notesSz cx="6858000" cy="9144000"/>
  <p:embeddedFontLst>
    <p:embeddedFont>
      <p:font typeface="Lato" panose="020F0502020204030203" pitchFamily="34" charset="0"/>
      <p:regular r:id="rId21"/>
      <p:bold r:id="rId22"/>
      <p:italic r:id="rId23"/>
      <p:boldItalic r:id="rId24"/>
    </p:embeddedFont>
    <p:embeddedFont>
      <p:font typeface="Lato Black" panose="020F0A02020204030203" pitchFamily="34" charset="0"/>
      <p:bold r:id="rId25"/>
      <p:boldItalic r:id="rId26"/>
    </p:embeddedFont>
    <p:embeddedFont>
      <p:font typeface="小塚ゴシック Pro B" panose="020B0800000000000000" pitchFamily="34" charset="-128"/>
      <p:bold r:id="rId27"/>
    </p:embeddedFont>
    <p:embeddedFont>
      <p:font typeface="小塚ゴシック Pro M" panose="020B0700000000000000" pitchFamily="34" charset="-128"/>
      <p:regular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A059"/>
    <a:srgbClr val="DAC396"/>
    <a:srgbClr val="FF6600"/>
    <a:srgbClr val="F9F9F9"/>
    <a:srgbClr val="F8F0E5"/>
    <a:srgbClr val="999999"/>
    <a:srgbClr val="2C2C2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755441B-8EC1-4DEB-A316-B9E18D9EBE71}">
  <a:tblStyle styleId="{8755441B-8EC1-4DEB-A316-B9E18D9EBE71}"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1314" y="92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font" Target="fonts/font1.fntdata"/><Relationship Id="rId22" Type="http://schemas.openxmlformats.org/officeDocument/2006/relationships/font" Target="fonts/font2.fntdata"/><Relationship Id="rId23" Type="http://schemas.openxmlformats.org/officeDocument/2006/relationships/font" Target="fonts/font3.fntdata"/><Relationship Id="rId24" Type="http://schemas.openxmlformats.org/officeDocument/2006/relationships/font" Target="fonts/font4.fntdata"/><Relationship Id="rId25" Type="http://schemas.openxmlformats.org/officeDocument/2006/relationships/font" Target="fonts/font5.fntdata"/><Relationship Id="rId26" Type="http://schemas.openxmlformats.org/officeDocument/2006/relationships/font" Target="fonts/font6.fntdata"/><Relationship Id="rId27" Type="http://schemas.openxmlformats.org/officeDocument/2006/relationships/font" Target="fonts/font7.fntdata"/><Relationship Id="rId28" Type="http://schemas.openxmlformats.org/officeDocument/2006/relationships/font" Target="fonts/font8.fntdata"/><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19.xml"/><Relationship Id="rId34" Type="http://schemas.openxmlformats.org/officeDocument/2006/relationships/slide" Target="slides/slide20.xml"/><Relationship Id="rId35"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7" name="Google Shape;21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5" name="Google Shape;25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7" name="Google Shape;30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3" name="Google Shape;33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9" name="Google Shape;35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7" name="Google Shape;387;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5" name="Google Shape;425;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4" name="Google Shape;464;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3b7bf7d6c11_0_2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9" name="Google Shape;499;g3b7bf7d6c11_0_2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3b7bf7d6c11_0_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3" name="Google Shape;533;g3b7bf7d6c11_0_2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7" name="Google Shape;567;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1" name="Google Shape;61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3.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12.png"/><Relationship Id="rId6" Type="http://schemas.openxmlformats.org/officeDocument/2006/relationships/image" Target="../media/image3.png"/><Relationship Id="rId7" Type="http://schemas.openxmlformats.org/officeDocument/2006/relationships/image" Target="../media/image13.png"/><Relationship Id="rId8"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15.png"/><Relationship Id="rId7"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15.png"/><Relationship Id="rId7"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18.png"/><Relationship Id="rId6" Type="http://schemas.openxmlformats.org/officeDocument/2006/relationships/image" Target="../media/image2.png"/><Relationship Id="rId7" Type="http://schemas.openxmlformats.org/officeDocument/2006/relationships/image" Target="../media/image1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20.png"/><Relationship Id="rId7"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22.png"/><Relationship Id="rId6"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3.png"/><Relationship Id="rId8" Type="http://schemas.openxmlformats.org/officeDocument/2006/relationships/image" Target="../media/image25.png"/><Relationship Id="rId9" Type="http://schemas.openxmlformats.org/officeDocument/2006/relationships/image" Target="../media/image26.png"/><Relationship Id="rId10"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28.png"/><Relationship Id="rId6" Type="http://schemas.openxmlformats.org/officeDocument/2006/relationships/image" Target="../media/image24.png"/><Relationship Id="rId7" Type="http://schemas.openxmlformats.org/officeDocument/2006/relationships/image" Target="../media/image3.png"/><Relationship Id="rId8" Type="http://schemas.openxmlformats.org/officeDocument/2006/relationships/image" Target="../media/image29.png"/><Relationship Id="rId9" Type="http://schemas.openxmlformats.org/officeDocument/2006/relationships/image" Target="../media/image30.png"/><Relationship Id="rId10" Type="http://schemas.openxmlformats.org/officeDocument/2006/relationships/image" Target="../media/image3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png"/><Relationship Id="rId8" Type="http://schemas.openxmlformats.org/officeDocument/2006/relationships/image" Target="../media/image34.png"/><Relationship Id="rId9" Type="http://schemas.openxmlformats.org/officeDocument/2006/relationships/image" Target="../media/image35.png"/><Relationship Id="rId10" Type="http://schemas.openxmlformats.org/officeDocument/2006/relationships/image" Target="../media/image3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png"/><Relationship Id="rId8" Type="http://schemas.openxmlformats.org/officeDocument/2006/relationships/image" Target="../media/image37.png"/><Relationship Id="rId9" Type="http://schemas.openxmlformats.org/officeDocument/2006/relationships/image" Target="../media/image38.png"/><Relationship Id="rId10" Type="http://schemas.openxmlformats.org/officeDocument/2006/relationships/image" Target="../media/image3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3.png"/><Relationship Id="rId9" Type="http://schemas.openxmlformats.org/officeDocument/2006/relationships/image" Target="../media/image43.png"/><Relationship Id="rId10" Type="http://schemas.openxmlformats.org/officeDocument/2006/relationships/image" Target="../media/image4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40.png"/><Relationship Id="rId5" Type="http://schemas.openxmlformats.org/officeDocument/2006/relationships/image" Target="../media/image2.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image" Target="../media/image48.png"/><Relationship Id="rId10" Type="http://schemas.openxmlformats.org/officeDocument/2006/relationships/image" Target="../media/image49.png"/><Relationship Id="rId11" Type="http://schemas.openxmlformats.org/officeDocument/2006/relationships/image" Target="../media/image50.png"/><Relationship Id="rId12" Type="http://schemas.openxmlformats.org/officeDocument/2006/relationships/image" Target="../media/image51.png"/><Relationship Id="rId13" Type="http://schemas.openxmlformats.org/officeDocument/2006/relationships/image" Target="../media/image52.png"/><Relationship Id="rId14"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7.png"/><Relationship Id="rId7" Type="http://schemas.openxmlformats.org/officeDocument/2006/relationships/image" Target="../media/image11.png"/><Relationship Id="rId8" Type="http://schemas.openxmlformats.org/officeDocument/2006/relationships/image" Target="../media/image2.png"/><Relationship Id="rId9"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5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4.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33.png"/><Relationship Id="rId6" Type="http://schemas.openxmlformats.org/officeDocument/2006/relationships/image" Target="../media/image32.png"/><Relationship Id="rId7" Type="http://schemas.openxmlformats.org/officeDocument/2006/relationships/image" Target="../media/image36.png"/><Relationship Id="rId8" Type="http://schemas.openxmlformats.org/officeDocument/2006/relationships/image" Target="../media/image2.png"/><Relationship Id="rId9"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83"/>
        <p:cNvGrpSpPr/>
        <p:nvPr/>
      </p:nvGrpSpPr>
      <p:grpSpPr>
        <a:xfrm>
          <a:off x="0" y="0"/>
          <a:ext cx="0" cy="0"/>
          <a:chOff x="0" y="0"/>
          <a:chExt cx="0" cy="0"/>
        </a:xfrm>
      </p:grpSpPr>
      <p:pic>
        <p:nvPicPr>
          <p:cNvPr id="5" name="図 4">
            <a:extLst>
              <a:ext uri="{FF2B5EF4-FFF2-40B4-BE49-F238E27FC236}">
                <a16:creationId xmlns:a16="http://schemas.microsoft.com/office/drawing/2014/main" id="{4435AD6D-BAF7-D031-94BE-A99E05721C4F}"/>
              </a:ext>
            </a:extLst>
          </p:cNvPr>
          <p:cNvPicPr>
            <a:picLocks noChangeAspect="1"/>
          </p:cNvPicPr>
          <p:nvPr/>
        </p:nvPicPr>
        <p:blipFill>
          <a:blip r:embed="rId3"/>
          <a:srcRect l="10564" b="11017"/>
          <a:stretch>
            <a:fillRect/>
          </a:stretch>
        </p:blipFill>
        <p:spPr>
          <a:xfrm>
            <a:off x="-147800" y="0"/>
            <a:ext cx="12339800" cy="6858000"/>
          </a:xfrm>
          <a:prstGeom prst="rect">
            <a:avLst/>
          </a:prstGeom>
        </p:spPr>
      </p:pic>
      <p:sp>
        <p:nvSpPr>
          <p:cNvPr id="86" name="Google Shape;86;p13"/>
          <p:cNvSpPr/>
          <p:nvPr/>
        </p:nvSpPr>
        <p:spPr>
          <a:xfrm rot="10800000" flipH="1">
            <a:off x="5162203" y="-125"/>
            <a:ext cx="1028700" cy="6860700"/>
          </a:xfrm>
          <a:prstGeom prst="rtTriangl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小塚ゴシック Pro B" panose="020B0800000000000000" pitchFamily="34" charset="-128"/>
              <a:ea typeface="小塚ゴシック Pro B" panose="020B0800000000000000" pitchFamily="34" charset="-128"/>
              <a:cs typeface="Calibri"/>
              <a:sym typeface="Calibri"/>
            </a:endParaRPr>
          </a:p>
        </p:txBody>
      </p:sp>
      <p:sp>
        <p:nvSpPr>
          <p:cNvPr id="87" name="Google Shape;87;p13"/>
          <p:cNvSpPr/>
          <p:nvPr/>
        </p:nvSpPr>
        <p:spPr>
          <a:xfrm>
            <a:off x="-147800" y="0"/>
            <a:ext cx="5322900" cy="68607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小塚ゴシック Pro B" panose="020B0800000000000000" pitchFamily="34" charset="-128"/>
              <a:ea typeface="小塚ゴシック Pro B" panose="020B0800000000000000" pitchFamily="34" charset="-128"/>
              <a:cs typeface="Calibri"/>
              <a:sym typeface="Calibri"/>
            </a:endParaRPr>
          </a:p>
        </p:txBody>
      </p:sp>
      <p:sp>
        <p:nvSpPr>
          <p:cNvPr id="88" name="Google Shape;88;p13"/>
          <p:cNvSpPr txBox="1"/>
          <p:nvPr/>
        </p:nvSpPr>
        <p:spPr>
          <a:xfrm>
            <a:off x="952500" y="1656450"/>
            <a:ext cx="2473500" cy="29546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1" i="0" u="none" strike="noStrike" cap="none" dirty="0">
                <a:solidFill>
                  <a:srgbClr val="666666"/>
                </a:solidFill>
                <a:latin typeface="小塚ゴシック Pro B" panose="020B0800000000000000" pitchFamily="34" charset="-128"/>
                <a:ea typeface="小塚ゴシック Pro B" panose="020B0800000000000000" pitchFamily="34" charset="-128"/>
                <a:cs typeface="Noto Sans JP"/>
                <a:sym typeface="Noto Sans JP"/>
              </a:rPr>
              <a:t>U-</a:t>
            </a:r>
            <a:r>
              <a:rPr lang="en-US" sz="1200" b="1" i="0" u="none" strike="noStrike" cap="none" dirty="0" err="1">
                <a:solidFill>
                  <a:srgbClr val="666666"/>
                </a:solidFill>
                <a:latin typeface="小塚ゴシック Pro B" panose="020B0800000000000000" pitchFamily="34" charset="-128"/>
                <a:ea typeface="小塚ゴシック Pro B" panose="020B0800000000000000" pitchFamily="34" charset="-128"/>
                <a:cs typeface="Noto Sans JP"/>
                <a:sym typeface="Noto Sans JP"/>
              </a:rPr>
              <a:t>ライティング</a:t>
            </a:r>
            <a:r>
              <a:rPr lang="en-US" sz="1200" b="1" i="0" u="none" strike="noStrike" cap="none" dirty="0">
                <a:solidFill>
                  <a:srgbClr val="666666"/>
                </a:solidFill>
                <a:latin typeface="小塚ゴシック Pro B" panose="020B0800000000000000" pitchFamily="34" charset="-128"/>
                <a:ea typeface="小塚ゴシック Pro B" panose="020B0800000000000000" pitchFamily="34" charset="-128"/>
                <a:cs typeface="Noto Sans JP"/>
                <a:sym typeface="Noto Sans JP"/>
              </a:rPr>
              <a:t> </a:t>
            </a:r>
            <a:r>
              <a:rPr lang="en-US" sz="1200" b="1" i="0" u="none" strike="noStrike" cap="none" dirty="0" err="1">
                <a:solidFill>
                  <a:srgbClr val="666666"/>
                </a:solidFill>
                <a:latin typeface="小塚ゴシック Pro B" panose="020B0800000000000000" pitchFamily="34" charset="-128"/>
                <a:ea typeface="小塚ゴシック Pro B" panose="020B0800000000000000" pitchFamily="34" charset="-128"/>
                <a:cs typeface="Noto Sans JP"/>
                <a:sym typeface="Noto Sans JP"/>
              </a:rPr>
              <a:t>サービス紹介資料</a:t>
            </a:r>
            <a:endParaRPr b="1" dirty="0">
              <a:solidFill>
                <a:srgbClr val="666666"/>
              </a:solidFill>
              <a:latin typeface="小塚ゴシック Pro B" panose="020B0800000000000000" pitchFamily="34" charset="-128"/>
              <a:ea typeface="小塚ゴシック Pro B" panose="020B0800000000000000" pitchFamily="34" charset="-128"/>
            </a:endParaRPr>
          </a:p>
        </p:txBody>
      </p:sp>
      <p:sp>
        <p:nvSpPr>
          <p:cNvPr id="89" name="Google Shape;89;p13"/>
          <p:cNvSpPr/>
          <p:nvPr/>
        </p:nvSpPr>
        <p:spPr>
          <a:xfrm>
            <a:off x="952500" y="2090737"/>
            <a:ext cx="762000" cy="38100"/>
          </a:xfrm>
          <a:prstGeom prst="rect">
            <a:avLst/>
          </a:prstGeom>
          <a:solidFill>
            <a:srgbClr val="C5A0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90" name="Google Shape;90;p13"/>
          <p:cNvSpPr txBox="1"/>
          <p:nvPr/>
        </p:nvSpPr>
        <p:spPr>
          <a:xfrm>
            <a:off x="952500" y="2414575"/>
            <a:ext cx="4514700" cy="443198"/>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dirty="0" err="1">
                <a:solidFill>
                  <a:srgbClr val="666666"/>
                </a:solidFill>
                <a:latin typeface="小塚ゴシック Pro B" panose="020B0800000000000000" pitchFamily="34" charset="-128"/>
                <a:ea typeface="小塚ゴシック Pro B" panose="020B0800000000000000" pitchFamily="34" charset="-128"/>
                <a:cs typeface="Noto Sans JP"/>
                <a:sym typeface="Noto Sans JP"/>
              </a:rPr>
              <a:t>広告制作・添削で縁をつなぐ</a:t>
            </a:r>
            <a:endParaRPr b="1" dirty="0">
              <a:solidFill>
                <a:srgbClr val="666666"/>
              </a:solidFill>
              <a:latin typeface="小塚ゴシック Pro B" panose="020B0800000000000000" pitchFamily="34" charset="-128"/>
              <a:ea typeface="小塚ゴシック Pro B" panose="020B0800000000000000" pitchFamily="34" charset="-128"/>
            </a:endParaRPr>
          </a:p>
        </p:txBody>
      </p:sp>
      <p:sp>
        <p:nvSpPr>
          <p:cNvPr id="91" name="Google Shape;91;p13"/>
          <p:cNvSpPr txBox="1"/>
          <p:nvPr/>
        </p:nvSpPr>
        <p:spPr>
          <a:xfrm>
            <a:off x="901014" y="2875501"/>
            <a:ext cx="4514700" cy="1772793"/>
          </a:xfrm>
          <a:prstGeom prst="rect">
            <a:avLst/>
          </a:prstGeom>
          <a:noFill/>
          <a:ln>
            <a:noFill/>
          </a:ln>
        </p:spPr>
        <p:txBody>
          <a:bodyPr spcFirstLastPara="1" wrap="square" lIns="0" tIns="0" rIns="0" bIns="0" anchor="t" anchorCtr="0">
            <a:spAutoFit/>
          </a:bodyPr>
          <a:lstStyle/>
          <a:p>
            <a:pPr marL="0" marR="0" lvl="0" indent="0" algn="l" rtl="0">
              <a:lnSpc>
                <a:spcPct val="119979"/>
              </a:lnSpc>
              <a:spcBef>
                <a:spcPts val="0"/>
              </a:spcBef>
              <a:spcAft>
                <a:spcPts val="0"/>
              </a:spcAft>
              <a:buNone/>
            </a:pPr>
            <a:r>
              <a:rPr lang="en-US" sz="4800" b="1" i="0" u="none" strike="noStrike" cap="none" dirty="0">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U-</a:t>
            </a:r>
            <a:r>
              <a:rPr lang="en-US" sz="4800" b="1" i="0" u="none" strike="noStrike" cap="none" dirty="0" err="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ライティング</a:t>
            </a:r>
            <a:br>
              <a:rPr lang="en-US" sz="1800" b="1" i="0" u="none" strike="noStrike" cap="none" dirty="0">
                <a:solidFill>
                  <a:srgbClr val="2C2C2C"/>
                </a:solidFill>
                <a:latin typeface="小塚ゴシック Pro B" panose="020B0800000000000000" pitchFamily="34" charset="-128"/>
                <a:ea typeface="小塚ゴシック Pro B" panose="020B0800000000000000" pitchFamily="34" charset="-128"/>
                <a:cs typeface="Calibri"/>
                <a:sym typeface="Calibri"/>
              </a:rPr>
            </a:br>
            <a:r>
              <a:rPr lang="en-US" sz="4800" b="1" i="0" u="none" strike="noStrike" cap="none" dirty="0" err="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サービス紹介</a:t>
            </a:r>
            <a:endParaRPr b="1" dirty="0">
              <a:solidFill>
                <a:srgbClr val="2C2C2C"/>
              </a:solidFill>
              <a:latin typeface="小塚ゴシック Pro B" panose="020B0800000000000000" pitchFamily="34" charset="-128"/>
              <a:ea typeface="小塚ゴシック Pro B" panose="020B0800000000000000" pitchFamily="34" charset="-128"/>
            </a:endParaRPr>
          </a:p>
        </p:txBody>
      </p:sp>
      <p:sp>
        <p:nvSpPr>
          <p:cNvPr id="92" name="Google Shape;92;p13"/>
          <p:cNvSpPr txBox="1"/>
          <p:nvPr/>
        </p:nvSpPr>
        <p:spPr>
          <a:xfrm>
            <a:off x="952500" y="4814744"/>
            <a:ext cx="2473500" cy="29546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1" i="0" u="none" strike="noStrike" cap="none">
                <a:solidFill>
                  <a:srgbClr val="666666"/>
                </a:solidFill>
                <a:latin typeface="小塚ゴシック Pro B" panose="020B0800000000000000" pitchFamily="34" charset="-128"/>
                <a:ea typeface="小塚ゴシック Pro B" panose="020B0800000000000000" pitchFamily="34" charset="-128"/>
                <a:cs typeface="Noto Sans JP"/>
                <a:sym typeface="Noto Sans JP"/>
              </a:rPr>
              <a:t>代表：上原 龍之介</a:t>
            </a:r>
            <a:endParaRPr b="1">
              <a:latin typeface="小塚ゴシック Pro B" panose="020B0800000000000000" pitchFamily="34" charset="-128"/>
              <a:ea typeface="小塚ゴシック Pro B" panose="020B0800000000000000" pitchFamily="34" charset="-128"/>
            </a:endParaRPr>
          </a:p>
        </p:txBody>
      </p:sp>
      <p:sp>
        <p:nvSpPr>
          <p:cNvPr id="6" name="スライド番号プレースホルダー 14">
            <a:extLst>
              <a:ext uri="{FF2B5EF4-FFF2-40B4-BE49-F238E27FC236}">
                <a16:creationId xmlns:a16="http://schemas.microsoft.com/office/drawing/2014/main" id="{E1B1AD87-E04D-FD71-76DB-D5D30437E1C8}"/>
              </a:ext>
            </a:extLst>
          </p:cNvPr>
          <p:cNvSpPr txBox="1">
            <a:spLocks/>
          </p:cNvSpPr>
          <p:nvPr/>
        </p:nvSpPr>
        <p:spPr>
          <a:xfrm>
            <a:off x="8789549" y="6420836"/>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4B6131FB-BBC3-4224-AAE6-4E406EC349F0}" type="slidenum">
              <a:rPr kumimoji="1" lang="ja-JP" altLang="en-US" b="1" smtClean="0">
                <a:solidFill>
                  <a:srgbClr val="2C2C2C"/>
                </a:solidFill>
                <a:latin typeface="小塚ゴシック Pro B" panose="020B0800000000000000" pitchFamily="34" charset="-128"/>
                <a:ea typeface="小塚ゴシック Pro B" panose="020B0800000000000000" pitchFamily="34" charset="-128"/>
              </a:rPr>
              <a:pPr algn="r"/>
              <a:t>1</a:t>
            </a:fld>
            <a:endParaRPr kumimoji="1" lang="ja-JP" altLang="en-US" b="1" dirty="0">
              <a:solidFill>
                <a:srgbClr val="2C2C2C"/>
              </a:solidFill>
              <a:latin typeface="小塚ゴシック Pro B" panose="020B0800000000000000" pitchFamily="34" charset="-128"/>
              <a:ea typeface="小塚ゴシック Pro B" panose="020B0800000000000000"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7"/>
        <p:cNvGrpSpPr/>
        <p:nvPr/>
      </p:nvGrpSpPr>
      <p:grpSpPr>
        <a:xfrm>
          <a:off x="0" y="0"/>
          <a:ext cx="0" cy="0"/>
          <a:chOff x="0" y="0"/>
          <a:chExt cx="0" cy="0"/>
        </a:xfrm>
      </p:grpSpPr>
      <p:sp>
        <p:nvSpPr>
          <p:cNvPr id="98" name="Google Shape;98;p14"/>
          <p:cNvSpPr/>
          <p:nvPr/>
        </p:nvSpPr>
        <p:spPr>
          <a:xfrm>
            <a:off x="-147800" y="142950"/>
            <a:ext cx="6351600" cy="6787500"/>
          </a:xfrm>
          <a:prstGeom prst="rect">
            <a:avLst/>
          </a:prstGeom>
          <a:solidFill>
            <a:srgbClr val="F5F5F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pic>
        <p:nvPicPr>
          <p:cNvPr id="99" name="Google Shape;99;p14" descr="image.png"/>
          <p:cNvPicPr preferRelativeResize="0"/>
          <p:nvPr/>
        </p:nvPicPr>
        <p:blipFill rotWithShape="1">
          <a:blip r:embed="rId3">
            <a:alphaModFix/>
          </a:blip>
          <a:srcRect/>
          <a:stretch/>
        </p:blipFill>
        <p:spPr>
          <a:xfrm>
            <a:off x="762000" y="6429375"/>
            <a:ext cx="2617101" cy="238125"/>
          </a:xfrm>
          <a:prstGeom prst="rect">
            <a:avLst/>
          </a:prstGeom>
          <a:noFill/>
          <a:ln>
            <a:noFill/>
          </a:ln>
        </p:spPr>
      </p:pic>
      <p:sp>
        <p:nvSpPr>
          <p:cNvPr id="100" name="Google Shape;100;p14"/>
          <p:cNvSpPr txBox="1"/>
          <p:nvPr/>
        </p:nvSpPr>
        <p:spPr>
          <a:xfrm>
            <a:off x="762000" y="6534150"/>
            <a:ext cx="1651099"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99999"/>
                </a:solidFill>
                <a:latin typeface="Lato"/>
                <a:ea typeface="小塚ゴシック Pro B" panose="020B0800000000000000" pitchFamily="34" charset="-128"/>
                <a:cs typeface="Lato"/>
                <a:sym typeface="Lato"/>
              </a:rPr>
              <a:t>© U-Writing All Rights Reserved.</a:t>
            </a:r>
            <a:endParaRPr/>
          </a:p>
        </p:txBody>
      </p:sp>
      <p:sp>
        <p:nvSpPr>
          <p:cNvPr id="102" name="Google Shape;102;p14"/>
          <p:cNvSpPr txBox="1"/>
          <p:nvPr/>
        </p:nvSpPr>
        <p:spPr>
          <a:xfrm>
            <a:off x="1093589" y="3028950"/>
            <a:ext cx="4000000" cy="800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4500" i="0" u="none" strike="noStrike" cap="none" dirty="0">
                <a:solidFill>
                  <a:srgbClr val="DDDDDD"/>
                </a:solidFill>
                <a:latin typeface="Lato Black"/>
                <a:ea typeface="小塚ゴシック Pro B" panose="020B0800000000000000" pitchFamily="34" charset="-128"/>
                <a:cs typeface="Lato Black"/>
                <a:sym typeface="Lato Black"/>
              </a:rPr>
              <a:t>AGENDA</a:t>
            </a:r>
            <a:endParaRPr dirty="0"/>
          </a:p>
        </p:txBody>
      </p:sp>
      <p:sp>
        <p:nvSpPr>
          <p:cNvPr id="103" name="Google Shape;103;p14"/>
          <p:cNvSpPr txBox="1"/>
          <p:nvPr/>
        </p:nvSpPr>
        <p:spPr>
          <a:xfrm>
            <a:off x="6912050" y="1238250"/>
            <a:ext cx="4518000" cy="231000"/>
          </a:xfrm>
          <a:prstGeom prst="rect">
            <a:avLst/>
          </a:prstGeom>
          <a:noFill/>
          <a:ln>
            <a:noFill/>
          </a:ln>
        </p:spPr>
        <p:txBody>
          <a:bodyPr spcFirstLastPara="1" wrap="square" lIns="0" tIns="0" rIns="0" bIns="0" anchor="t" anchorCtr="0">
            <a:spAutoFit/>
          </a:bodyPr>
          <a:lstStyle/>
          <a:p>
            <a:pPr lvl="0"/>
            <a:r>
              <a:rPr lang="en-US" sz="1500" b="0" i="0" u="none" strike="noStrike" cap="none" dirty="0">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01</a:t>
            </a:r>
            <a:r>
              <a:rPr lang="en-US" sz="1500" b="1" i="0" u="none" strike="noStrike" cap="none" dirty="0">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 </a:t>
            </a:r>
            <a:r>
              <a:rPr lang="en-US" altLang="ja-JP" sz="1500" b="1" dirty="0" err="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○○様のお仕事について</a:t>
            </a:r>
            <a:endParaRPr dirty="0">
              <a:latin typeface="小塚ゴシック Pro B" panose="020B0800000000000000" pitchFamily="34" charset="-128"/>
              <a:ea typeface="小塚ゴシック Pro B" panose="020B0800000000000000" pitchFamily="34" charset="-128"/>
            </a:endParaRPr>
          </a:p>
        </p:txBody>
      </p:sp>
      <p:sp>
        <p:nvSpPr>
          <p:cNvPr id="104" name="Google Shape;104;p14"/>
          <p:cNvSpPr/>
          <p:nvPr/>
        </p:nvSpPr>
        <p:spPr>
          <a:xfrm>
            <a:off x="6912050" y="1590675"/>
            <a:ext cx="4518000" cy="9600"/>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105" name="Google Shape;105;p14"/>
          <p:cNvSpPr txBox="1"/>
          <p:nvPr/>
        </p:nvSpPr>
        <p:spPr>
          <a:xfrm>
            <a:off x="6912050" y="1695450"/>
            <a:ext cx="4518000" cy="230832"/>
          </a:xfrm>
          <a:prstGeom prst="rect">
            <a:avLst/>
          </a:prstGeom>
          <a:noFill/>
          <a:ln>
            <a:noFill/>
          </a:ln>
        </p:spPr>
        <p:txBody>
          <a:bodyPr spcFirstLastPara="1" wrap="square" lIns="0" tIns="0" rIns="0" bIns="0" anchor="t" anchorCtr="0">
            <a:spAutoFit/>
          </a:bodyPr>
          <a:lstStyle/>
          <a:p>
            <a:r>
              <a:rPr lang="en-US" sz="1500" b="0" i="0" u="none" strike="noStrike" cap="none" dirty="0">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02 </a:t>
            </a:r>
            <a:r>
              <a:rPr lang="ja-JP" altLang="en-US" sz="1500" b="1" dirty="0">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私の仕事と想い</a:t>
            </a:r>
            <a:endParaRPr lang="ja-JP" altLang="en-US" sz="1600" dirty="0">
              <a:latin typeface="小塚ゴシック Pro B" panose="020B0800000000000000" pitchFamily="34" charset="-128"/>
              <a:ea typeface="小塚ゴシック Pro B" panose="020B0800000000000000" pitchFamily="34" charset="-128"/>
            </a:endParaRPr>
          </a:p>
        </p:txBody>
      </p:sp>
      <p:sp>
        <p:nvSpPr>
          <p:cNvPr id="106" name="Google Shape;106;p14"/>
          <p:cNvSpPr/>
          <p:nvPr/>
        </p:nvSpPr>
        <p:spPr>
          <a:xfrm>
            <a:off x="6912050" y="2047875"/>
            <a:ext cx="4518000" cy="9600"/>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107" name="Google Shape;107;p14"/>
          <p:cNvSpPr txBox="1"/>
          <p:nvPr/>
        </p:nvSpPr>
        <p:spPr>
          <a:xfrm>
            <a:off x="6912050" y="2152650"/>
            <a:ext cx="4518000" cy="230832"/>
          </a:xfrm>
          <a:prstGeom prst="rect">
            <a:avLst/>
          </a:prstGeom>
          <a:noFill/>
          <a:ln>
            <a:noFill/>
          </a:ln>
        </p:spPr>
        <p:txBody>
          <a:bodyPr spcFirstLastPara="1" wrap="square" lIns="0" tIns="0" rIns="0" bIns="0" anchor="t" anchorCtr="0">
            <a:spAutoFit/>
          </a:bodyPr>
          <a:lstStyle/>
          <a:p>
            <a:r>
              <a:rPr lang="en-US" sz="1500" b="0" i="0" u="none" strike="noStrike" cap="none" dirty="0">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03 </a:t>
            </a:r>
            <a:r>
              <a:rPr lang="ja-JP" altLang="en-US" sz="1500" b="1" dirty="0">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お役に立てること・事例</a:t>
            </a:r>
            <a:endParaRPr lang="ja-JP" altLang="en-US" sz="1600" dirty="0">
              <a:latin typeface="小塚ゴシック Pro B" panose="020B0800000000000000" pitchFamily="34" charset="-128"/>
              <a:ea typeface="小塚ゴシック Pro B" panose="020B0800000000000000" pitchFamily="34" charset="-128"/>
            </a:endParaRPr>
          </a:p>
        </p:txBody>
      </p:sp>
      <p:sp>
        <p:nvSpPr>
          <p:cNvPr id="108" name="Google Shape;108;p14"/>
          <p:cNvSpPr/>
          <p:nvPr/>
        </p:nvSpPr>
        <p:spPr>
          <a:xfrm>
            <a:off x="6912050" y="2505075"/>
            <a:ext cx="4518000" cy="9600"/>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109" name="Google Shape;109;p14"/>
          <p:cNvSpPr txBox="1"/>
          <p:nvPr/>
        </p:nvSpPr>
        <p:spPr>
          <a:xfrm>
            <a:off x="6912050" y="2609850"/>
            <a:ext cx="4518000" cy="230832"/>
          </a:xfrm>
          <a:prstGeom prst="rect">
            <a:avLst/>
          </a:prstGeom>
          <a:noFill/>
          <a:ln>
            <a:noFill/>
          </a:ln>
        </p:spPr>
        <p:txBody>
          <a:bodyPr spcFirstLastPara="1" wrap="square" lIns="0" tIns="0" rIns="0" bIns="0" anchor="t" anchorCtr="0">
            <a:spAutoFit/>
          </a:bodyPr>
          <a:lstStyle/>
          <a:p>
            <a:r>
              <a:rPr lang="en-US" sz="1500" b="0" i="0" u="none" strike="noStrike" cap="none" dirty="0">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04</a:t>
            </a:r>
            <a:r>
              <a:rPr lang="ja-JP" altLang="en-US" sz="1500" dirty="0">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 </a:t>
            </a:r>
            <a:r>
              <a:rPr lang="en-US" altLang="ja-JP" b="1" dirty="0">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次の一歩</a:t>
            </a:r>
            <a:endParaRPr lang="en-US" altLang="ja-JP" b="1" dirty="0">
              <a:solidFill>
                <a:srgbClr val="2C2C2C"/>
              </a:solidFill>
              <a:latin typeface="小塚ゴシック Pro B" panose="020B0800000000000000" pitchFamily="34" charset="-128"/>
              <a:ea typeface="小塚ゴシック Pro B" panose="020B0800000000000000" pitchFamily="34" charset="-128"/>
              <a:cs typeface="Noto Sans JP"/>
              <a:sym typeface="Noto Sans JP"/>
            </a:endParaRPr>
          </a:p>
        </p:txBody>
      </p:sp>
      <p:sp>
        <p:nvSpPr>
          <p:cNvPr id="110" name="Google Shape;110;p14"/>
          <p:cNvSpPr/>
          <p:nvPr/>
        </p:nvSpPr>
        <p:spPr>
          <a:xfrm>
            <a:off x="6912050" y="2962275"/>
            <a:ext cx="4518000" cy="9600"/>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121" name="Google Shape;121;p14"/>
          <p:cNvSpPr/>
          <p:nvPr/>
        </p:nvSpPr>
        <p:spPr>
          <a:xfrm>
            <a:off x="6912050" y="1590675"/>
            <a:ext cx="4518000" cy="9600"/>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122" name="Google Shape;122;p14"/>
          <p:cNvSpPr/>
          <p:nvPr/>
        </p:nvSpPr>
        <p:spPr>
          <a:xfrm>
            <a:off x="6912050" y="2047875"/>
            <a:ext cx="4518000" cy="9600"/>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123" name="Google Shape;123;p14"/>
          <p:cNvSpPr/>
          <p:nvPr/>
        </p:nvSpPr>
        <p:spPr>
          <a:xfrm>
            <a:off x="6912050" y="2505075"/>
            <a:ext cx="4518000" cy="9600"/>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124" name="Google Shape;124;p14"/>
          <p:cNvSpPr/>
          <p:nvPr/>
        </p:nvSpPr>
        <p:spPr>
          <a:xfrm>
            <a:off x="6912050" y="2962275"/>
            <a:ext cx="4518000" cy="9600"/>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130" name="Google Shape;130;p14"/>
          <p:cNvSpPr/>
          <p:nvPr/>
        </p:nvSpPr>
        <p:spPr>
          <a:xfrm flipH="1">
            <a:off x="5175075" y="0"/>
            <a:ext cx="1028700" cy="6884100"/>
          </a:xfrm>
          <a:prstGeom prst="rtTriangl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pic>
        <p:nvPicPr>
          <p:cNvPr id="131" name="Google Shape;131;p14" descr="image.png"/>
          <p:cNvPicPr preferRelativeResize="0"/>
          <p:nvPr/>
        </p:nvPicPr>
        <p:blipFill rotWithShape="1">
          <a:blip r:embed="rId3">
            <a:alphaModFix/>
          </a:blip>
          <a:srcRect/>
          <a:stretch/>
        </p:blipFill>
        <p:spPr>
          <a:xfrm>
            <a:off x="762000" y="6429375"/>
            <a:ext cx="10668000" cy="238125"/>
          </a:xfrm>
          <a:prstGeom prst="rect">
            <a:avLst/>
          </a:prstGeom>
          <a:noFill/>
          <a:ln>
            <a:noFill/>
          </a:ln>
        </p:spPr>
      </p:pic>
      <p:pic>
        <p:nvPicPr>
          <p:cNvPr id="132" name="Google Shape;132;p14" descr="image.png"/>
          <p:cNvPicPr preferRelativeResize="0"/>
          <p:nvPr/>
        </p:nvPicPr>
        <p:blipFill rotWithShape="1">
          <a:blip r:embed="rId4">
            <a:alphaModFix/>
          </a:blip>
          <a:srcRect/>
          <a:stretch/>
        </p:blipFill>
        <p:spPr>
          <a:xfrm>
            <a:off x="0" y="0"/>
            <a:ext cx="12192000" cy="142875"/>
          </a:xfrm>
          <a:prstGeom prst="rect">
            <a:avLst/>
          </a:prstGeom>
          <a:noFill/>
          <a:ln>
            <a:noFill/>
          </a:ln>
        </p:spPr>
      </p:pic>
      <p:sp>
        <p:nvSpPr>
          <p:cNvPr id="3" name="スライド番号プレースホルダー 14">
            <a:extLst>
              <a:ext uri="{FF2B5EF4-FFF2-40B4-BE49-F238E27FC236}">
                <a16:creationId xmlns:a16="http://schemas.microsoft.com/office/drawing/2014/main" id="{2ABAD66C-A2BF-C3E3-2661-4F285A730611}"/>
              </a:ext>
            </a:extLst>
          </p:cNvPr>
          <p:cNvSpPr txBox="1">
            <a:spLocks/>
          </p:cNvSpPr>
          <p:nvPr/>
        </p:nvSpPr>
        <p:spPr>
          <a:xfrm>
            <a:off x="8789549" y="6420836"/>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4B6131FB-BBC3-4224-AAE6-4E406EC349F0}" type="slidenum">
              <a:rPr kumimoji="1" lang="ja-JP" altLang="en-US" b="1" smtClean="0">
                <a:solidFill>
                  <a:srgbClr val="2C2C2C"/>
                </a:solidFill>
                <a:latin typeface="小塚ゴシック Pro B" panose="020B0800000000000000" pitchFamily="34" charset="-128"/>
                <a:ea typeface="小塚ゴシック Pro B" panose="020B0800000000000000" pitchFamily="34" charset="-128"/>
              </a:rPr>
              <a:pPr algn="r"/>
              <a:t>2</a:t>
            </a:fld>
            <a:endParaRPr kumimoji="1" lang="ja-JP" altLang="en-US" b="1" dirty="0">
              <a:solidFill>
                <a:srgbClr val="2C2C2C"/>
              </a:solidFill>
              <a:latin typeface="小塚ゴシック Pro B" panose="020B0800000000000000" pitchFamily="34" charset="-128"/>
              <a:ea typeface="小塚ゴシック Pro B" panose="020B0800000000000000" pitchFamily="34"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4"/>
        <p:cNvGrpSpPr/>
        <p:nvPr/>
      </p:nvGrpSpPr>
      <p:grpSpPr>
        <a:xfrm>
          <a:off x="0" y="0"/>
          <a:ext cx="0" cy="0"/>
          <a:chOff x="0" y="0"/>
          <a:chExt cx="0" cy="0"/>
        </a:xfrm>
      </p:grpSpPr>
      <p:pic>
        <p:nvPicPr>
          <p:cNvPr id="185" name="Google Shape;185;p17" title="プロフィール写真_顔リサイズ版.jpg"/>
          <p:cNvPicPr preferRelativeResize="0"/>
          <p:nvPr/>
        </p:nvPicPr>
        <p:blipFill>
          <a:blip r:embed="rId3">
            <a:alphaModFix/>
          </a:blip>
          <a:stretch>
            <a:fillRect/>
          </a:stretch>
        </p:blipFill>
        <p:spPr>
          <a:xfrm>
            <a:off x="762000" y="1699625"/>
            <a:ext cx="4523849" cy="4523849"/>
          </a:xfrm>
          <a:prstGeom prst="rect">
            <a:avLst/>
          </a:prstGeom>
          <a:noFill/>
          <a:ln>
            <a:noFill/>
          </a:ln>
          <a:effectLst>
            <a:outerShdw blurRad="50800" dist="38100" dir="2700000" algn="tl" rotWithShape="0">
              <a:prstClr val="black">
                <a:alpha val="40000"/>
              </a:prstClr>
            </a:outerShdw>
          </a:effectLst>
        </p:spPr>
      </p:pic>
      <p:sp>
        <p:nvSpPr>
          <p:cNvPr id="186" name="Google Shape;186;p17"/>
          <p:cNvSpPr/>
          <p:nvPr/>
        </p:nvSpPr>
        <p:spPr>
          <a:xfrm>
            <a:off x="373100" y="5070714"/>
            <a:ext cx="2814600" cy="846300"/>
          </a:xfrm>
          <a:prstGeom prst="trapezoid">
            <a:avLst>
              <a:gd name="adj" fmla="val 25000"/>
            </a:avLst>
          </a:prstGeom>
          <a:solidFill>
            <a:srgbClr val="FFFD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小塚ゴシック Pro B" panose="020B0800000000000000" pitchFamily="34" charset="-128"/>
              <a:ea typeface="小塚ゴシック Pro B" panose="020B0800000000000000" pitchFamily="34" charset="-128"/>
              <a:cs typeface="Calibri"/>
              <a:sym typeface="Calibri"/>
            </a:endParaRPr>
          </a:p>
        </p:txBody>
      </p:sp>
      <p:sp>
        <p:nvSpPr>
          <p:cNvPr id="187" name="Google Shape;187;p17"/>
          <p:cNvSpPr/>
          <p:nvPr/>
        </p:nvSpPr>
        <p:spPr>
          <a:xfrm rot="-5400000">
            <a:off x="4489950" y="3652834"/>
            <a:ext cx="2278800" cy="36600"/>
          </a:xfrm>
          <a:prstGeom prst="rect">
            <a:avLst/>
          </a:prstGeom>
          <a:solidFill>
            <a:srgbClr val="E0BE7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pic>
        <p:nvPicPr>
          <p:cNvPr id="188" name="Google Shape;188;p17"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pic>
        <p:nvPicPr>
          <p:cNvPr id="189" name="Google Shape;189;p17" descr="image.png"/>
          <p:cNvPicPr preferRelativeResize="0"/>
          <p:nvPr/>
        </p:nvPicPr>
        <p:blipFill rotWithShape="1">
          <a:blip r:embed="rId5">
            <a:alphaModFix/>
          </a:blip>
          <a:srcRect/>
          <a:stretch/>
        </p:blipFill>
        <p:spPr>
          <a:xfrm>
            <a:off x="5372100" y="5150287"/>
            <a:ext cx="6057900" cy="1073200"/>
          </a:xfrm>
          <a:prstGeom prst="rect">
            <a:avLst/>
          </a:prstGeom>
          <a:noFill/>
          <a:ln>
            <a:noFill/>
          </a:ln>
        </p:spPr>
      </p:pic>
      <p:pic>
        <p:nvPicPr>
          <p:cNvPr id="190" name="Google Shape;190;p17" descr="image.png"/>
          <p:cNvPicPr preferRelativeResize="0"/>
          <p:nvPr/>
        </p:nvPicPr>
        <p:blipFill rotWithShape="1">
          <a:blip r:embed="rId6">
            <a:alphaModFix/>
          </a:blip>
          <a:srcRect/>
          <a:stretch/>
        </p:blipFill>
        <p:spPr>
          <a:xfrm>
            <a:off x="0" y="0"/>
            <a:ext cx="12192000" cy="142875"/>
          </a:xfrm>
          <a:prstGeom prst="rect">
            <a:avLst/>
          </a:prstGeom>
          <a:noFill/>
          <a:ln>
            <a:noFill/>
          </a:ln>
        </p:spPr>
      </p:pic>
      <p:sp>
        <p:nvSpPr>
          <p:cNvPr id="191" name="Google Shape;191;p17"/>
          <p:cNvSpPr txBox="1"/>
          <p:nvPr/>
        </p:nvSpPr>
        <p:spPr>
          <a:xfrm>
            <a:off x="762000" y="571500"/>
            <a:ext cx="10668000"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a:solidFill>
                  <a:srgbClr val="C5A059"/>
                </a:solidFill>
                <a:latin typeface="小塚ゴシック Pro B" panose="020B0800000000000000" pitchFamily="34" charset="-128"/>
                <a:ea typeface="小塚ゴシック Pro B" panose="020B0800000000000000" pitchFamily="34" charset="-128"/>
                <a:cs typeface="Lato"/>
                <a:sym typeface="Lato"/>
              </a:rPr>
              <a:t>BRIEF BIOGRAPHY</a:t>
            </a:r>
            <a:endParaRPr>
              <a:latin typeface="小塚ゴシック Pro B" panose="020B0800000000000000" pitchFamily="34" charset="-128"/>
              <a:ea typeface="小塚ゴシック Pro B" panose="020B0800000000000000" pitchFamily="34" charset="-128"/>
            </a:endParaRPr>
          </a:p>
        </p:txBody>
      </p:sp>
      <p:sp>
        <p:nvSpPr>
          <p:cNvPr id="192" name="Google Shape;192;p17"/>
          <p:cNvSpPr txBox="1"/>
          <p:nvPr/>
        </p:nvSpPr>
        <p:spPr>
          <a:xfrm>
            <a:off x="762000" y="880025"/>
            <a:ext cx="4038600" cy="581698"/>
          </a:xfrm>
          <a:prstGeom prst="rect">
            <a:avLst/>
          </a:prstGeom>
          <a:noFill/>
          <a:ln>
            <a:noFill/>
          </a:ln>
        </p:spPr>
        <p:txBody>
          <a:bodyPr spcFirstLastPara="1" wrap="square" lIns="0" tIns="0" rIns="0" bIns="0" anchor="t" anchorCtr="0">
            <a:spAutoFit/>
          </a:bodyPr>
          <a:lstStyle/>
          <a:p>
            <a:pPr marL="0" marR="0" lvl="0" indent="0" algn="l" rtl="0">
              <a:lnSpc>
                <a:spcPct val="139962"/>
              </a:lnSpc>
              <a:spcBef>
                <a:spcPts val="0"/>
              </a:spcBef>
              <a:spcAft>
                <a:spcPts val="0"/>
              </a:spcAft>
              <a:buNone/>
            </a:pPr>
            <a:r>
              <a:rPr lang="en-US" sz="27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代表プロフィール</a:t>
            </a:r>
            <a:endParaRPr>
              <a:latin typeface="小塚ゴシック Pro B" panose="020B0800000000000000" pitchFamily="34" charset="-128"/>
              <a:ea typeface="小塚ゴシック Pro B" panose="020B0800000000000000" pitchFamily="34" charset="-128"/>
            </a:endParaRPr>
          </a:p>
        </p:txBody>
      </p:sp>
      <p:sp>
        <p:nvSpPr>
          <p:cNvPr id="193" name="Google Shape;193;p17"/>
          <p:cNvSpPr txBox="1"/>
          <p:nvPr/>
        </p:nvSpPr>
        <p:spPr>
          <a:xfrm>
            <a:off x="762000" y="6534150"/>
            <a:ext cx="1651099"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99999"/>
                </a:solidFill>
                <a:latin typeface="Lato"/>
                <a:ea typeface="Lato"/>
                <a:cs typeface="Lato"/>
                <a:sym typeface="Lato"/>
              </a:rPr>
              <a:t>© U-Writing All Rights Reserved.</a:t>
            </a:r>
            <a:endParaRPr/>
          </a:p>
        </p:txBody>
      </p:sp>
      <p:sp>
        <p:nvSpPr>
          <p:cNvPr id="195" name="Google Shape;195;p17"/>
          <p:cNvSpPr txBox="1"/>
          <p:nvPr/>
        </p:nvSpPr>
        <p:spPr>
          <a:xfrm>
            <a:off x="5600700" y="5340791"/>
            <a:ext cx="5638800" cy="29546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仕事の理念：マーケティング迷子を減らす</a:t>
            </a:r>
            <a:endParaRPr>
              <a:latin typeface="小塚ゴシック Pro B" panose="020B0800000000000000" pitchFamily="34" charset="-128"/>
              <a:ea typeface="小塚ゴシック Pro B" panose="020B0800000000000000" pitchFamily="34" charset="-128"/>
            </a:endParaRPr>
          </a:p>
        </p:txBody>
      </p:sp>
      <p:sp>
        <p:nvSpPr>
          <p:cNvPr id="196" name="Google Shape;196;p17"/>
          <p:cNvSpPr txBox="1"/>
          <p:nvPr/>
        </p:nvSpPr>
        <p:spPr>
          <a:xfrm>
            <a:off x="5600700" y="5632196"/>
            <a:ext cx="5638800" cy="517065"/>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i="0" u="none" strike="noStrike" cap="none" dirty="0" err="1">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本当に必要なものだけを提案し、誇大広告は絶対にしません。</a:t>
            </a:r>
            <a:endParaRPr sz="1050" dirty="0">
              <a:solidFill>
                <a:srgbClr val="666666"/>
              </a:solidFill>
              <a:latin typeface="小塚ゴシック Pro M" panose="020B0700000000000000" pitchFamily="34" charset="-128"/>
              <a:ea typeface="小塚ゴシック Pro M" panose="020B0700000000000000" pitchFamily="34" charset="-128"/>
              <a:cs typeface="Noto Sans JP"/>
              <a:sym typeface="Noto Sans JP"/>
            </a:endParaRPr>
          </a:p>
          <a:p>
            <a:pPr marL="0" marR="0" lvl="0" indent="0" algn="l" rtl="0">
              <a:lnSpc>
                <a:spcPct val="159904"/>
              </a:lnSpc>
              <a:spcBef>
                <a:spcPts val="0"/>
              </a:spcBef>
              <a:spcAft>
                <a:spcPts val="0"/>
              </a:spcAft>
              <a:buNone/>
            </a:pPr>
            <a:r>
              <a:rPr lang="en-US" sz="1050" dirty="0" err="1">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消費者とクライアントが笑顔でつながる機会を増やすことが私の信念です。</a:t>
            </a:r>
            <a:endParaRPr dirty="0">
              <a:latin typeface="小塚ゴシック Pro M" panose="020B0700000000000000" pitchFamily="34" charset="-128"/>
              <a:ea typeface="小塚ゴシック Pro M" panose="020B0700000000000000" pitchFamily="34" charset="-128"/>
            </a:endParaRPr>
          </a:p>
        </p:txBody>
      </p:sp>
      <p:sp>
        <p:nvSpPr>
          <p:cNvPr id="197" name="Google Shape;197;p17"/>
          <p:cNvSpPr/>
          <p:nvPr/>
        </p:nvSpPr>
        <p:spPr>
          <a:xfrm>
            <a:off x="5581650" y="2477368"/>
            <a:ext cx="95400" cy="95400"/>
          </a:xfrm>
          <a:prstGeom prst="roundRect">
            <a:avLst>
              <a:gd name="adj" fmla="val 50000"/>
            </a:avLst>
          </a:prstGeom>
          <a:solidFill>
            <a:srgbClr val="C5A0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198" name="Google Shape;198;p17"/>
          <p:cNvSpPr txBox="1"/>
          <p:nvPr/>
        </p:nvSpPr>
        <p:spPr>
          <a:xfrm>
            <a:off x="5875050" y="2264984"/>
            <a:ext cx="5355000" cy="2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a:solidFill>
                  <a:srgbClr val="444444"/>
                </a:solidFill>
                <a:latin typeface="小塚ゴシック Pro B" panose="020B0800000000000000" pitchFamily="34" charset="-128"/>
                <a:ea typeface="小塚ゴシック Pro B" panose="020B0800000000000000" pitchFamily="34" charset="-128"/>
                <a:cs typeface="Noto Sans JP"/>
                <a:sym typeface="Noto Sans JP"/>
              </a:rPr>
              <a:t>ゲーム</a:t>
            </a:r>
            <a:r>
              <a:rPr lang="en-US" sz="1350" b="1" i="0" u="none" strike="noStrike" cap="none">
                <a:solidFill>
                  <a:srgbClr val="444444"/>
                </a:solidFill>
                <a:latin typeface="小塚ゴシック Pro B" panose="020B0800000000000000" pitchFamily="34" charset="-128"/>
                <a:ea typeface="小塚ゴシック Pro B" panose="020B0800000000000000" pitchFamily="34" charset="-128"/>
                <a:cs typeface="Noto Sans JP"/>
                <a:sym typeface="Noto Sans JP"/>
              </a:rPr>
              <a:t>制作</a:t>
            </a:r>
            <a:r>
              <a:rPr lang="en-US" sz="1350" b="1">
                <a:solidFill>
                  <a:srgbClr val="444444"/>
                </a:solidFill>
                <a:latin typeface="小塚ゴシック Pro B" panose="020B0800000000000000" pitchFamily="34" charset="-128"/>
                <a:ea typeface="小塚ゴシック Pro B" panose="020B0800000000000000" pitchFamily="34" charset="-128"/>
                <a:cs typeface="Noto Sans JP"/>
                <a:sym typeface="Noto Sans JP"/>
              </a:rPr>
              <a:t>の</a:t>
            </a:r>
            <a:r>
              <a:rPr lang="en-US" sz="1350" b="1" i="0" u="none" strike="noStrike" cap="none">
                <a:solidFill>
                  <a:srgbClr val="444444"/>
                </a:solidFill>
                <a:latin typeface="小塚ゴシック Pro B" panose="020B0800000000000000" pitchFamily="34" charset="-128"/>
                <a:ea typeface="小塚ゴシック Pro B" panose="020B0800000000000000" pitchFamily="34" charset="-128"/>
                <a:cs typeface="Noto Sans JP"/>
                <a:sym typeface="Noto Sans JP"/>
              </a:rPr>
              <a:t>専門学校 卒業</a:t>
            </a:r>
            <a:endParaRPr>
              <a:latin typeface="小塚ゴシック Pro B" panose="020B0800000000000000" pitchFamily="34" charset="-128"/>
              <a:ea typeface="小塚ゴシック Pro B" panose="020B0800000000000000" pitchFamily="34" charset="-128"/>
            </a:endParaRPr>
          </a:p>
        </p:txBody>
      </p:sp>
      <p:sp>
        <p:nvSpPr>
          <p:cNvPr id="199" name="Google Shape;199;p17"/>
          <p:cNvSpPr txBox="1"/>
          <p:nvPr/>
        </p:nvSpPr>
        <p:spPr>
          <a:xfrm>
            <a:off x="5875050" y="2440184"/>
            <a:ext cx="5355000" cy="29546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dirty="0">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ゲームアプリのメールサポート業務（2年）に従事</a:t>
            </a:r>
            <a:endParaRPr dirty="0">
              <a:latin typeface="小塚ゴシック Pro M" panose="020B0700000000000000" pitchFamily="34" charset="-128"/>
              <a:ea typeface="小塚ゴシック Pro M" panose="020B0700000000000000" pitchFamily="34" charset="-128"/>
            </a:endParaRPr>
          </a:p>
        </p:txBody>
      </p:sp>
      <p:sp>
        <p:nvSpPr>
          <p:cNvPr id="200" name="Google Shape;200;p17"/>
          <p:cNvSpPr/>
          <p:nvPr/>
        </p:nvSpPr>
        <p:spPr>
          <a:xfrm>
            <a:off x="5581650" y="3235498"/>
            <a:ext cx="95400" cy="95400"/>
          </a:xfrm>
          <a:prstGeom prst="roundRect">
            <a:avLst>
              <a:gd name="adj" fmla="val 50000"/>
            </a:avLst>
          </a:prstGeom>
          <a:solidFill>
            <a:srgbClr val="C5A0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201" name="Google Shape;201;p17"/>
          <p:cNvSpPr txBox="1"/>
          <p:nvPr/>
        </p:nvSpPr>
        <p:spPr>
          <a:xfrm>
            <a:off x="5875050" y="3023117"/>
            <a:ext cx="5355000" cy="2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444444"/>
                </a:solidFill>
                <a:latin typeface="小塚ゴシック Pro B" panose="020B0800000000000000" pitchFamily="34" charset="-128"/>
                <a:ea typeface="小塚ゴシック Pro B" panose="020B0800000000000000" pitchFamily="34" charset="-128"/>
                <a:cs typeface="Noto Sans JP"/>
                <a:sym typeface="Noto Sans JP"/>
              </a:rPr>
              <a:t>建築業界</a:t>
            </a:r>
            <a:r>
              <a:rPr lang="en-US" sz="1350" b="1">
                <a:solidFill>
                  <a:srgbClr val="444444"/>
                </a:solidFill>
                <a:latin typeface="小塚ゴシック Pro B" panose="020B0800000000000000" pitchFamily="34" charset="-128"/>
                <a:ea typeface="小塚ゴシック Pro B" panose="020B0800000000000000" pitchFamily="34" charset="-128"/>
                <a:cs typeface="Noto Sans JP"/>
                <a:sym typeface="Noto Sans JP"/>
              </a:rPr>
              <a:t>に転職</a:t>
            </a:r>
            <a:endParaRPr>
              <a:latin typeface="小塚ゴシック Pro B" panose="020B0800000000000000" pitchFamily="34" charset="-128"/>
              <a:ea typeface="小塚ゴシック Pro B" panose="020B0800000000000000" pitchFamily="34" charset="-128"/>
            </a:endParaRPr>
          </a:p>
        </p:txBody>
      </p:sp>
      <p:sp>
        <p:nvSpPr>
          <p:cNvPr id="202" name="Google Shape;202;p17"/>
          <p:cNvSpPr txBox="1"/>
          <p:nvPr/>
        </p:nvSpPr>
        <p:spPr>
          <a:xfrm>
            <a:off x="5875050" y="3198317"/>
            <a:ext cx="5355000" cy="29546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建築積算の業務（3.5年）を経験</a:t>
            </a:r>
            <a:endParaRPr>
              <a:latin typeface="小塚ゴシック Pro M" panose="020B0700000000000000" pitchFamily="34" charset="-128"/>
              <a:ea typeface="小塚ゴシック Pro M" panose="020B0700000000000000" pitchFamily="34" charset="-128"/>
            </a:endParaRPr>
          </a:p>
        </p:txBody>
      </p:sp>
      <p:sp>
        <p:nvSpPr>
          <p:cNvPr id="203" name="Google Shape;203;p17"/>
          <p:cNvSpPr/>
          <p:nvPr/>
        </p:nvSpPr>
        <p:spPr>
          <a:xfrm>
            <a:off x="5581650" y="3993629"/>
            <a:ext cx="95400" cy="95400"/>
          </a:xfrm>
          <a:prstGeom prst="roundRect">
            <a:avLst>
              <a:gd name="adj" fmla="val 50000"/>
            </a:avLst>
          </a:prstGeom>
          <a:solidFill>
            <a:srgbClr val="C5A0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204" name="Google Shape;204;p17"/>
          <p:cNvSpPr txBox="1"/>
          <p:nvPr/>
        </p:nvSpPr>
        <p:spPr>
          <a:xfrm>
            <a:off x="5875050" y="3781249"/>
            <a:ext cx="5355000" cy="2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444444"/>
                </a:solidFill>
                <a:latin typeface="小塚ゴシック Pro B" panose="020B0800000000000000" pitchFamily="34" charset="-128"/>
                <a:ea typeface="小塚ゴシック Pro B" panose="020B0800000000000000" pitchFamily="34" charset="-128"/>
                <a:cs typeface="Noto Sans JP"/>
                <a:sym typeface="Noto Sans JP"/>
              </a:rPr>
              <a:t>フリーランスライターとして独立</a:t>
            </a:r>
            <a:endParaRPr>
              <a:latin typeface="小塚ゴシック Pro B" panose="020B0800000000000000" pitchFamily="34" charset="-128"/>
              <a:ea typeface="小塚ゴシック Pro B" panose="020B0800000000000000" pitchFamily="34" charset="-128"/>
            </a:endParaRPr>
          </a:p>
        </p:txBody>
      </p:sp>
      <p:sp>
        <p:nvSpPr>
          <p:cNvPr id="205" name="Google Shape;205;p17"/>
          <p:cNvSpPr txBox="1"/>
          <p:nvPr/>
        </p:nvSpPr>
        <p:spPr>
          <a:xfrm>
            <a:off x="5875050" y="3956449"/>
            <a:ext cx="5355000" cy="29546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i="0" u="none" strike="noStrike" cap="none">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ライター歴6年以上。集客につながる文章・コンテンツ制作を中心に対応</a:t>
            </a:r>
            <a:endParaRPr>
              <a:latin typeface="小塚ゴシック Pro M" panose="020B0700000000000000" pitchFamily="34" charset="-128"/>
              <a:ea typeface="小塚ゴシック Pro M" panose="020B0700000000000000" pitchFamily="34" charset="-128"/>
            </a:endParaRPr>
          </a:p>
        </p:txBody>
      </p:sp>
      <p:sp>
        <p:nvSpPr>
          <p:cNvPr id="206" name="Google Shape;206;p17"/>
          <p:cNvSpPr/>
          <p:nvPr/>
        </p:nvSpPr>
        <p:spPr>
          <a:xfrm>
            <a:off x="5581650" y="4751759"/>
            <a:ext cx="95400" cy="95400"/>
          </a:xfrm>
          <a:prstGeom prst="roundRect">
            <a:avLst>
              <a:gd name="adj" fmla="val 50000"/>
            </a:avLst>
          </a:prstGeom>
          <a:solidFill>
            <a:srgbClr val="C5A0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207" name="Google Shape;207;p17"/>
          <p:cNvSpPr txBox="1"/>
          <p:nvPr/>
        </p:nvSpPr>
        <p:spPr>
          <a:xfrm>
            <a:off x="5875050" y="4539383"/>
            <a:ext cx="5355000" cy="2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a:solidFill>
                  <a:srgbClr val="444444"/>
                </a:solidFill>
                <a:latin typeface="小塚ゴシック Pro B" panose="020B0800000000000000" pitchFamily="34" charset="-128"/>
                <a:ea typeface="小塚ゴシック Pro B" panose="020B0800000000000000" pitchFamily="34" charset="-128"/>
                <a:cs typeface="Noto Sans JP"/>
                <a:sym typeface="Noto Sans JP"/>
              </a:rPr>
              <a:t>ライター兼集客プランナー（</a:t>
            </a:r>
            <a:r>
              <a:rPr lang="en-US" sz="1350" b="1" i="0" u="none" strike="noStrike" cap="none">
                <a:solidFill>
                  <a:srgbClr val="444444"/>
                </a:solidFill>
                <a:latin typeface="小塚ゴシック Pro B" panose="020B0800000000000000" pitchFamily="34" charset="-128"/>
                <a:ea typeface="小塚ゴシック Pro B" panose="020B0800000000000000" pitchFamily="34" charset="-128"/>
                <a:cs typeface="Noto Sans JP"/>
                <a:sym typeface="Noto Sans JP"/>
              </a:rPr>
              <a:t>現在</a:t>
            </a:r>
            <a:r>
              <a:rPr lang="en-US" sz="1350" b="1">
                <a:solidFill>
                  <a:srgbClr val="444444"/>
                </a:solidFill>
                <a:latin typeface="小塚ゴシック Pro B" panose="020B0800000000000000" pitchFamily="34" charset="-128"/>
                <a:ea typeface="小塚ゴシック Pro B" panose="020B0800000000000000" pitchFamily="34" charset="-128"/>
                <a:cs typeface="Noto Sans JP"/>
                <a:sym typeface="Noto Sans JP"/>
              </a:rPr>
              <a:t>）</a:t>
            </a:r>
            <a:endParaRPr>
              <a:latin typeface="小塚ゴシック Pro B" panose="020B0800000000000000" pitchFamily="34" charset="-128"/>
              <a:ea typeface="小塚ゴシック Pro B" panose="020B0800000000000000" pitchFamily="34" charset="-128"/>
            </a:endParaRPr>
          </a:p>
        </p:txBody>
      </p:sp>
      <p:sp>
        <p:nvSpPr>
          <p:cNvPr id="208" name="Google Shape;208;p17"/>
          <p:cNvSpPr txBox="1"/>
          <p:nvPr/>
        </p:nvSpPr>
        <p:spPr>
          <a:xfrm>
            <a:off x="5875050" y="4714582"/>
            <a:ext cx="5355000" cy="29546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公式LINE・Meta広告運用など、個人・</a:t>
            </a:r>
            <a:r>
              <a:rPr lang="en-US" sz="1200" i="0" u="none" strike="noStrike" cap="none">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企業のマーケティング支援を行う</a:t>
            </a:r>
            <a:endParaRPr>
              <a:latin typeface="小塚ゴシック Pro M" panose="020B0700000000000000" pitchFamily="34" charset="-128"/>
              <a:ea typeface="小塚ゴシック Pro M" panose="020B0700000000000000" pitchFamily="34" charset="-128"/>
            </a:endParaRPr>
          </a:p>
        </p:txBody>
      </p:sp>
      <p:sp>
        <p:nvSpPr>
          <p:cNvPr id="209" name="Google Shape;209;p17"/>
          <p:cNvSpPr txBox="1"/>
          <p:nvPr/>
        </p:nvSpPr>
        <p:spPr>
          <a:xfrm>
            <a:off x="879475" y="5127789"/>
            <a:ext cx="2151000" cy="2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集客プランナー / ライター</a:t>
            </a:r>
            <a:endParaRPr>
              <a:latin typeface="小塚ゴシック Pro B" panose="020B0800000000000000" pitchFamily="34" charset="-128"/>
              <a:ea typeface="小塚ゴシック Pro B" panose="020B0800000000000000" pitchFamily="34" charset="-128"/>
            </a:endParaRPr>
          </a:p>
        </p:txBody>
      </p:sp>
      <p:sp>
        <p:nvSpPr>
          <p:cNvPr id="210" name="Google Shape;210;p17"/>
          <p:cNvSpPr txBox="1"/>
          <p:nvPr/>
        </p:nvSpPr>
        <p:spPr>
          <a:xfrm>
            <a:off x="879475" y="5246519"/>
            <a:ext cx="2258400" cy="678647"/>
          </a:xfrm>
          <a:prstGeom prst="rect">
            <a:avLst/>
          </a:prstGeom>
          <a:noFill/>
          <a:ln>
            <a:noFill/>
          </a:ln>
        </p:spPr>
        <p:txBody>
          <a:bodyPr spcFirstLastPara="1" wrap="square" lIns="0" tIns="0" rIns="0" bIns="0" anchor="t" anchorCtr="0">
            <a:spAutoFit/>
          </a:bodyPr>
          <a:lstStyle/>
          <a:p>
            <a:pPr marL="0" marR="0" lvl="0" indent="0" algn="l" rtl="0">
              <a:lnSpc>
                <a:spcPct val="139968"/>
              </a:lnSpc>
              <a:spcBef>
                <a:spcPts val="0"/>
              </a:spcBef>
              <a:spcAft>
                <a:spcPts val="0"/>
              </a:spcAft>
              <a:buNone/>
            </a:pPr>
            <a:r>
              <a:rPr lang="en-US" sz="3150" b="0"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上原 龍之介</a:t>
            </a:r>
            <a:endParaRPr>
              <a:latin typeface="小塚ゴシック Pro B" panose="020B0800000000000000" pitchFamily="34" charset="-128"/>
              <a:ea typeface="小塚ゴシック Pro B" panose="020B0800000000000000" pitchFamily="34" charset="-128"/>
            </a:endParaRPr>
          </a:p>
        </p:txBody>
      </p:sp>
      <p:sp>
        <p:nvSpPr>
          <p:cNvPr id="211" name="Google Shape;211;p17"/>
          <p:cNvSpPr/>
          <p:nvPr/>
        </p:nvSpPr>
        <p:spPr>
          <a:xfrm>
            <a:off x="373100" y="5878914"/>
            <a:ext cx="2814600" cy="38100"/>
          </a:xfrm>
          <a:prstGeom prst="trapezoid">
            <a:avLst>
              <a:gd name="adj" fmla="val 25000"/>
            </a:avLst>
          </a:prstGeom>
          <a:solidFill>
            <a:srgbClr val="C5A05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小塚ゴシック Pro B" panose="020B0800000000000000" pitchFamily="34" charset="-128"/>
              <a:ea typeface="小塚ゴシック Pro B" panose="020B0800000000000000" pitchFamily="34" charset="-128"/>
              <a:cs typeface="Calibri"/>
              <a:sym typeface="Calibri"/>
            </a:endParaRPr>
          </a:p>
        </p:txBody>
      </p:sp>
      <p:sp>
        <p:nvSpPr>
          <p:cNvPr id="212" name="Google Shape;212;p17"/>
          <p:cNvSpPr/>
          <p:nvPr/>
        </p:nvSpPr>
        <p:spPr>
          <a:xfrm>
            <a:off x="190500" y="4953000"/>
            <a:ext cx="571500" cy="12705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小塚ゴシック Pro B" panose="020B0800000000000000" pitchFamily="34" charset="-128"/>
              <a:ea typeface="小塚ゴシック Pro B" panose="020B0800000000000000" pitchFamily="34" charset="-128"/>
              <a:cs typeface="Calibri"/>
              <a:sym typeface="Calibri"/>
            </a:endParaRPr>
          </a:p>
        </p:txBody>
      </p:sp>
      <p:sp>
        <p:nvSpPr>
          <p:cNvPr id="213" name="Google Shape;213;p17"/>
          <p:cNvSpPr txBox="1"/>
          <p:nvPr/>
        </p:nvSpPr>
        <p:spPr>
          <a:xfrm>
            <a:off x="5581650" y="1544817"/>
            <a:ext cx="861000" cy="581698"/>
          </a:xfrm>
          <a:prstGeom prst="rect">
            <a:avLst/>
          </a:prstGeom>
          <a:noFill/>
          <a:ln>
            <a:noFill/>
          </a:ln>
        </p:spPr>
        <p:txBody>
          <a:bodyPr spcFirstLastPara="1" wrap="square" lIns="0" tIns="0" rIns="0" bIns="0" anchor="t" anchorCtr="0">
            <a:spAutoFit/>
          </a:bodyPr>
          <a:lstStyle/>
          <a:p>
            <a:pPr marL="0" marR="0" lvl="0" indent="0" algn="l" rtl="0">
              <a:lnSpc>
                <a:spcPct val="139963"/>
              </a:lnSpc>
              <a:spcBef>
                <a:spcPts val="0"/>
              </a:spcBef>
              <a:spcAft>
                <a:spcPts val="0"/>
              </a:spcAft>
              <a:buNone/>
            </a:pPr>
            <a:r>
              <a:rPr lang="en-US" sz="2700" b="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略歴</a:t>
            </a:r>
            <a:endParaRPr>
              <a:latin typeface="小塚ゴシック Pro B" panose="020B0800000000000000" pitchFamily="34" charset="-128"/>
              <a:ea typeface="小塚ゴシック Pro B" panose="020B0800000000000000" pitchFamily="34" charset="-128"/>
            </a:endParaRPr>
          </a:p>
        </p:txBody>
      </p:sp>
      <p:sp>
        <p:nvSpPr>
          <p:cNvPr id="214" name="Google Shape;214;p17"/>
          <p:cNvSpPr/>
          <p:nvPr/>
        </p:nvSpPr>
        <p:spPr>
          <a:xfrm>
            <a:off x="5581650" y="2108479"/>
            <a:ext cx="5848500" cy="28500"/>
          </a:xfrm>
          <a:prstGeom prst="rect">
            <a:avLst/>
          </a:prstGeom>
          <a:solidFill>
            <a:srgbClr val="C5A0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2" name="スライド番号プレースホルダー 14">
            <a:extLst>
              <a:ext uri="{FF2B5EF4-FFF2-40B4-BE49-F238E27FC236}">
                <a16:creationId xmlns:a16="http://schemas.microsoft.com/office/drawing/2014/main" id="{C6DAE7BF-E527-614B-F114-E4C38E4C486E}"/>
              </a:ext>
            </a:extLst>
          </p:cNvPr>
          <p:cNvSpPr txBox="1">
            <a:spLocks/>
          </p:cNvSpPr>
          <p:nvPr/>
        </p:nvSpPr>
        <p:spPr>
          <a:xfrm>
            <a:off x="8789549" y="6420836"/>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4B6131FB-BBC3-4224-AAE6-4E406EC349F0}" type="slidenum">
              <a:rPr kumimoji="1" lang="ja-JP" altLang="en-US" b="1" smtClean="0">
                <a:solidFill>
                  <a:srgbClr val="2C2C2C"/>
                </a:solidFill>
                <a:latin typeface="小塚ゴシック Pro B" panose="020B0800000000000000" pitchFamily="34" charset="-128"/>
                <a:ea typeface="小塚ゴシック Pro B" panose="020B0800000000000000" pitchFamily="34" charset="-128"/>
              </a:rPr>
              <a:pPr algn="r"/>
              <a:t>3</a:t>
            </a:fld>
            <a:endParaRPr kumimoji="1" lang="ja-JP" altLang="en-US" b="1" dirty="0">
              <a:solidFill>
                <a:srgbClr val="2C2C2C"/>
              </a:solidFill>
              <a:latin typeface="小塚ゴシック Pro B" panose="020B0800000000000000" pitchFamily="34" charset="-128"/>
              <a:ea typeface="小塚ゴシック Pro B" panose="020B0800000000000000" pitchFamily="34" charset="-12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7"/>
        <p:cNvGrpSpPr/>
        <p:nvPr/>
      </p:nvGrpSpPr>
      <p:grpSpPr>
        <a:xfrm>
          <a:off x="0" y="0"/>
          <a:ext cx="0" cy="0"/>
          <a:chOff x="0" y="0"/>
          <a:chExt cx="0" cy="0"/>
        </a:xfrm>
      </p:grpSpPr>
      <p:grpSp>
        <p:nvGrpSpPr>
          <p:cNvPr id="138" name="Google Shape;138;p15"/>
          <p:cNvGrpSpPr/>
          <p:nvPr/>
        </p:nvGrpSpPr>
        <p:grpSpPr>
          <a:xfrm>
            <a:off x="0" y="0"/>
            <a:ext cx="12643324" cy="6976048"/>
            <a:chOff x="0" y="0"/>
            <a:chExt cx="12643324" cy="6976048"/>
          </a:xfrm>
        </p:grpSpPr>
        <p:pic>
          <p:nvPicPr>
            <p:cNvPr id="139" name="Google Shape;139;p15"/>
            <p:cNvPicPr preferRelativeResize="0"/>
            <p:nvPr/>
          </p:nvPicPr>
          <p:blipFill>
            <a:blip r:embed="rId3">
              <a:alphaModFix/>
            </a:blip>
            <a:stretch>
              <a:fillRect/>
            </a:stretch>
          </p:blipFill>
          <p:spPr>
            <a:xfrm>
              <a:off x="0" y="0"/>
              <a:ext cx="12643315" cy="6976048"/>
            </a:xfrm>
            <a:prstGeom prst="rect">
              <a:avLst/>
            </a:prstGeom>
            <a:noFill/>
            <a:ln>
              <a:noFill/>
            </a:ln>
          </p:spPr>
        </p:pic>
        <p:pic>
          <p:nvPicPr>
            <p:cNvPr id="140" name="Google Shape;140;p15"/>
            <p:cNvPicPr preferRelativeResize="0"/>
            <p:nvPr/>
          </p:nvPicPr>
          <p:blipFill rotWithShape="1">
            <a:blip r:embed="rId3">
              <a:alphaModFix/>
            </a:blip>
            <a:srcRect l="88432" t="69407" b="11568"/>
            <a:stretch/>
          </p:blipFill>
          <p:spPr>
            <a:xfrm>
              <a:off x="11180801" y="5648888"/>
              <a:ext cx="1462523" cy="1327158"/>
            </a:xfrm>
            <a:prstGeom prst="rect">
              <a:avLst/>
            </a:prstGeom>
            <a:noFill/>
            <a:ln>
              <a:noFill/>
            </a:ln>
          </p:spPr>
        </p:pic>
      </p:grpSp>
      <p:pic>
        <p:nvPicPr>
          <p:cNvPr id="141" name="Google Shape;141;p15"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pic>
        <p:nvPicPr>
          <p:cNvPr id="142" name="Google Shape;142;p15" descr="image.png"/>
          <p:cNvPicPr preferRelativeResize="0"/>
          <p:nvPr/>
        </p:nvPicPr>
        <p:blipFill rotWithShape="1">
          <a:blip r:embed="rId5">
            <a:alphaModFix/>
          </a:blip>
          <a:srcRect/>
          <a:stretch/>
        </p:blipFill>
        <p:spPr>
          <a:xfrm>
            <a:off x="762000" y="2591692"/>
            <a:ext cx="3301900" cy="2651521"/>
          </a:xfrm>
          <a:prstGeom prst="rect">
            <a:avLst/>
          </a:prstGeom>
          <a:noFill/>
          <a:ln>
            <a:noFill/>
          </a:ln>
        </p:spPr>
      </p:pic>
      <p:pic>
        <p:nvPicPr>
          <p:cNvPr id="143" name="Google Shape;143;p15" descr="image.png"/>
          <p:cNvPicPr preferRelativeResize="0"/>
          <p:nvPr/>
        </p:nvPicPr>
        <p:blipFill rotWithShape="1">
          <a:blip r:embed="rId6">
            <a:alphaModFix/>
          </a:blip>
          <a:srcRect/>
          <a:stretch/>
        </p:blipFill>
        <p:spPr>
          <a:xfrm>
            <a:off x="4444900" y="2591692"/>
            <a:ext cx="3302049" cy="2651521"/>
          </a:xfrm>
          <a:prstGeom prst="rect">
            <a:avLst/>
          </a:prstGeom>
          <a:noFill/>
          <a:ln>
            <a:noFill/>
          </a:ln>
        </p:spPr>
      </p:pic>
      <p:pic>
        <p:nvPicPr>
          <p:cNvPr id="144" name="Google Shape;144;p15" descr="image.png"/>
          <p:cNvPicPr preferRelativeResize="0"/>
          <p:nvPr/>
        </p:nvPicPr>
        <p:blipFill rotWithShape="1">
          <a:blip r:embed="rId5">
            <a:alphaModFix/>
          </a:blip>
          <a:srcRect/>
          <a:stretch/>
        </p:blipFill>
        <p:spPr>
          <a:xfrm>
            <a:off x="8127950" y="2591692"/>
            <a:ext cx="3301900" cy="2651521"/>
          </a:xfrm>
          <a:prstGeom prst="rect">
            <a:avLst/>
          </a:prstGeom>
          <a:noFill/>
          <a:ln>
            <a:noFill/>
          </a:ln>
        </p:spPr>
      </p:pic>
      <p:pic>
        <p:nvPicPr>
          <p:cNvPr id="145" name="Google Shape;145;p15" descr="image.png"/>
          <p:cNvPicPr preferRelativeResize="0"/>
          <p:nvPr/>
        </p:nvPicPr>
        <p:blipFill rotWithShape="1">
          <a:blip r:embed="rId7">
            <a:alphaModFix/>
          </a:blip>
          <a:srcRect/>
          <a:stretch/>
        </p:blipFill>
        <p:spPr>
          <a:xfrm>
            <a:off x="0" y="0"/>
            <a:ext cx="12192000" cy="142875"/>
          </a:xfrm>
          <a:prstGeom prst="rect">
            <a:avLst/>
          </a:prstGeom>
          <a:noFill/>
          <a:ln>
            <a:noFill/>
          </a:ln>
        </p:spPr>
      </p:pic>
      <p:sp>
        <p:nvSpPr>
          <p:cNvPr id="146" name="Google Shape;146;p15"/>
          <p:cNvSpPr txBox="1"/>
          <p:nvPr/>
        </p:nvSpPr>
        <p:spPr>
          <a:xfrm>
            <a:off x="762000" y="571500"/>
            <a:ext cx="10668000"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a:solidFill>
                  <a:srgbClr val="C5A059"/>
                </a:solidFill>
                <a:latin typeface="小塚ゴシック Pro B" panose="020B0800000000000000" pitchFamily="34" charset="-128"/>
                <a:ea typeface="小塚ゴシック Pro B" panose="020B0800000000000000" pitchFamily="34" charset="-128"/>
                <a:cs typeface="Lato"/>
                <a:sym typeface="Lato"/>
              </a:rPr>
              <a:t>WHY I DO THIS</a:t>
            </a:r>
            <a:endParaRPr>
              <a:latin typeface="小塚ゴシック Pro B" panose="020B0800000000000000" pitchFamily="34" charset="-128"/>
              <a:ea typeface="小塚ゴシック Pro B" panose="020B0800000000000000" pitchFamily="34" charset="-128"/>
            </a:endParaRPr>
          </a:p>
        </p:txBody>
      </p:sp>
      <p:sp>
        <p:nvSpPr>
          <p:cNvPr id="147" name="Google Shape;147;p15"/>
          <p:cNvSpPr txBox="1"/>
          <p:nvPr/>
        </p:nvSpPr>
        <p:spPr>
          <a:xfrm>
            <a:off x="762000" y="880025"/>
            <a:ext cx="10668000" cy="581698"/>
          </a:xfrm>
          <a:prstGeom prst="rect">
            <a:avLst/>
          </a:prstGeom>
          <a:noFill/>
          <a:ln>
            <a:noFill/>
          </a:ln>
        </p:spPr>
        <p:txBody>
          <a:bodyPr spcFirstLastPara="1" wrap="square" lIns="0" tIns="0" rIns="0" bIns="0" anchor="t" anchorCtr="0">
            <a:spAutoFit/>
          </a:bodyPr>
          <a:lstStyle/>
          <a:p>
            <a:pPr marL="0" marR="0" lvl="0" indent="0" algn="l" rtl="0">
              <a:lnSpc>
                <a:spcPct val="139962"/>
              </a:lnSpc>
              <a:spcBef>
                <a:spcPts val="0"/>
              </a:spcBef>
              <a:spcAft>
                <a:spcPts val="0"/>
              </a:spcAft>
              <a:buNone/>
            </a:pPr>
            <a:r>
              <a:rPr lang="en-US" sz="27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「マーケティング迷子」を減らしたい</a:t>
            </a:r>
            <a:endParaRPr>
              <a:latin typeface="小塚ゴシック Pro B" panose="020B0800000000000000" pitchFamily="34" charset="-128"/>
              <a:ea typeface="小塚ゴシック Pro B" panose="020B0800000000000000" pitchFamily="34" charset="-128"/>
            </a:endParaRPr>
          </a:p>
        </p:txBody>
      </p:sp>
      <p:sp>
        <p:nvSpPr>
          <p:cNvPr id="148" name="Google Shape;148;p15"/>
          <p:cNvSpPr txBox="1"/>
          <p:nvPr/>
        </p:nvSpPr>
        <p:spPr>
          <a:xfrm>
            <a:off x="762000" y="5651644"/>
            <a:ext cx="10668000" cy="59093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400" b="1" i="0" u="none" strike="noStrike" cap="none" dirty="0">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広告は「投資」。だから、本当に必要なものだけを提案・制作します。</a:t>
            </a:r>
            <a:endParaRPr sz="2400" dirty="0">
              <a:solidFill>
                <a:srgbClr val="2C2C2C"/>
              </a:solidFill>
              <a:latin typeface="小塚ゴシック Pro B" panose="020B0800000000000000" pitchFamily="34" charset="-128"/>
              <a:ea typeface="小塚ゴシック Pro B" panose="020B0800000000000000" pitchFamily="34" charset="-128"/>
            </a:endParaRPr>
          </a:p>
        </p:txBody>
      </p:sp>
      <p:sp>
        <p:nvSpPr>
          <p:cNvPr id="149" name="Google Shape;149;p15"/>
          <p:cNvSpPr txBox="1"/>
          <p:nvPr/>
        </p:nvSpPr>
        <p:spPr>
          <a:xfrm>
            <a:off x="762000" y="6534150"/>
            <a:ext cx="1651099"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99999"/>
                </a:solidFill>
                <a:latin typeface="Lato"/>
                <a:ea typeface="Lato"/>
                <a:cs typeface="Lato"/>
                <a:sym typeface="Lato"/>
              </a:rPr>
              <a:t>© U-Writing All Rights Reserved.</a:t>
            </a:r>
            <a:endParaRPr/>
          </a:p>
        </p:txBody>
      </p:sp>
      <p:sp>
        <p:nvSpPr>
          <p:cNvPr id="152" name="Google Shape;152;p15"/>
          <p:cNvSpPr txBox="1"/>
          <p:nvPr/>
        </p:nvSpPr>
        <p:spPr>
          <a:xfrm>
            <a:off x="1047750" y="3210817"/>
            <a:ext cx="2866800" cy="650050"/>
          </a:xfrm>
          <a:prstGeom prst="rect">
            <a:avLst/>
          </a:prstGeom>
          <a:noFill/>
          <a:ln>
            <a:noFill/>
          </a:ln>
        </p:spPr>
        <p:txBody>
          <a:bodyPr spcFirstLastPara="1" wrap="square" lIns="0" tIns="0" rIns="0" bIns="0" anchor="t" anchorCtr="0">
            <a:spAutoFit/>
          </a:bodyPr>
          <a:lstStyle/>
          <a:p>
            <a:pPr marL="0" lvl="0" indent="0" algn="l" rtl="0">
              <a:lnSpc>
                <a:spcPct val="128333"/>
              </a:lnSpc>
              <a:spcBef>
                <a:spcPts val="0"/>
              </a:spcBef>
              <a:spcAft>
                <a:spcPts val="0"/>
              </a:spcAft>
              <a:buNone/>
            </a:pPr>
            <a:r>
              <a:rPr lang="en-US" sz="1650" b="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高いお金をかけたのに成果が出ない</a:t>
            </a:r>
            <a:br>
              <a:rPr lang="en-US" sz="1800">
                <a:solidFill>
                  <a:schemeClr val="dk1"/>
                </a:solidFill>
                <a:latin typeface="小塚ゴシック Pro B" panose="020B0800000000000000" pitchFamily="34" charset="-128"/>
                <a:ea typeface="小塚ゴシック Pro B" panose="020B0800000000000000" pitchFamily="34" charset="-128"/>
                <a:cs typeface="Calibri"/>
                <a:sym typeface="Calibri"/>
              </a:rPr>
            </a:br>
            <a:endParaRPr sz="1650" b="1">
              <a:solidFill>
                <a:srgbClr val="2C2C2C"/>
              </a:solidFill>
              <a:latin typeface="小塚ゴシック Pro B" panose="020B0800000000000000" pitchFamily="34" charset="-128"/>
              <a:ea typeface="小塚ゴシック Pro B" panose="020B0800000000000000" pitchFamily="34" charset="-128"/>
              <a:cs typeface="Noto Sans JP"/>
              <a:sym typeface="Noto Sans JP"/>
            </a:endParaRPr>
          </a:p>
        </p:txBody>
      </p:sp>
      <p:sp>
        <p:nvSpPr>
          <p:cNvPr id="153" name="Google Shape;153;p15"/>
          <p:cNvSpPr txBox="1"/>
          <p:nvPr/>
        </p:nvSpPr>
        <p:spPr>
          <a:xfrm>
            <a:off x="1047750" y="3987998"/>
            <a:ext cx="2730300" cy="886397"/>
          </a:xfrm>
          <a:prstGeom prst="rect">
            <a:avLst/>
          </a:prstGeom>
          <a:noFill/>
          <a:ln>
            <a:noFill/>
          </a:ln>
        </p:spPr>
        <p:txBody>
          <a:bodyPr spcFirstLastPara="1" wrap="square" lIns="0" tIns="0" rIns="0" bIns="0" anchor="t" anchorCtr="0">
            <a:spAutoFit/>
          </a:bodyPr>
          <a:lstStyle/>
          <a:p>
            <a:pPr marL="0" lvl="0" indent="0" algn="l" rtl="0">
              <a:lnSpc>
                <a:spcPct val="160000"/>
              </a:lnSpc>
              <a:spcBef>
                <a:spcPts val="0"/>
              </a:spcBef>
              <a:spcAft>
                <a:spcPts val="0"/>
              </a:spcAft>
              <a:buNone/>
            </a:pPr>
            <a:r>
              <a:rPr lang="en-US" sz="1200">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数十万円かけてHP・LPを作った、講座やコンサルを受けた。それでも問い合わせが増えない。</a:t>
            </a:r>
            <a:endParaRPr sz="1200">
              <a:solidFill>
                <a:srgbClr val="666666"/>
              </a:solidFill>
              <a:latin typeface="小塚ゴシック Pro M" panose="020B0700000000000000" pitchFamily="34" charset="-128"/>
              <a:ea typeface="小塚ゴシック Pro M" panose="020B0700000000000000" pitchFamily="34" charset="-128"/>
              <a:cs typeface="Noto Sans JP"/>
              <a:sym typeface="Noto Sans JP"/>
            </a:endParaRPr>
          </a:p>
        </p:txBody>
      </p:sp>
      <p:sp>
        <p:nvSpPr>
          <p:cNvPr id="155" name="Google Shape;155;p15"/>
          <p:cNvSpPr txBox="1"/>
          <p:nvPr/>
        </p:nvSpPr>
        <p:spPr>
          <a:xfrm>
            <a:off x="4730650" y="3210817"/>
            <a:ext cx="2867100" cy="650050"/>
          </a:xfrm>
          <a:prstGeom prst="rect">
            <a:avLst/>
          </a:prstGeom>
          <a:noFill/>
          <a:ln>
            <a:noFill/>
          </a:ln>
        </p:spPr>
        <p:txBody>
          <a:bodyPr spcFirstLastPara="1" wrap="square" lIns="0" tIns="0" rIns="0" bIns="0" anchor="t" anchorCtr="0">
            <a:spAutoFit/>
          </a:bodyPr>
          <a:lstStyle/>
          <a:p>
            <a:pPr marL="0" lvl="0" indent="0" algn="l" rtl="0">
              <a:lnSpc>
                <a:spcPct val="128333"/>
              </a:lnSpc>
              <a:spcBef>
                <a:spcPts val="0"/>
              </a:spcBef>
              <a:spcAft>
                <a:spcPts val="0"/>
              </a:spcAft>
              <a:buNone/>
            </a:pPr>
            <a:r>
              <a:rPr lang="en-US" sz="1650" b="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自力で頑張るが結果まで遠回りに</a:t>
            </a:r>
            <a:br>
              <a:rPr lang="en-US" sz="1800">
                <a:solidFill>
                  <a:schemeClr val="dk1"/>
                </a:solidFill>
                <a:latin typeface="小塚ゴシック Pro B" panose="020B0800000000000000" pitchFamily="34" charset="-128"/>
                <a:ea typeface="小塚ゴシック Pro B" panose="020B0800000000000000" pitchFamily="34" charset="-128"/>
                <a:cs typeface="Calibri"/>
                <a:sym typeface="Calibri"/>
              </a:rPr>
            </a:br>
            <a:endParaRPr sz="1650" b="1">
              <a:solidFill>
                <a:srgbClr val="2C2C2C"/>
              </a:solidFill>
              <a:latin typeface="小塚ゴシック Pro B" panose="020B0800000000000000" pitchFamily="34" charset="-128"/>
              <a:ea typeface="小塚ゴシック Pro B" panose="020B0800000000000000" pitchFamily="34" charset="-128"/>
              <a:cs typeface="Noto Sans JP"/>
              <a:sym typeface="Noto Sans JP"/>
            </a:endParaRPr>
          </a:p>
        </p:txBody>
      </p:sp>
      <p:sp>
        <p:nvSpPr>
          <p:cNvPr id="156" name="Google Shape;156;p15"/>
          <p:cNvSpPr txBox="1"/>
          <p:nvPr/>
        </p:nvSpPr>
        <p:spPr>
          <a:xfrm>
            <a:off x="4730650" y="3987998"/>
            <a:ext cx="2730600" cy="590931"/>
          </a:xfrm>
          <a:prstGeom prst="rect">
            <a:avLst/>
          </a:prstGeom>
          <a:noFill/>
          <a:ln>
            <a:noFill/>
          </a:ln>
        </p:spPr>
        <p:txBody>
          <a:bodyPr spcFirstLastPara="1" wrap="square" lIns="0" tIns="0" rIns="0" bIns="0" anchor="t" anchorCtr="0">
            <a:spAutoFit/>
          </a:bodyPr>
          <a:lstStyle/>
          <a:p>
            <a:pPr marL="0" lvl="0" indent="0" algn="l" rtl="0">
              <a:lnSpc>
                <a:spcPct val="160000"/>
              </a:lnSpc>
              <a:spcBef>
                <a:spcPts val="0"/>
              </a:spcBef>
              <a:spcAft>
                <a:spcPts val="0"/>
              </a:spcAft>
              <a:buNone/>
            </a:pPr>
            <a:r>
              <a:rPr lang="en-US" sz="1200">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もう一度自分で集客に取り組むものの、手探りのため結果が出るまで時間がかかる。</a:t>
            </a:r>
            <a:endParaRPr sz="1200">
              <a:solidFill>
                <a:srgbClr val="666666"/>
              </a:solidFill>
              <a:latin typeface="小塚ゴシック Pro M" panose="020B0700000000000000" pitchFamily="34" charset="-128"/>
              <a:ea typeface="小塚ゴシック Pro M" panose="020B0700000000000000" pitchFamily="34" charset="-128"/>
              <a:cs typeface="Noto Sans JP"/>
              <a:sym typeface="Noto Sans JP"/>
            </a:endParaRPr>
          </a:p>
        </p:txBody>
      </p:sp>
      <p:sp>
        <p:nvSpPr>
          <p:cNvPr id="158" name="Google Shape;158;p15"/>
          <p:cNvSpPr txBox="1"/>
          <p:nvPr/>
        </p:nvSpPr>
        <p:spPr>
          <a:xfrm>
            <a:off x="8413700" y="3210817"/>
            <a:ext cx="2866800" cy="650050"/>
          </a:xfrm>
          <a:prstGeom prst="rect">
            <a:avLst/>
          </a:prstGeom>
          <a:noFill/>
          <a:ln>
            <a:noFill/>
          </a:ln>
        </p:spPr>
        <p:txBody>
          <a:bodyPr spcFirstLastPara="1" wrap="square" lIns="0" tIns="0" rIns="0" bIns="0" anchor="t" anchorCtr="0">
            <a:spAutoFit/>
          </a:bodyPr>
          <a:lstStyle/>
          <a:p>
            <a:pPr marL="0" lvl="0" indent="0" algn="l" rtl="0">
              <a:lnSpc>
                <a:spcPct val="128333"/>
              </a:lnSpc>
              <a:spcBef>
                <a:spcPts val="0"/>
              </a:spcBef>
              <a:spcAft>
                <a:spcPts val="0"/>
              </a:spcAft>
              <a:buNone/>
            </a:pPr>
            <a:r>
              <a:rPr lang="en-US" sz="1650" b="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専門家に頼みたいが費用が重い</a:t>
            </a:r>
            <a:br>
              <a:rPr lang="en-US" sz="1800">
                <a:solidFill>
                  <a:schemeClr val="dk1"/>
                </a:solidFill>
                <a:latin typeface="小塚ゴシック Pro B" panose="020B0800000000000000" pitchFamily="34" charset="-128"/>
                <a:ea typeface="小塚ゴシック Pro B" panose="020B0800000000000000" pitchFamily="34" charset="-128"/>
                <a:cs typeface="Calibri"/>
                <a:sym typeface="Calibri"/>
              </a:rPr>
            </a:br>
            <a:endParaRPr sz="1650" b="1">
              <a:solidFill>
                <a:srgbClr val="2C2C2C"/>
              </a:solidFill>
              <a:latin typeface="小塚ゴシック Pro B" panose="020B0800000000000000" pitchFamily="34" charset="-128"/>
              <a:ea typeface="小塚ゴシック Pro B" panose="020B0800000000000000" pitchFamily="34" charset="-128"/>
              <a:cs typeface="Noto Sans JP"/>
              <a:sym typeface="Noto Sans JP"/>
            </a:endParaRPr>
          </a:p>
        </p:txBody>
      </p:sp>
      <p:sp>
        <p:nvSpPr>
          <p:cNvPr id="159" name="Google Shape;159;p15"/>
          <p:cNvSpPr txBox="1"/>
          <p:nvPr/>
        </p:nvSpPr>
        <p:spPr>
          <a:xfrm>
            <a:off x="8413700" y="3987998"/>
            <a:ext cx="2730300" cy="886397"/>
          </a:xfrm>
          <a:prstGeom prst="rect">
            <a:avLst/>
          </a:prstGeom>
          <a:noFill/>
          <a:ln>
            <a:noFill/>
          </a:ln>
        </p:spPr>
        <p:txBody>
          <a:bodyPr spcFirstLastPara="1" wrap="square" lIns="0" tIns="0" rIns="0" bIns="0" anchor="t" anchorCtr="0">
            <a:spAutoFit/>
          </a:bodyPr>
          <a:lstStyle/>
          <a:p>
            <a:pPr marL="0" lvl="0" indent="0" algn="l" rtl="0">
              <a:lnSpc>
                <a:spcPct val="160000"/>
              </a:lnSpc>
              <a:spcBef>
                <a:spcPts val="0"/>
              </a:spcBef>
              <a:spcAft>
                <a:spcPts val="0"/>
              </a:spcAft>
              <a:buNone/>
            </a:pPr>
            <a:r>
              <a:rPr lang="en-US" sz="1200">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早く結果を出すには専門家の力が必要。でも、また大きなお金がかかってしまう。</a:t>
            </a:r>
            <a:endParaRPr sz="1200">
              <a:solidFill>
                <a:srgbClr val="666666"/>
              </a:solidFill>
              <a:latin typeface="小塚ゴシック Pro M" panose="020B0700000000000000" pitchFamily="34" charset="-128"/>
              <a:ea typeface="小塚ゴシック Pro M" panose="020B0700000000000000" pitchFamily="34" charset="-128"/>
              <a:cs typeface="Noto Sans JP"/>
              <a:sym typeface="Noto Sans JP"/>
            </a:endParaRPr>
          </a:p>
        </p:txBody>
      </p:sp>
      <p:sp>
        <p:nvSpPr>
          <p:cNvPr id="2" name="スライド番号プレースホルダー 14">
            <a:extLst>
              <a:ext uri="{FF2B5EF4-FFF2-40B4-BE49-F238E27FC236}">
                <a16:creationId xmlns:a16="http://schemas.microsoft.com/office/drawing/2014/main" id="{F0F9276C-8430-0D4A-CE23-E09B5F8C5C56}"/>
              </a:ext>
            </a:extLst>
          </p:cNvPr>
          <p:cNvSpPr txBox="1">
            <a:spLocks/>
          </p:cNvSpPr>
          <p:nvPr/>
        </p:nvSpPr>
        <p:spPr>
          <a:xfrm>
            <a:off x="8789549" y="6420836"/>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4B6131FB-BBC3-4224-AAE6-4E406EC349F0}" type="slidenum">
              <a:rPr kumimoji="1" lang="ja-JP" altLang="en-US" b="1" smtClean="0">
                <a:solidFill>
                  <a:srgbClr val="2C2C2C"/>
                </a:solidFill>
                <a:latin typeface="小塚ゴシック Pro B" panose="020B0800000000000000" pitchFamily="34" charset="-128"/>
                <a:ea typeface="小塚ゴシック Pro B" panose="020B0800000000000000" pitchFamily="34" charset="-128"/>
              </a:rPr>
              <a:pPr algn="r"/>
              <a:t>4</a:t>
            </a:fld>
            <a:endParaRPr kumimoji="1" lang="ja-JP" altLang="en-US" b="1" dirty="0">
              <a:solidFill>
                <a:srgbClr val="2C2C2C"/>
              </a:solidFill>
              <a:latin typeface="小塚ゴシック Pro B" panose="020B0800000000000000" pitchFamily="34" charset="-128"/>
              <a:ea typeface="小塚ゴシック Pro B" panose="020B0800000000000000" pitchFamily="34" charset="-128"/>
            </a:endParaRPr>
          </a:p>
        </p:txBody>
      </p:sp>
      <p:sp>
        <p:nvSpPr>
          <p:cNvPr id="160" name="Rectangle 159"/>
          <p:cNvSpPr/>
          <p:nvPr/>
        </p:nvSpPr>
        <p:spPr>
          <a:xfrm>
            <a:off x="8413700" y="2496442"/>
            <a:ext cx="737889" cy="266700"/>
          </a:xfrm>
          <a:prstGeom prst="rect">
            <a:avLst/>
          </a:prstGeom>
          <a:solidFill>
            <a:srgbClr val="C6A15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rPr>
              <a:t>声 03</a:t>
            </a:r>
          </a:p>
        </p:txBody>
      </p:sp>
      <p:sp>
        <p:nvSpPr>
          <p:cNvPr id="161" name="Rectangle 160"/>
          <p:cNvSpPr/>
          <p:nvPr/>
        </p:nvSpPr>
        <p:spPr>
          <a:xfrm>
            <a:off x="4730650" y="2496442"/>
            <a:ext cx="737889" cy="266700"/>
          </a:xfrm>
          <a:prstGeom prst="rect">
            <a:avLst/>
          </a:prstGeom>
          <a:solidFill>
            <a:srgbClr val="C6A15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rPr>
              <a:t>声 02</a:t>
            </a:r>
          </a:p>
        </p:txBody>
      </p:sp>
      <p:sp>
        <p:nvSpPr>
          <p:cNvPr id="162" name="Rectangle 161"/>
          <p:cNvSpPr/>
          <p:nvPr/>
        </p:nvSpPr>
        <p:spPr>
          <a:xfrm>
            <a:off x="1047750" y="2496442"/>
            <a:ext cx="737889" cy="266700"/>
          </a:xfrm>
          <a:prstGeom prst="rect">
            <a:avLst/>
          </a:prstGeom>
          <a:solidFill>
            <a:srgbClr val="C6A15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rPr>
              <a:t>声 01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8"/>
        <p:cNvGrpSpPr/>
        <p:nvPr/>
      </p:nvGrpSpPr>
      <p:grpSpPr>
        <a:xfrm>
          <a:off x="0" y="0"/>
          <a:ext cx="0" cy="0"/>
          <a:chOff x="0" y="0"/>
          <a:chExt cx="0" cy="0"/>
        </a:xfrm>
      </p:grpSpPr>
      <p:grpSp>
        <p:nvGrpSpPr>
          <p:cNvPr id="219" name="Google Shape;219;p18"/>
          <p:cNvGrpSpPr/>
          <p:nvPr/>
        </p:nvGrpSpPr>
        <p:grpSpPr>
          <a:xfrm>
            <a:off x="0" y="0"/>
            <a:ext cx="12643324" cy="6976048"/>
            <a:chOff x="0" y="0"/>
            <a:chExt cx="12643324" cy="6976048"/>
          </a:xfrm>
        </p:grpSpPr>
        <p:pic>
          <p:nvPicPr>
            <p:cNvPr id="220" name="Google Shape;220;p18"/>
            <p:cNvPicPr preferRelativeResize="0"/>
            <p:nvPr/>
          </p:nvPicPr>
          <p:blipFill>
            <a:blip r:embed="rId3">
              <a:alphaModFix/>
            </a:blip>
            <a:stretch>
              <a:fillRect/>
            </a:stretch>
          </p:blipFill>
          <p:spPr>
            <a:xfrm>
              <a:off x="0" y="0"/>
              <a:ext cx="12643315" cy="6976048"/>
            </a:xfrm>
            <a:prstGeom prst="rect">
              <a:avLst/>
            </a:prstGeom>
            <a:noFill/>
            <a:ln>
              <a:noFill/>
            </a:ln>
          </p:spPr>
        </p:pic>
        <p:pic>
          <p:nvPicPr>
            <p:cNvPr id="221" name="Google Shape;221;p18"/>
            <p:cNvPicPr preferRelativeResize="0"/>
            <p:nvPr/>
          </p:nvPicPr>
          <p:blipFill rotWithShape="1">
            <a:blip r:embed="rId3">
              <a:alphaModFix/>
            </a:blip>
            <a:srcRect l="88432" t="69407" b="11568"/>
            <a:stretch/>
          </p:blipFill>
          <p:spPr>
            <a:xfrm>
              <a:off x="11180801" y="5648888"/>
              <a:ext cx="1462523" cy="1327158"/>
            </a:xfrm>
            <a:prstGeom prst="rect">
              <a:avLst/>
            </a:prstGeom>
            <a:noFill/>
            <a:ln>
              <a:noFill/>
            </a:ln>
          </p:spPr>
        </p:pic>
      </p:grpSp>
      <p:pic>
        <p:nvPicPr>
          <p:cNvPr id="222" name="Google Shape;222;p18"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pic>
        <p:nvPicPr>
          <p:cNvPr id="223" name="Google Shape;223;p18" descr="image.png"/>
          <p:cNvPicPr preferRelativeResize="0"/>
          <p:nvPr/>
        </p:nvPicPr>
        <p:blipFill rotWithShape="1">
          <a:blip r:embed="rId5">
            <a:alphaModFix/>
          </a:blip>
          <a:srcRect/>
          <a:stretch/>
        </p:blipFill>
        <p:spPr>
          <a:xfrm>
            <a:off x="762000" y="1740996"/>
            <a:ext cx="5191125" cy="4236983"/>
          </a:xfrm>
          <a:prstGeom prst="rect">
            <a:avLst/>
          </a:prstGeom>
          <a:noFill/>
          <a:ln>
            <a:noFill/>
          </a:ln>
          <a:effectLst>
            <a:outerShdw blurRad="57150" dist="19050" dir="5400000" algn="bl" rotWithShape="0">
              <a:srgbClr val="000000">
                <a:alpha val="50000"/>
              </a:srgbClr>
            </a:outerShdw>
          </a:effectLst>
        </p:spPr>
      </p:pic>
      <p:pic>
        <p:nvPicPr>
          <p:cNvPr id="224" name="Google Shape;224;p18" descr="image.png"/>
          <p:cNvPicPr preferRelativeResize="0"/>
          <p:nvPr/>
        </p:nvPicPr>
        <p:blipFill rotWithShape="1">
          <a:blip r:embed="rId5">
            <a:alphaModFix/>
          </a:blip>
          <a:srcRect/>
          <a:stretch/>
        </p:blipFill>
        <p:spPr>
          <a:xfrm>
            <a:off x="6238875" y="1740996"/>
            <a:ext cx="5191125" cy="4236983"/>
          </a:xfrm>
          <a:prstGeom prst="rect">
            <a:avLst/>
          </a:prstGeom>
          <a:noFill/>
          <a:ln>
            <a:noFill/>
          </a:ln>
          <a:effectLst>
            <a:outerShdw blurRad="57150" dist="19050" dir="5400000" algn="bl" rotWithShape="0">
              <a:srgbClr val="000000">
                <a:alpha val="50000"/>
              </a:srgbClr>
            </a:outerShdw>
          </a:effectLst>
        </p:spPr>
      </p:pic>
      <p:pic>
        <p:nvPicPr>
          <p:cNvPr id="225" name="Google Shape;225;p18" descr="image.png"/>
          <p:cNvPicPr preferRelativeResize="0"/>
          <p:nvPr/>
        </p:nvPicPr>
        <p:blipFill rotWithShape="1">
          <a:blip r:embed="rId6">
            <a:alphaModFix/>
          </a:blip>
          <a:srcRect/>
          <a:stretch/>
        </p:blipFill>
        <p:spPr>
          <a:xfrm>
            <a:off x="0" y="0"/>
            <a:ext cx="12192000" cy="142875"/>
          </a:xfrm>
          <a:prstGeom prst="rect">
            <a:avLst/>
          </a:prstGeom>
          <a:noFill/>
          <a:ln>
            <a:noFill/>
          </a:ln>
        </p:spPr>
      </p:pic>
      <p:sp>
        <p:nvSpPr>
          <p:cNvPr id="226" name="Google Shape;226;p18"/>
          <p:cNvSpPr txBox="1"/>
          <p:nvPr/>
        </p:nvSpPr>
        <p:spPr>
          <a:xfrm>
            <a:off x="762000" y="571500"/>
            <a:ext cx="10668000"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a:solidFill>
                  <a:srgbClr val="C5A059"/>
                </a:solidFill>
                <a:latin typeface="小塚ゴシック Pro B" panose="020B0800000000000000" pitchFamily="34" charset="-128"/>
                <a:ea typeface="小塚ゴシック Pro B" panose="020B0800000000000000" pitchFamily="34" charset="-128"/>
                <a:cs typeface="Lato"/>
                <a:sym typeface="Lato"/>
              </a:rPr>
              <a:t>SERVICE OVERVIEW</a:t>
            </a:r>
            <a:endParaRPr>
              <a:latin typeface="小塚ゴシック Pro B" panose="020B0800000000000000" pitchFamily="34" charset="-128"/>
              <a:ea typeface="小塚ゴシック Pro B" panose="020B0800000000000000" pitchFamily="34" charset="-128"/>
            </a:endParaRPr>
          </a:p>
        </p:txBody>
      </p:sp>
      <p:sp>
        <p:nvSpPr>
          <p:cNvPr id="227" name="Google Shape;227;p18"/>
          <p:cNvSpPr txBox="1"/>
          <p:nvPr/>
        </p:nvSpPr>
        <p:spPr>
          <a:xfrm>
            <a:off x="762000" y="880020"/>
            <a:ext cx="11201400" cy="581698"/>
          </a:xfrm>
          <a:prstGeom prst="rect">
            <a:avLst/>
          </a:prstGeom>
          <a:noFill/>
          <a:ln>
            <a:noFill/>
          </a:ln>
        </p:spPr>
        <p:txBody>
          <a:bodyPr spcFirstLastPara="1" wrap="square" lIns="0" tIns="0" rIns="0" bIns="0" anchor="t" anchorCtr="0">
            <a:spAutoFit/>
          </a:bodyPr>
          <a:lstStyle/>
          <a:p>
            <a:pPr marL="0" marR="0" lvl="0" indent="0" algn="l" rtl="0">
              <a:lnSpc>
                <a:spcPct val="139962"/>
              </a:lnSpc>
              <a:spcBef>
                <a:spcPts val="0"/>
              </a:spcBef>
              <a:spcAft>
                <a:spcPts val="0"/>
              </a:spcAft>
              <a:buNone/>
            </a:pPr>
            <a:r>
              <a:rPr lang="en-US" sz="27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サービス概要</a:t>
            </a:r>
            <a:endParaRPr>
              <a:latin typeface="小塚ゴシック Pro B" panose="020B0800000000000000" pitchFamily="34" charset="-128"/>
              <a:ea typeface="小塚ゴシック Pro B" panose="020B0800000000000000" pitchFamily="34" charset="-128"/>
            </a:endParaRPr>
          </a:p>
        </p:txBody>
      </p:sp>
      <p:sp>
        <p:nvSpPr>
          <p:cNvPr id="228" name="Google Shape;228;p18"/>
          <p:cNvSpPr txBox="1"/>
          <p:nvPr/>
        </p:nvSpPr>
        <p:spPr>
          <a:xfrm>
            <a:off x="762000" y="6534150"/>
            <a:ext cx="1651099"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99999"/>
                </a:solidFill>
                <a:latin typeface="Lato"/>
                <a:ea typeface="Lato"/>
                <a:cs typeface="Lato"/>
                <a:sym typeface="Lato"/>
              </a:rPr>
              <a:t>© U-Writing All Rights Reserved.</a:t>
            </a:r>
            <a:endParaRPr/>
          </a:p>
        </p:txBody>
      </p:sp>
      <p:sp>
        <p:nvSpPr>
          <p:cNvPr id="230" name="Google Shape;230;p18"/>
          <p:cNvSpPr/>
          <p:nvPr/>
        </p:nvSpPr>
        <p:spPr>
          <a:xfrm>
            <a:off x="771525" y="1750516"/>
            <a:ext cx="5172075" cy="638175"/>
          </a:xfrm>
          <a:prstGeom prst="rect">
            <a:avLst/>
          </a:prstGeom>
          <a:solidFill>
            <a:srgbClr val="2C2C2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231" name="Google Shape;231;p18"/>
          <p:cNvSpPr txBox="1"/>
          <p:nvPr/>
        </p:nvSpPr>
        <p:spPr>
          <a:xfrm>
            <a:off x="962025" y="1977544"/>
            <a:ext cx="4791000" cy="23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1" i="0" u="none" strike="noStrike" cap="none" dirty="0" err="1">
                <a:solidFill>
                  <a:srgbClr val="FFFFFF"/>
                </a:solidFill>
                <a:latin typeface="小塚ゴシック Pro B" panose="020B0800000000000000" pitchFamily="34" charset="-128"/>
                <a:ea typeface="小塚ゴシック Pro B" panose="020B0800000000000000" pitchFamily="34" charset="-128"/>
                <a:cs typeface="Noto Sans JP"/>
                <a:sym typeface="Noto Sans JP"/>
              </a:rPr>
              <a:t>制作代行</a:t>
            </a:r>
            <a:r>
              <a:rPr lang="en-US" sz="1500" b="1" dirty="0" err="1">
                <a:solidFill>
                  <a:srgbClr val="FFFFFF"/>
                </a:solidFill>
                <a:latin typeface="小塚ゴシック Pro B" panose="020B0800000000000000" pitchFamily="34" charset="-128"/>
                <a:ea typeface="小塚ゴシック Pro B" panose="020B0800000000000000" pitchFamily="34" charset="-128"/>
                <a:cs typeface="Noto Sans JP"/>
                <a:sym typeface="Noto Sans JP"/>
              </a:rPr>
              <a:t>サービス</a:t>
            </a:r>
            <a:r>
              <a:rPr lang="en-US" sz="1500" b="1" i="0" u="none" strike="noStrike" cap="none" dirty="0" err="1">
                <a:solidFill>
                  <a:srgbClr val="FFFFFF"/>
                </a:solidFill>
                <a:latin typeface="小塚ゴシック Pro B" panose="020B0800000000000000" pitchFamily="34" charset="-128"/>
                <a:ea typeface="小塚ゴシック Pro B" panose="020B0800000000000000" pitchFamily="34" charset="-128"/>
                <a:cs typeface="Noto Sans JP"/>
                <a:sym typeface="Noto Sans JP"/>
              </a:rPr>
              <a:t>「カワリミ</a:t>
            </a:r>
            <a:r>
              <a:rPr lang="en-US" sz="1500" b="1" i="0" u="none" strike="noStrike" cap="none" dirty="0">
                <a:solidFill>
                  <a:srgbClr val="FFFFFF"/>
                </a:solidFill>
                <a:latin typeface="小塚ゴシック Pro B" panose="020B0800000000000000" pitchFamily="34" charset="-128"/>
                <a:ea typeface="小塚ゴシック Pro B" panose="020B0800000000000000" pitchFamily="34" charset="-128"/>
                <a:cs typeface="Noto Sans JP"/>
                <a:sym typeface="Noto Sans JP"/>
              </a:rPr>
              <a:t>」</a:t>
            </a:r>
            <a:endParaRPr dirty="0">
              <a:latin typeface="小塚ゴシック Pro B" panose="020B0800000000000000" pitchFamily="34" charset="-128"/>
              <a:ea typeface="小塚ゴシック Pro B" panose="020B0800000000000000" pitchFamily="34" charset="-128"/>
            </a:endParaRPr>
          </a:p>
        </p:txBody>
      </p:sp>
      <p:sp>
        <p:nvSpPr>
          <p:cNvPr id="232" name="Google Shape;232;p18"/>
          <p:cNvSpPr/>
          <p:nvPr/>
        </p:nvSpPr>
        <p:spPr>
          <a:xfrm>
            <a:off x="6248400" y="1750516"/>
            <a:ext cx="5172075" cy="638175"/>
          </a:xfrm>
          <a:prstGeom prst="rect">
            <a:avLst/>
          </a:prstGeom>
          <a:solidFill>
            <a:srgbClr val="C5A0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233" name="Google Shape;233;p18"/>
          <p:cNvSpPr txBox="1"/>
          <p:nvPr/>
        </p:nvSpPr>
        <p:spPr>
          <a:xfrm>
            <a:off x="6438900" y="1977544"/>
            <a:ext cx="4791000" cy="23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1" i="0" u="none" strike="noStrike" cap="none">
                <a:solidFill>
                  <a:srgbClr val="FFFFFF"/>
                </a:solidFill>
                <a:latin typeface="小塚ゴシック Pro B" panose="020B0800000000000000" pitchFamily="34" charset="-128"/>
                <a:ea typeface="小塚ゴシック Pro B" panose="020B0800000000000000" pitchFamily="34" charset="-128"/>
                <a:cs typeface="Noto Sans JP"/>
                <a:sym typeface="Noto Sans JP"/>
              </a:rPr>
              <a:t>集客顧問</a:t>
            </a:r>
            <a:r>
              <a:rPr lang="en-US" sz="1500" b="1">
                <a:solidFill>
                  <a:srgbClr val="FFFFFF"/>
                </a:solidFill>
                <a:latin typeface="小塚ゴシック Pro B" panose="020B0800000000000000" pitchFamily="34" charset="-128"/>
                <a:ea typeface="小塚ゴシック Pro B" panose="020B0800000000000000" pitchFamily="34" charset="-128"/>
                <a:cs typeface="Noto Sans JP"/>
                <a:sym typeface="Noto Sans JP"/>
              </a:rPr>
              <a:t>サービス</a:t>
            </a:r>
            <a:r>
              <a:rPr lang="en-US" sz="1500" b="1" i="0" u="none" strike="noStrike" cap="none">
                <a:solidFill>
                  <a:srgbClr val="FFFFFF"/>
                </a:solidFill>
                <a:latin typeface="小塚ゴシック Pro B" panose="020B0800000000000000" pitchFamily="34" charset="-128"/>
                <a:ea typeface="小塚ゴシック Pro B" panose="020B0800000000000000" pitchFamily="34" charset="-128"/>
                <a:cs typeface="Noto Sans JP"/>
                <a:sym typeface="Noto Sans JP"/>
              </a:rPr>
              <a:t>「ミチスジ」</a:t>
            </a:r>
            <a:endParaRPr>
              <a:latin typeface="小塚ゴシック Pro B" panose="020B0800000000000000" pitchFamily="34" charset="-128"/>
              <a:ea typeface="小塚ゴシック Pro B" panose="020B0800000000000000" pitchFamily="34" charset="-128"/>
            </a:endParaRPr>
          </a:p>
        </p:txBody>
      </p:sp>
      <p:sp>
        <p:nvSpPr>
          <p:cNvPr id="234" name="Google Shape;234;p18"/>
          <p:cNvSpPr txBox="1"/>
          <p:nvPr/>
        </p:nvSpPr>
        <p:spPr>
          <a:xfrm>
            <a:off x="1057275" y="2674441"/>
            <a:ext cx="4830600" cy="302519"/>
          </a:xfrm>
          <a:prstGeom prst="rect">
            <a:avLst/>
          </a:prstGeom>
          <a:noFill/>
          <a:ln>
            <a:noFill/>
          </a:ln>
        </p:spPr>
        <p:txBody>
          <a:bodyPr spcFirstLastPara="1" wrap="square" lIns="0" tIns="0" rIns="0" bIns="0" anchor="t" anchorCtr="0">
            <a:spAutoFit/>
          </a:bodyPr>
          <a:lstStyle/>
          <a:p>
            <a:pPr marL="0" marR="0" lvl="0" indent="0" algn="l" rtl="0">
              <a:lnSpc>
                <a:spcPct val="139957"/>
              </a:lnSpc>
              <a:spcBef>
                <a:spcPts val="0"/>
              </a:spcBef>
              <a:spcAft>
                <a:spcPts val="0"/>
              </a:spcAft>
              <a:buNone/>
            </a:pPr>
            <a:r>
              <a:rPr lang="en-US" sz="1404" b="1">
                <a:solidFill>
                  <a:srgbClr val="333333"/>
                </a:solidFill>
                <a:latin typeface="小塚ゴシック Pro B" panose="020B0800000000000000" pitchFamily="34" charset="-128"/>
                <a:ea typeface="小塚ゴシック Pro B" panose="020B0800000000000000" pitchFamily="34" charset="-128"/>
                <a:cs typeface="Noto Sans JP"/>
                <a:sym typeface="Noto Sans JP"/>
              </a:rPr>
              <a:t>制作の時間が作れない方向け</a:t>
            </a:r>
            <a:endParaRPr>
              <a:latin typeface="小塚ゴシック Pro B" panose="020B0800000000000000" pitchFamily="34" charset="-128"/>
              <a:ea typeface="小塚ゴシック Pro B" panose="020B0800000000000000" pitchFamily="34" charset="-128"/>
            </a:endParaRPr>
          </a:p>
        </p:txBody>
      </p:sp>
      <p:sp>
        <p:nvSpPr>
          <p:cNvPr id="235" name="Google Shape;235;p18"/>
          <p:cNvSpPr txBox="1"/>
          <p:nvPr/>
        </p:nvSpPr>
        <p:spPr>
          <a:xfrm>
            <a:off x="1057275" y="3066901"/>
            <a:ext cx="4600500" cy="5909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err="1">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法規制を守る「守り」と売れる「攻め」の</a:t>
            </a:r>
            <a:r>
              <a:rPr lang="en-US" sz="1200" dirty="0" err="1">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広告作りを</a:t>
            </a:r>
            <a:r>
              <a:rPr lang="en-US" sz="1200" b="0" i="0" u="none" strike="noStrike" cap="none" dirty="0" err="1">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私が代行し、手間をかけずに成果だけを受け取れる環境を提供します</a:t>
            </a:r>
            <a:r>
              <a:rPr lang="en-US" sz="1200" b="0" i="0" u="none" strike="noStrike" cap="none" dirty="0">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a:t>
            </a:r>
            <a:endParaRPr dirty="0">
              <a:latin typeface="小塚ゴシック Pro M" panose="020B0700000000000000" pitchFamily="34" charset="-128"/>
              <a:ea typeface="小塚ゴシック Pro M" panose="020B0700000000000000" pitchFamily="34" charset="-128"/>
            </a:endParaRPr>
          </a:p>
        </p:txBody>
      </p:sp>
      <p:sp>
        <p:nvSpPr>
          <p:cNvPr id="236" name="Google Shape;236;p18"/>
          <p:cNvSpPr/>
          <p:nvPr/>
        </p:nvSpPr>
        <p:spPr>
          <a:xfrm>
            <a:off x="1057275" y="3744962"/>
            <a:ext cx="4600575"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237" name="Google Shape;237;p18"/>
          <p:cNvSpPr txBox="1"/>
          <p:nvPr/>
        </p:nvSpPr>
        <p:spPr>
          <a:xfrm>
            <a:off x="6534150" y="2674441"/>
            <a:ext cx="4830600" cy="302519"/>
          </a:xfrm>
          <a:prstGeom prst="rect">
            <a:avLst/>
          </a:prstGeom>
          <a:noFill/>
          <a:ln>
            <a:noFill/>
          </a:ln>
        </p:spPr>
        <p:txBody>
          <a:bodyPr spcFirstLastPara="1" wrap="square" lIns="0" tIns="0" rIns="0" bIns="0" anchor="t" anchorCtr="0">
            <a:spAutoFit/>
          </a:bodyPr>
          <a:lstStyle/>
          <a:p>
            <a:pPr marL="0" marR="0" lvl="0" indent="0" algn="l" rtl="0">
              <a:lnSpc>
                <a:spcPct val="139957"/>
              </a:lnSpc>
              <a:spcBef>
                <a:spcPts val="0"/>
              </a:spcBef>
              <a:spcAft>
                <a:spcPts val="0"/>
              </a:spcAft>
              <a:buNone/>
            </a:pPr>
            <a:r>
              <a:rPr lang="en-US" sz="1404" b="1">
                <a:solidFill>
                  <a:srgbClr val="333333"/>
                </a:solidFill>
                <a:latin typeface="小塚ゴシック Pro B" panose="020B0800000000000000" pitchFamily="34" charset="-128"/>
                <a:ea typeface="小塚ゴシック Pro B" panose="020B0800000000000000" pitchFamily="34" charset="-128"/>
                <a:cs typeface="Noto Sans JP"/>
                <a:sym typeface="Noto Sans JP"/>
              </a:rPr>
              <a:t>何から手をつけるべきか迷っている方向け</a:t>
            </a:r>
            <a:endParaRPr>
              <a:latin typeface="小塚ゴシック Pro B" panose="020B0800000000000000" pitchFamily="34" charset="-128"/>
              <a:ea typeface="小塚ゴシック Pro B" panose="020B0800000000000000" pitchFamily="34" charset="-128"/>
            </a:endParaRPr>
          </a:p>
        </p:txBody>
      </p:sp>
      <p:sp>
        <p:nvSpPr>
          <p:cNvPr id="238" name="Google Shape;238;p18"/>
          <p:cNvSpPr txBox="1"/>
          <p:nvPr/>
        </p:nvSpPr>
        <p:spPr>
          <a:xfrm>
            <a:off x="6534150" y="3066901"/>
            <a:ext cx="4600575" cy="5909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err="1">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現在の集客施策が合っているかを客観的に診断し、成果が出ない</a:t>
            </a:r>
            <a:endParaRPr lang="en-US" sz="1200" b="0" i="0" u="none" strike="noStrike" cap="none" dirty="0">
              <a:solidFill>
                <a:srgbClr val="666666"/>
              </a:solidFill>
              <a:latin typeface="小塚ゴシック Pro M" panose="020B0700000000000000" pitchFamily="34" charset="-128"/>
              <a:ea typeface="小塚ゴシック Pro M" panose="020B0700000000000000" pitchFamily="34" charset="-128"/>
              <a:cs typeface="Noto Sans JP"/>
              <a:sym typeface="Noto Sans JP"/>
            </a:endParaRPr>
          </a:p>
          <a:p>
            <a:pPr marL="0" marR="0" lvl="0" indent="0" algn="l" rtl="0">
              <a:lnSpc>
                <a:spcPct val="160000"/>
              </a:lnSpc>
              <a:spcBef>
                <a:spcPts val="0"/>
              </a:spcBef>
              <a:spcAft>
                <a:spcPts val="0"/>
              </a:spcAft>
              <a:buNone/>
            </a:pPr>
            <a:r>
              <a:rPr lang="en-US" sz="1200" b="0" i="0" u="none" strike="noStrike" cap="none" dirty="0">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a:t>
            </a:r>
            <a:r>
              <a:rPr lang="en-US" sz="1200" b="0" i="0" u="none" strike="noStrike" cap="none" dirty="0" err="1">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原因」の解明と、正解の道筋を提示します</a:t>
            </a:r>
            <a:r>
              <a:rPr lang="en-US" sz="1200" b="0" i="0" u="none" strike="noStrike" cap="none" dirty="0">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a:t>
            </a:r>
            <a:endParaRPr dirty="0">
              <a:latin typeface="小塚ゴシック Pro M" panose="020B0700000000000000" pitchFamily="34" charset="-128"/>
              <a:ea typeface="小塚ゴシック Pro M" panose="020B0700000000000000" pitchFamily="34" charset="-128"/>
            </a:endParaRPr>
          </a:p>
        </p:txBody>
      </p:sp>
      <p:sp>
        <p:nvSpPr>
          <p:cNvPr id="239" name="Google Shape;239;p18"/>
          <p:cNvSpPr/>
          <p:nvPr/>
        </p:nvSpPr>
        <p:spPr>
          <a:xfrm>
            <a:off x="6534150" y="3744962"/>
            <a:ext cx="4600575"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240" name="Google Shape;240;p18"/>
          <p:cNvSpPr txBox="1"/>
          <p:nvPr/>
        </p:nvSpPr>
        <p:spPr>
          <a:xfrm>
            <a:off x="1676400" y="3944987"/>
            <a:ext cx="398145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LP・HP制作 / ライティング</a:t>
            </a:r>
            <a:endParaRPr>
              <a:latin typeface="小塚ゴシック Pro M" panose="020B0700000000000000" pitchFamily="34" charset="-128"/>
              <a:ea typeface="小塚ゴシック Pro M" panose="020B0700000000000000" pitchFamily="34" charset="-128"/>
            </a:endParaRPr>
          </a:p>
        </p:txBody>
      </p:sp>
      <p:sp>
        <p:nvSpPr>
          <p:cNvPr id="241" name="Google Shape;241;p18"/>
          <p:cNvSpPr txBox="1"/>
          <p:nvPr/>
        </p:nvSpPr>
        <p:spPr>
          <a:xfrm>
            <a:off x="1676400" y="4240262"/>
            <a:ext cx="398145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LINE構築・運用 / Meta広告運用</a:t>
            </a:r>
            <a:endParaRPr>
              <a:latin typeface="小塚ゴシック Pro M" panose="020B0700000000000000" pitchFamily="34" charset="-128"/>
              <a:ea typeface="小塚ゴシック Pro M" panose="020B0700000000000000" pitchFamily="34" charset="-128"/>
            </a:endParaRPr>
          </a:p>
        </p:txBody>
      </p:sp>
      <p:sp>
        <p:nvSpPr>
          <p:cNvPr id="242" name="Google Shape;242;p18"/>
          <p:cNvSpPr txBox="1"/>
          <p:nvPr/>
        </p:nvSpPr>
        <p:spPr>
          <a:xfrm>
            <a:off x="1676400" y="4535537"/>
            <a:ext cx="398145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チラシ・パンフレット制作</a:t>
            </a:r>
            <a:endParaRPr>
              <a:latin typeface="小塚ゴシック Pro M" panose="020B0700000000000000" pitchFamily="34" charset="-128"/>
              <a:ea typeface="小塚ゴシック Pro M" panose="020B0700000000000000" pitchFamily="34" charset="-128"/>
            </a:endParaRPr>
          </a:p>
        </p:txBody>
      </p:sp>
      <p:sp>
        <p:nvSpPr>
          <p:cNvPr id="243" name="Google Shape;243;p18"/>
          <p:cNvSpPr txBox="1"/>
          <p:nvPr/>
        </p:nvSpPr>
        <p:spPr>
          <a:xfrm>
            <a:off x="7153275" y="3944987"/>
            <a:ext cx="398145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月最大4時間のZoom相談</a:t>
            </a:r>
            <a:endParaRPr>
              <a:latin typeface="小塚ゴシック Pro M" panose="020B0700000000000000" pitchFamily="34" charset="-128"/>
              <a:ea typeface="小塚ゴシック Pro M" panose="020B0700000000000000" pitchFamily="34" charset="-128"/>
            </a:endParaRPr>
          </a:p>
        </p:txBody>
      </p:sp>
      <p:sp>
        <p:nvSpPr>
          <p:cNvPr id="244" name="Google Shape;244;p18"/>
          <p:cNvSpPr txBox="1"/>
          <p:nvPr/>
        </p:nvSpPr>
        <p:spPr>
          <a:xfrm>
            <a:off x="7153275" y="4240262"/>
            <a:ext cx="398145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制作物への添削・アドバイス</a:t>
            </a:r>
            <a:endParaRPr>
              <a:latin typeface="小塚ゴシック Pro M" panose="020B0700000000000000" pitchFamily="34" charset="-128"/>
              <a:ea typeface="小塚ゴシック Pro M" panose="020B0700000000000000" pitchFamily="34" charset="-128"/>
            </a:endParaRPr>
          </a:p>
        </p:txBody>
      </p:sp>
      <p:sp>
        <p:nvSpPr>
          <p:cNvPr id="245" name="Google Shape;245;p18"/>
          <p:cNvSpPr txBox="1"/>
          <p:nvPr/>
        </p:nvSpPr>
        <p:spPr>
          <a:xfrm>
            <a:off x="7153275" y="4535537"/>
            <a:ext cx="398145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集客施策の分析・改善提案</a:t>
            </a:r>
            <a:endParaRPr>
              <a:latin typeface="小塚ゴシック Pro M" panose="020B0700000000000000" pitchFamily="34" charset="-128"/>
              <a:ea typeface="小塚ゴシック Pro M" panose="020B0700000000000000" pitchFamily="34" charset="-128"/>
            </a:endParaRPr>
          </a:p>
        </p:txBody>
      </p:sp>
      <p:sp>
        <p:nvSpPr>
          <p:cNvPr id="246" name="Google Shape;246;p18"/>
          <p:cNvSpPr txBox="1"/>
          <p:nvPr/>
        </p:nvSpPr>
        <p:spPr>
          <a:xfrm>
            <a:off x="1438275" y="3944987"/>
            <a:ext cx="13335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a:t>
            </a:r>
            <a:endParaRPr>
              <a:latin typeface="小塚ゴシック Pro B" panose="020B0800000000000000" pitchFamily="34" charset="-128"/>
              <a:ea typeface="小塚ゴシック Pro B" panose="020B0800000000000000" pitchFamily="34" charset="-128"/>
            </a:endParaRPr>
          </a:p>
        </p:txBody>
      </p:sp>
      <p:sp>
        <p:nvSpPr>
          <p:cNvPr id="247" name="Google Shape;247;p18"/>
          <p:cNvSpPr txBox="1"/>
          <p:nvPr/>
        </p:nvSpPr>
        <p:spPr>
          <a:xfrm>
            <a:off x="1438275" y="4240262"/>
            <a:ext cx="13335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a:t>
            </a:r>
            <a:endParaRPr>
              <a:latin typeface="小塚ゴシック Pro B" panose="020B0800000000000000" pitchFamily="34" charset="-128"/>
              <a:ea typeface="小塚ゴシック Pro B" panose="020B0800000000000000" pitchFamily="34" charset="-128"/>
            </a:endParaRPr>
          </a:p>
        </p:txBody>
      </p:sp>
      <p:sp>
        <p:nvSpPr>
          <p:cNvPr id="248" name="Google Shape;248;p18"/>
          <p:cNvSpPr txBox="1"/>
          <p:nvPr/>
        </p:nvSpPr>
        <p:spPr>
          <a:xfrm>
            <a:off x="1438275" y="4535537"/>
            <a:ext cx="13335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a:t>
            </a:r>
            <a:endParaRPr>
              <a:latin typeface="小塚ゴシック Pro B" panose="020B0800000000000000" pitchFamily="34" charset="-128"/>
              <a:ea typeface="小塚ゴシック Pro B" panose="020B0800000000000000" pitchFamily="34" charset="-128"/>
            </a:endParaRPr>
          </a:p>
        </p:txBody>
      </p:sp>
      <p:sp>
        <p:nvSpPr>
          <p:cNvPr id="249" name="Google Shape;249;p18"/>
          <p:cNvSpPr txBox="1"/>
          <p:nvPr/>
        </p:nvSpPr>
        <p:spPr>
          <a:xfrm>
            <a:off x="6915150" y="3944987"/>
            <a:ext cx="13335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a:t>
            </a:r>
            <a:endParaRPr>
              <a:latin typeface="小塚ゴシック Pro B" panose="020B0800000000000000" pitchFamily="34" charset="-128"/>
              <a:ea typeface="小塚ゴシック Pro B" panose="020B0800000000000000" pitchFamily="34" charset="-128"/>
            </a:endParaRPr>
          </a:p>
        </p:txBody>
      </p:sp>
      <p:sp>
        <p:nvSpPr>
          <p:cNvPr id="250" name="Google Shape;250;p18"/>
          <p:cNvSpPr txBox="1"/>
          <p:nvPr/>
        </p:nvSpPr>
        <p:spPr>
          <a:xfrm>
            <a:off x="6915150" y="4240262"/>
            <a:ext cx="13335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a:t>
            </a:r>
            <a:endParaRPr>
              <a:latin typeface="小塚ゴシック Pro B" panose="020B0800000000000000" pitchFamily="34" charset="-128"/>
              <a:ea typeface="小塚ゴシック Pro B" panose="020B0800000000000000" pitchFamily="34" charset="-128"/>
            </a:endParaRPr>
          </a:p>
        </p:txBody>
      </p:sp>
      <p:sp>
        <p:nvSpPr>
          <p:cNvPr id="251" name="Google Shape;251;p18"/>
          <p:cNvSpPr txBox="1"/>
          <p:nvPr/>
        </p:nvSpPr>
        <p:spPr>
          <a:xfrm>
            <a:off x="6915150" y="4535537"/>
            <a:ext cx="13335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a:t>
            </a:r>
            <a:endParaRPr>
              <a:latin typeface="小塚ゴシック Pro B" panose="020B0800000000000000" pitchFamily="34" charset="-128"/>
              <a:ea typeface="小塚ゴシック Pro B" panose="020B0800000000000000" pitchFamily="34" charset="-128"/>
            </a:endParaRPr>
          </a:p>
        </p:txBody>
      </p:sp>
      <p:sp>
        <p:nvSpPr>
          <p:cNvPr id="3" name="スライド番号プレースホルダー 14">
            <a:extLst>
              <a:ext uri="{FF2B5EF4-FFF2-40B4-BE49-F238E27FC236}">
                <a16:creationId xmlns:a16="http://schemas.microsoft.com/office/drawing/2014/main" id="{E69C2260-09E3-CA37-82BE-D470021C3796}"/>
              </a:ext>
            </a:extLst>
          </p:cNvPr>
          <p:cNvSpPr txBox="1">
            <a:spLocks/>
          </p:cNvSpPr>
          <p:nvPr/>
        </p:nvSpPr>
        <p:spPr>
          <a:xfrm>
            <a:off x="8789549" y="6420836"/>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4B6131FB-BBC3-4224-AAE6-4E406EC349F0}" type="slidenum">
              <a:rPr kumimoji="1" lang="ja-JP" altLang="en-US" b="1" smtClean="0">
                <a:solidFill>
                  <a:srgbClr val="2C2C2C"/>
                </a:solidFill>
                <a:latin typeface="小塚ゴシック Pro B" panose="020B0800000000000000" pitchFamily="34" charset="-128"/>
                <a:ea typeface="小塚ゴシック Pro B" panose="020B0800000000000000" pitchFamily="34" charset="-128"/>
              </a:rPr>
              <a:pPr algn="r"/>
              <a:t>5</a:t>
            </a:fld>
            <a:endParaRPr kumimoji="1" lang="ja-JP" altLang="en-US" b="1" dirty="0">
              <a:solidFill>
                <a:srgbClr val="2C2C2C"/>
              </a:solidFill>
              <a:latin typeface="小塚ゴシック Pro B" panose="020B0800000000000000" pitchFamily="34" charset="-128"/>
              <a:ea typeface="小塚ゴシック Pro B" panose="020B0800000000000000" pitchFamily="34" charset="-128"/>
            </a:endParaRPr>
          </a:p>
        </p:txBody>
      </p:sp>
      <p:pic>
        <p:nvPicPr>
          <p:cNvPr id="11" name="図 10" descr="ロゴ&#10;&#10;AI 生成コンテンツは誤りを含む可能性があります。">
            <a:extLst>
              <a:ext uri="{FF2B5EF4-FFF2-40B4-BE49-F238E27FC236}">
                <a16:creationId xmlns:a16="http://schemas.microsoft.com/office/drawing/2014/main" id="{94078B1F-EE8B-F0F3-B2C5-382B65F36109}"/>
              </a:ext>
            </a:extLst>
          </p:cNvPr>
          <p:cNvPicPr>
            <a:picLocks noChangeAspect="1"/>
          </p:cNvPicPr>
          <p:nvPr/>
        </p:nvPicPr>
        <p:blipFill>
          <a:blip r:embed="rId7"/>
          <a:stretch>
            <a:fillRect/>
          </a:stretch>
        </p:blipFill>
        <p:spPr>
          <a:xfrm>
            <a:off x="4627055" y="1294149"/>
            <a:ext cx="1384508" cy="1384508"/>
          </a:xfrm>
          <a:prstGeom prst="rect">
            <a:avLst/>
          </a:prstGeom>
        </p:spPr>
      </p:pic>
      <p:pic>
        <p:nvPicPr>
          <p:cNvPr id="13" name="図 12" descr="ロゴ&#10;&#10;AI 生成コンテンツは誤りを含む可能性があります。">
            <a:extLst>
              <a:ext uri="{FF2B5EF4-FFF2-40B4-BE49-F238E27FC236}">
                <a16:creationId xmlns:a16="http://schemas.microsoft.com/office/drawing/2014/main" id="{02AD27FB-1791-AAB2-837A-7BBCED27FD32}"/>
              </a:ext>
            </a:extLst>
          </p:cNvPr>
          <p:cNvPicPr>
            <a:picLocks noChangeAspect="1"/>
          </p:cNvPicPr>
          <p:nvPr/>
        </p:nvPicPr>
        <p:blipFill>
          <a:blip r:embed="rId8"/>
          <a:stretch>
            <a:fillRect/>
          </a:stretch>
        </p:blipFill>
        <p:spPr>
          <a:xfrm>
            <a:off x="10135647" y="1295126"/>
            <a:ext cx="1303878" cy="1303878"/>
          </a:xfrm>
          <a:prstGeom prst="rect">
            <a:avLst/>
          </a:prstGeom>
        </p:spPr>
      </p:pic>
      <p:sp>
        <p:nvSpPr>
          <p:cNvPr id="4" name="Google Shape;633;p30">
            <a:extLst>
              <a:ext uri="{FF2B5EF4-FFF2-40B4-BE49-F238E27FC236}">
                <a16:creationId xmlns:a16="http://schemas.microsoft.com/office/drawing/2014/main" id="{F1D4F382-9F80-DA6E-2CDA-4B7BD742553B}"/>
              </a:ext>
            </a:extLst>
          </p:cNvPr>
          <p:cNvSpPr txBox="1"/>
          <p:nvPr/>
        </p:nvSpPr>
        <p:spPr>
          <a:xfrm>
            <a:off x="1057266" y="5657119"/>
            <a:ext cx="4600509"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dirty="0">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※30秒のスピーチ原稿の場合。LP制作は100,000円〜。</a:t>
            </a:r>
            <a:endParaRPr dirty="0">
              <a:latin typeface="小塚ゴシック Pro M" panose="020B0700000000000000" pitchFamily="34" charset="-128"/>
              <a:ea typeface="小塚ゴシック Pro M" panose="020B0700000000000000" pitchFamily="34" charset="-128"/>
            </a:endParaRPr>
          </a:p>
        </p:txBody>
      </p:sp>
      <p:sp>
        <p:nvSpPr>
          <p:cNvPr id="5" name="Google Shape;234;p18">
            <a:extLst>
              <a:ext uri="{FF2B5EF4-FFF2-40B4-BE49-F238E27FC236}">
                <a16:creationId xmlns:a16="http://schemas.microsoft.com/office/drawing/2014/main" id="{D3616421-EB6D-9D9B-9F76-7BB105FAFB58}"/>
              </a:ext>
            </a:extLst>
          </p:cNvPr>
          <p:cNvSpPr txBox="1"/>
          <p:nvPr/>
        </p:nvSpPr>
        <p:spPr>
          <a:xfrm>
            <a:off x="1057266" y="5068850"/>
            <a:ext cx="1462523" cy="603242"/>
          </a:xfrm>
          <a:prstGeom prst="rect">
            <a:avLst/>
          </a:prstGeom>
          <a:noFill/>
          <a:ln>
            <a:noFill/>
          </a:ln>
        </p:spPr>
        <p:txBody>
          <a:bodyPr spcFirstLastPara="1" wrap="square" lIns="0" tIns="0" rIns="0" bIns="0" anchor="t" anchorCtr="0">
            <a:spAutoFit/>
          </a:bodyPr>
          <a:lstStyle/>
          <a:p>
            <a:pPr lvl="0">
              <a:lnSpc>
                <a:spcPct val="139957"/>
              </a:lnSpc>
            </a:pPr>
            <a:r>
              <a:rPr lang="ja-JP" altLang="en-US" sz="2800" b="1" dirty="0">
                <a:solidFill>
                  <a:srgbClr val="333333"/>
                </a:solidFill>
                <a:latin typeface="小塚ゴシック Pro B" panose="020B0800000000000000" pitchFamily="34" charset="-128"/>
                <a:ea typeface="小塚ゴシック Pro B" panose="020B0800000000000000" pitchFamily="34" charset="-128"/>
                <a:cs typeface="Noto Sans JP"/>
                <a:sym typeface="Noto Sans JP"/>
              </a:rPr>
              <a:t>料金：</a:t>
            </a:r>
            <a:endParaRPr sz="2800" dirty="0">
              <a:latin typeface="小塚ゴシック Pro B" panose="020B0800000000000000" pitchFamily="34" charset="-128"/>
              <a:ea typeface="小塚ゴシック Pro B" panose="020B0800000000000000" pitchFamily="34" charset="-128"/>
            </a:endParaRPr>
          </a:p>
        </p:txBody>
      </p:sp>
      <p:sp>
        <p:nvSpPr>
          <p:cNvPr id="6" name="Google Shape;236;p18">
            <a:extLst>
              <a:ext uri="{FF2B5EF4-FFF2-40B4-BE49-F238E27FC236}">
                <a16:creationId xmlns:a16="http://schemas.microsoft.com/office/drawing/2014/main" id="{5FD57E0D-5ABE-4DAD-9E2B-540BA33A8C5A}"/>
              </a:ext>
            </a:extLst>
          </p:cNvPr>
          <p:cNvSpPr/>
          <p:nvPr/>
        </p:nvSpPr>
        <p:spPr>
          <a:xfrm>
            <a:off x="1057275" y="5601717"/>
            <a:ext cx="4600575" cy="9525"/>
          </a:xfrm>
          <a:prstGeom prst="rect">
            <a:avLst/>
          </a:prstGeom>
          <a:solidFill>
            <a:srgbClr val="DAC39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7" name="Google Shape;235;p18">
            <a:extLst>
              <a:ext uri="{FF2B5EF4-FFF2-40B4-BE49-F238E27FC236}">
                <a16:creationId xmlns:a16="http://schemas.microsoft.com/office/drawing/2014/main" id="{4650A11F-EB34-A92B-5EFF-E3F850B34E0C}"/>
              </a:ext>
            </a:extLst>
          </p:cNvPr>
          <p:cNvSpPr txBox="1"/>
          <p:nvPr/>
        </p:nvSpPr>
        <p:spPr>
          <a:xfrm>
            <a:off x="2436645" y="4987414"/>
            <a:ext cx="1966954" cy="68942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ja-JP" altLang="en-US" sz="2800" b="0" i="0" u="none" strike="noStrike" cap="none" dirty="0">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単発</a:t>
            </a:r>
            <a:endParaRPr sz="2800" dirty="0">
              <a:latin typeface="小塚ゴシック Pro M" panose="020B0700000000000000" pitchFamily="34" charset="-128"/>
              <a:ea typeface="小塚ゴシック Pro M" panose="020B0700000000000000" pitchFamily="34" charset="-128"/>
            </a:endParaRPr>
          </a:p>
        </p:txBody>
      </p:sp>
      <p:sp>
        <p:nvSpPr>
          <p:cNvPr id="8" name="Google Shape;235;p18">
            <a:extLst>
              <a:ext uri="{FF2B5EF4-FFF2-40B4-BE49-F238E27FC236}">
                <a16:creationId xmlns:a16="http://schemas.microsoft.com/office/drawing/2014/main" id="{989708A4-D1B1-8156-D303-8F6D0B487507}"/>
              </a:ext>
            </a:extLst>
          </p:cNvPr>
          <p:cNvSpPr txBox="1"/>
          <p:nvPr/>
        </p:nvSpPr>
        <p:spPr>
          <a:xfrm>
            <a:off x="3250000" y="4639464"/>
            <a:ext cx="2650000" cy="132959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altLang="ja-JP" sz="3400" b="0" i="0" u="none" strike="noStrike" cap="none" dirty="0">
                <a:solidFill>
                  <a:srgbClr val="C5A059"/>
                </a:solidFill>
                <a:latin typeface="小塚ゴシック Pro M" panose="020B0700000000000000" pitchFamily="34" charset="-128"/>
                <a:ea typeface="小塚ゴシック Pro M" panose="020B0700000000000000" pitchFamily="34" charset="-128"/>
                <a:cs typeface="Noto Sans JP"/>
                <a:sym typeface="Noto Sans JP"/>
              </a:rPr>
              <a:t>5,000円〜</a:t>
            </a:r>
            <a:endParaRPr sz="5400" dirty="0">
              <a:solidFill>
                <a:srgbClr val="C5A059"/>
              </a:solidFill>
              <a:latin typeface="小塚ゴシック Pro M" panose="020B0700000000000000" pitchFamily="34" charset="-128"/>
              <a:ea typeface="小塚ゴシック Pro M" panose="020B0700000000000000" pitchFamily="34" charset="-128"/>
            </a:endParaRPr>
          </a:p>
        </p:txBody>
      </p:sp>
      <p:sp>
        <p:nvSpPr>
          <p:cNvPr id="10" name="Google Shape;633;p30">
            <a:extLst>
              <a:ext uri="{FF2B5EF4-FFF2-40B4-BE49-F238E27FC236}">
                <a16:creationId xmlns:a16="http://schemas.microsoft.com/office/drawing/2014/main" id="{FEE06F82-ACD6-920F-4451-663AE6CCAC11}"/>
              </a:ext>
            </a:extLst>
          </p:cNvPr>
          <p:cNvSpPr txBox="1"/>
          <p:nvPr/>
        </p:nvSpPr>
        <p:spPr>
          <a:xfrm>
            <a:off x="6534137" y="5657119"/>
            <a:ext cx="3601510" cy="184666"/>
          </a:xfrm>
          <a:prstGeom prst="rect">
            <a:avLst/>
          </a:prstGeom>
          <a:noFill/>
          <a:ln>
            <a:noFill/>
          </a:ln>
        </p:spPr>
        <p:txBody>
          <a:bodyPr spcFirstLastPara="1" wrap="square" lIns="0" tIns="0" rIns="0" bIns="0" anchor="t" anchorCtr="0">
            <a:spAutoFit/>
          </a:bodyPr>
          <a:lstStyle/>
          <a:p>
            <a:pPr lvl="0">
              <a:buClr>
                <a:schemeClr val="dk1"/>
              </a:buClr>
            </a:pPr>
            <a:r>
              <a:rPr lang="en-US" altLang="ja-JP" sz="1200" dirty="0">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※月4時間まで。追加タスクは別途お見積り。</a:t>
            </a:r>
            <a:endParaRPr lang="ja-JP" altLang="en-US" sz="1200" dirty="0">
              <a:solidFill>
                <a:srgbClr val="C5A059"/>
              </a:solidFill>
              <a:latin typeface="小塚ゴシック Pro M" panose="020B0700000000000000" pitchFamily="34" charset="-128"/>
              <a:ea typeface="小塚ゴシック Pro M" panose="020B0700000000000000" pitchFamily="34" charset="-128"/>
              <a:cs typeface="Noto Sans JP"/>
              <a:sym typeface="Noto Sans JP"/>
            </a:endParaRPr>
          </a:p>
        </p:txBody>
      </p:sp>
      <p:sp>
        <p:nvSpPr>
          <p:cNvPr id="12" name="Google Shape;234;p18">
            <a:extLst>
              <a:ext uri="{FF2B5EF4-FFF2-40B4-BE49-F238E27FC236}">
                <a16:creationId xmlns:a16="http://schemas.microsoft.com/office/drawing/2014/main" id="{9ED0450F-C7E6-0A74-8E96-889E8E817CBE}"/>
              </a:ext>
            </a:extLst>
          </p:cNvPr>
          <p:cNvSpPr txBox="1"/>
          <p:nvPr/>
        </p:nvSpPr>
        <p:spPr>
          <a:xfrm>
            <a:off x="6534137" y="5068850"/>
            <a:ext cx="1462523" cy="603242"/>
          </a:xfrm>
          <a:prstGeom prst="rect">
            <a:avLst/>
          </a:prstGeom>
          <a:noFill/>
          <a:ln>
            <a:noFill/>
          </a:ln>
        </p:spPr>
        <p:txBody>
          <a:bodyPr spcFirstLastPara="1" wrap="square" lIns="0" tIns="0" rIns="0" bIns="0" anchor="t" anchorCtr="0">
            <a:spAutoFit/>
          </a:bodyPr>
          <a:lstStyle/>
          <a:p>
            <a:pPr lvl="0">
              <a:lnSpc>
                <a:spcPct val="139957"/>
              </a:lnSpc>
            </a:pPr>
            <a:r>
              <a:rPr lang="ja-JP" altLang="en-US" sz="2800" b="1" dirty="0">
                <a:solidFill>
                  <a:srgbClr val="333333"/>
                </a:solidFill>
                <a:latin typeface="小塚ゴシック Pro B" panose="020B0800000000000000" pitchFamily="34" charset="-128"/>
                <a:ea typeface="小塚ゴシック Pro B" panose="020B0800000000000000" pitchFamily="34" charset="-128"/>
                <a:cs typeface="Noto Sans JP"/>
                <a:sym typeface="Noto Sans JP"/>
              </a:rPr>
              <a:t>料金：</a:t>
            </a:r>
            <a:endParaRPr sz="2800" dirty="0">
              <a:latin typeface="小塚ゴシック Pro B" panose="020B0800000000000000" pitchFamily="34" charset="-128"/>
              <a:ea typeface="小塚ゴシック Pro B" panose="020B0800000000000000" pitchFamily="34" charset="-128"/>
            </a:endParaRPr>
          </a:p>
        </p:txBody>
      </p:sp>
      <p:sp>
        <p:nvSpPr>
          <p:cNvPr id="14" name="Google Shape;235;p18">
            <a:extLst>
              <a:ext uri="{FF2B5EF4-FFF2-40B4-BE49-F238E27FC236}">
                <a16:creationId xmlns:a16="http://schemas.microsoft.com/office/drawing/2014/main" id="{9249C3C0-9B09-26F3-AB64-653857CBC8C3}"/>
              </a:ext>
            </a:extLst>
          </p:cNvPr>
          <p:cNvSpPr txBox="1"/>
          <p:nvPr/>
        </p:nvSpPr>
        <p:spPr>
          <a:xfrm>
            <a:off x="7913516" y="4987414"/>
            <a:ext cx="1966954" cy="68942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ja-JP" altLang="en-US" sz="2800" b="0" i="0" u="none" strike="noStrike" cap="none" dirty="0">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月額</a:t>
            </a:r>
            <a:endParaRPr sz="2800" dirty="0">
              <a:latin typeface="小塚ゴシック Pro M" panose="020B0700000000000000" pitchFamily="34" charset="-128"/>
              <a:ea typeface="小塚ゴシック Pro M" panose="020B0700000000000000" pitchFamily="34" charset="-128"/>
            </a:endParaRPr>
          </a:p>
        </p:txBody>
      </p:sp>
      <p:sp>
        <p:nvSpPr>
          <p:cNvPr id="15" name="Google Shape;235;p18">
            <a:extLst>
              <a:ext uri="{FF2B5EF4-FFF2-40B4-BE49-F238E27FC236}">
                <a16:creationId xmlns:a16="http://schemas.microsoft.com/office/drawing/2014/main" id="{60FC4DE6-D95D-0C5C-0622-D5B40FE3EE65}"/>
              </a:ext>
            </a:extLst>
          </p:cNvPr>
          <p:cNvSpPr txBox="1"/>
          <p:nvPr/>
        </p:nvSpPr>
        <p:spPr>
          <a:xfrm>
            <a:off x="8850000" y="4639464"/>
            <a:ext cx="2650000" cy="132959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altLang="ja-JP" sz="3400" b="0" i="0" u="none" strike="noStrike" cap="none" dirty="0">
                <a:solidFill>
                  <a:srgbClr val="C5A059"/>
                </a:solidFill>
                <a:latin typeface="小塚ゴシック Pro M" panose="020B0700000000000000" pitchFamily="34" charset="-128"/>
                <a:ea typeface="小塚ゴシック Pro M" panose="020B0700000000000000" pitchFamily="34" charset="-128"/>
                <a:cs typeface="Noto Sans JP"/>
                <a:sym typeface="Noto Sans JP"/>
              </a:rPr>
              <a:t>49,800円〜</a:t>
            </a:r>
            <a:endParaRPr sz="5400" dirty="0">
              <a:solidFill>
                <a:srgbClr val="C5A059"/>
              </a:solidFill>
              <a:latin typeface="小塚ゴシック Pro M" panose="020B0700000000000000" pitchFamily="34" charset="-128"/>
              <a:ea typeface="小塚ゴシック Pro M" panose="020B0700000000000000" pitchFamily="34" charset="-128"/>
            </a:endParaRPr>
          </a:p>
        </p:txBody>
      </p:sp>
      <p:sp>
        <p:nvSpPr>
          <p:cNvPr id="16" name="Google Shape;236;p18">
            <a:extLst>
              <a:ext uri="{FF2B5EF4-FFF2-40B4-BE49-F238E27FC236}">
                <a16:creationId xmlns:a16="http://schemas.microsoft.com/office/drawing/2014/main" id="{F65F2211-B049-B64A-2AE2-8E428E7E0B08}"/>
              </a:ext>
            </a:extLst>
          </p:cNvPr>
          <p:cNvSpPr/>
          <p:nvPr/>
        </p:nvSpPr>
        <p:spPr>
          <a:xfrm>
            <a:off x="6489678" y="5601717"/>
            <a:ext cx="4600575" cy="9525"/>
          </a:xfrm>
          <a:prstGeom prst="rect">
            <a:avLst/>
          </a:prstGeom>
          <a:solidFill>
            <a:srgbClr val="DAC39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3"/>
        <p:cNvGrpSpPr/>
        <p:nvPr/>
      </p:nvGrpSpPr>
      <p:grpSpPr>
        <a:xfrm>
          <a:off x="0" y="0"/>
          <a:ext cx="0" cy="0"/>
          <a:chOff x="0" y="0"/>
          <a:chExt cx="0" cy="0"/>
        </a:xfrm>
      </p:grpSpPr>
      <p:grpSp>
        <p:nvGrpSpPr>
          <p:cNvPr id="164" name="Google Shape;164;p16"/>
          <p:cNvGrpSpPr/>
          <p:nvPr/>
        </p:nvGrpSpPr>
        <p:grpSpPr>
          <a:xfrm>
            <a:off x="0" y="0"/>
            <a:ext cx="12643324" cy="6976048"/>
            <a:chOff x="0" y="0"/>
            <a:chExt cx="12643324" cy="6976048"/>
          </a:xfrm>
        </p:grpSpPr>
        <p:pic>
          <p:nvPicPr>
            <p:cNvPr id="165" name="Google Shape;165;p16"/>
            <p:cNvPicPr preferRelativeResize="0"/>
            <p:nvPr/>
          </p:nvPicPr>
          <p:blipFill>
            <a:blip r:embed="rId3">
              <a:alphaModFix/>
            </a:blip>
            <a:stretch>
              <a:fillRect/>
            </a:stretch>
          </p:blipFill>
          <p:spPr>
            <a:xfrm>
              <a:off x="0" y="0"/>
              <a:ext cx="12643315" cy="6976048"/>
            </a:xfrm>
            <a:prstGeom prst="rect">
              <a:avLst/>
            </a:prstGeom>
            <a:noFill/>
            <a:ln>
              <a:noFill/>
            </a:ln>
          </p:spPr>
        </p:pic>
        <p:pic>
          <p:nvPicPr>
            <p:cNvPr id="166" name="Google Shape;166;p16"/>
            <p:cNvPicPr preferRelativeResize="0"/>
            <p:nvPr/>
          </p:nvPicPr>
          <p:blipFill rotWithShape="1">
            <a:blip r:embed="rId3">
              <a:alphaModFix/>
            </a:blip>
            <a:srcRect l="88432" t="69407" b="11568"/>
            <a:stretch/>
          </p:blipFill>
          <p:spPr>
            <a:xfrm>
              <a:off x="11180801" y="5648888"/>
              <a:ext cx="1462523" cy="1327158"/>
            </a:xfrm>
            <a:prstGeom prst="rect">
              <a:avLst/>
            </a:prstGeom>
            <a:noFill/>
            <a:ln>
              <a:noFill/>
            </a:ln>
          </p:spPr>
        </p:pic>
      </p:grpSp>
      <p:pic>
        <p:nvPicPr>
          <p:cNvPr id="167" name="Google Shape;167;p16"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pic>
        <p:nvPicPr>
          <p:cNvPr id="168" name="Google Shape;168;p16" descr="image.png"/>
          <p:cNvPicPr preferRelativeResize="0"/>
          <p:nvPr/>
        </p:nvPicPr>
        <p:blipFill rotWithShape="1">
          <a:blip r:embed="rId5">
            <a:alphaModFix/>
          </a:blip>
          <a:srcRect/>
          <a:stretch/>
        </p:blipFill>
        <p:spPr>
          <a:xfrm>
            <a:off x="0" y="0"/>
            <a:ext cx="12192000" cy="142875"/>
          </a:xfrm>
          <a:prstGeom prst="rect">
            <a:avLst/>
          </a:prstGeom>
          <a:noFill/>
          <a:ln>
            <a:noFill/>
          </a:ln>
        </p:spPr>
      </p:pic>
      <p:sp>
        <p:nvSpPr>
          <p:cNvPr id="169" name="Google Shape;169;p16"/>
          <p:cNvSpPr txBox="1"/>
          <p:nvPr/>
        </p:nvSpPr>
        <p:spPr>
          <a:xfrm>
            <a:off x="762000" y="6534150"/>
            <a:ext cx="1651099"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99999"/>
                </a:solidFill>
                <a:latin typeface="Lato"/>
                <a:ea typeface="Lato"/>
                <a:cs typeface="Lato"/>
                <a:sym typeface="Lato"/>
              </a:rPr>
              <a:t>© U-Writing All Rights Reserved.</a:t>
            </a:r>
            <a:endParaRPr/>
          </a:p>
        </p:txBody>
      </p:sp>
      <p:sp>
        <p:nvSpPr>
          <p:cNvPr id="171" name="Google Shape;171;p16"/>
          <p:cNvSpPr txBox="1"/>
          <p:nvPr/>
        </p:nvSpPr>
        <p:spPr>
          <a:xfrm>
            <a:off x="762000" y="1387078"/>
            <a:ext cx="5181600"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a:solidFill>
                  <a:srgbClr val="C5A059"/>
                </a:solidFill>
                <a:latin typeface="小塚ゴシック Pro B" panose="020B0800000000000000" pitchFamily="34" charset="-128"/>
                <a:ea typeface="小塚ゴシック Pro B" panose="020B0800000000000000" pitchFamily="34" charset="-128"/>
                <a:cs typeface="Lato"/>
                <a:sym typeface="Lato"/>
              </a:rPr>
              <a:t>OUR STRENGTHS</a:t>
            </a:r>
            <a:endParaRPr>
              <a:latin typeface="小塚ゴシック Pro B" panose="020B0800000000000000" pitchFamily="34" charset="-128"/>
              <a:ea typeface="小塚ゴシック Pro B" panose="020B0800000000000000" pitchFamily="34" charset="-128"/>
            </a:endParaRPr>
          </a:p>
        </p:txBody>
      </p:sp>
      <p:sp>
        <p:nvSpPr>
          <p:cNvPr id="172" name="Google Shape;172;p16"/>
          <p:cNvSpPr txBox="1"/>
          <p:nvPr/>
        </p:nvSpPr>
        <p:spPr>
          <a:xfrm>
            <a:off x="762000" y="1695598"/>
            <a:ext cx="5440680" cy="581698"/>
          </a:xfrm>
          <a:prstGeom prst="rect">
            <a:avLst/>
          </a:prstGeom>
          <a:noFill/>
          <a:ln>
            <a:noFill/>
          </a:ln>
        </p:spPr>
        <p:txBody>
          <a:bodyPr spcFirstLastPara="1" wrap="square" lIns="0" tIns="0" rIns="0" bIns="0" anchor="t" anchorCtr="0">
            <a:spAutoFit/>
          </a:bodyPr>
          <a:lstStyle/>
          <a:p>
            <a:pPr marL="0" marR="0" lvl="0" indent="0" algn="l" rtl="0">
              <a:lnSpc>
                <a:spcPct val="139962"/>
              </a:lnSpc>
              <a:spcBef>
                <a:spcPts val="0"/>
              </a:spcBef>
              <a:spcAft>
                <a:spcPts val="0"/>
              </a:spcAft>
              <a:buNone/>
            </a:pPr>
            <a:r>
              <a:rPr lang="en-US" sz="27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U-ライティングが選ばれる理由</a:t>
            </a:r>
            <a:endParaRPr>
              <a:latin typeface="小塚ゴシック Pro B" panose="020B0800000000000000" pitchFamily="34" charset="-128"/>
              <a:ea typeface="小塚ゴシック Pro B" panose="020B0800000000000000" pitchFamily="34" charset="-128"/>
            </a:endParaRPr>
          </a:p>
        </p:txBody>
      </p:sp>
      <p:sp>
        <p:nvSpPr>
          <p:cNvPr id="173" name="Google Shape;173;p16"/>
          <p:cNvSpPr txBox="1"/>
          <p:nvPr/>
        </p:nvSpPr>
        <p:spPr>
          <a:xfrm>
            <a:off x="1000125" y="2794700"/>
            <a:ext cx="3194225" cy="387798"/>
          </a:xfrm>
          <a:prstGeom prst="rect">
            <a:avLst/>
          </a:prstGeom>
          <a:noFill/>
          <a:ln>
            <a:noFill/>
          </a:ln>
        </p:spPr>
        <p:txBody>
          <a:bodyPr spcFirstLastPara="1" wrap="square" lIns="0" tIns="0" rIns="0" bIns="0" anchor="t" anchorCtr="0">
            <a:spAutoFit/>
          </a:bodyPr>
          <a:lstStyle/>
          <a:p>
            <a:pPr marL="0" marR="0" lvl="0" indent="0" algn="l" rtl="0">
              <a:lnSpc>
                <a:spcPct val="139957"/>
              </a:lnSpc>
              <a:spcBef>
                <a:spcPts val="0"/>
              </a:spcBef>
              <a:spcAft>
                <a:spcPts val="0"/>
              </a:spcAft>
              <a:buNone/>
            </a:pPr>
            <a:r>
              <a:rPr lang="en-US" sz="18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❶ 守りと攻めの薬機法対応</a:t>
            </a:r>
            <a:endParaRPr sz="1800">
              <a:latin typeface="小塚ゴシック Pro B" panose="020B0800000000000000" pitchFamily="34" charset="-128"/>
              <a:ea typeface="小塚ゴシック Pro B" panose="020B0800000000000000" pitchFamily="34" charset="-128"/>
            </a:endParaRPr>
          </a:p>
        </p:txBody>
      </p:sp>
      <p:sp>
        <p:nvSpPr>
          <p:cNvPr id="174" name="Google Shape;174;p16"/>
          <p:cNvSpPr/>
          <p:nvPr/>
        </p:nvSpPr>
        <p:spPr>
          <a:xfrm>
            <a:off x="1000125" y="3531413"/>
            <a:ext cx="3194225" cy="17500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小塚ゴシック Pro B" panose="020B0800000000000000" pitchFamily="34" charset="-128"/>
              <a:ea typeface="小塚ゴシック Pro B" panose="020B0800000000000000" pitchFamily="34" charset="-128"/>
              <a:cs typeface="Calibri"/>
              <a:sym typeface="Calibri"/>
            </a:endParaRPr>
          </a:p>
        </p:txBody>
      </p:sp>
      <p:sp>
        <p:nvSpPr>
          <p:cNvPr id="175" name="Google Shape;175;p16"/>
          <p:cNvSpPr txBox="1"/>
          <p:nvPr/>
        </p:nvSpPr>
        <p:spPr>
          <a:xfrm>
            <a:off x="4494350" y="2811500"/>
            <a:ext cx="3194225" cy="387798"/>
          </a:xfrm>
          <a:prstGeom prst="rect">
            <a:avLst/>
          </a:prstGeom>
          <a:noFill/>
          <a:ln>
            <a:noFill/>
          </a:ln>
        </p:spPr>
        <p:txBody>
          <a:bodyPr spcFirstLastPara="1" wrap="square" lIns="0" tIns="0" rIns="0" bIns="0" anchor="t" anchorCtr="0">
            <a:spAutoFit/>
          </a:bodyPr>
          <a:lstStyle/>
          <a:p>
            <a:pPr marL="0" marR="0" lvl="0" indent="0" algn="l" rtl="0">
              <a:lnSpc>
                <a:spcPct val="139957"/>
              </a:lnSpc>
              <a:spcBef>
                <a:spcPts val="0"/>
              </a:spcBef>
              <a:spcAft>
                <a:spcPts val="0"/>
              </a:spcAft>
              <a:buNone/>
            </a:pPr>
            <a:r>
              <a:rPr lang="en-US" sz="18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❷ 集客の伴走支援</a:t>
            </a:r>
            <a:endParaRPr sz="1800">
              <a:latin typeface="小塚ゴシック Pro B" panose="020B0800000000000000" pitchFamily="34" charset="-128"/>
              <a:ea typeface="小塚ゴシック Pro B" panose="020B0800000000000000" pitchFamily="34" charset="-128"/>
            </a:endParaRPr>
          </a:p>
        </p:txBody>
      </p:sp>
      <p:sp>
        <p:nvSpPr>
          <p:cNvPr id="176" name="Google Shape;176;p16"/>
          <p:cNvSpPr/>
          <p:nvPr/>
        </p:nvSpPr>
        <p:spPr>
          <a:xfrm>
            <a:off x="1000125" y="3339525"/>
            <a:ext cx="3194225" cy="36600"/>
          </a:xfrm>
          <a:prstGeom prst="rect">
            <a:avLst/>
          </a:prstGeom>
          <a:solidFill>
            <a:srgbClr val="C5A0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177" name="Google Shape;177;p16"/>
          <p:cNvSpPr/>
          <p:nvPr/>
        </p:nvSpPr>
        <p:spPr>
          <a:xfrm>
            <a:off x="4494350" y="3339525"/>
            <a:ext cx="3194225" cy="36600"/>
          </a:xfrm>
          <a:prstGeom prst="rect">
            <a:avLst/>
          </a:prstGeom>
          <a:solidFill>
            <a:srgbClr val="C5A0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178" name="Google Shape;178;p16"/>
          <p:cNvSpPr/>
          <p:nvPr/>
        </p:nvSpPr>
        <p:spPr>
          <a:xfrm>
            <a:off x="4494350" y="3531413"/>
            <a:ext cx="3194225" cy="17500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小塚ゴシック Pro B" panose="020B0800000000000000" pitchFamily="34" charset="-128"/>
              <a:ea typeface="小塚ゴシック Pro B" panose="020B0800000000000000" pitchFamily="34" charset="-128"/>
              <a:cs typeface="Calibri"/>
              <a:sym typeface="Calibri"/>
            </a:endParaRPr>
          </a:p>
        </p:txBody>
      </p:sp>
      <p:sp>
        <p:nvSpPr>
          <p:cNvPr id="179" name="Google Shape;179;p16"/>
          <p:cNvSpPr txBox="1"/>
          <p:nvPr/>
        </p:nvSpPr>
        <p:spPr>
          <a:xfrm>
            <a:off x="1000125" y="3566269"/>
            <a:ext cx="3194225" cy="1300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美容・健康分野において、法律を守りながら「売れる」表現を作るのが得意です。リスクを回避しつつ、単なる言い換えではない「ベネフィット」</a:t>
            </a:r>
            <a:r>
              <a:rPr lang="en-US" sz="1200">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「体験」</a:t>
            </a:r>
            <a:r>
              <a:rPr lang="en-US" sz="1200" b="0" i="0" u="none" strike="noStrike" cap="none">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を</a:t>
            </a:r>
            <a:r>
              <a:rPr lang="en-US" sz="1200">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言語化</a:t>
            </a:r>
            <a:r>
              <a:rPr lang="en-US" sz="1200" b="0" i="0" u="none" strike="noStrike" cap="none">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し、競合と差別化します。</a:t>
            </a:r>
            <a:endParaRPr>
              <a:latin typeface="小塚ゴシック Pro M" panose="020B0700000000000000" pitchFamily="34" charset="-128"/>
              <a:ea typeface="小塚ゴシック Pro M" panose="020B0700000000000000" pitchFamily="34" charset="-128"/>
            </a:endParaRPr>
          </a:p>
        </p:txBody>
      </p:sp>
      <p:sp>
        <p:nvSpPr>
          <p:cNvPr id="180" name="Google Shape;180;p16"/>
          <p:cNvSpPr txBox="1"/>
          <p:nvPr/>
        </p:nvSpPr>
        <p:spPr>
          <a:xfrm>
            <a:off x="4494350" y="3556904"/>
            <a:ext cx="3194225" cy="1300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制作代行だけではありません。施策の立案から実行、効果検証まで一気通貫でサポート。単発の依頼ではなく、長期的なパートナーとして成果が出るまで並走します。</a:t>
            </a:r>
            <a:endParaRPr>
              <a:latin typeface="小塚ゴシック Pro M" panose="020B0700000000000000" pitchFamily="34" charset="-128"/>
              <a:ea typeface="小塚ゴシック Pro M" panose="020B0700000000000000" pitchFamily="34" charset="-128"/>
            </a:endParaRPr>
          </a:p>
        </p:txBody>
      </p:sp>
      <p:sp>
        <p:nvSpPr>
          <p:cNvPr id="2" name="スライド番号プレースホルダー 14">
            <a:extLst>
              <a:ext uri="{FF2B5EF4-FFF2-40B4-BE49-F238E27FC236}">
                <a16:creationId xmlns:a16="http://schemas.microsoft.com/office/drawing/2014/main" id="{2846CAE8-78CC-BC8C-2499-70AD56C5C972}"/>
              </a:ext>
            </a:extLst>
          </p:cNvPr>
          <p:cNvSpPr txBox="1">
            <a:spLocks/>
          </p:cNvSpPr>
          <p:nvPr/>
        </p:nvSpPr>
        <p:spPr>
          <a:xfrm>
            <a:off x="8789549" y="6420836"/>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4B6131FB-BBC3-4224-AAE6-4E406EC349F0}" type="slidenum">
              <a:rPr kumimoji="1" lang="ja-JP" altLang="en-US" b="1" smtClean="0">
                <a:solidFill>
                  <a:srgbClr val="2C2C2C"/>
                </a:solidFill>
                <a:latin typeface="小塚ゴシック Pro B" panose="020B0800000000000000" pitchFamily="34" charset="-128"/>
                <a:ea typeface="小塚ゴシック Pro B" panose="020B0800000000000000" pitchFamily="34" charset="-128"/>
              </a:rPr>
              <a:pPr algn="r"/>
              <a:t>6</a:t>
            </a:fld>
            <a:endParaRPr kumimoji="1" lang="ja-JP" altLang="en-US" b="1" dirty="0">
              <a:solidFill>
                <a:srgbClr val="2C2C2C"/>
              </a:solidFill>
              <a:latin typeface="小塚ゴシック Pro B" panose="020B0800000000000000" pitchFamily="34" charset="-128"/>
              <a:ea typeface="小塚ゴシック Pro B" panose="020B0800000000000000" pitchFamily="34" charset="-128"/>
            </a:endParaRPr>
          </a:p>
        </p:txBody>
      </p:sp>
      <p:sp>
        <p:nvSpPr>
          <p:cNvPr id="175" name="Google Shape;175;p16"/>
          <p:cNvSpPr txBox="1"/>
          <p:nvPr/>
        </p:nvSpPr>
        <p:spPr>
          <a:xfrm>
            <a:off x="7988575" y="2811500"/>
            <a:ext cx="3194225" cy="387798"/>
          </a:xfrm>
          <a:prstGeom prst="rect">
            <a:avLst/>
          </a:prstGeom>
          <a:noFill/>
          <a:ln>
            <a:noFill/>
          </a:ln>
        </p:spPr>
        <p:txBody>
          <a:bodyPr spcFirstLastPara="1" wrap="square" lIns="0" tIns="0" rIns="0" bIns="0" anchor="t" anchorCtr="0">
            <a:spAutoFit/>
          </a:bodyPr>
          <a:lstStyle/>
          <a:p>
            <a:pPr marL="0" marR="0" lvl="0" indent="0" algn="l" rtl="0">
              <a:lnSpc>
                <a:spcPct val="139957"/>
              </a:lnSpc>
              <a:spcBef>
                <a:spcPts val="0"/>
              </a:spcBef>
              <a:spcAft>
                <a:spcPts val="0"/>
              </a:spcAft>
              <a:buNone/>
            </a:pPr>
            <a:r>
              <a:rPr lang="en-US" sz="18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❸ 必要なものだけを提案</a:t>
            </a:r>
            <a:endParaRPr sz="1800">
              <a:latin typeface="小塚ゴシック Pro B" panose="020B0800000000000000" pitchFamily="34" charset="-128"/>
              <a:ea typeface="小塚ゴシック Pro B" panose="020B0800000000000000" pitchFamily="34" charset="-128"/>
            </a:endParaRPr>
          </a:p>
        </p:txBody>
      </p:sp>
      <p:sp>
        <p:nvSpPr>
          <p:cNvPr id="177" name="Google Shape;177;p16"/>
          <p:cNvSpPr/>
          <p:nvPr/>
        </p:nvSpPr>
        <p:spPr>
          <a:xfrm>
            <a:off x="7988575" y="3339525"/>
            <a:ext cx="3194225" cy="36600"/>
          </a:xfrm>
          <a:prstGeom prst="rect">
            <a:avLst/>
          </a:prstGeom>
          <a:solidFill>
            <a:srgbClr val="C5A0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178" name="Google Shape;178;p16"/>
          <p:cNvSpPr/>
          <p:nvPr/>
        </p:nvSpPr>
        <p:spPr>
          <a:xfrm>
            <a:off x="7988575" y="3531413"/>
            <a:ext cx="3194225" cy="17500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小塚ゴシック Pro B" panose="020B0800000000000000" pitchFamily="34" charset="-128"/>
              <a:ea typeface="小塚ゴシック Pro B" panose="020B0800000000000000" pitchFamily="34" charset="-128"/>
              <a:cs typeface="Calibri"/>
              <a:sym typeface="Calibri"/>
            </a:endParaRPr>
          </a:p>
        </p:txBody>
      </p:sp>
      <p:sp>
        <p:nvSpPr>
          <p:cNvPr id="180" name="Google Shape;180;p16"/>
          <p:cNvSpPr txBox="1"/>
          <p:nvPr/>
        </p:nvSpPr>
        <p:spPr>
          <a:xfrm>
            <a:off x="7988575" y="3556904"/>
            <a:ext cx="3194225" cy="1300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ご相談を受けても、本当に必要かを判断した上で受注します。不要なものは「作らなくていい」と正直にお伝えします。</a:t>
            </a:r>
            <a:endParaRPr>
              <a:latin typeface="小塚ゴシック Pro M" panose="020B0700000000000000" pitchFamily="34" charset="-128"/>
              <a:ea typeface="小塚ゴシック Pro M" panose="020B0700000000000000" pitchFamily="34" charset="-12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6"/>
        <p:cNvGrpSpPr/>
        <p:nvPr/>
      </p:nvGrpSpPr>
      <p:grpSpPr>
        <a:xfrm>
          <a:off x="0" y="0"/>
          <a:ext cx="0" cy="0"/>
          <a:chOff x="0" y="0"/>
          <a:chExt cx="0" cy="0"/>
        </a:xfrm>
      </p:grpSpPr>
      <p:grpSp>
        <p:nvGrpSpPr>
          <p:cNvPr id="257" name="Google Shape;257;p19"/>
          <p:cNvGrpSpPr/>
          <p:nvPr/>
        </p:nvGrpSpPr>
        <p:grpSpPr>
          <a:xfrm>
            <a:off x="0" y="0"/>
            <a:ext cx="12643324" cy="6976048"/>
            <a:chOff x="0" y="0"/>
            <a:chExt cx="12643324" cy="6976048"/>
          </a:xfrm>
        </p:grpSpPr>
        <p:pic>
          <p:nvPicPr>
            <p:cNvPr id="258" name="Google Shape;258;p19"/>
            <p:cNvPicPr preferRelativeResize="0"/>
            <p:nvPr/>
          </p:nvPicPr>
          <p:blipFill>
            <a:blip r:embed="rId3">
              <a:alphaModFix/>
            </a:blip>
            <a:stretch>
              <a:fillRect/>
            </a:stretch>
          </p:blipFill>
          <p:spPr>
            <a:xfrm>
              <a:off x="0" y="0"/>
              <a:ext cx="12643315" cy="6976048"/>
            </a:xfrm>
            <a:prstGeom prst="rect">
              <a:avLst/>
            </a:prstGeom>
            <a:noFill/>
            <a:ln>
              <a:noFill/>
            </a:ln>
          </p:spPr>
        </p:pic>
        <p:pic>
          <p:nvPicPr>
            <p:cNvPr id="259" name="Google Shape;259;p19"/>
            <p:cNvPicPr preferRelativeResize="0"/>
            <p:nvPr/>
          </p:nvPicPr>
          <p:blipFill rotWithShape="1">
            <a:blip r:embed="rId3">
              <a:alphaModFix/>
            </a:blip>
            <a:srcRect l="88432" t="69407" b="11568"/>
            <a:stretch/>
          </p:blipFill>
          <p:spPr>
            <a:xfrm>
              <a:off x="11180801" y="5648888"/>
              <a:ext cx="1462523" cy="1327158"/>
            </a:xfrm>
            <a:prstGeom prst="rect">
              <a:avLst/>
            </a:prstGeom>
            <a:noFill/>
            <a:ln>
              <a:noFill/>
            </a:ln>
          </p:spPr>
        </p:pic>
      </p:grpSp>
      <p:pic>
        <p:nvPicPr>
          <p:cNvPr id="260" name="Google Shape;260;p19"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pic>
        <p:nvPicPr>
          <p:cNvPr id="261" name="Google Shape;261;p19" descr="image.png"/>
          <p:cNvPicPr preferRelativeResize="0"/>
          <p:nvPr/>
        </p:nvPicPr>
        <p:blipFill rotWithShape="1">
          <a:blip r:embed="rId5">
            <a:alphaModFix/>
          </a:blip>
          <a:srcRect/>
          <a:stretch/>
        </p:blipFill>
        <p:spPr>
          <a:xfrm>
            <a:off x="0" y="0"/>
            <a:ext cx="12192000" cy="142875"/>
          </a:xfrm>
          <a:prstGeom prst="rect">
            <a:avLst/>
          </a:prstGeom>
          <a:noFill/>
          <a:ln>
            <a:noFill/>
          </a:ln>
        </p:spPr>
      </p:pic>
      <p:sp>
        <p:nvSpPr>
          <p:cNvPr id="262" name="Google Shape;262;p19"/>
          <p:cNvSpPr txBox="1"/>
          <p:nvPr/>
        </p:nvSpPr>
        <p:spPr>
          <a:xfrm>
            <a:off x="762000" y="571500"/>
            <a:ext cx="10668000"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a:solidFill>
                  <a:srgbClr val="C5A059"/>
                </a:solidFill>
                <a:latin typeface="小塚ゴシック Pro B" panose="020B0800000000000000" pitchFamily="34" charset="-128"/>
                <a:ea typeface="小塚ゴシック Pro B" panose="020B0800000000000000" pitchFamily="34" charset="-128"/>
                <a:cs typeface="Lato"/>
                <a:sym typeface="Lato"/>
              </a:rPr>
              <a:t>CASE STUDY 01</a:t>
            </a:r>
            <a:endParaRPr>
              <a:latin typeface="小塚ゴシック Pro B" panose="020B0800000000000000" pitchFamily="34" charset="-128"/>
              <a:ea typeface="小塚ゴシック Pro B" panose="020B0800000000000000" pitchFamily="34" charset="-128"/>
            </a:endParaRPr>
          </a:p>
        </p:txBody>
      </p:sp>
      <p:sp>
        <p:nvSpPr>
          <p:cNvPr id="263" name="Google Shape;263;p19"/>
          <p:cNvSpPr txBox="1"/>
          <p:nvPr/>
        </p:nvSpPr>
        <p:spPr>
          <a:xfrm>
            <a:off x="762000" y="880020"/>
            <a:ext cx="11201400" cy="581698"/>
          </a:xfrm>
          <a:prstGeom prst="rect">
            <a:avLst/>
          </a:prstGeom>
          <a:noFill/>
          <a:ln>
            <a:noFill/>
          </a:ln>
        </p:spPr>
        <p:txBody>
          <a:bodyPr spcFirstLastPara="1" wrap="square" lIns="0" tIns="0" rIns="0" bIns="0" anchor="t" anchorCtr="0">
            <a:spAutoFit/>
          </a:bodyPr>
          <a:lstStyle/>
          <a:p>
            <a:pPr marL="0" marR="0" lvl="0" indent="0" algn="l" rtl="0">
              <a:lnSpc>
                <a:spcPct val="139962"/>
              </a:lnSpc>
              <a:spcBef>
                <a:spcPts val="0"/>
              </a:spcBef>
              <a:spcAft>
                <a:spcPts val="0"/>
              </a:spcAft>
              <a:buNone/>
            </a:pPr>
            <a:r>
              <a:rPr lang="en-US" sz="27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導入実績・成果</a:t>
            </a:r>
            <a:endParaRPr>
              <a:latin typeface="小塚ゴシック Pro B" panose="020B0800000000000000" pitchFamily="34" charset="-128"/>
              <a:ea typeface="小塚ゴシック Pro B" panose="020B0800000000000000" pitchFamily="34" charset="-128"/>
            </a:endParaRPr>
          </a:p>
        </p:txBody>
      </p:sp>
      <p:sp>
        <p:nvSpPr>
          <p:cNvPr id="264" name="Google Shape;264;p19"/>
          <p:cNvSpPr txBox="1"/>
          <p:nvPr/>
        </p:nvSpPr>
        <p:spPr>
          <a:xfrm>
            <a:off x="762000" y="6534150"/>
            <a:ext cx="1651099"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99999"/>
                </a:solidFill>
                <a:latin typeface="Lato"/>
                <a:ea typeface="Lato"/>
                <a:cs typeface="Lato"/>
                <a:sym typeface="Lato"/>
              </a:rPr>
              <a:t>© U-Writing All Rights Reserved.</a:t>
            </a:r>
            <a:endParaRPr/>
          </a:p>
        </p:txBody>
      </p:sp>
      <p:sp>
        <p:nvSpPr>
          <p:cNvPr id="267" name="Google Shape;267;p19"/>
          <p:cNvSpPr txBox="1"/>
          <p:nvPr/>
        </p:nvSpPr>
        <p:spPr>
          <a:xfrm>
            <a:off x="762000" y="2198191"/>
            <a:ext cx="4815600" cy="960263"/>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2400" b="1" i="0" u="none" strike="noStrike" cap="none" dirty="0" err="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機能性寝具の販促で</a:t>
            </a:r>
            <a:br>
              <a:rPr lang="en-US" sz="1800" b="1" i="0" u="none" strike="noStrike" cap="none" dirty="0">
                <a:solidFill>
                  <a:schemeClr val="dk1"/>
                </a:solidFill>
                <a:latin typeface="小塚ゴシック Pro B" panose="020B0800000000000000" pitchFamily="34" charset="-128"/>
                <a:ea typeface="小塚ゴシック Pro B" panose="020B0800000000000000" pitchFamily="34" charset="-128"/>
                <a:cs typeface="Calibri"/>
                <a:sym typeface="Calibri"/>
              </a:rPr>
            </a:br>
            <a:r>
              <a:rPr lang="en-US" sz="2400" b="1" i="0" u="none" strike="noStrike" cap="none" dirty="0" err="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目標を大幅達成</a:t>
            </a:r>
            <a:endParaRPr b="1" dirty="0">
              <a:latin typeface="小塚ゴシック Pro B" panose="020B0800000000000000" pitchFamily="34" charset="-128"/>
              <a:ea typeface="小塚ゴシック Pro B" panose="020B0800000000000000" pitchFamily="34" charset="-128"/>
            </a:endParaRPr>
          </a:p>
        </p:txBody>
      </p:sp>
      <p:sp>
        <p:nvSpPr>
          <p:cNvPr id="268" name="Google Shape;268;p19"/>
          <p:cNvSpPr/>
          <p:nvPr/>
        </p:nvSpPr>
        <p:spPr>
          <a:xfrm>
            <a:off x="762000" y="5314354"/>
            <a:ext cx="4586287" cy="1019175"/>
          </a:xfrm>
          <a:prstGeom prst="rect">
            <a:avLst/>
          </a:prstGeom>
          <a:solidFill>
            <a:srgbClr val="FFFC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269" name="Google Shape;269;p19"/>
          <p:cNvSpPr txBox="1"/>
          <p:nvPr/>
        </p:nvSpPr>
        <p:spPr>
          <a:xfrm>
            <a:off x="1941625" y="5459538"/>
            <a:ext cx="3327300" cy="738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2400" dirty="0">
                <a:solidFill>
                  <a:srgbClr val="666666"/>
                </a:solidFill>
                <a:latin typeface="小塚ゴシック Pro B" panose="020B0800000000000000" pitchFamily="34" charset="-128"/>
                <a:ea typeface="小塚ゴシック Pro B" panose="020B0800000000000000" pitchFamily="34" charset="-128"/>
                <a:cs typeface="Noto Sans JP"/>
                <a:sym typeface="Noto Sans JP"/>
              </a:rPr>
              <a:t>1ヶ月で83.9万円</a:t>
            </a:r>
            <a:endParaRPr sz="2400" dirty="0">
              <a:solidFill>
                <a:srgbClr val="666666"/>
              </a:solidFill>
              <a:latin typeface="小塚ゴシック Pro B" panose="020B0800000000000000" pitchFamily="34" charset="-128"/>
              <a:ea typeface="小塚ゴシック Pro B" panose="020B0800000000000000" pitchFamily="34" charset="-128"/>
              <a:cs typeface="Noto Sans JP"/>
              <a:sym typeface="Noto Sans JP"/>
            </a:endParaRPr>
          </a:p>
          <a:p>
            <a:pPr marL="0" lvl="0" indent="0" algn="l" rtl="0">
              <a:spcBef>
                <a:spcPts val="0"/>
              </a:spcBef>
              <a:spcAft>
                <a:spcPts val="0"/>
              </a:spcAft>
              <a:buNone/>
            </a:pPr>
            <a:r>
              <a:rPr lang="en-US" sz="2400" b="1" i="0" u="none" strike="noStrike" cap="none" dirty="0">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目標比279%を達成</a:t>
            </a:r>
            <a:endParaRPr sz="2400" dirty="0">
              <a:latin typeface="小塚ゴシック Pro B" panose="020B0800000000000000" pitchFamily="34" charset="-128"/>
              <a:ea typeface="小塚ゴシック Pro B" panose="020B0800000000000000" pitchFamily="34" charset="-128"/>
            </a:endParaRPr>
          </a:p>
        </p:txBody>
      </p:sp>
      <p:sp>
        <p:nvSpPr>
          <p:cNvPr id="270" name="Google Shape;270;p19"/>
          <p:cNvSpPr/>
          <p:nvPr/>
        </p:nvSpPr>
        <p:spPr>
          <a:xfrm>
            <a:off x="762000" y="5314354"/>
            <a:ext cx="57300" cy="1019100"/>
          </a:xfrm>
          <a:prstGeom prst="rect">
            <a:avLst/>
          </a:prstGeom>
          <a:solidFill>
            <a:srgbClr val="C5A0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271" name="Google Shape;271;p19"/>
          <p:cNvSpPr txBox="1"/>
          <p:nvPr/>
        </p:nvSpPr>
        <p:spPr>
          <a:xfrm>
            <a:off x="762000" y="3282169"/>
            <a:ext cx="4586287"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課題</a:t>
            </a:r>
            <a:endParaRPr>
              <a:latin typeface="小塚ゴシック Pro B" panose="020B0800000000000000" pitchFamily="34" charset="-128"/>
              <a:ea typeface="小塚ゴシック Pro B" panose="020B0800000000000000" pitchFamily="34" charset="-128"/>
            </a:endParaRPr>
          </a:p>
        </p:txBody>
      </p:sp>
      <p:sp>
        <p:nvSpPr>
          <p:cNvPr id="272" name="Google Shape;272;p19"/>
          <p:cNvSpPr txBox="1"/>
          <p:nvPr/>
        </p:nvSpPr>
        <p:spPr>
          <a:xfrm>
            <a:off x="762000" y="4179305"/>
            <a:ext cx="4586287"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解決策</a:t>
            </a:r>
            <a:endParaRPr>
              <a:latin typeface="小塚ゴシック Pro B" panose="020B0800000000000000" pitchFamily="34" charset="-128"/>
              <a:ea typeface="小塚ゴシック Pro B" panose="020B0800000000000000" pitchFamily="34" charset="-128"/>
            </a:endParaRPr>
          </a:p>
        </p:txBody>
      </p:sp>
      <p:sp>
        <p:nvSpPr>
          <p:cNvPr id="273" name="Google Shape;273;p19"/>
          <p:cNvSpPr txBox="1"/>
          <p:nvPr/>
        </p:nvSpPr>
        <p:spPr>
          <a:xfrm>
            <a:off x="909988" y="5591975"/>
            <a:ext cx="9408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実 績</a:t>
            </a:r>
            <a:endParaRPr sz="3000">
              <a:latin typeface="小塚ゴシック Pro B" panose="020B0800000000000000" pitchFamily="34" charset="-128"/>
              <a:ea typeface="小塚ゴシック Pro B" panose="020B0800000000000000" pitchFamily="34" charset="-128"/>
            </a:endParaRPr>
          </a:p>
        </p:txBody>
      </p:sp>
      <p:pic>
        <p:nvPicPr>
          <p:cNvPr id="274" name="Google Shape;274;p19"/>
          <p:cNvPicPr preferRelativeResize="0"/>
          <p:nvPr/>
        </p:nvPicPr>
        <p:blipFill>
          <a:blip r:embed="rId7">
            <a:alphaModFix/>
          </a:blip>
          <a:stretch>
            <a:fillRect/>
          </a:stretch>
        </p:blipFill>
        <p:spPr>
          <a:xfrm>
            <a:off x="5704850" y="1601634"/>
            <a:ext cx="5725149" cy="4731891"/>
          </a:xfrm>
          <a:prstGeom prst="rect">
            <a:avLst/>
          </a:prstGeom>
          <a:noFill/>
          <a:ln>
            <a:noFill/>
          </a:ln>
          <a:effectLst>
            <a:outerShdw blurRad="57150" dist="19050" dir="5400000" algn="bl" rotWithShape="0">
              <a:srgbClr val="000000">
                <a:alpha val="50000"/>
              </a:srgbClr>
            </a:outerShdw>
          </a:effectLst>
        </p:spPr>
      </p:pic>
      <p:sp>
        <p:nvSpPr>
          <p:cNvPr id="275" name="Google Shape;275;p19"/>
          <p:cNvSpPr/>
          <p:nvPr/>
        </p:nvSpPr>
        <p:spPr>
          <a:xfrm>
            <a:off x="761938" y="3469492"/>
            <a:ext cx="4586400" cy="5397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小塚ゴシック Pro B" panose="020B0800000000000000" pitchFamily="34" charset="-128"/>
              <a:ea typeface="小塚ゴシック Pro B" panose="020B0800000000000000" pitchFamily="34" charset="-128"/>
              <a:cs typeface="Calibri"/>
              <a:sym typeface="Calibri"/>
            </a:endParaRPr>
          </a:p>
        </p:txBody>
      </p:sp>
      <p:sp>
        <p:nvSpPr>
          <p:cNvPr id="276" name="Google Shape;276;p19"/>
          <p:cNvSpPr/>
          <p:nvPr/>
        </p:nvSpPr>
        <p:spPr>
          <a:xfrm>
            <a:off x="761938" y="4372892"/>
            <a:ext cx="4586400" cy="807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小塚ゴシック Pro B" panose="020B0800000000000000" pitchFamily="34" charset="-128"/>
              <a:ea typeface="小塚ゴシック Pro B" panose="020B0800000000000000" pitchFamily="34" charset="-128"/>
              <a:cs typeface="Calibri"/>
              <a:sym typeface="Calibri"/>
            </a:endParaRPr>
          </a:p>
        </p:txBody>
      </p:sp>
      <p:sp>
        <p:nvSpPr>
          <p:cNvPr id="277" name="Google Shape;277;p19"/>
          <p:cNvSpPr txBox="1"/>
          <p:nvPr/>
        </p:nvSpPr>
        <p:spPr>
          <a:xfrm>
            <a:off x="762000" y="3419168"/>
            <a:ext cx="4586400" cy="5909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err="1">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薬機法の規制により</a:t>
            </a:r>
            <a:r>
              <a:rPr lang="en-US" sz="1200" b="0" i="0" u="none" strike="noStrike" cap="none" dirty="0">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a:t>
            </a:r>
            <a:r>
              <a:rPr lang="en-US" sz="1200" b="0" i="0" u="none" strike="noStrike" cap="none" dirty="0" err="1">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快眠</a:t>
            </a:r>
            <a:r>
              <a:rPr lang="en-US" sz="1200" b="0" i="0" u="none" strike="noStrike" cap="none" dirty="0">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a:t>
            </a:r>
            <a:r>
              <a:rPr lang="en-US" sz="1200" b="0" i="0" u="none" strike="noStrike" cap="none" dirty="0" err="1">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疲労回復」などの直接的な効果効能を謳うことが難しく、商品の魅力をどう伝えるかが課題だった</a:t>
            </a:r>
            <a:r>
              <a:rPr lang="en-US" sz="1200" b="0" i="0" u="none" strike="noStrike" cap="none" dirty="0">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a:t>
            </a:r>
            <a:endParaRPr dirty="0">
              <a:latin typeface="小塚ゴシック Pro M" panose="020B0700000000000000" pitchFamily="34" charset="-128"/>
              <a:ea typeface="小塚ゴシック Pro M" panose="020B0700000000000000" pitchFamily="34" charset="-128"/>
            </a:endParaRPr>
          </a:p>
        </p:txBody>
      </p:sp>
      <p:sp>
        <p:nvSpPr>
          <p:cNvPr id="278" name="Google Shape;278;p19"/>
          <p:cNvSpPr txBox="1"/>
          <p:nvPr/>
        </p:nvSpPr>
        <p:spPr>
          <a:xfrm>
            <a:off x="762000" y="4315731"/>
            <a:ext cx="4586400" cy="8863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法に触れない範囲で「睡眠体験」や「朝の目覚め」の変化に焦点を当てたストーリーを構築。写真撮影のディレクションも行い、視覚的にベネフィットを訴求。</a:t>
            </a:r>
            <a:endParaRPr dirty="0">
              <a:latin typeface="小塚ゴシック Pro M" panose="020B0700000000000000" pitchFamily="34" charset="-128"/>
              <a:ea typeface="小塚ゴシック Pro M" panose="020B0700000000000000" pitchFamily="34" charset="-128"/>
            </a:endParaRPr>
          </a:p>
        </p:txBody>
      </p:sp>
      <p:sp>
        <p:nvSpPr>
          <p:cNvPr id="3" name="スライド番号プレースホルダー 14">
            <a:extLst>
              <a:ext uri="{FF2B5EF4-FFF2-40B4-BE49-F238E27FC236}">
                <a16:creationId xmlns:a16="http://schemas.microsoft.com/office/drawing/2014/main" id="{0D02922C-DFEE-CBD0-2F3A-95D459E945C8}"/>
              </a:ext>
            </a:extLst>
          </p:cNvPr>
          <p:cNvSpPr txBox="1">
            <a:spLocks/>
          </p:cNvSpPr>
          <p:nvPr/>
        </p:nvSpPr>
        <p:spPr>
          <a:xfrm>
            <a:off x="8789549" y="6420836"/>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4B6131FB-BBC3-4224-AAE6-4E406EC349F0}" type="slidenum">
              <a:rPr kumimoji="1" lang="ja-JP" altLang="en-US" b="1" smtClean="0">
                <a:solidFill>
                  <a:srgbClr val="2C2C2C"/>
                </a:solidFill>
                <a:latin typeface="小塚ゴシック Pro B" panose="020B0800000000000000" pitchFamily="34" charset="-128"/>
                <a:ea typeface="小塚ゴシック Pro B" panose="020B0800000000000000" pitchFamily="34" charset="-128"/>
              </a:rPr>
              <a:pPr algn="r"/>
              <a:t>7</a:t>
            </a:fld>
            <a:endParaRPr kumimoji="1" lang="ja-JP" altLang="en-US" b="1" dirty="0">
              <a:solidFill>
                <a:srgbClr val="2C2C2C"/>
              </a:solidFill>
              <a:latin typeface="小塚ゴシック Pro B" panose="020B0800000000000000" pitchFamily="34" charset="-128"/>
              <a:ea typeface="小塚ゴシック Pro B" panose="020B0800000000000000" pitchFamily="34" charset="-128"/>
            </a:endParaRPr>
          </a:p>
        </p:txBody>
      </p:sp>
      <p:sp>
        <p:nvSpPr>
          <p:cNvPr id="279" name="Rectangle 278"/>
          <p:cNvSpPr/>
          <p:nvPr/>
        </p:nvSpPr>
        <p:spPr>
          <a:xfrm>
            <a:off x="762000" y="1740991"/>
            <a:ext cx="3300000" cy="266700"/>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Noto Sans JP"/>
              </a:rPr>
              <a:t>クラファン｜ページ企画・ライティング担当</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2"/>
        <p:cNvGrpSpPr/>
        <p:nvPr/>
      </p:nvGrpSpPr>
      <p:grpSpPr>
        <a:xfrm>
          <a:off x="0" y="0"/>
          <a:ext cx="0" cy="0"/>
          <a:chOff x="0" y="0"/>
          <a:chExt cx="0" cy="0"/>
        </a:xfrm>
      </p:grpSpPr>
      <p:grpSp>
        <p:nvGrpSpPr>
          <p:cNvPr id="283" name="Google Shape;283;p20"/>
          <p:cNvGrpSpPr/>
          <p:nvPr/>
        </p:nvGrpSpPr>
        <p:grpSpPr>
          <a:xfrm>
            <a:off x="0" y="0"/>
            <a:ext cx="12643324" cy="6976048"/>
            <a:chOff x="0" y="0"/>
            <a:chExt cx="12643324" cy="6976048"/>
          </a:xfrm>
        </p:grpSpPr>
        <p:pic>
          <p:nvPicPr>
            <p:cNvPr id="284" name="Google Shape;284;p20"/>
            <p:cNvPicPr preferRelativeResize="0"/>
            <p:nvPr/>
          </p:nvPicPr>
          <p:blipFill>
            <a:blip r:embed="rId3">
              <a:alphaModFix/>
            </a:blip>
            <a:stretch>
              <a:fillRect/>
            </a:stretch>
          </p:blipFill>
          <p:spPr>
            <a:xfrm>
              <a:off x="0" y="0"/>
              <a:ext cx="12643315" cy="6976048"/>
            </a:xfrm>
            <a:prstGeom prst="rect">
              <a:avLst/>
            </a:prstGeom>
            <a:noFill/>
            <a:ln>
              <a:noFill/>
            </a:ln>
          </p:spPr>
        </p:pic>
        <p:pic>
          <p:nvPicPr>
            <p:cNvPr id="285" name="Google Shape;285;p20"/>
            <p:cNvPicPr preferRelativeResize="0"/>
            <p:nvPr/>
          </p:nvPicPr>
          <p:blipFill rotWithShape="1">
            <a:blip r:embed="rId3">
              <a:alphaModFix/>
            </a:blip>
            <a:srcRect l="88432" t="69407" b="11568"/>
            <a:stretch/>
          </p:blipFill>
          <p:spPr>
            <a:xfrm>
              <a:off x="11180801" y="5648888"/>
              <a:ext cx="1462523" cy="1327158"/>
            </a:xfrm>
            <a:prstGeom prst="rect">
              <a:avLst/>
            </a:prstGeom>
            <a:noFill/>
            <a:ln>
              <a:noFill/>
            </a:ln>
          </p:spPr>
        </p:pic>
      </p:grpSp>
      <p:sp>
        <p:nvSpPr>
          <p:cNvPr id="286" name="Google Shape;286;p20"/>
          <p:cNvSpPr/>
          <p:nvPr/>
        </p:nvSpPr>
        <p:spPr>
          <a:xfrm>
            <a:off x="762000" y="3463625"/>
            <a:ext cx="4586400" cy="5397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小塚ゴシック Pro B" panose="020B0800000000000000" pitchFamily="34" charset="-128"/>
              <a:ea typeface="小塚ゴシック Pro B" panose="020B0800000000000000" pitchFamily="34" charset="-128"/>
              <a:cs typeface="Calibri"/>
              <a:sym typeface="Calibri"/>
            </a:endParaRPr>
          </a:p>
        </p:txBody>
      </p:sp>
      <p:sp>
        <p:nvSpPr>
          <p:cNvPr id="287" name="Google Shape;287;p20"/>
          <p:cNvSpPr/>
          <p:nvPr/>
        </p:nvSpPr>
        <p:spPr>
          <a:xfrm>
            <a:off x="762000" y="4367025"/>
            <a:ext cx="4586400" cy="807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小塚ゴシック Pro B" panose="020B0800000000000000" pitchFamily="34" charset="-128"/>
              <a:ea typeface="小塚ゴシック Pro B" panose="020B0800000000000000" pitchFamily="34" charset="-128"/>
              <a:cs typeface="Calibri"/>
              <a:sym typeface="Calibri"/>
            </a:endParaRPr>
          </a:p>
        </p:txBody>
      </p:sp>
      <p:pic>
        <p:nvPicPr>
          <p:cNvPr id="288" name="Google Shape;288;p20"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pic>
        <p:nvPicPr>
          <p:cNvPr id="289" name="Google Shape;289;p20" descr="image.png"/>
          <p:cNvPicPr preferRelativeResize="0"/>
          <p:nvPr/>
        </p:nvPicPr>
        <p:blipFill rotWithShape="1">
          <a:blip r:embed="rId5">
            <a:alphaModFix/>
          </a:blip>
          <a:srcRect/>
          <a:stretch/>
        </p:blipFill>
        <p:spPr>
          <a:xfrm>
            <a:off x="0" y="0"/>
            <a:ext cx="12192000" cy="142875"/>
          </a:xfrm>
          <a:prstGeom prst="rect">
            <a:avLst/>
          </a:prstGeom>
          <a:noFill/>
          <a:ln>
            <a:noFill/>
          </a:ln>
        </p:spPr>
      </p:pic>
      <p:sp>
        <p:nvSpPr>
          <p:cNvPr id="290" name="Google Shape;290;p20"/>
          <p:cNvSpPr txBox="1"/>
          <p:nvPr/>
        </p:nvSpPr>
        <p:spPr>
          <a:xfrm>
            <a:off x="762000" y="571500"/>
            <a:ext cx="10668000"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a:solidFill>
                  <a:srgbClr val="C5A059"/>
                </a:solidFill>
                <a:latin typeface="小塚ゴシック Pro B" panose="020B0800000000000000" pitchFamily="34" charset="-128"/>
                <a:ea typeface="小塚ゴシック Pro B" panose="020B0800000000000000" pitchFamily="34" charset="-128"/>
                <a:cs typeface="Lato"/>
                <a:sym typeface="Lato"/>
              </a:rPr>
              <a:t>CASE STUDY 02</a:t>
            </a:r>
            <a:endParaRPr>
              <a:latin typeface="小塚ゴシック Pro B" panose="020B0800000000000000" pitchFamily="34" charset="-128"/>
              <a:ea typeface="小塚ゴシック Pro B" panose="020B0800000000000000" pitchFamily="34" charset="-128"/>
            </a:endParaRPr>
          </a:p>
        </p:txBody>
      </p:sp>
      <p:sp>
        <p:nvSpPr>
          <p:cNvPr id="291" name="Google Shape;291;p20"/>
          <p:cNvSpPr txBox="1"/>
          <p:nvPr/>
        </p:nvSpPr>
        <p:spPr>
          <a:xfrm>
            <a:off x="762000" y="880020"/>
            <a:ext cx="11201400" cy="581698"/>
          </a:xfrm>
          <a:prstGeom prst="rect">
            <a:avLst/>
          </a:prstGeom>
          <a:noFill/>
          <a:ln>
            <a:noFill/>
          </a:ln>
        </p:spPr>
        <p:txBody>
          <a:bodyPr spcFirstLastPara="1" wrap="square" lIns="0" tIns="0" rIns="0" bIns="0" anchor="t" anchorCtr="0">
            <a:spAutoFit/>
          </a:bodyPr>
          <a:lstStyle/>
          <a:p>
            <a:pPr marL="0" marR="0" lvl="0" indent="0" algn="l" rtl="0">
              <a:lnSpc>
                <a:spcPct val="139962"/>
              </a:lnSpc>
              <a:spcBef>
                <a:spcPts val="0"/>
              </a:spcBef>
              <a:spcAft>
                <a:spcPts val="0"/>
              </a:spcAft>
              <a:buNone/>
            </a:pPr>
            <a:r>
              <a:rPr lang="en-US" sz="27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導入実績・成果</a:t>
            </a:r>
            <a:endParaRPr>
              <a:latin typeface="小塚ゴシック Pro B" panose="020B0800000000000000" pitchFamily="34" charset="-128"/>
              <a:ea typeface="小塚ゴシック Pro B" panose="020B0800000000000000" pitchFamily="34" charset="-128"/>
            </a:endParaRPr>
          </a:p>
        </p:txBody>
      </p:sp>
      <p:sp>
        <p:nvSpPr>
          <p:cNvPr id="292" name="Google Shape;292;p20"/>
          <p:cNvSpPr txBox="1"/>
          <p:nvPr/>
        </p:nvSpPr>
        <p:spPr>
          <a:xfrm>
            <a:off x="762000" y="6534150"/>
            <a:ext cx="1651099"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99999"/>
                </a:solidFill>
                <a:latin typeface="Lato"/>
                <a:ea typeface="Lato"/>
                <a:cs typeface="Lato"/>
                <a:sym typeface="Lato"/>
              </a:rPr>
              <a:t>© U-Writing All Rights Reserved.</a:t>
            </a:r>
            <a:endParaRPr/>
          </a:p>
        </p:txBody>
      </p:sp>
      <p:sp>
        <p:nvSpPr>
          <p:cNvPr id="295" name="Google Shape;295;p20"/>
          <p:cNvSpPr txBox="1"/>
          <p:nvPr/>
        </p:nvSpPr>
        <p:spPr>
          <a:xfrm>
            <a:off x="762000" y="2206641"/>
            <a:ext cx="4815600" cy="960263"/>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24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健康グッズ（ツボ押し</a:t>
            </a:r>
            <a:r>
              <a:rPr lang="en-US" sz="2400" b="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シート</a:t>
            </a:r>
            <a:r>
              <a:rPr lang="en-US" sz="24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）の</a:t>
            </a:r>
            <a:br>
              <a:rPr lang="en-US" sz="1800" b="1"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rPr>
            </a:br>
            <a:r>
              <a:rPr lang="en-US" sz="2400" b="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販促で</a:t>
            </a:r>
            <a:r>
              <a:rPr lang="en-US" sz="24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スピードスタート</a:t>
            </a:r>
            <a:endParaRPr b="1">
              <a:latin typeface="小塚ゴシック Pro B" panose="020B0800000000000000" pitchFamily="34" charset="-128"/>
              <a:ea typeface="小塚ゴシック Pro B" panose="020B0800000000000000" pitchFamily="34" charset="-128"/>
            </a:endParaRPr>
          </a:p>
        </p:txBody>
      </p:sp>
      <p:sp>
        <p:nvSpPr>
          <p:cNvPr id="296" name="Google Shape;296;p20"/>
          <p:cNvSpPr txBox="1"/>
          <p:nvPr/>
        </p:nvSpPr>
        <p:spPr>
          <a:xfrm>
            <a:off x="762000" y="3276689"/>
            <a:ext cx="45864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課題</a:t>
            </a:r>
            <a:endParaRPr>
              <a:latin typeface="小塚ゴシック Pro B" panose="020B0800000000000000" pitchFamily="34" charset="-128"/>
              <a:ea typeface="小塚ゴシック Pro B" panose="020B0800000000000000" pitchFamily="34" charset="-128"/>
            </a:endParaRPr>
          </a:p>
        </p:txBody>
      </p:sp>
      <p:sp>
        <p:nvSpPr>
          <p:cNvPr id="297" name="Google Shape;297;p20"/>
          <p:cNvSpPr txBox="1"/>
          <p:nvPr/>
        </p:nvSpPr>
        <p:spPr>
          <a:xfrm>
            <a:off x="762000" y="3411156"/>
            <a:ext cx="4586400" cy="5909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err="1">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ニッチな健康グッズであり、短期間で認知を広げ、支援を集めるためのインパクトのあるページ構成が必要だった</a:t>
            </a:r>
            <a:r>
              <a:rPr lang="en-US" sz="1200" b="0" i="0" u="none" strike="noStrike" cap="none" dirty="0">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a:t>
            </a:r>
            <a:endParaRPr dirty="0">
              <a:latin typeface="小塚ゴシック Pro M" panose="020B0700000000000000" pitchFamily="34" charset="-128"/>
              <a:ea typeface="小塚ゴシック Pro M" panose="020B0700000000000000" pitchFamily="34" charset="-128"/>
            </a:endParaRPr>
          </a:p>
        </p:txBody>
      </p:sp>
      <p:sp>
        <p:nvSpPr>
          <p:cNvPr id="298" name="Google Shape;298;p20"/>
          <p:cNvSpPr txBox="1"/>
          <p:nvPr/>
        </p:nvSpPr>
        <p:spPr>
          <a:xfrm>
            <a:off x="762000" y="4194300"/>
            <a:ext cx="45864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解決策</a:t>
            </a:r>
            <a:endParaRPr>
              <a:latin typeface="小塚ゴシック Pro B" panose="020B0800000000000000" pitchFamily="34" charset="-128"/>
              <a:ea typeface="小塚ゴシック Pro B" panose="020B0800000000000000" pitchFamily="34" charset="-128"/>
            </a:endParaRPr>
          </a:p>
        </p:txBody>
      </p:sp>
      <p:sp>
        <p:nvSpPr>
          <p:cNvPr id="299" name="Google Shape;299;p20"/>
          <p:cNvSpPr txBox="1"/>
          <p:nvPr/>
        </p:nvSpPr>
        <p:spPr>
          <a:xfrm>
            <a:off x="762000" y="4318799"/>
            <a:ext cx="4586400" cy="8863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ターゲットの「痛み」や「悩み」に深く寄り添う構成案を作成。利用シーンを具体的にイメージさせる撮影ディレクションを行い、共感を呼ぶページに仕上げた。</a:t>
            </a:r>
            <a:endParaRPr>
              <a:latin typeface="小塚ゴシック Pro M" panose="020B0700000000000000" pitchFamily="34" charset="-128"/>
              <a:ea typeface="小塚ゴシック Pro M" panose="020B0700000000000000" pitchFamily="34" charset="-128"/>
            </a:endParaRPr>
          </a:p>
        </p:txBody>
      </p:sp>
      <p:sp>
        <p:nvSpPr>
          <p:cNvPr id="300" name="Google Shape;300;p20"/>
          <p:cNvSpPr/>
          <p:nvPr/>
        </p:nvSpPr>
        <p:spPr>
          <a:xfrm>
            <a:off x="762000" y="5314354"/>
            <a:ext cx="4586400" cy="1019100"/>
          </a:xfrm>
          <a:prstGeom prst="rect">
            <a:avLst/>
          </a:prstGeom>
          <a:solidFill>
            <a:srgbClr val="FFFC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301" name="Google Shape;301;p20"/>
          <p:cNvSpPr txBox="1"/>
          <p:nvPr/>
        </p:nvSpPr>
        <p:spPr>
          <a:xfrm>
            <a:off x="1941625" y="5459538"/>
            <a:ext cx="3327300" cy="738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2400" dirty="0">
                <a:solidFill>
                  <a:srgbClr val="666666"/>
                </a:solidFill>
                <a:latin typeface="小塚ゴシック Pro B" panose="020B0800000000000000" pitchFamily="34" charset="-128"/>
                <a:ea typeface="小塚ゴシック Pro B" panose="020B0800000000000000" pitchFamily="34" charset="-128"/>
                <a:cs typeface="Noto Sans JP"/>
                <a:sym typeface="Noto Sans JP"/>
              </a:rPr>
              <a:t>3日で約50万円</a:t>
            </a:r>
            <a:endParaRPr sz="2400" dirty="0">
              <a:solidFill>
                <a:srgbClr val="666666"/>
              </a:solidFill>
              <a:latin typeface="小塚ゴシック Pro B" panose="020B0800000000000000" pitchFamily="34" charset="-128"/>
              <a:ea typeface="小塚ゴシック Pro B" panose="020B0800000000000000" pitchFamily="34" charset="-128"/>
              <a:cs typeface="Noto Sans JP"/>
              <a:sym typeface="Noto Sans JP"/>
            </a:endParaRPr>
          </a:p>
          <a:p>
            <a:pPr marL="0" lvl="0" indent="0" algn="l" rtl="0">
              <a:spcBef>
                <a:spcPts val="0"/>
              </a:spcBef>
              <a:spcAft>
                <a:spcPts val="0"/>
              </a:spcAft>
              <a:buNone/>
            </a:pPr>
            <a:r>
              <a:rPr lang="en-US" sz="2400" b="1" dirty="0">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最終219万円を達成</a:t>
            </a:r>
            <a:endParaRPr sz="2400" dirty="0">
              <a:latin typeface="小塚ゴシック Pro B" panose="020B0800000000000000" pitchFamily="34" charset="-128"/>
              <a:ea typeface="小塚ゴシック Pro B" panose="020B0800000000000000" pitchFamily="34" charset="-128"/>
            </a:endParaRPr>
          </a:p>
        </p:txBody>
      </p:sp>
      <p:sp>
        <p:nvSpPr>
          <p:cNvPr id="302" name="Google Shape;302;p20"/>
          <p:cNvSpPr/>
          <p:nvPr/>
        </p:nvSpPr>
        <p:spPr>
          <a:xfrm>
            <a:off x="762000" y="5314354"/>
            <a:ext cx="57300" cy="1019100"/>
          </a:xfrm>
          <a:prstGeom prst="rect">
            <a:avLst/>
          </a:prstGeom>
          <a:solidFill>
            <a:srgbClr val="C5A0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303" name="Google Shape;303;p20"/>
          <p:cNvSpPr txBox="1"/>
          <p:nvPr/>
        </p:nvSpPr>
        <p:spPr>
          <a:xfrm>
            <a:off x="909988" y="5591975"/>
            <a:ext cx="9408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実 績</a:t>
            </a:r>
            <a:endParaRPr sz="3000">
              <a:latin typeface="小塚ゴシック Pro B" panose="020B0800000000000000" pitchFamily="34" charset="-128"/>
              <a:ea typeface="小塚ゴシック Pro B" panose="020B0800000000000000" pitchFamily="34" charset="-128"/>
            </a:endParaRPr>
          </a:p>
        </p:txBody>
      </p:sp>
      <p:pic>
        <p:nvPicPr>
          <p:cNvPr id="304" name="Google Shape;304;p20"/>
          <p:cNvPicPr preferRelativeResize="0"/>
          <p:nvPr/>
        </p:nvPicPr>
        <p:blipFill>
          <a:blip r:embed="rId7">
            <a:alphaModFix/>
          </a:blip>
          <a:stretch>
            <a:fillRect/>
          </a:stretch>
        </p:blipFill>
        <p:spPr>
          <a:xfrm>
            <a:off x="5704850" y="1826798"/>
            <a:ext cx="5725151" cy="4502553"/>
          </a:xfrm>
          <a:prstGeom prst="rect">
            <a:avLst/>
          </a:prstGeom>
          <a:noFill/>
          <a:ln>
            <a:noFill/>
          </a:ln>
          <a:effectLst>
            <a:outerShdw blurRad="57150" dist="19050" dir="5400000" algn="bl" rotWithShape="0">
              <a:srgbClr val="000000">
                <a:alpha val="50000"/>
              </a:srgbClr>
            </a:outerShdw>
          </a:effectLst>
        </p:spPr>
      </p:pic>
      <p:sp>
        <p:nvSpPr>
          <p:cNvPr id="2" name="スライド番号プレースホルダー 14">
            <a:extLst>
              <a:ext uri="{FF2B5EF4-FFF2-40B4-BE49-F238E27FC236}">
                <a16:creationId xmlns:a16="http://schemas.microsoft.com/office/drawing/2014/main" id="{84C1FE33-3C96-A54A-C78D-92CB5A48D2CE}"/>
              </a:ext>
            </a:extLst>
          </p:cNvPr>
          <p:cNvSpPr txBox="1">
            <a:spLocks/>
          </p:cNvSpPr>
          <p:nvPr/>
        </p:nvSpPr>
        <p:spPr>
          <a:xfrm>
            <a:off x="8789549" y="6420836"/>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4B6131FB-BBC3-4224-AAE6-4E406EC349F0}" type="slidenum">
              <a:rPr kumimoji="1" lang="ja-JP" altLang="en-US" b="1" smtClean="0">
                <a:solidFill>
                  <a:srgbClr val="2C2C2C"/>
                </a:solidFill>
                <a:latin typeface="小塚ゴシック Pro B" panose="020B0800000000000000" pitchFamily="34" charset="-128"/>
                <a:ea typeface="小塚ゴシック Pro B" panose="020B0800000000000000" pitchFamily="34" charset="-128"/>
              </a:rPr>
              <a:pPr algn="r"/>
              <a:t>8</a:t>
            </a:fld>
            <a:endParaRPr kumimoji="1" lang="ja-JP" altLang="en-US" b="1" dirty="0">
              <a:solidFill>
                <a:srgbClr val="2C2C2C"/>
              </a:solidFill>
              <a:latin typeface="小塚ゴシック Pro B" panose="020B0800000000000000" pitchFamily="34" charset="-128"/>
              <a:ea typeface="小塚ゴシック Pro B" panose="020B0800000000000000" pitchFamily="34" charset="-128"/>
            </a:endParaRPr>
          </a:p>
        </p:txBody>
      </p:sp>
      <p:sp>
        <p:nvSpPr>
          <p:cNvPr id="305" name="Rectangle 304"/>
          <p:cNvSpPr/>
          <p:nvPr/>
        </p:nvSpPr>
        <p:spPr>
          <a:xfrm>
            <a:off x="762000" y="1749440"/>
            <a:ext cx="3300000" cy="266700"/>
          </a:xfrm>
          <a:prstGeom prst="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FFFFFF"/>
                </a:solidFill>
                <a:latin typeface="Noto Sans JP"/>
              </a:rPr>
              <a:t>クラファン｜ページ企画・ライティング担当</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8"/>
        <p:cNvGrpSpPr/>
        <p:nvPr/>
      </p:nvGrpSpPr>
      <p:grpSpPr>
        <a:xfrm>
          <a:off x="0" y="0"/>
          <a:ext cx="0" cy="0"/>
          <a:chOff x="0" y="0"/>
          <a:chExt cx="0" cy="0"/>
        </a:xfrm>
      </p:grpSpPr>
      <p:grpSp>
        <p:nvGrpSpPr>
          <p:cNvPr id="309" name="Google Shape;309;p21"/>
          <p:cNvGrpSpPr/>
          <p:nvPr/>
        </p:nvGrpSpPr>
        <p:grpSpPr>
          <a:xfrm>
            <a:off x="0" y="0"/>
            <a:ext cx="12643324" cy="6976048"/>
            <a:chOff x="0" y="0"/>
            <a:chExt cx="12643324" cy="6976048"/>
          </a:xfrm>
        </p:grpSpPr>
        <p:pic>
          <p:nvPicPr>
            <p:cNvPr id="310" name="Google Shape;310;p21"/>
            <p:cNvPicPr preferRelativeResize="0"/>
            <p:nvPr/>
          </p:nvPicPr>
          <p:blipFill>
            <a:blip r:embed="rId3">
              <a:alphaModFix/>
            </a:blip>
            <a:stretch>
              <a:fillRect/>
            </a:stretch>
          </p:blipFill>
          <p:spPr>
            <a:xfrm>
              <a:off x="0" y="0"/>
              <a:ext cx="12643315" cy="6976048"/>
            </a:xfrm>
            <a:prstGeom prst="rect">
              <a:avLst/>
            </a:prstGeom>
            <a:noFill/>
            <a:ln>
              <a:noFill/>
            </a:ln>
          </p:spPr>
        </p:pic>
        <p:pic>
          <p:nvPicPr>
            <p:cNvPr id="311" name="Google Shape;311;p21"/>
            <p:cNvPicPr preferRelativeResize="0"/>
            <p:nvPr/>
          </p:nvPicPr>
          <p:blipFill rotWithShape="1">
            <a:blip r:embed="rId3">
              <a:alphaModFix/>
            </a:blip>
            <a:srcRect l="88432" t="69407" b="11568"/>
            <a:stretch/>
          </p:blipFill>
          <p:spPr>
            <a:xfrm>
              <a:off x="11180801" y="5648888"/>
              <a:ext cx="1462523" cy="1327158"/>
            </a:xfrm>
            <a:prstGeom prst="rect">
              <a:avLst/>
            </a:prstGeom>
            <a:noFill/>
            <a:ln>
              <a:noFill/>
            </a:ln>
          </p:spPr>
        </p:pic>
      </p:grpSp>
      <p:sp>
        <p:nvSpPr>
          <p:cNvPr id="312" name="Google Shape;312;p21"/>
          <p:cNvSpPr/>
          <p:nvPr/>
        </p:nvSpPr>
        <p:spPr>
          <a:xfrm>
            <a:off x="762000" y="3463625"/>
            <a:ext cx="4586400" cy="5397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小塚ゴシック Pro B" panose="020B0800000000000000" pitchFamily="34" charset="-128"/>
              <a:ea typeface="小塚ゴシック Pro B" panose="020B0800000000000000" pitchFamily="34" charset="-128"/>
              <a:cs typeface="Calibri"/>
              <a:sym typeface="Calibri"/>
            </a:endParaRPr>
          </a:p>
        </p:txBody>
      </p:sp>
      <p:sp>
        <p:nvSpPr>
          <p:cNvPr id="313" name="Google Shape;313;p21"/>
          <p:cNvSpPr/>
          <p:nvPr/>
        </p:nvSpPr>
        <p:spPr>
          <a:xfrm>
            <a:off x="762000" y="4367025"/>
            <a:ext cx="4586400" cy="807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小塚ゴシック Pro B" panose="020B0800000000000000" pitchFamily="34" charset="-128"/>
              <a:ea typeface="小塚ゴシック Pro B" panose="020B0800000000000000" pitchFamily="34" charset="-128"/>
              <a:cs typeface="Calibri"/>
              <a:sym typeface="Calibri"/>
            </a:endParaRPr>
          </a:p>
        </p:txBody>
      </p:sp>
      <p:pic>
        <p:nvPicPr>
          <p:cNvPr id="314" name="Google Shape;314;p21" descr="image.png"/>
          <p:cNvPicPr preferRelativeResize="0"/>
          <p:nvPr/>
        </p:nvPicPr>
        <p:blipFill rotWithShape="1">
          <a:blip r:embed="rId4">
            <a:alphaModFix/>
          </a:blip>
          <a:srcRect/>
          <a:stretch/>
        </p:blipFill>
        <p:spPr>
          <a:xfrm>
            <a:off x="0" y="0"/>
            <a:ext cx="12192000" cy="142875"/>
          </a:xfrm>
          <a:prstGeom prst="rect">
            <a:avLst/>
          </a:prstGeom>
          <a:noFill/>
          <a:ln>
            <a:noFill/>
          </a:ln>
        </p:spPr>
      </p:pic>
      <p:sp>
        <p:nvSpPr>
          <p:cNvPr id="315" name="Google Shape;315;p21"/>
          <p:cNvSpPr txBox="1"/>
          <p:nvPr/>
        </p:nvSpPr>
        <p:spPr>
          <a:xfrm>
            <a:off x="762000" y="571500"/>
            <a:ext cx="10668000"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a:solidFill>
                  <a:srgbClr val="C5A059"/>
                </a:solidFill>
                <a:latin typeface="小塚ゴシック Pro B" panose="020B0800000000000000" pitchFamily="34" charset="-128"/>
                <a:ea typeface="小塚ゴシック Pro B" panose="020B0800000000000000" pitchFamily="34" charset="-128"/>
                <a:cs typeface="Lato"/>
                <a:sym typeface="Lato"/>
              </a:rPr>
              <a:t>CASE STUDY 03</a:t>
            </a:r>
            <a:endParaRPr>
              <a:latin typeface="小塚ゴシック Pro B" panose="020B0800000000000000" pitchFamily="34" charset="-128"/>
              <a:ea typeface="小塚ゴシック Pro B" panose="020B0800000000000000" pitchFamily="34" charset="-128"/>
            </a:endParaRPr>
          </a:p>
        </p:txBody>
      </p:sp>
      <p:sp>
        <p:nvSpPr>
          <p:cNvPr id="316" name="Google Shape;316;p21"/>
          <p:cNvSpPr txBox="1"/>
          <p:nvPr/>
        </p:nvSpPr>
        <p:spPr>
          <a:xfrm>
            <a:off x="762000" y="880020"/>
            <a:ext cx="11201400" cy="581698"/>
          </a:xfrm>
          <a:prstGeom prst="rect">
            <a:avLst/>
          </a:prstGeom>
          <a:noFill/>
          <a:ln>
            <a:noFill/>
          </a:ln>
        </p:spPr>
        <p:txBody>
          <a:bodyPr spcFirstLastPara="1" wrap="square" lIns="0" tIns="0" rIns="0" bIns="0" anchor="t" anchorCtr="0">
            <a:spAutoFit/>
          </a:bodyPr>
          <a:lstStyle/>
          <a:p>
            <a:pPr marL="0" marR="0" lvl="0" indent="0" algn="l" rtl="0">
              <a:lnSpc>
                <a:spcPct val="139962"/>
              </a:lnSpc>
              <a:spcBef>
                <a:spcPts val="0"/>
              </a:spcBef>
              <a:spcAft>
                <a:spcPts val="0"/>
              </a:spcAft>
              <a:buNone/>
            </a:pPr>
            <a:r>
              <a:rPr lang="en-US" sz="27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導入実績・成果</a:t>
            </a:r>
            <a:endParaRPr>
              <a:latin typeface="小塚ゴシック Pro B" panose="020B0800000000000000" pitchFamily="34" charset="-128"/>
              <a:ea typeface="小塚ゴシック Pro B" panose="020B0800000000000000" pitchFamily="34" charset="-128"/>
            </a:endParaRPr>
          </a:p>
        </p:txBody>
      </p:sp>
      <p:pic>
        <p:nvPicPr>
          <p:cNvPr id="318" name="Google Shape;318;p21" descr="image.png"/>
          <p:cNvPicPr preferRelativeResize="0"/>
          <p:nvPr/>
        </p:nvPicPr>
        <p:blipFill rotWithShape="1">
          <a:blip r:embed="rId5">
            <a:alphaModFix/>
          </a:blip>
          <a:srcRect/>
          <a:stretch/>
        </p:blipFill>
        <p:spPr>
          <a:xfrm>
            <a:off x="762000" y="1749459"/>
            <a:ext cx="1389608" cy="266700"/>
          </a:xfrm>
          <a:prstGeom prst="rect">
            <a:avLst/>
          </a:prstGeom>
          <a:noFill/>
          <a:ln>
            <a:noFill/>
          </a:ln>
        </p:spPr>
      </p:pic>
      <p:sp>
        <p:nvSpPr>
          <p:cNvPr id="319" name="Google Shape;319;p21"/>
          <p:cNvSpPr txBox="1"/>
          <p:nvPr/>
        </p:nvSpPr>
        <p:spPr>
          <a:xfrm>
            <a:off x="762000" y="2196487"/>
            <a:ext cx="4815600" cy="960263"/>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24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オンライン講座</a:t>
            </a:r>
            <a:r>
              <a:rPr lang="en-US" sz="2400" b="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の</a:t>
            </a:r>
            <a:endParaRPr sz="2400" b="1">
              <a:solidFill>
                <a:srgbClr val="2C2C2C"/>
              </a:solidFill>
              <a:latin typeface="小塚ゴシック Pro B" panose="020B0800000000000000" pitchFamily="34" charset="-128"/>
              <a:ea typeface="小塚ゴシック Pro B" panose="020B0800000000000000" pitchFamily="34" charset="-128"/>
              <a:cs typeface="Noto Sans JP"/>
              <a:sym typeface="Noto Sans JP"/>
            </a:endParaRPr>
          </a:p>
          <a:p>
            <a:pPr marL="0" marR="0" lvl="0" indent="0" algn="l" rtl="0">
              <a:lnSpc>
                <a:spcPct val="130000"/>
              </a:lnSpc>
              <a:spcBef>
                <a:spcPts val="0"/>
              </a:spcBef>
              <a:spcAft>
                <a:spcPts val="0"/>
              </a:spcAft>
              <a:buNone/>
            </a:pPr>
            <a:r>
              <a:rPr lang="en-US" sz="2400" b="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月平均売上を</a:t>
            </a:r>
            <a:r>
              <a:rPr lang="en-US" sz="24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最大化</a:t>
            </a:r>
            <a:endParaRPr b="1">
              <a:latin typeface="小塚ゴシック Pro B" panose="020B0800000000000000" pitchFamily="34" charset="-128"/>
              <a:ea typeface="小塚ゴシック Pro B" panose="020B0800000000000000" pitchFamily="34" charset="-128"/>
            </a:endParaRPr>
          </a:p>
        </p:txBody>
      </p:sp>
      <p:sp>
        <p:nvSpPr>
          <p:cNvPr id="320" name="Google Shape;320;p21"/>
          <p:cNvSpPr txBox="1"/>
          <p:nvPr/>
        </p:nvSpPr>
        <p:spPr>
          <a:xfrm>
            <a:off x="762000" y="3276689"/>
            <a:ext cx="45864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課題</a:t>
            </a:r>
            <a:endParaRPr>
              <a:latin typeface="小塚ゴシック Pro B" panose="020B0800000000000000" pitchFamily="34" charset="-128"/>
              <a:ea typeface="小塚ゴシック Pro B" panose="020B0800000000000000" pitchFamily="34" charset="-128"/>
            </a:endParaRPr>
          </a:p>
        </p:txBody>
      </p:sp>
      <p:sp>
        <p:nvSpPr>
          <p:cNvPr id="321" name="Google Shape;321;p21"/>
          <p:cNvSpPr txBox="1"/>
          <p:nvPr/>
        </p:nvSpPr>
        <p:spPr>
          <a:xfrm>
            <a:off x="762000" y="3412490"/>
            <a:ext cx="4586400" cy="5909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err="1">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広告からの流入はあるものの、LPでの離脱が多く、成約率（CVR）が伸び悩んでいた。月商も横ばい状態が続いていた</a:t>
            </a:r>
            <a:r>
              <a:rPr lang="en-US" sz="1200" b="0" i="0" u="none" strike="noStrike" cap="none" dirty="0">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a:t>
            </a:r>
            <a:endParaRPr dirty="0">
              <a:latin typeface="小塚ゴシック Pro M" panose="020B0700000000000000" pitchFamily="34" charset="-128"/>
              <a:ea typeface="小塚ゴシック Pro M" panose="020B0700000000000000" pitchFamily="34" charset="-128"/>
            </a:endParaRPr>
          </a:p>
        </p:txBody>
      </p:sp>
      <p:sp>
        <p:nvSpPr>
          <p:cNvPr id="322" name="Google Shape;322;p21"/>
          <p:cNvSpPr txBox="1"/>
          <p:nvPr/>
        </p:nvSpPr>
        <p:spPr>
          <a:xfrm>
            <a:off x="762000" y="4204412"/>
            <a:ext cx="45864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解決策</a:t>
            </a:r>
            <a:endParaRPr>
              <a:latin typeface="小塚ゴシック Pro B" panose="020B0800000000000000" pitchFamily="34" charset="-128"/>
              <a:ea typeface="小塚ゴシック Pro B" panose="020B0800000000000000" pitchFamily="34" charset="-128"/>
            </a:endParaRPr>
          </a:p>
        </p:txBody>
      </p:sp>
      <p:sp>
        <p:nvSpPr>
          <p:cNvPr id="323" name="Google Shape;323;p21"/>
          <p:cNvSpPr txBox="1"/>
          <p:nvPr/>
        </p:nvSpPr>
        <p:spPr>
          <a:xfrm>
            <a:off x="762000" y="4317967"/>
            <a:ext cx="4586400" cy="8863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Meta広告の運用に加え、LPの構成とデザインを抜本的に改修。さらにLINE公式アカウントのステップ配信を見直し、見込み客の教育から成約までの導線を最適化。</a:t>
            </a:r>
            <a:endParaRPr>
              <a:latin typeface="小塚ゴシック Pro M" panose="020B0700000000000000" pitchFamily="34" charset="-128"/>
              <a:ea typeface="小塚ゴシック Pro M" panose="020B0700000000000000" pitchFamily="34" charset="-128"/>
            </a:endParaRPr>
          </a:p>
        </p:txBody>
      </p:sp>
      <p:sp>
        <p:nvSpPr>
          <p:cNvPr id="324" name="Google Shape;324;p21"/>
          <p:cNvSpPr/>
          <p:nvPr/>
        </p:nvSpPr>
        <p:spPr>
          <a:xfrm>
            <a:off x="762000" y="5314354"/>
            <a:ext cx="4586400" cy="1019100"/>
          </a:xfrm>
          <a:prstGeom prst="rect">
            <a:avLst/>
          </a:prstGeom>
          <a:solidFill>
            <a:srgbClr val="FFFC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325" name="Google Shape;325;p21"/>
          <p:cNvSpPr txBox="1"/>
          <p:nvPr/>
        </p:nvSpPr>
        <p:spPr>
          <a:xfrm>
            <a:off x="1941625" y="5459538"/>
            <a:ext cx="3327300" cy="738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2400">
                <a:solidFill>
                  <a:srgbClr val="666666"/>
                </a:solidFill>
                <a:latin typeface="小塚ゴシック Pro B" panose="020B0800000000000000" pitchFamily="34" charset="-128"/>
                <a:ea typeface="小塚ゴシック Pro B" panose="020B0800000000000000" pitchFamily="34" charset="-128"/>
                <a:cs typeface="Noto Sans JP"/>
                <a:sym typeface="Noto Sans JP"/>
              </a:rPr>
              <a:t>月平均50万円から</a:t>
            </a:r>
            <a:endParaRPr sz="2400">
              <a:latin typeface="小塚ゴシック Pro B" panose="020B0800000000000000" pitchFamily="34" charset="-128"/>
              <a:ea typeface="小塚ゴシック Pro B" panose="020B0800000000000000" pitchFamily="34" charset="-128"/>
            </a:endParaRPr>
          </a:p>
          <a:p>
            <a:pPr marL="0" lvl="0" indent="0" algn="l" rtl="0">
              <a:spcBef>
                <a:spcPts val="0"/>
              </a:spcBef>
              <a:spcAft>
                <a:spcPts val="0"/>
              </a:spcAft>
              <a:buNone/>
            </a:pPr>
            <a:r>
              <a:rPr lang="en-US" sz="2400">
                <a:solidFill>
                  <a:srgbClr val="666666"/>
                </a:solidFill>
                <a:latin typeface="小塚ゴシック Pro B" panose="020B0800000000000000" pitchFamily="34" charset="-128"/>
                <a:ea typeface="小塚ゴシック Pro B" panose="020B0800000000000000" pitchFamily="34" charset="-128"/>
                <a:cs typeface="Noto Sans JP"/>
                <a:sym typeface="Noto Sans JP"/>
              </a:rPr>
              <a:t>最大150万円に改善</a:t>
            </a:r>
            <a:endParaRPr sz="2400">
              <a:latin typeface="小塚ゴシック Pro B" panose="020B0800000000000000" pitchFamily="34" charset="-128"/>
              <a:ea typeface="小塚ゴシック Pro B" panose="020B0800000000000000" pitchFamily="34" charset="-128"/>
            </a:endParaRPr>
          </a:p>
        </p:txBody>
      </p:sp>
      <p:sp>
        <p:nvSpPr>
          <p:cNvPr id="326" name="Google Shape;326;p21"/>
          <p:cNvSpPr/>
          <p:nvPr/>
        </p:nvSpPr>
        <p:spPr>
          <a:xfrm>
            <a:off x="762000" y="5314354"/>
            <a:ext cx="57300" cy="1019100"/>
          </a:xfrm>
          <a:prstGeom prst="rect">
            <a:avLst/>
          </a:prstGeom>
          <a:solidFill>
            <a:srgbClr val="C5A0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327" name="Google Shape;327;p21"/>
          <p:cNvSpPr txBox="1"/>
          <p:nvPr/>
        </p:nvSpPr>
        <p:spPr>
          <a:xfrm>
            <a:off x="909988" y="5591975"/>
            <a:ext cx="9408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実 績</a:t>
            </a:r>
            <a:endParaRPr sz="3000">
              <a:latin typeface="小塚ゴシック Pro B" panose="020B0800000000000000" pitchFamily="34" charset="-128"/>
              <a:ea typeface="小塚ゴシック Pro B" panose="020B0800000000000000" pitchFamily="34" charset="-128"/>
            </a:endParaRPr>
          </a:p>
        </p:txBody>
      </p:sp>
      <p:pic>
        <p:nvPicPr>
          <p:cNvPr id="328" name="Google Shape;328;p21" descr="image.png"/>
          <p:cNvPicPr preferRelativeResize="0"/>
          <p:nvPr/>
        </p:nvPicPr>
        <p:blipFill rotWithShape="1">
          <a:blip r:embed="rId6">
            <a:alphaModFix/>
          </a:blip>
          <a:srcRect/>
          <a:stretch/>
        </p:blipFill>
        <p:spPr>
          <a:xfrm>
            <a:off x="762000" y="6429375"/>
            <a:ext cx="10668000" cy="238125"/>
          </a:xfrm>
          <a:prstGeom prst="rect">
            <a:avLst/>
          </a:prstGeom>
          <a:noFill/>
          <a:ln>
            <a:noFill/>
          </a:ln>
        </p:spPr>
      </p:pic>
      <p:sp>
        <p:nvSpPr>
          <p:cNvPr id="329" name="Google Shape;329;p21"/>
          <p:cNvSpPr txBox="1"/>
          <p:nvPr/>
        </p:nvSpPr>
        <p:spPr>
          <a:xfrm>
            <a:off x="762000" y="6534150"/>
            <a:ext cx="1651200" cy="1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99999"/>
                </a:solidFill>
                <a:latin typeface="Lato"/>
                <a:ea typeface="Lato"/>
                <a:cs typeface="Lato"/>
                <a:sym typeface="Lato"/>
              </a:rPr>
              <a:t>© U-Writing All Rights Reserved.</a:t>
            </a:r>
            <a:endParaRPr/>
          </a:p>
        </p:txBody>
      </p:sp>
      <p:pic>
        <p:nvPicPr>
          <p:cNvPr id="330" name="Google Shape;330;p21" descr="「オンライン講座の月平均売上を最大化」というイメージで、選択スライドの挿絵を作成して欲しい"/>
          <p:cNvPicPr preferRelativeResize="0"/>
          <p:nvPr/>
        </p:nvPicPr>
        <p:blipFill rotWithShape="1">
          <a:blip r:embed="rId7">
            <a:alphaModFix/>
          </a:blip>
          <a:srcRect b="5784"/>
          <a:stretch/>
        </p:blipFill>
        <p:spPr>
          <a:xfrm>
            <a:off x="5834375" y="1181150"/>
            <a:ext cx="5468375" cy="5152200"/>
          </a:xfrm>
          <a:prstGeom prst="rect">
            <a:avLst/>
          </a:prstGeom>
          <a:noFill/>
          <a:ln>
            <a:noFill/>
          </a:ln>
          <a:effectLst>
            <a:outerShdw blurRad="57150" dist="19050" dir="5400000" algn="bl" rotWithShape="0">
              <a:srgbClr val="000000">
                <a:alpha val="50000"/>
              </a:srgbClr>
            </a:outerShdw>
          </a:effectLst>
        </p:spPr>
      </p:pic>
      <p:sp>
        <p:nvSpPr>
          <p:cNvPr id="2" name="スライド番号プレースホルダー 14">
            <a:extLst>
              <a:ext uri="{FF2B5EF4-FFF2-40B4-BE49-F238E27FC236}">
                <a16:creationId xmlns:a16="http://schemas.microsoft.com/office/drawing/2014/main" id="{45654F57-5C0A-1901-9A64-50EA7C38CA63}"/>
              </a:ext>
            </a:extLst>
          </p:cNvPr>
          <p:cNvSpPr txBox="1">
            <a:spLocks/>
          </p:cNvSpPr>
          <p:nvPr/>
        </p:nvSpPr>
        <p:spPr>
          <a:xfrm>
            <a:off x="8789549" y="6420836"/>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4B6131FB-BBC3-4224-AAE6-4E406EC349F0}" type="slidenum">
              <a:rPr kumimoji="1" lang="ja-JP" altLang="en-US" b="1" smtClean="0">
                <a:solidFill>
                  <a:srgbClr val="2C2C2C"/>
                </a:solidFill>
                <a:latin typeface="小塚ゴシック Pro B" panose="020B0800000000000000" pitchFamily="34" charset="-128"/>
                <a:ea typeface="小塚ゴシック Pro B" panose="020B0800000000000000" pitchFamily="34" charset="-128"/>
              </a:rPr>
              <a:pPr algn="r"/>
              <a:t>9</a:t>
            </a:fld>
            <a:endParaRPr kumimoji="1" lang="ja-JP" altLang="en-US" b="1" dirty="0">
              <a:solidFill>
                <a:srgbClr val="2C2C2C"/>
              </a:solidFill>
              <a:latin typeface="小塚ゴシック Pro B" panose="020B0800000000000000" pitchFamily="34" charset="-128"/>
              <a:ea typeface="小塚ゴシック Pro B" panose="020B0800000000000000" pitchFamily="34" charset="-128"/>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4"/>
        <p:cNvGrpSpPr/>
        <p:nvPr/>
      </p:nvGrpSpPr>
      <p:grpSpPr>
        <a:xfrm>
          <a:off x="0" y="0"/>
          <a:ext cx="0" cy="0"/>
          <a:chOff x="0" y="0"/>
          <a:chExt cx="0" cy="0"/>
        </a:xfrm>
      </p:grpSpPr>
      <p:grpSp>
        <p:nvGrpSpPr>
          <p:cNvPr id="335" name="Google Shape;335;p22"/>
          <p:cNvGrpSpPr/>
          <p:nvPr/>
        </p:nvGrpSpPr>
        <p:grpSpPr>
          <a:xfrm>
            <a:off x="0" y="0"/>
            <a:ext cx="12643324" cy="6976048"/>
            <a:chOff x="0" y="0"/>
            <a:chExt cx="12643324" cy="6976048"/>
          </a:xfrm>
        </p:grpSpPr>
        <p:pic>
          <p:nvPicPr>
            <p:cNvPr id="336" name="Google Shape;336;p22"/>
            <p:cNvPicPr preferRelativeResize="0"/>
            <p:nvPr/>
          </p:nvPicPr>
          <p:blipFill>
            <a:blip r:embed="rId3">
              <a:alphaModFix/>
            </a:blip>
            <a:stretch>
              <a:fillRect/>
            </a:stretch>
          </p:blipFill>
          <p:spPr>
            <a:xfrm>
              <a:off x="0" y="0"/>
              <a:ext cx="12643315" cy="6976048"/>
            </a:xfrm>
            <a:prstGeom prst="rect">
              <a:avLst/>
            </a:prstGeom>
            <a:noFill/>
            <a:ln>
              <a:noFill/>
            </a:ln>
          </p:spPr>
        </p:pic>
        <p:pic>
          <p:nvPicPr>
            <p:cNvPr id="337" name="Google Shape;337;p22"/>
            <p:cNvPicPr preferRelativeResize="0"/>
            <p:nvPr/>
          </p:nvPicPr>
          <p:blipFill rotWithShape="1">
            <a:blip r:embed="rId3">
              <a:alphaModFix/>
            </a:blip>
            <a:srcRect l="88432" t="69407" b="11568"/>
            <a:stretch/>
          </p:blipFill>
          <p:spPr>
            <a:xfrm>
              <a:off x="11180801" y="5648888"/>
              <a:ext cx="1462523" cy="1327158"/>
            </a:xfrm>
            <a:prstGeom prst="rect">
              <a:avLst/>
            </a:prstGeom>
            <a:noFill/>
            <a:ln>
              <a:noFill/>
            </a:ln>
          </p:spPr>
        </p:pic>
      </p:grpSp>
      <p:sp>
        <p:nvSpPr>
          <p:cNvPr id="338" name="Google Shape;338;p22"/>
          <p:cNvSpPr/>
          <p:nvPr/>
        </p:nvSpPr>
        <p:spPr>
          <a:xfrm>
            <a:off x="762000" y="3463625"/>
            <a:ext cx="4586400" cy="5397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小塚ゴシック Pro B" panose="020B0800000000000000" pitchFamily="34" charset="-128"/>
              <a:ea typeface="小塚ゴシック Pro B" panose="020B0800000000000000" pitchFamily="34" charset="-128"/>
              <a:cs typeface="Calibri"/>
              <a:sym typeface="Calibri"/>
            </a:endParaRPr>
          </a:p>
        </p:txBody>
      </p:sp>
      <p:sp>
        <p:nvSpPr>
          <p:cNvPr id="339" name="Google Shape;339;p22"/>
          <p:cNvSpPr/>
          <p:nvPr/>
        </p:nvSpPr>
        <p:spPr>
          <a:xfrm>
            <a:off x="762000" y="4367025"/>
            <a:ext cx="4586400" cy="807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小塚ゴシック Pro B" panose="020B0800000000000000" pitchFamily="34" charset="-128"/>
              <a:ea typeface="小塚ゴシック Pro B" panose="020B0800000000000000" pitchFamily="34" charset="-128"/>
              <a:cs typeface="Calibri"/>
              <a:sym typeface="Calibri"/>
            </a:endParaRPr>
          </a:p>
        </p:txBody>
      </p:sp>
      <p:pic>
        <p:nvPicPr>
          <p:cNvPr id="340" name="Google Shape;340;p22"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pic>
        <p:nvPicPr>
          <p:cNvPr id="341" name="Google Shape;341;p22" descr="image.png"/>
          <p:cNvPicPr preferRelativeResize="0"/>
          <p:nvPr/>
        </p:nvPicPr>
        <p:blipFill rotWithShape="1">
          <a:blip r:embed="rId5">
            <a:alphaModFix/>
          </a:blip>
          <a:srcRect/>
          <a:stretch/>
        </p:blipFill>
        <p:spPr>
          <a:xfrm>
            <a:off x="0" y="0"/>
            <a:ext cx="12192000" cy="142875"/>
          </a:xfrm>
          <a:prstGeom prst="rect">
            <a:avLst/>
          </a:prstGeom>
          <a:noFill/>
          <a:ln>
            <a:noFill/>
          </a:ln>
        </p:spPr>
      </p:pic>
      <p:sp>
        <p:nvSpPr>
          <p:cNvPr id="342" name="Google Shape;342;p22"/>
          <p:cNvSpPr txBox="1"/>
          <p:nvPr/>
        </p:nvSpPr>
        <p:spPr>
          <a:xfrm>
            <a:off x="762000" y="571500"/>
            <a:ext cx="10668000"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a:solidFill>
                  <a:srgbClr val="C5A059"/>
                </a:solidFill>
                <a:latin typeface="小塚ゴシック Pro B" panose="020B0800000000000000" pitchFamily="34" charset="-128"/>
                <a:ea typeface="小塚ゴシック Pro B" panose="020B0800000000000000" pitchFamily="34" charset="-128"/>
                <a:cs typeface="Lato"/>
                <a:sym typeface="Lato"/>
              </a:rPr>
              <a:t>CASE STUDY 04</a:t>
            </a:r>
            <a:endParaRPr>
              <a:latin typeface="小塚ゴシック Pro B" panose="020B0800000000000000" pitchFamily="34" charset="-128"/>
              <a:ea typeface="小塚ゴシック Pro B" panose="020B0800000000000000" pitchFamily="34" charset="-128"/>
            </a:endParaRPr>
          </a:p>
        </p:txBody>
      </p:sp>
      <p:sp>
        <p:nvSpPr>
          <p:cNvPr id="343" name="Google Shape;343;p22"/>
          <p:cNvSpPr txBox="1"/>
          <p:nvPr/>
        </p:nvSpPr>
        <p:spPr>
          <a:xfrm>
            <a:off x="762000" y="880020"/>
            <a:ext cx="11201400" cy="581698"/>
          </a:xfrm>
          <a:prstGeom prst="rect">
            <a:avLst/>
          </a:prstGeom>
          <a:noFill/>
          <a:ln>
            <a:noFill/>
          </a:ln>
        </p:spPr>
        <p:txBody>
          <a:bodyPr spcFirstLastPara="1" wrap="square" lIns="0" tIns="0" rIns="0" bIns="0" anchor="t" anchorCtr="0">
            <a:spAutoFit/>
          </a:bodyPr>
          <a:lstStyle/>
          <a:p>
            <a:pPr marL="0" marR="0" lvl="0" indent="0" algn="l" rtl="0">
              <a:lnSpc>
                <a:spcPct val="139962"/>
              </a:lnSpc>
              <a:spcBef>
                <a:spcPts val="0"/>
              </a:spcBef>
              <a:spcAft>
                <a:spcPts val="0"/>
              </a:spcAft>
              <a:buNone/>
            </a:pPr>
            <a:r>
              <a:rPr lang="en-US" sz="27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導入実績・成果</a:t>
            </a:r>
            <a:endParaRPr>
              <a:latin typeface="小塚ゴシック Pro B" panose="020B0800000000000000" pitchFamily="34" charset="-128"/>
              <a:ea typeface="小塚ゴシック Pro B" panose="020B0800000000000000" pitchFamily="34" charset="-128"/>
            </a:endParaRPr>
          </a:p>
        </p:txBody>
      </p:sp>
      <p:sp>
        <p:nvSpPr>
          <p:cNvPr id="344" name="Google Shape;344;p22"/>
          <p:cNvSpPr txBox="1"/>
          <p:nvPr/>
        </p:nvSpPr>
        <p:spPr>
          <a:xfrm>
            <a:off x="762000" y="6534150"/>
            <a:ext cx="1651099"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99999"/>
                </a:solidFill>
                <a:latin typeface="Lato"/>
                <a:ea typeface="Lato"/>
                <a:cs typeface="Lato"/>
                <a:sym typeface="Lato"/>
              </a:rPr>
              <a:t>© U-Writing All Rights Reserved.</a:t>
            </a:r>
            <a:endParaRPr/>
          </a:p>
        </p:txBody>
      </p:sp>
      <p:pic>
        <p:nvPicPr>
          <p:cNvPr id="346" name="Google Shape;346;p22" descr="image.png"/>
          <p:cNvPicPr preferRelativeResize="0"/>
          <p:nvPr/>
        </p:nvPicPr>
        <p:blipFill rotWithShape="1">
          <a:blip r:embed="rId6">
            <a:alphaModFix/>
          </a:blip>
          <a:srcRect/>
          <a:stretch/>
        </p:blipFill>
        <p:spPr>
          <a:xfrm>
            <a:off x="762000" y="1740991"/>
            <a:ext cx="1485900" cy="266700"/>
          </a:xfrm>
          <a:prstGeom prst="rect">
            <a:avLst/>
          </a:prstGeom>
          <a:noFill/>
          <a:ln>
            <a:noFill/>
          </a:ln>
        </p:spPr>
      </p:pic>
      <p:sp>
        <p:nvSpPr>
          <p:cNvPr id="347" name="Google Shape;347;p22"/>
          <p:cNvSpPr txBox="1"/>
          <p:nvPr/>
        </p:nvSpPr>
        <p:spPr>
          <a:xfrm>
            <a:off x="762000" y="2198200"/>
            <a:ext cx="4954200" cy="960263"/>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US" sz="2400" b="1" i="0" u="none" strike="noStrike" cap="none" dirty="0" err="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Web</a:t>
            </a:r>
            <a:r>
              <a:rPr lang="en-US" sz="2400" b="1" dirty="0" err="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コンテンツ</a:t>
            </a:r>
            <a:r>
              <a:rPr lang="en-US" sz="2400" b="1" i="0" u="none" strike="noStrike" cap="none" dirty="0" err="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記事</a:t>
            </a:r>
            <a:r>
              <a:rPr lang="en-US" sz="2400" b="1" dirty="0" err="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を制作し</a:t>
            </a:r>
            <a:r>
              <a:rPr lang="en-US" sz="2400" b="1" dirty="0">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a:t>
            </a:r>
            <a:br>
              <a:rPr lang="en-US" sz="1800" b="1" i="0" u="none" strike="noStrike" cap="none" dirty="0">
                <a:solidFill>
                  <a:schemeClr val="dk1"/>
                </a:solidFill>
                <a:latin typeface="小塚ゴシック Pro B" panose="020B0800000000000000" pitchFamily="34" charset="-128"/>
                <a:ea typeface="小塚ゴシック Pro B" panose="020B0800000000000000" pitchFamily="34" charset="-128"/>
                <a:cs typeface="Calibri"/>
                <a:sym typeface="Calibri"/>
              </a:rPr>
            </a:br>
            <a:r>
              <a:rPr lang="en-US" sz="2400" b="1" dirty="0" err="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会社と求職者のミスマッチ減</a:t>
            </a:r>
            <a:endParaRPr b="1" dirty="0">
              <a:latin typeface="小塚ゴシック Pro B" panose="020B0800000000000000" pitchFamily="34" charset="-128"/>
              <a:ea typeface="小塚ゴシック Pro B" panose="020B0800000000000000" pitchFamily="34" charset="-128"/>
            </a:endParaRPr>
          </a:p>
        </p:txBody>
      </p:sp>
      <p:sp>
        <p:nvSpPr>
          <p:cNvPr id="348" name="Google Shape;348;p22"/>
          <p:cNvSpPr txBox="1"/>
          <p:nvPr/>
        </p:nvSpPr>
        <p:spPr>
          <a:xfrm>
            <a:off x="762000" y="3276302"/>
            <a:ext cx="4586287"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課題</a:t>
            </a:r>
            <a:endParaRPr>
              <a:latin typeface="小塚ゴシック Pro B" panose="020B0800000000000000" pitchFamily="34" charset="-128"/>
              <a:ea typeface="小塚ゴシック Pro B" panose="020B0800000000000000" pitchFamily="34" charset="-128"/>
            </a:endParaRPr>
          </a:p>
        </p:txBody>
      </p:sp>
      <p:sp>
        <p:nvSpPr>
          <p:cNvPr id="349" name="Google Shape;349;p22"/>
          <p:cNvSpPr txBox="1"/>
          <p:nvPr/>
        </p:nvSpPr>
        <p:spPr>
          <a:xfrm>
            <a:off x="762000" y="3411050"/>
            <a:ext cx="4586400" cy="5909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err="1">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当初は会社案内のパンフレット制作依頼。ヒアリングの結果</a:t>
            </a:r>
            <a:r>
              <a:rPr lang="en-US" sz="1200" b="0" i="0" u="none" strike="noStrike" cap="none" dirty="0">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a:t>
            </a:r>
          </a:p>
          <a:p>
            <a:pPr marL="0" marR="0" lvl="0" indent="0" algn="l" rtl="0">
              <a:lnSpc>
                <a:spcPct val="160000"/>
              </a:lnSpc>
              <a:spcBef>
                <a:spcPts val="0"/>
              </a:spcBef>
              <a:spcAft>
                <a:spcPts val="0"/>
              </a:spcAft>
              <a:buNone/>
            </a:pPr>
            <a:r>
              <a:rPr lang="en-US" sz="1200" dirty="0" err="1">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会社HPの情報発信力の不足から、ミスマッチが発生していた</a:t>
            </a:r>
            <a:r>
              <a:rPr lang="en-US" sz="1200" b="0" i="0" u="none" strike="noStrike" cap="none" dirty="0">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a:t>
            </a:r>
            <a:endParaRPr dirty="0">
              <a:latin typeface="小塚ゴシック Pro M" panose="020B0700000000000000" pitchFamily="34" charset="-128"/>
              <a:ea typeface="小塚ゴシック Pro M" panose="020B0700000000000000" pitchFamily="34" charset="-128"/>
            </a:endParaRPr>
          </a:p>
        </p:txBody>
      </p:sp>
      <p:sp>
        <p:nvSpPr>
          <p:cNvPr id="350" name="Google Shape;350;p22"/>
          <p:cNvSpPr txBox="1"/>
          <p:nvPr/>
        </p:nvSpPr>
        <p:spPr>
          <a:xfrm>
            <a:off x="762000" y="4198368"/>
            <a:ext cx="45864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解決策</a:t>
            </a:r>
            <a:endParaRPr>
              <a:latin typeface="小塚ゴシック Pro B" panose="020B0800000000000000" pitchFamily="34" charset="-128"/>
              <a:ea typeface="小塚ゴシック Pro B" panose="020B0800000000000000" pitchFamily="34" charset="-128"/>
            </a:endParaRPr>
          </a:p>
        </p:txBody>
      </p:sp>
      <p:sp>
        <p:nvSpPr>
          <p:cNvPr id="351" name="Google Shape;351;p22"/>
          <p:cNvSpPr txBox="1"/>
          <p:nvPr/>
        </p:nvSpPr>
        <p:spPr>
          <a:xfrm>
            <a:off x="762000" y="4333116"/>
            <a:ext cx="4586400" cy="8863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パンフレット制作を中止し、「</a:t>
            </a:r>
            <a:r>
              <a:rPr lang="en-US" sz="1200">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会社HPに会社が求める人物像・代表の想いを載せた記事</a:t>
            </a:r>
            <a:r>
              <a:rPr lang="en-US" sz="1200" b="0" i="0" u="none" strike="noStrike" cap="none">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」制作を提案。</a:t>
            </a:r>
            <a:r>
              <a:rPr lang="en-US" sz="1200">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応募前後に会社が求める人物像を伝えておくことでミスマッチを減らせるように。</a:t>
            </a:r>
            <a:endParaRPr>
              <a:latin typeface="小塚ゴシック Pro M" panose="020B0700000000000000" pitchFamily="34" charset="-128"/>
              <a:ea typeface="小塚ゴシック Pro M" panose="020B0700000000000000" pitchFamily="34" charset="-128"/>
            </a:endParaRPr>
          </a:p>
        </p:txBody>
      </p:sp>
      <p:sp>
        <p:nvSpPr>
          <p:cNvPr id="352" name="Google Shape;352;p22"/>
          <p:cNvSpPr/>
          <p:nvPr/>
        </p:nvSpPr>
        <p:spPr>
          <a:xfrm>
            <a:off x="762000" y="5314354"/>
            <a:ext cx="4586400" cy="1019100"/>
          </a:xfrm>
          <a:prstGeom prst="rect">
            <a:avLst/>
          </a:prstGeom>
          <a:solidFill>
            <a:srgbClr val="FFFC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353" name="Google Shape;353;p22"/>
          <p:cNvSpPr txBox="1"/>
          <p:nvPr/>
        </p:nvSpPr>
        <p:spPr>
          <a:xfrm>
            <a:off x="1941625" y="5459538"/>
            <a:ext cx="3327300" cy="738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2400">
                <a:solidFill>
                  <a:srgbClr val="666666"/>
                </a:solidFill>
                <a:latin typeface="小塚ゴシック Pro B" panose="020B0800000000000000" pitchFamily="34" charset="-128"/>
                <a:ea typeface="小塚ゴシック Pro B" panose="020B0800000000000000" pitchFamily="34" charset="-128"/>
                <a:cs typeface="Noto Sans JP"/>
                <a:sym typeface="Noto Sans JP"/>
              </a:rPr>
              <a:t>記事公開1週間以内で</a:t>
            </a:r>
            <a:endParaRPr sz="2400">
              <a:solidFill>
                <a:srgbClr val="666666"/>
              </a:solidFill>
              <a:latin typeface="小塚ゴシック Pro B" panose="020B0800000000000000" pitchFamily="34" charset="-128"/>
              <a:ea typeface="小塚ゴシック Pro B" panose="020B0800000000000000" pitchFamily="34" charset="-128"/>
              <a:cs typeface="Noto Sans JP"/>
              <a:sym typeface="Noto Sans JP"/>
            </a:endParaRPr>
          </a:p>
          <a:p>
            <a:pPr marL="0" lvl="0" indent="0" algn="l" rtl="0">
              <a:spcBef>
                <a:spcPts val="0"/>
              </a:spcBef>
              <a:spcAft>
                <a:spcPts val="0"/>
              </a:spcAft>
              <a:buNone/>
            </a:pPr>
            <a:r>
              <a:rPr lang="en-US" sz="2400" b="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1人内定</a:t>
            </a:r>
            <a:endParaRPr sz="2400" b="1">
              <a:solidFill>
                <a:srgbClr val="2C2C2C"/>
              </a:solidFill>
              <a:latin typeface="小塚ゴシック Pro B" panose="020B0800000000000000" pitchFamily="34" charset="-128"/>
              <a:ea typeface="小塚ゴシック Pro B" panose="020B0800000000000000" pitchFamily="34" charset="-128"/>
            </a:endParaRPr>
          </a:p>
        </p:txBody>
      </p:sp>
      <p:sp>
        <p:nvSpPr>
          <p:cNvPr id="354" name="Google Shape;354;p22"/>
          <p:cNvSpPr/>
          <p:nvPr/>
        </p:nvSpPr>
        <p:spPr>
          <a:xfrm>
            <a:off x="762000" y="5314354"/>
            <a:ext cx="57300" cy="1019100"/>
          </a:xfrm>
          <a:prstGeom prst="rect">
            <a:avLst/>
          </a:prstGeom>
          <a:solidFill>
            <a:srgbClr val="C5A0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355" name="Google Shape;355;p22"/>
          <p:cNvSpPr txBox="1"/>
          <p:nvPr/>
        </p:nvSpPr>
        <p:spPr>
          <a:xfrm>
            <a:off x="909988" y="5591975"/>
            <a:ext cx="9408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実 績</a:t>
            </a:r>
            <a:endParaRPr sz="3000">
              <a:latin typeface="小塚ゴシック Pro B" panose="020B0800000000000000" pitchFamily="34" charset="-128"/>
              <a:ea typeface="小塚ゴシック Pro B" panose="020B0800000000000000" pitchFamily="34" charset="-128"/>
            </a:endParaRPr>
          </a:p>
        </p:txBody>
      </p:sp>
      <p:pic>
        <p:nvPicPr>
          <p:cNvPr id="356" name="Google Shape;356;p22"/>
          <p:cNvPicPr preferRelativeResize="0"/>
          <p:nvPr/>
        </p:nvPicPr>
        <p:blipFill>
          <a:blip r:embed="rId7">
            <a:alphaModFix/>
          </a:blip>
          <a:stretch>
            <a:fillRect/>
          </a:stretch>
        </p:blipFill>
        <p:spPr>
          <a:xfrm>
            <a:off x="5716305" y="2591300"/>
            <a:ext cx="5713694" cy="3000675"/>
          </a:xfrm>
          <a:prstGeom prst="rect">
            <a:avLst/>
          </a:prstGeom>
          <a:noFill/>
          <a:ln>
            <a:noFill/>
          </a:ln>
          <a:effectLst>
            <a:outerShdw blurRad="57150" dist="19050" dir="5400000" algn="bl" rotWithShape="0">
              <a:srgbClr val="000000">
                <a:alpha val="50000"/>
              </a:srgbClr>
            </a:outerShdw>
          </a:effectLst>
        </p:spPr>
      </p:pic>
      <p:sp>
        <p:nvSpPr>
          <p:cNvPr id="2" name="スライド番号プレースホルダー 14">
            <a:extLst>
              <a:ext uri="{FF2B5EF4-FFF2-40B4-BE49-F238E27FC236}">
                <a16:creationId xmlns:a16="http://schemas.microsoft.com/office/drawing/2014/main" id="{71355869-818E-E34C-9371-41581712390B}"/>
              </a:ext>
            </a:extLst>
          </p:cNvPr>
          <p:cNvSpPr txBox="1">
            <a:spLocks/>
          </p:cNvSpPr>
          <p:nvPr/>
        </p:nvSpPr>
        <p:spPr>
          <a:xfrm>
            <a:off x="8789549" y="6420836"/>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4B6131FB-BBC3-4224-AAE6-4E406EC349F0}" type="slidenum">
              <a:rPr kumimoji="1" lang="ja-JP" altLang="en-US" b="1" smtClean="0">
                <a:solidFill>
                  <a:srgbClr val="2C2C2C"/>
                </a:solidFill>
                <a:latin typeface="小塚ゴシック Pro B" panose="020B0800000000000000" pitchFamily="34" charset="-128"/>
                <a:ea typeface="小塚ゴシック Pro B" panose="020B0800000000000000" pitchFamily="34" charset="-128"/>
              </a:rPr>
              <a:pPr algn="r"/>
              <a:t>10</a:t>
            </a:fld>
            <a:endParaRPr kumimoji="1" lang="ja-JP" altLang="en-US" b="1" dirty="0">
              <a:solidFill>
                <a:srgbClr val="2C2C2C"/>
              </a:solidFill>
              <a:latin typeface="小塚ゴシック Pro B" panose="020B0800000000000000" pitchFamily="34" charset="-128"/>
              <a:ea typeface="小塚ゴシック Pro B" panose="020B0800000000000000" pitchFamily="34" charset="-128"/>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60"/>
        <p:cNvGrpSpPr/>
        <p:nvPr/>
      </p:nvGrpSpPr>
      <p:grpSpPr>
        <a:xfrm>
          <a:off x="0" y="0"/>
          <a:ext cx="0" cy="0"/>
          <a:chOff x="0" y="0"/>
          <a:chExt cx="0" cy="0"/>
        </a:xfrm>
      </p:grpSpPr>
      <p:grpSp>
        <p:nvGrpSpPr>
          <p:cNvPr id="361" name="Google Shape;361;p23"/>
          <p:cNvGrpSpPr/>
          <p:nvPr/>
        </p:nvGrpSpPr>
        <p:grpSpPr>
          <a:xfrm>
            <a:off x="0" y="0"/>
            <a:ext cx="12643324" cy="6976048"/>
            <a:chOff x="0" y="0"/>
            <a:chExt cx="12643324" cy="6976048"/>
          </a:xfrm>
        </p:grpSpPr>
        <p:pic>
          <p:nvPicPr>
            <p:cNvPr id="362" name="Google Shape;362;p23"/>
            <p:cNvPicPr preferRelativeResize="0"/>
            <p:nvPr/>
          </p:nvPicPr>
          <p:blipFill>
            <a:blip r:embed="rId3">
              <a:alphaModFix/>
            </a:blip>
            <a:stretch>
              <a:fillRect/>
            </a:stretch>
          </p:blipFill>
          <p:spPr>
            <a:xfrm>
              <a:off x="0" y="0"/>
              <a:ext cx="12643315" cy="6976048"/>
            </a:xfrm>
            <a:prstGeom prst="rect">
              <a:avLst/>
            </a:prstGeom>
            <a:noFill/>
            <a:ln>
              <a:noFill/>
            </a:ln>
          </p:spPr>
        </p:pic>
        <p:pic>
          <p:nvPicPr>
            <p:cNvPr id="363" name="Google Shape;363;p23"/>
            <p:cNvPicPr preferRelativeResize="0"/>
            <p:nvPr/>
          </p:nvPicPr>
          <p:blipFill rotWithShape="1">
            <a:blip r:embed="rId3">
              <a:alphaModFix/>
            </a:blip>
            <a:srcRect l="88432" t="69407" b="11568"/>
            <a:stretch/>
          </p:blipFill>
          <p:spPr>
            <a:xfrm>
              <a:off x="11180801" y="5648888"/>
              <a:ext cx="1462523" cy="1327158"/>
            </a:xfrm>
            <a:prstGeom prst="rect">
              <a:avLst/>
            </a:prstGeom>
            <a:noFill/>
            <a:ln>
              <a:noFill/>
            </a:ln>
          </p:spPr>
        </p:pic>
      </p:grpSp>
      <p:pic>
        <p:nvPicPr>
          <p:cNvPr id="364" name="Google Shape;364;p23"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pic>
        <p:nvPicPr>
          <p:cNvPr id="365" name="Google Shape;365;p23" descr="image.png"/>
          <p:cNvPicPr preferRelativeResize="0"/>
          <p:nvPr/>
        </p:nvPicPr>
        <p:blipFill rotWithShape="1">
          <a:blip r:embed="rId5">
            <a:alphaModFix/>
          </a:blip>
          <a:srcRect/>
          <a:stretch/>
        </p:blipFill>
        <p:spPr>
          <a:xfrm>
            <a:off x="762000" y="5703391"/>
            <a:ext cx="10668000" cy="518070"/>
          </a:xfrm>
          <a:prstGeom prst="rect">
            <a:avLst/>
          </a:prstGeom>
          <a:noFill/>
          <a:ln>
            <a:noFill/>
          </a:ln>
        </p:spPr>
      </p:pic>
      <p:pic>
        <p:nvPicPr>
          <p:cNvPr id="366" name="Google Shape;366;p23" descr="image.png"/>
          <p:cNvPicPr preferRelativeResize="0"/>
          <p:nvPr/>
        </p:nvPicPr>
        <p:blipFill rotWithShape="1">
          <a:blip r:embed="rId6">
            <a:alphaModFix/>
          </a:blip>
          <a:srcRect/>
          <a:stretch/>
        </p:blipFill>
        <p:spPr>
          <a:xfrm>
            <a:off x="0" y="0"/>
            <a:ext cx="12192000" cy="142875"/>
          </a:xfrm>
          <a:prstGeom prst="rect">
            <a:avLst/>
          </a:prstGeom>
          <a:noFill/>
          <a:ln>
            <a:noFill/>
          </a:ln>
        </p:spPr>
      </p:pic>
      <p:sp>
        <p:nvSpPr>
          <p:cNvPr id="367" name="Google Shape;367;p23"/>
          <p:cNvSpPr txBox="1"/>
          <p:nvPr/>
        </p:nvSpPr>
        <p:spPr>
          <a:xfrm>
            <a:off x="762000" y="571500"/>
            <a:ext cx="10668000"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a:solidFill>
                  <a:srgbClr val="C5A059"/>
                </a:solidFill>
                <a:latin typeface="小塚ゴシック Pro B" panose="020B0800000000000000" pitchFamily="34" charset="-128"/>
                <a:ea typeface="小塚ゴシック Pro B" panose="020B0800000000000000" pitchFamily="34" charset="-128"/>
                <a:cs typeface="Lato"/>
                <a:sym typeface="Lato"/>
              </a:rPr>
              <a:t>PRICE PLAN</a:t>
            </a:r>
            <a:endParaRPr>
              <a:latin typeface="小塚ゴシック Pro B" panose="020B0800000000000000" pitchFamily="34" charset="-128"/>
              <a:ea typeface="小塚ゴシック Pro B" panose="020B0800000000000000" pitchFamily="34" charset="-128"/>
            </a:endParaRPr>
          </a:p>
        </p:txBody>
      </p:sp>
      <p:sp>
        <p:nvSpPr>
          <p:cNvPr id="368" name="Google Shape;368;p23"/>
          <p:cNvSpPr txBox="1"/>
          <p:nvPr/>
        </p:nvSpPr>
        <p:spPr>
          <a:xfrm>
            <a:off x="762000" y="880020"/>
            <a:ext cx="11201400" cy="581698"/>
          </a:xfrm>
          <a:prstGeom prst="rect">
            <a:avLst/>
          </a:prstGeom>
          <a:noFill/>
          <a:ln>
            <a:noFill/>
          </a:ln>
        </p:spPr>
        <p:txBody>
          <a:bodyPr spcFirstLastPara="1" wrap="square" lIns="0" tIns="0" rIns="0" bIns="0" anchor="t" anchorCtr="0">
            <a:spAutoFit/>
          </a:bodyPr>
          <a:lstStyle/>
          <a:p>
            <a:pPr marL="0" marR="0" lvl="0" indent="0" algn="l" rtl="0">
              <a:lnSpc>
                <a:spcPct val="139962"/>
              </a:lnSpc>
              <a:spcBef>
                <a:spcPts val="0"/>
              </a:spcBef>
              <a:spcAft>
                <a:spcPts val="0"/>
              </a:spcAft>
              <a:buNone/>
            </a:pPr>
            <a:r>
              <a:rPr lang="en-US" sz="2700" b="1" dirty="0" err="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提供サービス</a:t>
            </a:r>
            <a:r>
              <a:rPr lang="en-US" sz="2700" b="1" dirty="0">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 &amp; </a:t>
            </a:r>
            <a:r>
              <a:rPr lang="en-US" sz="2700" b="1" i="0" u="none" strike="noStrike" cap="none" dirty="0" err="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料金</a:t>
            </a:r>
            <a:r>
              <a:rPr lang="ja-JP" altLang="en-US" sz="2700" b="1" i="0" u="none" strike="noStrike" cap="none" dirty="0">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一覧</a:t>
            </a:r>
            <a:endParaRPr dirty="0">
              <a:latin typeface="小塚ゴシック Pro B" panose="020B0800000000000000" pitchFamily="34" charset="-128"/>
              <a:ea typeface="小塚ゴシック Pro B" panose="020B0800000000000000" pitchFamily="34" charset="-128"/>
            </a:endParaRPr>
          </a:p>
        </p:txBody>
      </p:sp>
      <p:graphicFrame>
        <p:nvGraphicFramePr>
          <p:cNvPr id="369" name="Google Shape;369;p23"/>
          <p:cNvGraphicFramePr/>
          <p:nvPr>
            <p:extLst>
              <p:ext uri="{D42A27DB-BD31-4B8C-83A1-F6EECF244321}">
                <p14:modId xmlns:p14="http://schemas.microsoft.com/office/powerpoint/2010/main" val="3774374282"/>
              </p:ext>
            </p:extLst>
          </p:nvPr>
        </p:nvGraphicFramePr>
        <p:xfrm>
          <a:off x="762000" y="1931491"/>
          <a:ext cx="10668000" cy="3581375"/>
        </p:xfrm>
        <a:graphic>
          <a:graphicData uri="http://schemas.openxmlformats.org/drawingml/2006/table">
            <a:tbl>
              <a:tblPr firstRow="1" bandRow="1">
                <a:noFill/>
                <a:tableStyleId>{8755441B-8EC1-4DEB-A316-B9E18D9EBE71}</a:tableStyleId>
              </a:tblPr>
              <a:tblGrid>
                <a:gridCol w="32004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2133600">
                  <a:extLst>
                    <a:ext uri="{9D8B030D-6E8A-4147-A177-3AD203B41FA5}">
                      <a16:colId xmlns:a16="http://schemas.microsoft.com/office/drawing/2014/main" val="20002"/>
                    </a:ext>
                  </a:extLst>
                </a:gridCol>
              </a:tblGrid>
              <a:tr h="716275">
                <a:tc>
                  <a:txBody>
                    <a:bodyPr/>
                    <a:lstStyle/>
                    <a:p>
                      <a:pPr marL="0" marR="0" lvl="0" indent="0" algn="ctr" rtl="0">
                        <a:spcBef>
                          <a:spcPts val="0"/>
                        </a:spcBef>
                        <a:spcAft>
                          <a:spcPts val="0"/>
                        </a:spcAft>
                        <a:buNone/>
                      </a:pPr>
                      <a:r>
                        <a:rPr lang="en-US" sz="1200" b="1" i="0" u="none" strike="noStrike" cap="none" dirty="0" err="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プラン名</a:t>
                      </a:r>
                      <a:endParaRPr dirty="0">
                        <a:latin typeface="小塚ゴシック Pro B" panose="020B0800000000000000" pitchFamily="34" charset="-128"/>
                        <a:ea typeface="小塚ゴシック Pro B" panose="020B08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9F9"/>
                    </a:solidFill>
                  </a:tcPr>
                </a:tc>
                <a:tc>
                  <a:txBody>
                    <a:bodyPr/>
                    <a:lstStyle/>
                    <a:p>
                      <a:pPr marL="0" marR="0" lvl="0" indent="0" algn="ctr" rtl="0">
                        <a:spcBef>
                          <a:spcPts val="0"/>
                        </a:spcBef>
                        <a:spcAft>
                          <a:spcPts val="0"/>
                        </a:spcAft>
                        <a:buNone/>
                      </a:pPr>
                      <a:r>
                        <a:rPr lang="en-US" sz="1200" b="1" i="0" u="none" strike="noStrike" cap="none" dirty="0" err="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内容</a:t>
                      </a:r>
                      <a:endParaRPr dirty="0">
                        <a:latin typeface="小塚ゴシック Pro B" panose="020B0800000000000000" pitchFamily="34" charset="-128"/>
                        <a:ea typeface="小塚ゴシック Pro B" panose="020B08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9F9"/>
                    </a:solidFill>
                  </a:tcPr>
                </a:tc>
                <a:tc>
                  <a:txBody>
                    <a:bodyPr/>
                    <a:lstStyle/>
                    <a:p>
                      <a:pPr marL="0" marR="0" lvl="0" indent="0" algn="l" rtl="0">
                        <a:spcBef>
                          <a:spcPts val="0"/>
                        </a:spcBef>
                        <a:spcAft>
                          <a:spcPts val="0"/>
                        </a:spcAft>
                        <a:buNone/>
                      </a:pPr>
                      <a:r>
                        <a:rPr lang="en-US" sz="1200" b="1" i="0" u="none" strike="noStrike" cap="none" dirty="0" err="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価格</a:t>
                      </a:r>
                      <a:r>
                        <a:rPr lang="ja-JP" altLang="en-US" sz="1200" b="1" i="0" u="none" strike="noStrike" cap="none" dirty="0">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（税込）</a:t>
                      </a:r>
                      <a:endParaRPr dirty="0">
                        <a:latin typeface="小塚ゴシック Pro B" panose="020B0800000000000000" pitchFamily="34" charset="-128"/>
                        <a:ea typeface="小塚ゴシック Pro B" panose="020B08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9F9"/>
                    </a:solidFill>
                  </a:tcPr>
                </a:tc>
                <a:extLst>
                  <a:ext uri="{0D108BD9-81ED-4DB2-BD59-A6C34878D82A}">
                    <a16:rowId xmlns:a16="http://schemas.microsoft.com/office/drawing/2014/main" val="10000"/>
                  </a:ext>
                </a:extLst>
              </a:tr>
              <a:tr h="716275">
                <a:tc>
                  <a:txBody>
                    <a:bodyPr/>
                    <a:lstStyle/>
                    <a:p>
                      <a:pPr marL="0" marR="0" lvl="0" indent="0" algn="ctr" rtl="0">
                        <a:spcBef>
                          <a:spcPts val="0"/>
                        </a:spcBef>
                        <a:spcAft>
                          <a:spcPts val="0"/>
                        </a:spcAft>
                        <a:buNone/>
                      </a:pPr>
                      <a:r>
                        <a:rPr lang="en-US" sz="1200" b="1" i="0" u="none" strike="noStrike" cap="none" dirty="0" err="1">
                          <a:solidFill>
                            <a:srgbClr val="333333"/>
                          </a:solidFill>
                          <a:latin typeface="小塚ゴシック Pro B" panose="020B0800000000000000" pitchFamily="34" charset="-128"/>
                          <a:ea typeface="小塚ゴシック Pro B" panose="020B0800000000000000" pitchFamily="34" charset="-128"/>
                          <a:cs typeface="Noto Sans JP"/>
                          <a:sym typeface="Noto Sans JP"/>
                        </a:rPr>
                        <a:t>制作代行「カワリミ</a:t>
                      </a:r>
                      <a:r>
                        <a:rPr lang="en-US" sz="1200" b="1" i="0" u="none" strike="noStrike" cap="none" dirty="0">
                          <a:solidFill>
                            <a:srgbClr val="333333"/>
                          </a:solidFill>
                          <a:latin typeface="小塚ゴシック Pro B" panose="020B0800000000000000" pitchFamily="34" charset="-128"/>
                          <a:ea typeface="小塚ゴシック Pro B" panose="020B0800000000000000" pitchFamily="34" charset="-128"/>
                          <a:cs typeface="Noto Sans JP"/>
                          <a:sym typeface="Noto Sans JP"/>
                        </a:rPr>
                        <a:t>」</a:t>
                      </a:r>
                      <a:endParaRPr dirty="0">
                        <a:latin typeface="小塚ゴシック Pro B" panose="020B0800000000000000" pitchFamily="34" charset="-128"/>
                        <a:ea typeface="小塚ゴシック Pro B" panose="020B08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None/>
                      </a:pPr>
                      <a:r>
                        <a:rPr lang="en-US" sz="1200"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集客活動に必要な</a:t>
                      </a:r>
                      <a:r>
                        <a:rPr lang="en-US" sz="1200" b="1" dirty="0" err="1">
                          <a:solidFill>
                            <a:srgbClr val="FF0000"/>
                          </a:solidFill>
                          <a:latin typeface="小塚ゴシック Pro M" panose="020B0700000000000000" pitchFamily="34" charset="-128"/>
                          <a:ea typeface="小塚ゴシック Pro M" panose="020B0700000000000000" pitchFamily="34" charset="-128"/>
                          <a:cs typeface="Noto Sans JP"/>
                          <a:sym typeface="Noto Sans JP"/>
                        </a:rPr>
                        <a:t>広告物の制作</a:t>
                      </a:r>
                      <a:r>
                        <a:rPr lang="en-US" sz="1200" b="1" dirty="0" err="1">
                          <a:solidFill>
                            <a:srgbClr val="2C2C2C"/>
                          </a:solidFill>
                          <a:latin typeface="小塚ゴシック Pro M" panose="020B0700000000000000" pitchFamily="34" charset="-128"/>
                          <a:ea typeface="小塚ゴシック Pro M" panose="020B0700000000000000" pitchFamily="34" charset="-128"/>
                          <a:cs typeface="Noto Sans JP"/>
                          <a:sym typeface="Noto Sans JP"/>
                        </a:rPr>
                        <a:t>を代行</a:t>
                      </a:r>
                      <a:r>
                        <a:rPr lang="en-US" sz="1200"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します</a:t>
                      </a:r>
                      <a:r>
                        <a:rPr lang="en-US" sz="1200"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a:t>
                      </a:r>
                      <a:endParaRPr sz="1200"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endParaRPr>
                    </a:p>
                    <a:p>
                      <a:pPr marL="0" marR="0" lvl="0" indent="0" algn="l" rtl="0">
                        <a:spcBef>
                          <a:spcPts val="0"/>
                        </a:spcBef>
                        <a:spcAft>
                          <a:spcPts val="0"/>
                        </a:spcAft>
                        <a:buNone/>
                      </a:pPr>
                      <a:r>
                        <a:rPr lang="en-US" sz="1200" b="0" i="0" u="none" strike="noStrike" cap="none"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a:t>
                      </a:r>
                      <a:r>
                        <a:rPr lang="en-US" sz="1200" b="0" i="0" u="none" strike="noStrike" cap="none"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LP</a:t>
                      </a:r>
                      <a:r>
                        <a:rPr lang="en-US" sz="1200"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・HP</a:t>
                      </a:r>
                      <a:r>
                        <a:rPr lang="en-US" sz="1200" b="0" i="0" u="none" strike="noStrike" cap="none"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、チラシ、LINE構築</a:t>
                      </a:r>
                      <a:r>
                        <a:rPr lang="en-US" sz="1200"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・運用、Meta広告運用</a:t>
                      </a:r>
                      <a:r>
                        <a:rPr lang="en-US" sz="1200" b="0" i="0" u="none" strike="noStrike" cap="none"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など</a:t>
                      </a:r>
                      <a:r>
                        <a:rPr lang="en-US" sz="1200" b="0" i="0" u="none" strike="noStrike" cap="none"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a:t>
                      </a:r>
                      <a:endParaRPr dirty="0">
                        <a:latin typeface="小塚ゴシック Pro M" panose="020B0700000000000000" pitchFamily="34" charset="-128"/>
                        <a:ea typeface="小塚ゴシック Pro M" panose="020B07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None/>
                      </a:pPr>
                      <a:r>
                        <a:rPr lang="zh-CN" altLang="en-US" sz="1200"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単発  　</a:t>
                      </a:r>
                      <a:r>
                        <a:rPr lang="en-US" altLang="zh-CN" sz="1200" b="0" i="0" u="none" strike="noStrike" cap="none"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5,000</a:t>
                      </a:r>
                      <a:r>
                        <a:rPr lang="zh-CN" altLang="en-US" sz="1200" b="0" i="0" u="none" strike="noStrike" cap="none"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円</a:t>
                      </a:r>
                      <a:r>
                        <a:rPr lang="en-US" altLang="zh-CN" sz="1200" b="0" i="0" u="none" strike="noStrike" cap="none"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a:t>
                      </a:r>
                      <a:endParaRPr lang="zh-CN" altLang="en-US" dirty="0">
                        <a:latin typeface="小塚ゴシック Pro M" panose="020B0700000000000000" pitchFamily="34" charset="-128"/>
                        <a:ea typeface="小塚ゴシック Pro M" panose="020B07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r h="716275">
                <a:tc>
                  <a:txBody>
                    <a:bodyPr/>
                    <a:lstStyle/>
                    <a:p>
                      <a:pPr marL="0" marR="0" lvl="0" indent="0" algn="ctr" rtl="0">
                        <a:spcBef>
                          <a:spcPts val="0"/>
                        </a:spcBef>
                        <a:spcAft>
                          <a:spcPts val="0"/>
                        </a:spcAft>
                        <a:buNone/>
                      </a:pPr>
                      <a:r>
                        <a:rPr lang="en-US" sz="1200" b="1" i="0" u="none" strike="noStrike" cap="none" dirty="0" err="1">
                          <a:solidFill>
                            <a:srgbClr val="333333"/>
                          </a:solidFill>
                          <a:latin typeface="小塚ゴシック Pro B" panose="020B0800000000000000" pitchFamily="34" charset="-128"/>
                          <a:ea typeface="小塚ゴシック Pro B" panose="020B0800000000000000" pitchFamily="34" charset="-128"/>
                          <a:cs typeface="Noto Sans JP"/>
                          <a:sym typeface="Noto Sans JP"/>
                        </a:rPr>
                        <a:t>集客顧問「ミチスジ</a:t>
                      </a:r>
                      <a:r>
                        <a:rPr lang="en-US" sz="1200" b="1" i="0" u="none" strike="noStrike" cap="none" dirty="0">
                          <a:solidFill>
                            <a:srgbClr val="333333"/>
                          </a:solidFill>
                          <a:latin typeface="小塚ゴシック Pro B" panose="020B0800000000000000" pitchFamily="34" charset="-128"/>
                          <a:ea typeface="小塚ゴシック Pro B" panose="020B0800000000000000" pitchFamily="34" charset="-128"/>
                          <a:cs typeface="Noto Sans JP"/>
                          <a:sym typeface="Noto Sans JP"/>
                        </a:rPr>
                        <a:t>」</a:t>
                      </a:r>
                      <a:endParaRPr sz="1200" b="1" i="0" u="none" strike="noStrike" cap="none" dirty="0">
                        <a:solidFill>
                          <a:srgbClr val="333333"/>
                        </a:solidFill>
                        <a:latin typeface="小塚ゴシック Pro B" panose="020B0800000000000000" pitchFamily="34" charset="-128"/>
                        <a:ea typeface="小塚ゴシック Pro B" panose="020B0800000000000000" pitchFamily="34" charset="-128"/>
                        <a:cs typeface="Noto Sans JP"/>
                        <a:sym typeface="Noto Sans JP"/>
                      </a:endParaRPr>
                    </a:p>
                    <a:p>
                      <a:pPr marL="0" marR="0" lvl="0" indent="0" algn="ctr" rtl="0">
                        <a:spcBef>
                          <a:spcPts val="0"/>
                        </a:spcBef>
                        <a:spcAft>
                          <a:spcPts val="0"/>
                        </a:spcAft>
                        <a:buNone/>
                      </a:pPr>
                      <a:r>
                        <a:rPr lang="en-US" sz="1200" b="1" dirty="0" err="1">
                          <a:solidFill>
                            <a:srgbClr val="333333"/>
                          </a:solidFill>
                          <a:latin typeface="小塚ゴシック Pro B" panose="020B0800000000000000" pitchFamily="34" charset="-128"/>
                          <a:ea typeface="小塚ゴシック Pro B" panose="020B0800000000000000" pitchFamily="34" charset="-128"/>
                          <a:cs typeface="Noto Sans JP"/>
                          <a:sym typeface="Noto Sans JP"/>
                        </a:rPr>
                        <a:t>顧問プラン</a:t>
                      </a:r>
                      <a:endParaRPr sz="1200" b="1" dirty="0">
                        <a:solidFill>
                          <a:srgbClr val="333333"/>
                        </a:solidFill>
                        <a:latin typeface="小塚ゴシック Pro B" panose="020B0800000000000000" pitchFamily="34" charset="-128"/>
                        <a:ea typeface="小塚ゴシック Pro B" panose="020B0800000000000000" pitchFamily="34" charset="-128"/>
                        <a:cs typeface="Noto Sans JP"/>
                        <a:sym typeface="Noto Sans JP"/>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None/>
                      </a:pPr>
                      <a:r>
                        <a:rPr lang="en-US" sz="1200" b="1" dirty="0" err="1">
                          <a:solidFill>
                            <a:srgbClr val="FF0000"/>
                          </a:solidFill>
                          <a:latin typeface="小塚ゴシック Pro M" panose="020B0700000000000000" pitchFamily="34" charset="-128"/>
                          <a:ea typeface="小塚ゴシック Pro M" panose="020B0700000000000000" pitchFamily="34" charset="-128"/>
                          <a:cs typeface="Noto Sans JP"/>
                          <a:sym typeface="Noto Sans JP"/>
                        </a:rPr>
                        <a:t>集客に必要な広告物の添削、活動方針や戦略をアドバイス</a:t>
                      </a:r>
                      <a:r>
                        <a:rPr lang="en-US" sz="1200" b="1" dirty="0">
                          <a:solidFill>
                            <a:srgbClr val="2C2C2C"/>
                          </a:solidFill>
                          <a:latin typeface="小塚ゴシック Pro M" panose="020B0700000000000000" pitchFamily="34" charset="-128"/>
                          <a:ea typeface="小塚ゴシック Pro M" panose="020B0700000000000000" pitchFamily="34" charset="-128"/>
                          <a:cs typeface="Noto Sans JP"/>
                          <a:sym typeface="Noto Sans JP"/>
                        </a:rPr>
                        <a:t>。</a:t>
                      </a:r>
                      <a:endParaRPr sz="1200" b="1" dirty="0">
                        <a:solidFill>
                          <a:srgbClr val="2C2C2C"/>
                        </a:solidFill>
                        <a:latin typeface="小塚ゴシック Pro M" panose="020B0700000000000000" pitchFamily="34" charset="-128"/>
                        <a:ea typeface="小塚ゴシック Pro M" panose="020B0700000000000000" pitchFamily="34" charset="-128"/>
                        <a:cs typeface="Noto Sans JP"/>
                        <a:sym typeface="Noto Sans JP"/>
                      </a:endParaRPr>
                    </a:p>
                    <a:p>
                      <a:pPr marL="0" marR="0" lvl="0" indent="0" algn="l" rtl="0">
                        <a:spcBef>
                          <a:spcPts val="0"/>
                        </a:spcBef>
                        <a:spcAft>
                          <a:spcPts val="0"/>
                        </a:spcAft>
                        <a:buNone/>
                      </a:pPr>
                      <a:r>
                        <a:rPr lang="en-US" sz="1200" b="0" i="0" u="none" strike="noStrike" cap="none"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月最大4時間のZoom相談</a:t>
                      </a:r>
                      <a:r>
                        <a:rPr lang="en-US" sz="1200"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にて対応します。</a:t>
                      </a:r>
                      <a:endParaRPr dirty="0">
                        <a:latin typeface="小塚ゴシック Pro M" panose="020B0700000000000000" pitchFamily="34" charset="-128"/>
                        <a:ea typeface="小塚ゴシック Pro M" panose="020B07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None/>
                      </a:pPr>
                      <a:r>
                        <a:rPr lang="ja-JP" altLang="en-US" sz="1200"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月額　</a:t>
                      </a:r>
                      <a:r>
                        <a:rPr lang="en-US" altLang="ja-JP" sz="1200" b="0" i="0" u="none" strike="noStrike" cap="none"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49,800</a:t>
                      </a:r>
                      <a:r>
                        <a:rPr lang="ja-JP" altLang="en-US" sz="1200" b="0" i="0" u="none" strike="noStrike" cap="none"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円</a:t>
                      </a:r>
                      <a:r>
                        <a:rPr lang="ja-JP" altLang="en-US" sz="1200"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a:t>
                      </a:r>
                      <a:endParaRPr lang="ja-JP" altLang="en-US" dirty="0">
                        <a:latin typeface="小塚ゴシック Pro M" panose="020B0700000000000000" pitchFamily="34" charset="-128"/>
                        <a:ea typeface="小塚ゴシック Pro M" panose="020B07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2"/>
                  </a:ext>
                </a:extLst>
              </a:tr>
              <a:tr h="716275">
                <a:tc>
                  <a:txBody>
                    <a:bodyPr/>
                    <a:lstStyle/>
                    <a:p>
                      <a:pPr marL="0" marR="0" lvl="0" indent="0" algn="ctr" rtl="0">
                        <a:spcBef>
                          <a:spcPts val="0"/>
                        </a:spcBef>
                        <a:spcAft>
                          <a:spcPts val="0"/>
                        </a:spcAft>
                        <a:buNone/>
                      </a:pPr>
                      <a:r>
                        <a:rPr lang="en-US" sz="1200" b="1" dirty="0" err="1">
                          <a:solidFill>
                            <a:srgbClr val="333333"/>
                          </a:solidFill>
                          <a:latin typeface="小塚ゴシック Pro B" panose="020B0800000000000000" pitchFamily="34" charset="-128"/>
                          <a:ea typeface="小塚ゴシック Pro B" panose="020B0800000000000000" pitchFamily="34" charset="-128"/>
                          <a:cs typeface="Noto Sans JP"/>
                          <a:sym typeface="Noto Sans JP"/>
                        </a:rPr>
                        <a:t>集客顧問「ミチスジ」</a:t>
                      </a:r>
                      <a:endParaRPr sz="1200" b="1" dirty="0">
                        <a:solidFill>
                          <a:srgbClr val="333333"/>
                        </a:solidFill>
                        <a:latin typeface="小塚ゴシック Pro B" panose="020B0800000000000000" pitchFamily="34" charset="-128"/>
                        <a:ea typeface="小塚ゴシック Pro B" panose="020B0800000000000000" pitchFamily="34" charset="-128"/>
                        <a:cs typeface="Noto Sans JP"/>
                        <a:sym typeface="Noto Sans JP"/>
                      </a:endParaRPr>
                    </a:p>
                    <a:p>
                      <a:pPr marL="0" marR="0" lvl="0" indent="0" algn="ctr" rtl="0">
                        <a:spcBef>
                          <a:spcPts val="0"/>
                        </a:spcBef>
                        <a:spcAft>
                          <a:spcPts val="0"/>
                        </a:spcAft>
                        <a:buNone/>
                      </a:pPr>
                      <a:r>
                        <a:rPr lang="en-US" sz="1200" b="1" dirty="0" err="1">
                          <a:solidFill>
                            <a:srgbClr val="333333"/>
                          </a:solidFill>
                          <a:latin typeface="小塚ゴシック Pro B" panose="020B0800000000000000" pitchFamily="34" charset="-128"/>
                          <a:ea typeface="小塚ゴシック Pro B" panose="020B0800000000000000" pitchFamily="34" charset="-128"/>
                          <a:cs typeface="Noto Sans JP"/>
                          <a:sym typeface="Noto Sans JP"/>
                        </a:rPr>
                        <a:t>相談プラン</a:t>
                      </a:r>
                      <a:endParaRPr dirty="0">
                        <a:latin typeface="小塚ゴシック Pro B" panose="020B0800000000000000" pitchFamily="34" charset="-128"/>
                        <a:ea typeface="小塚ゴシック Pro B" panose="020B08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CF0"/>
                    </a:solidFill>
                  </a:tcPr>
                </a:tc>
                <a:tc>
                  <a:txBody>
                    <a:bodyPr/>
                    <a:lstStyle/>
                    <a:p>
                      <a:pPr marL="0" marR="0" lvl="0" indent="0" algn="l" rtl="0">
                        <a:spcBef>
                          <a:spcPts val="0"/>
                        </a:spcBef>
                        <a:spcAft>
                          <a:spcPts val="0"/>
                        </a:spcAft>
                        <a:buNone/>
                      </a:pPr>
                      <a:r>
                        <a:rPr lang="en-US" sz="1200"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「ミチスジ」の体験版。最大2時間のZoom相談で、</a:t>
                      </a:r>
                      <a:endParaRPr sz="1200"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endParaRPr>
                    </a:p>
                    <a:p>
                      <a:pPr marL="0" marR="0" lvl="0" indent="0" algn="l" rtl="0">
                        <a:spcBef>
                          <a:spcPts val="0"/>
                        </a:spcBef>
                        <a:spcAft>
                          <a:spcPts val="0"/>
                        </a:spcAft>
                        <a:buNone/>
                      </a:pPr>
                      <a:r>
                        <a:rPr lang="en-US" sz="1200" b="1" dirty="0" err="1">
                          <a:solidFill>
                            <a:srgbClr val="FF0000"/>
                          </a:solidFill>
                          <a:latin typeface="小塚ゴシック Pro M" panose="020B0700000000000000" pitchFamily="34" charset="-128"/>
                          <a:ea typeface="小塚ゴシック Pro M" panose="020B0700000000000000" pitchFamily="34" charset="-128"/>
                          <a:cs typeface="Noto Sans JP"/>
                          <a:sym typeface="Noto Sans JP"/>
                        </a:rPr>
                        <a:t>現在の広告物を添削、対応方針を提案します。</a:t>
                      </a:r>
                      <a:endParaRPr dirty="0">
                        <a:latin typeface="小塚ゴシック Pro M" panose="020B0700000000000000" pitchFamily="34" charset="-128"/>
                        <a:ea typeface="小塚ゴシック Pro M" panose="020B07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CF0"/>
                    </a:solidFill>
                  </a:tcPr>
                </a:tc>
                <a:tc>
                  <a:txBody>
                    <a:bodyPr/>
                    <a:lstStyle/>
                    <a:p>
                      <a:pPr marL="0" marR="0" lvl="0" indent="0" algn="l" rtl="0">
                        <a:spcBef>
                          <a:spcPts val="0"/>
                        </a:spcBef>
                        <a:spcAft>
                          <a:spcPts val="0"/>
                        </a:spcAft>
                        <a:buNone/>
                      </a:pPr>
                      <a:r>
                        <a:rPr lang="en-US" sz="1200"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単発</a:t>
                      </a:r>
                      <a:r>
                        <a:rPr lang="en-US" sz="1200"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　</a:t>
                      </a:r>
                      <a:r>
                        <a:rPr lang="en-US" sz="1200" b="0" i="0" u="none" strike="noStrike" cap="none"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14,800円〜</a:t>
                      </a:r>
                      <a:endParaRPr dirty="0">
                        <a:latin typeface="小塚ゴシック Pro M" panose="020B0700000000000000" pitchFamily="34" charset="-128"/>
                        <a:ea typeface="小塚ゴシック Pro M" panose="020B07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CF0"/>
                    </a:solidFill>
                  </a:tcPr>
                </a:tc>
                <a:extLst>
                  <a:ext uri="{0D108BD9-81ED-4DB2-BD59-A6C34878D82A}">
                    <a16:rowId xmlns:a16="http://schemas.microsoft.com/office/drawing/2014/main" val="10003"/>
                  </a:ext>
                </a:extLst>
              </a:tr>
              <a:tr h="716275">
                <a:tc>
                  <a:txBody>
                    <a:bodyPr/>
                    <a:lstStyle/>
                    <a:p>
                      <a:pPr marL="0" marR="0" lvl="0" indent="0" algn="ctr" rtl="0">
                        <a:spcBef>
                          <a:spcPts val="0"/>
                        </a:spcBef>
                        <a:spcAft>
                          <a:spcPts val="0"/>
                        </a:spcAft>
                        <a:buNone/>
                      </a:pPr>
                      <a:r>
                        <a:rPr lang="en-US" sz="1200" b="1" dirty="0" err="1">
                          <a:solidFill>
                            <a:srgbClr val="333333"/>
                          </a:solidFill>
                          <a:latin typeface="小塚ゴシック Pro B" panose="020B0800000000000000" pitchFamily="34" charset="-128"/>
                          <a:ea typeface="小塚ゴシック Pro B" panose="020B0800000000000000" pitchFamily="34" charset="-128"/>
                          <a:cs typeface="Noto Sans JP"/>
                          <a:sym typeface="Noto Sans JP"/>
                        </a:rPr>
                        <a:t>集客顧問「ミチスジ」</a:t>
                      </a:r>
                      <a:endParaRPr sz="1200" b="1" dirty="0">
                        <a:solidFill>
                          <a:srgbClr val="333333"/>
                        </a:solidFill>
                        <a:latin typeface="小塚ゴシック Pro B" panose="020B0800000000000000" pitchFamily="34" charset="-128"/>
                        <a:ea typeface="小塚ゴシック Pro B" panose="020B0800000000000000" pitchFamily="34" charset="-128"/>
                        <a:cs typeface="Noto Sans JP"/>
                        <a:sym typeface="Noto Sans JP"/>
                      </a:endParaRPr>
                    </a:p>
                    <a:p>
                      <a:pPr marL="0" marR="0" lvl="0" indent="0" algn="ctr" rtl="0">
                        <a:spcBef>
                          <a:spcPts val="0"/>
                        </a:spcBef>
                        <a:spcAft>
                          <a:spcPts val="0"/>
                        </a:spcAft>
                        <a:buNone/>
                      </a:pPr>
                      <a:r>
                        <a:rPr lang="en-US" sz="1200" b="1" dirty="0" err="1">
                          <a:solidFill>
                            <a:srgbClr val="333333"/>
                          </a:solidFill>
                          <a:latin typeface="小塚ゴシック Pro B" panose="020B0800000000000000" pitchFamily="34" charset="-128"/>
                          <a:ea typeface="小塚ゴシック Pro B" panose="020B0800000000000000" pitchFamily="34" charset="-128"/>
                          <a:cs typeface="Noto Sans JP"/>
                          <a:sym typeface="Noto Sans JP"/>
                        </a:rPr>
                        <a:t>提案プラン</a:t>
                      </a:r>
                      <a:endParaRPr dirty="0">
                        <a:latin typeface="小塚ゴシック Pro B" panose="020B0800000000000000" pitchFamily="34" charset="-128"/>
                        <a:ea typeface="小塚ゴシック Pro B" panose="020B08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CF0"/>
                    </a:solidFill>
                  </a:tcPr>
                </a:tc>
                <a:tc>
                  <a:txBody>
                    <a:bodyPr/>
                    <a:lstStyle/>
                    <a:p>
                      <a:pPr marL="0" marR="0" lvl="0" indent="0" algn="l" rtl="0">
                        <a:spcBef>
                          <a:spcPts val="0"/>
                        </a:spcBef>
                        <a:spcAft>
                          <a:spcPts val="0"/>
                        </a:spcAft>
                        <a:buNone/>
                      </a:pPr>
                      <a:r>
                        <a:rPr lang="en-US" sz="1200" b="1" i="0" u="none" strike="noStrike" cap="none" dirty="0" err="1">
                          <a:solidFill>
                            <a:srgbClr val="FF0000"/>
                          </a:solidFill>
                          <a:latin typeface="小塚ゴシック Pro M" panose="020B0700000000000000" pitchFamily="34" charset="-128"/>
                          <a:ea typeface="小塚ゴシック Pro M" panose="020B0700000000000000" pitchFamily="34" charset="-128"/>
                          <a:cs typeface="Noto Sans JP"/>
                          <a:sym typeface="Noto Sans JP"/>
                        </a:rPr>
                        <a:t>現状分析と</a:t>
                      </a:r>
                      <a:r>
                        <a:rPr lang="ja-JP" altLang="en-US" sz="1200" b="1" i="0" u="none" strike="noStrike" cap="none" dirty="0">
                          <a:solidFill>
                            <a:srgbClr val="FF0000"/>
                          </a:solidFill>
                          <a:latin typeface="小塚ゴシック Pro M" panose="020B0700000000000000" pitchFamily="34" charset="-128"/>
                          <a:ea typeface="小塚ゴシック Pro M" panose="020B0700000000000000" pitchFamily="34" charset="-128"/>
                          <a:cs typeface="Noto Sans JP"/>
                          <a:sym typeface="Noto Sans JP"/>
                        </a:rPr>
                        <a:t>必要な</a:t>
                      </a:r>
                      <a:r>
                        <a:rPr lang="en-US" sz="1200" b="1" i="0" u="none" strike="noStrike" cap="none" dirty="0" err="1">
                          <a:solidFill>
                            <a:srgbClr val="FF0000"/>
                          </a:solidFill>
                          <a:latin typeface="小塚ゴシック Pro M" panose="020B0700000000000000" pitchFamily="34" charset="-128"/>
                          <a:ea typeface="小塚ゴシック Pro M" panose="020B0700000000000000" pitchFamily="34" charset="-128"/>
                          <a:cs typeface="Noto Sans JP"/>
                          <a:sym typeface="Noto Sans JP"/>
                        </a:rPr>
                        <a:t>施策を提案する提案書の作成</a:t>
                      </a:r>
                      <a:r>
                        <a:rPr lang="en-US" sz="1200" b="1" i="0" u="none" strike="noStrike" cap="none" dirty="0">
                          <a:solidFill>
                            <a:srgbClr val="2C2C2C"/>
                          </a:solidFill>
                          <a:latin typeface="小塚ゴシック Pro M" panose="020B0700000000000000" pitchFamily="34" charset="-128"/>
                          <a:ea typeface="小塚ゴシック Pro M" panose="020B0700000000000000" pitchFamily="34" charset="-128"/>
                          <a:cs typeface="Noto Sans JP"/>
                          <a:sym typeface="Noto Sans JP"/>
                        </a:rPr>
                        <a:t>。</a:t>
                      </a:r>
                      <a:endParaRPr sz="1800" b="1" dirty="0">
                        <a:solidFill>
                          <a:srgbClr val="2C2C2C"/>
                        </a:solidFill>
                        <a:latin typeface="小塚ゴシック Pro M" panose="020B0700000000000000" pitchFamily="34" charset="-128"/>
                        <a:ea typeface="小塚ゴシック Pro M" panose="020B0700000000000000" pitchFamily="34" charset="-128"/>
                      </a:endParaRPr>
                    </a:p>
                    <a:p>
                      <a:pPr marL="0" marR="0" lvl="0" indent="0" algn="l" rtl="0">
                        <a:spcBef>
                          <a:spcPts val="0"/>
                        </a:spcBef>
                        <a:spcAft>
                          <a:spcPts val="0"/>
                        </a:spcAft>
                        <a:buNone/>
                      </a:pPr>
                      <a:r>
                        <a:rPr lang="en-US" sz="1200" b="0" i="0" u="none" strike="noStrike" cap="none"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サービスと集客活動の両面で提案</a:t>
                      </a:r>
                      <a:r>
                        <a:rPr lang="en-US" sz="1200"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いたします</a:t>
                      </a:r>
                      <a:r>
                        <a:rPr lang="en-US" sz="1200" b="0" i="0" u="none" strike="noStrike" cap="none"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a:t>
                      </a:r>
                      <a:endParaRPr dirty="0">
                        <a:latin typeface="小塚ゴシック Pro M" panose="020B0700000000000000" pitchFamily="34" charset="-128"/>
                        <a:ea typeface="小塚ゴシック Pro M" panose="020B07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CF0"/>
                    </a:solidFill>
                  </a:tcPr>
                </a:tc>
                <a:tc>
                  <a:txBody>
                    <a:bodyPr/>
                    <a:lstStyle/>
                    <a:p>
                      <a:pPr marL="0" marR="0" lvl="0" indent="0" algn="l" rtl="0">
                        <a:spcBef>
                          <a:spcPts val="0"/>
                        </a:spcBef>
                        <a:spcAft>
                          <a:spcPts val="0"/>
                        </a:spcAft>
                        <a:buNone/>
                      </a:pPr>
                      <a:r>
                        <a:rPr lang="en-US" sz="1200"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単発</a:t>
                      </a:r>
                      <a:r>
                        <a:rPr lang="en-US" sz="1200"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　49</a:t>
                      </a:r>
                      <a:r>
                        <a:rPr lang="en-US" sz="1200" b="0" i="0" u="none" strike="noStrike" cap="none"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a:t>
                      </a:r>
                      <a:r>
                        <a:rPr lang="en-US" sz="1200"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8</a:t>
                      </a:r>
                      <a:r>
                        <a:rPr lang="en-US" sz="1200" b="0" i="0" u="none" strike="noStrike" cap="none"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00円</a:t>
                      </a:r>
                      <a:r>
                        <a:rPr lang="en-US" sz="1200"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a:t>
                      </a:r>
                      <a:endParaRPr dirty="0">
                        <a:latin typeface="小塚ゴシック Pro M" panose="020B0700000000000000" pitchFamily="34" charset="-128"/>
                        <a:ea typeface="小塚ゴシック Pro M" panose="020B07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CF0"/>
                    </a:solidFill>
                  </a:tcPr>
                </a:tc>
                <a:extLst>
                  <a:ext uri="{0D108BD9-81ED-4DB2-BD59-A6C34878D82A}">
                    <a16:rowId xmlns:a16="http://schemas.microsoft.com/office/drawing/2014/main" val="10004"/>
                  </a:ext>
                </a:extLst>
              </a:tr>
            </a:tbl>
          </a:graphicData>
        </a:graphic>
      </p:graphicFrame>
      <p:sp>
        <p:nvSpPr>
          <p:cNvPr id="370" name="Google Shape;370;p23"/>
          <p:cNvSpPr txBox="1"/>
          <p:nvPr/>
        </p:nvSpPr>
        <p:spPr>
          <a:xfrm>
            <a:off x="762000" y="6534150"/>
            <a:ext cx="1651099"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99999"/>
                </a:solidFill>
                <a:latin typeface="Lato"/>
                <a:ea typeface="Lato"/>
                <a:cs typeface="Lato"/>
                <a:sym typeface="Lato"/>
              </a:rPr>
              <a:t>© U-Writing All Rights Reserved.</a:t>
            </a:r>
            <a:endParaRPr/>
          </a:p>
        </p:txBody>
      </p:sp>
      <p:sp>
        <p:nvSpPr>
          <p:cNvPr id="372" name="Google Shape;372;p23"/>
          <p:cNvSpPr/>
          <p:nvPr/>
        </p:nvSpPr>
        <p:spPr>
          <a:xfrm>
            <a:off x="762000" y="2498228"/>
            <a:ext cx="3200400" cy="28575"/>
          </a:xfrm>
          <a:prstGeom prst="rect">
            <a:avLst/>
          </a:prstGeom>
          <a:solidFill>
            <a:srgbClr val="C5A0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373" name="Google Shape;373;p23"/>
          <p:cNvSpPr/>
          <p:nvPr/>
        </p:nvSpPr>
        <p:spPr>
          <a:xfrm>
            <a:off x="3962400" y="2498228"/>
            <a:ext cx="5334000" cy="28575"/>
          </a:xfrm>
          <a:prstGeom prst="rect">
            <a:avLst/>
          </a:prstGeom>
          <a:solidFill>
            <a:srgbClr val="C5A0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374" name="Google Shape;374;p23"/>
          <p:cNvSpPr/>
          <p:nvPr/>
        </p:nvSpPr>
        <p:spPr>
          <a:xfrm>
            <a:off x="9296400" y="2498228"/>
            <a:ext cx="2133600" cy="28575"/>
          </a:xfrm>
          <a:prstGeom prst="rect">
            <a:avLst/>
          </a:prstGeom>
          <a:solidFill>
            <a:srgbClr val="C5A0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375" name="Google Shape;375;p23"/>
          <p:cNvSpPr txBox="1"/>
          <p:nvPr/>
        </p:nvSpPr>
        <p:spPr>
          <a:xfrm>
            <a:off x="914400" y="5855791"/>
            <a:ext cx="10363200" cy="258532"/>
          </a:xfrm>
          <a:prstGeom prst="rect">
            <a:avLst/>
          </a:prstGeom>
          <a:noFill/>
          <a:ln>
            <a:noFill/>
          </a:ln>
        </p:spPr>
        <p:txBody>
          <a:bodyPr spcFirstLastPara="1" wrap="square" lIns="0" tIns="0" rIns="0" bIns="0" anchor="t" anchorCtr="0">
            <a:spAutoFit/>
          </a:bodyPr>
          <a:lstStyle/>
          <a:p>
            <a:pPr marL="0" marR="0" lvl="0" indent="0" algn="ctr" rtl="0">
              <a:lnSpc>
                <a:spcPct val="159904"/>
              </a:lnSpc>
              <a:spcBef>
                <a:spcPts val="0"/>
              </a:spcBef>
              <a:spcAft>
                <a:spcPts val="0"/>
              </a:spcAft>
              <a:buNone/>
            </a:pPr>
            <a:r>
              <a:rPr lang="en-US" sz="1050" dirty="0">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「ミチスジ」顧問プラン契約期間中は、制作代行「カワリミ」の費用が 20% OFF になります。</a:t>
            </a:r>
            <a:endParaRPr dirty="0">
              <a:latin typeface="小塚ゴシック Pro M" panose="020B0700000000000000" pitchFamily="34" charset="-128"/>
              <a:ea typeface="小塚ゴシック Pro M" panose="020B0700000000000000" pitchFamily="34" charset="-128"/>
            </a:endParaRPr>
          </a:p>
        </p:txBody>
      </p:sp>
      <p:sp>
        <p:nvSpPr>
          <p:cNvPr id="376" name="Google Shape;376;p23"/>
          <p:cNvSpPr/>
          <p:nvPr/>
        </p:nvSpPr>
        <p:spPr>
          <a:xfrm>
            <a:off x="762000" y="4012703"/>
            <a:ext cx="320040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377" name="Google Shape;377;p23"/>
          <p:cNvSpPr/>
          <p:nvPr/>
        </p:nvSpPr>
        <p:spPr>
          <a:xfrm>
            <a:off x="3962400" y="4012703"/>
            <a:ext cx="533400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378" name="Google Shape;378;p23"/>
          <p:cNvSpPr/>
          <p:nvPr/>
        </p:nvSpPr>
        <p:spPr>
          <a:xfrm>
            <a:off x="9296400" y="4012703"/>
            <a:ext cx="213360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379" name="Google Shape;379;p23"/>
          <p:cNvSpPr/>
          <p:nvPr/>
        </p:nvSpPr>
        <p:spPr>
          <a:xfrm>
            <a:off x="762000" y="4755653"/>
            <a:ext cx="320040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380" name="Google Shape;380;p23"/>
          <p:cNvSpPr/>
          <p:nvPr/>
        </p:nvSpPr>
        <p:spPr>
          <a:xfrm>
            <a:off x="3962400" y="4755653"/>
            <a:ext cx="533400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381" name="Google Shape;381;p23"/>
          <p:cNvSpPr/>
          <p:nvPr/>
        </p:nvSpPr>
        <p:spPr>
          <a:xfrm>
            <a:off x="9296400" y="4755653"/>
            <a:ext cx="213360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382" name="Google Shape;382;p23"/>
          <p:cNvSpPr/>
          <p:nvPr/>
        </p:nvSpPr>
        <p:spPr>
          <a:xfrm>
            <a:off x="762000" y="5498603"/>
            <a:ext cx="320040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383" name="Google Shape;383;p23"/>
          <p:cNvSpPr/>
          <p:nvPr/>
        </p:nvSpPr>
        <p:spPr>
          <a:xfrm>
            <a:off x="3962400" y="5498603"/>
            <a:ext cx="533400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384" name="Google Shape;384;p23"/>
          <p:cNvSpPr/>
          <p:nvPr/>
        </p:nvSpPr>
        <p:spPr>
          <a:xfrm>
            <a:off x="9296400" y="5498603"/>
            <a:ext cx="213360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2" name="スライド番号プレースホルダー 14">
            <a:extLst>
              <a:ext uri="{FF2B5EF4-FFF2-40B4-BE49-F238E27FC236}">
                <a16:creationId xmlns:a16="http://schemas.microsoft.com/office/drawing/2014/main" id="{E482C485-F437-2943-D54A-FC8BFFC4F6E2}"/>
              </a:ext>
            </a:extLst>
          </p:cNvPr>
          <p:cNvSpPr txBox="1">
            <a:spLocks/>
          </p:cNvSpPr>
          <p:nvPr/>
        </p:nvSpPr>
        <p:spPr>
          <a:xfrm>
            <a:off x="8789549" y="6420836"/>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4B6131FB-BBC3-4224-AAE6-4E406EC349F0}" type="slidenum">
              <a:rPr kumimoji="1" lang="ja-JP" altLang="en-US" b="1" smtClean="0">
                <a:solidFill>
                  <a:srgbClr val="2C2C2C"/>
                </a:solidFill>
                <a:latin typeface="小塚ゴシック Pro B" panose="020B0800000000000000" pitchFamily="34" charset="-128"/>
                <a:ea typeface="小塚ゴシック Pro B" panose="020B0800000000000000" pitchFamily="34" charset="-128"/>
              </a:rPr>
              <a:pPr algn="r"/>
              <a:t>11</a:t>
            </a:fld>
            <a:endParaRPr kumimoji="1" lang="ja-JP" altLang="en-US" b="1" dirty="0">
              <a:solidFill>
                <a:srgbClr val="2C2C2C"/>
              </a:solidFill>
              <a:latin typeface="小塚ゴシック Pro B" panose="020B0800000000000000" pitchFamily="34" charset="-128"/>
              <a:ea typeface="小塚ゴシック Pro B" panose="020B0800000000000000" pitchFamily="34" charset="-128"/>
            </a:endParaRPr>
          </a:p>
        </p:txBody>
      </p:sp>
      <p:sp>
        <p:nvSpPr>
          <p:cNvPr id="3" name="Google Shape;376;p23">
            <a:extLst>
              <a:ext uri="{FF2B5EF4-FFF2-40B4-BE49-F238E27FC236}">
                <a16:creationId xmlns:a16="http://schemas.microsoft.com/office/drawing/2014/main" id="{5A1C4D8C-BD24-B7E8-AA27-C3CC223D70D6}"/>
              </a:ext>
            </a:extLst>
          </p:cNvPr>
          <p:cNvSpPr/>
          <p:nvPr/>
        </p:nvSpPr>
        <p:spPr>
          <a:xfrm>
            <a:off x="762000" y="3333750"/>
            <a:ext cx="320040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5" name="Google Shape;377;p23">
            <a:extLst>
              <a:ext uri="{FF2B5EF4-FFF2-40B4-BE49-F238E27FC236}">
                <a16:creationId xmlns:a16="http://schemas.microsoft.com/office/drawing/2014/main" id="{5221970A-F39B-D2B8-8A31-5F30C0CB60CC}"/>
              </a:ext>
            </a:extLst>
          </p:cNvPr>
          <p:cNvSpPr/>
          <p:nvPr/>
        </p:nvSpPr>
        <p:spPr>
          <a:xfrm>
            <a:off x="3962400" y="3333750"/>
            <a:ext cx="533400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6" name="Google Shape;378;p23">
            <a:extLst>
              <a:ext uri="{FF2B5EF4-FFF2-40B4-BE49-F238E27FC236}">
                <a16:creationId xmlns:a16="http://schemas.microsoft.com/office/drawing/2014/main" id="{8EA815A4-BC03-840F-5C2D-93BC8D0D88E0}"/>
              </a:ext>
            </a:extLst>
          </p:cNvPr>
          <p:cNvSpPr/>
          <p:nvPr/>
        </p:nvSpPr>
        <p:spPr>
          <a:xfrm>
            <a:off x="9296400" y="3325467"/>
            <a:ext cx="213360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8"/>
        <p:cNvGrpSpPr/>
        <p:nvPr/>
      </p:nvGrpSpPr>
      <p:grpSpPr>
        <a:xfrm>
          <a:off x="0" y="0"/>
          <a:ext cx="0" cy="0"/>
          <a:chOff x="0" y="0"/>
          <a:chExt cx="0" cy="0"/>
        </a:xfrm>
      </p:grpSpPr>
      <p:grpSp>
        <p:nvGrpSpPr>
          <p:cNvPr id="389" name="Google Shape;389;p24"/>
          <p:cNvGrpSpPr/>
          <p:nvPr/>
        </p:nvGrpSpPr>
        <p:grpSpPr>
          <a:xfrm>
            <a:off x="0" y="0"/>
            <a:ext cx="12643324" cy="6976048"/>
            <a:chOff x="0" y="0"/>
            <a:chExt cx="12643324" cy="6976048"/>
          </a:xfrm>
        </p:grpSpPr>
        <p:pic>
          <p:nvPicPr>
            <p:cNvPr id="390" name="Google Shape;390;p24"/>
            <p:cNvPicPr preferRelativeResize="0"/>
            <p:nvPr/>
          </p:nvPicPr>
          <p:blipFill>
            <a:blip r:embed="rId3">
              <a:alphaModFix/>
            </a:blip>
            <a:stretch>
              <a:fillRect/>
            </a:stretch>
          </p:blipFill>
          <p:spPr>
            <a:xfrm>
              <a:off x="0" y="0"/>
              <a:ext cx="12643315" cy="6976048"/>
            </a:xfrm>
            <a:prstGeom prst="rect">
              <a:avLst/>
            </a:prstGeom>
            <a:noFill/>
            <a:ln>
              <a:noFill/>
            </a:ln>
          </p:spPr>
        </p:pic>
        <p:pic>
          <p:nvPicPr>
            <p:cNvPr id="391" name="Google Shape;391;p24"/>
            <p:cNvPicPr preferRelativeResize="0"/>
            <p:nvPr/>
          </p:nvPicPr>
          <p:blipFill rotWithShape="1">
            <a:blip r:embed="rId3">
              <a:alphaModFix/>
            </a:blip>
            <a:srcRect l="88432" t="69407" b="11568"/>
            <a:stretch/>
          </p:blipFill>
          <p:spPr>
            <a:xfrm>
              <a:off x="11180801" y="5648888"/>
              <a:ext cx="1462523" cy="1327158"/>
            </a:xfrm>
            <a:prstGeom prst="rect">
              <a:avLst/>
            </a:prstGeom>
            <a:noFill/>
            <a:ln>
              <a:noFill/>
            </a:ln>
          </p:spPr>
        </p:pic>
      </p:grpSp>
      <p:sp>
        <p:nvSpPr>
          <p:cNvPr id="392" name="Google Shape;392;p24"/>
          <p:cNvSpPr/>
          <p:nvPr/>
        </p:nvSpPr>
        <p:spPr>
          <a:xfrm>
            <a:off x="5505450" y="5076676"/>
            <a:ext cx="5924550" cy="1162200"/>
          </a:xfrm>
          <a:prstGeom prst="roundRect">
            <a:avLst>
              <a:gd name="adj" fmla="val 3278"/>
            </a:avLst>
          </a:prstGeom>
          <a:solidFill>
            <a:srgbClr val="FFFFFF"/>
          </a:solidFill>
          <a:ln w="9525" cap="flat" cmpd="sng">
            <a:solidFill>
              <a:srgbClr val="EEEEE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393" name="Google Shape;393;p24"/>
          <p:cNvSpPr/>
          <p:nvPr/>
        </p:nvSpPr>
        <p:spPr>
          <a:xfrm>
            <a:off x="5505450" y="3724126"/>
            <a:ext cx="5924550" cy="1162200"/>
          </a:xfrm>
          <a:prstGeom prst="roundRect">
            <a:avLst>
              <a:gd name="adj" fmla="val 3278"/>
            </a:avLst>
          </a:prstGeom>
          <a:solidFill>
            <a:srgbClr val="FFFFFF"/>
          </a:solidFill>
          <a:ln w="9525" cap="flat" cmpd="sng">
            <a:solidFill>
              <a:srgbClr val="EEEEE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pic>
        <p:nvPicPr>
          <p:cNvPr id="394" name="Google Shape;394;p24"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pic>
        <p:nvPicPr>
          <p:cNvPr id="395" name="Google Shape;395;p24" descr="image.png"/>
          <p:cNvPicPr preferRelativeResize="0"/>
          <p:nvPr/>
        </p:nvPicPr>
        <p:blipFill rotWithShape="1">
          <a:blip r:embed="rId5">
            <a:alphaModFix/>
          </a:blip>
          <a:srcRect/>
          <a:stretch/>
        </p:blipFill>
        <p:spPr>
          <a:xfrm>
            <a:off x="762000" y="1740998"/>
            <a:ext cx="4267200" cy="4497878"/>
          </a:xfrm>
          <a:prstGeom prst="rect">
            <a:avLst/>
          </a:prstGeom>
          <a:noFill/>
          <a:ln>
            <a:noFill/>
          </a:ln>
        </p:spPr>
      </p:pic>
      <p:pic>
        <p:nvPicPr>
          <p:cNvPr id="396" name="Google Shape;396;p24" descr="image.png"/>
          <p:cNvPicPr preferRelativeResize="0"/>
          <p:nvPr/>
        </p:nvPicPr>
        <p:blipFill rotWithShape="1">
          <a:blip r:embed="rId6">
            <a:alphaModFix/>
          </a:blip>
          <a:srcRect/>
          <a:stretch/>
        </p:blipFill>
        <p:spPr>
          <a:xfrm>
            <a:off x="1143000" y="5021322"/>
            <a:ext cx="3505200" cy="828526"/>
          </a:xfrm>
          <a:prstGeom prst="rect">
            <a:avLst/>
          </a:prstGeom>
          <a:noFill/>
          <a:ln>
            <a:noFill/>
          </a:ln>
        </p:spPr>
      </p:pic>
      <p:pic>
        <p:nvPicPr>
          <p:cNvPr id="397" name="Google Shape;397;p24" descr="image.png"/>
          <p:cNvPicPr preferRelativeResize="0"/>
          <p:nvPr/>
        </p:nvPicPr>
        <p:blipFill rotWithShape="1">
          <a:blip r:embed="rId7">
            <a:alphaModFix/>
          </a:blip>
          <a:srcRect/>
          <a:stretch/>
        </p:blipFill>
        <p:spPr>
          <a:xfrm>
            <a:off x="0" y="0"/>
            <a:ext cx="12192000" cy="142875"/>
          </a:xfrm>
          <a:prstGeom prst="rect">
            <a:avLst/>
          </a:prstGeom>
          <a:noFill/>
          <a:ln>
            <a:noFill/>
          </a:ln>
        </p:spPr>
      </p:pic>
      <p:sp>
        <p:nvSpPr>
          <p:cNvPr id="398" name="Google Shape;398;p24"/>
          <p:cNvSpPr txBox="1"/>
          <p:nvPr/>
        </p:nvSpPr>
        <p:spPr>
          <a:xfrm>
            <a:off x="762000" y="571500"/>
            <a:ext cx="10668000"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a:solidFill>
                  <a:srgbClr val="C5A059"/>
                </a:solidFill>
                <a:latin typeface="小塚ゴシック Pro B" panose="020B0800000000000000" pitchFamily="34" charset="-128"/>
                <a:ea typeface="小塚ゴシック Pro B" panose="020B0800000000000000" pitchFamily="34" charset="-128"/>
                <a:cs typeface="Lato"/>
                <a:sym typeface="Lato"/>
              </a:rPr>
              <a:t>SERVICE DETAIL: KAWARIMI</a:t>
            </a:r>
            <a:endParaRPr>
              <a:latin typeface="小塚ゴシック Pro B" panose="020B0800000000000000" pitchFamily="34" charset="-128"/>
              <a:ea typeface="小塚ゴシック Pro B" panose="020B0800000000000000" pitchFamily="34" charset="-128"/>
            </a:endParaRPr>
          </a:p>
        </p:txBody>
      </p:sp>
      <p:sp>
        <p:nvSpPr>
          <p:cNvPr id="399" name="Google Shape;399;p24"/>
          <p:cNvSpPr txBox="1"/>
          <p:nvPr/>
        </p:nvSpPr>
        <p:spPr>
          <a:xfrm>
            <a:off x="762000" y="880020"/>
            <a:ext cx="11201400" cy="581698"/>
          </a:xfrm>
          <a:prstGeom prst="rect">
            <a:avLst/>
          </a:prstGeom>
          <a:noFill/>
          <a:ln>
            <a:noFill/>
          </a:ln>
        </p:spPr>
        <p:txBody>
          <a:bodyPr spcFirstLastPara="1" wrap="square" lIns="0" tIns="0" rIns="0" bIns="0" anchor="t" anchorCtr="0">
            <a:spAutoFit/>
          </a:bodyPr>
          <a:lstStyle/>
          <a:p>
            <a:pPr marL="0" marR="0" lvl="0" indent="0" algn="l" rtl="0">
              <a:lnSpc>
                <a:spcPct val="139962"/>
              </a:lnSpc>
              <a:spcBef>
                <a:spcPts val="0"/>
              </a:spcBef>
              <a:spcAft>
                <a:spcPts val="0"/>
              </a:spcAft>
              <a:buNone/>
            </a:pPr>
            <a:r>
              <a:rPr lang="en-US" sz="27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制作代行サービス「カワリミ」</a:t>
            </a:r>
            <a:r>
              <a:rPr lang="en-US" sz="2700" b="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詳細</a:t>
            </a:r>
            <a:endParaRPr>
              <a:latin typeface="小塚ゴシック Pro B" panose="020B0800000000000000" pitchFamily="34" charset="-128"/>
              <a:ea typeface="小塚ゴシック Pro B" panose="020B0800000000000000" pitchFamily="34" charset="-128"/>
            </a:endParaRPr>
          </a:p>
        </p:txBody>
      </p:sp>
      <p:sp>
        <p:nvSpPr>
          <p:cNvPr id="400" name="Google Shape;400;p24"/>
          <p:cNvSpPr txBox="1"/>
          <p:nvPr/>
        </p:nvSpPr>
        <p:spPr>
          <a:xfrm>
            <a:off x="762000" y="6534150"/>
            <a:ext cx="1651099"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99999"/>
                </a:solidFill>
                <a:latin typeface="Lato"/>
                <a:ea typeface="Lato"/>
                <a:cs typeface="Lato"/>
                <a:sym typeface="Lato"/>
              </a:rPr>
              <a:t>© U-Writing All Rights Reserved.</a:t>
            </a:r>
            <a:endParaRPr/>
          </a:p>
        </p:txBody>
      </p:sp>
      <p:sp>
        <p:nvSpPr>
          <p:cNvPr id="402" name="Google Shape;402;p24"/>
          <p:cNvSpPr txBox="1"/>
          <p:nvPr/>
        </p:nvSpPr>
        <p:spPr>
          <a:xfrm>
            <a:off x="1143000" y="2169616"/>
            <a:ext cx="3505200" cy="116339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8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あなたの代わりに制作・運用を</a:t>
            </a:r>
            <a:endParaRPr sz="18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endParaRPr>
          </a:p>
          <a:p>
            <a:pPr marL="0" marR="0" lvl="0" indent="0" algn="l" rtl="0">
              <a:lnSpc>
                <a:spcPct val="140000"/>
              </a:lnSpc>
              <a:spcBef>
                <a:spcPts val="0"/>
              </a:spcBef>
              <a:spcAft>
                <a:spcPts val="0"/>
              </a:spcAft>
              <a:buNone/>
            </a:pPr>
            <a:r>
              <a:rPr lang="en-US" sz="18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代行。 手を動かさずに「成果」</a:t>
            </a:r>
            <a:endParaRPr sz="18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endParaRPr>
          </a:p>
          <a:p>
            <a:pPr marL="0" marR="0" lvl="0" indent="0" algn="l" rtl="0">
              <a:lnSpc>
                <a:spcPct val="140000"/>
              </a:lnSpc>
              <a:spcBef>
                <a:spcPts val="0"/>
              </a:spcBef>
              <a:spcAft>
                <a:spcPts val="0"/>
              </a:spcAft>
              <a:buNone/>
            </a:pPr>
            <a:r>
              <a:rPr lang="en-US" sz="18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だけを</a:t>
            </a:r>
            <a:r>
              <a:rPr lang="en-US" sz="1800" b="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受け取れます</a:t>
            </a:r>
            <a:r>
              <a:rPr lang="en-US" sz="18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a:t>
            </a:r>
            <a:endParaRPr>
              <a:latin typeface="小塚ゴシック Pro B" panose="020B0800000000000000" pitchFamily="34" charset="-128"/>
              <a:ea typeface="小塚ゴシック Pro B" panose="020B0800000000000000" pitchFamily="34" charset="-128"/>
            </a:endParaRPr>
          </a:p>
        </p:txBody>
      </p:sp>
      <p:sp>
        <p:nvSpPr>
          <p:cNvPr id="403" name="Google Shape;403;p24"/>
          <p:cNvSpPr txBox="1"/>
          <p:nvPr/>
        </p:nvSpPr>
        <p:spPr>
          <a:xfrm>
            <a:off x="1143000" y="3666000"/>
            <a:ext cx="3505200" cy="118186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法規制（薬機法・景表法）を守る「守り」と、売上を作るための「攻め」。この両輪を回す制作物を、プロのライター/ディレクターが一気通貫で制作します。</a:t>
            </a:r>
            <a:endParaRPr>
              <a:latin typeface="小塚ゴシック Pro M" panose="020B0700000000000000" pitchFamily="34" charset="-128"/>
              <a:ea typeface="小塚ゴシック Pro M" panose="020B0700000000000000" pitchFamily="34" charset="-128"/>
            </a:endParaRPr>
          </a:p>
        </p:txBody>
      </p:sp>
      <p:sp>
        <p:nvSpPr>
          <p:cNvPr id="404" name="Google Shape;404;p24"/>
          <p:cNvSpPr txBox="1"/>
          <p:nvPr/>
        </p:nvSpPr>
        <p:spPr>
          <a:xfrm>
            <a:off x="1305000" y="5296998"/>
            <a:ext cx="3181200" cy="27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dirty="0" err="1">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単発</a:t>
            </a:r>
            <a:r>
              <a:rPr lang="en-US" sz="1800" b="1" i="0" u="none" strike="noStrike" cap="none" dirty="0">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 5,000円〜</a:t>
            </a:r>
            <a:endParaRPr sz="1800" dirty="0">
              <a:latin typeface="小塚ゴシック Pro B" panose="020B0800000000000000" pitchFamily="34" charset="-128"/>
              <a:ea typeface="小塚ゴシック Pro B" panose="020B0800000000000000" pitchFamily="34" charset="-128"/>
            </a:endParaRPr>
          </a:p>
        </p:txBody>
      </p:sp>
      <p:sp>
        <p:nvSpPr>
          <p:cNvPr id="405" name="Google Shape;405;p24"/>
          <p:cNvSpPr txBox="1"/>
          <p:nvPr/>
        </p:nvSpPr>
        <p:spPr>
          <a:xfrm>
            <a:off x="1302870" y="5542087"/>
            <a:ext cx="3181350" cy="258532"/>
          </a:xfrm>
          <a:prstGeom prst="rect">
            <a:avLst/>
          </a:prstGeom>
          <a:noFill/>
          <a:ln>
            <a:noFill/>
          </a:ln>
        </p:spPr>
        <p:txBody>
          <a:bodyPr spcFirstLastPara="1" wrap="square" lIns="0" tIns="0" rIns="0" bIns="0" anchor="t" anchorCtr="0">
            <a:spAutoFit/>
          </a:bodyPr>
          <a:lstStyle/>
          <a:p>
            <a:pPr marL="0" marR="0" lvl="0" indent="0" algn="ctr" rtl="0">
              <a:lnSpc>
                <a:spcPct val="159904"/>
              </a:lnSpc>
              <a:spcBef>
                <a:spcPts val="0"/>
              </a:spcBef>
              <a:spcAft>
                <a:spcPts val="0"/>
              </a:spcAft>
              <a:buNone/>
            </a:pPr>
            <a:r>
              <a:rPr lang="en-US" sz="1050" i="0" u="none" strike="noStrike" cap="none" dirty="0">
                <a:solidFill>
                  <a:srgbClr val="666666"/>
                </a:solidFill>
                <a:latin typeface="小塚ゴシック Pro B" panose="020B0800000000000000" pitchFamily="34" charset="-128"/>
                <a:ea typeface="小塚ゴシック Pro B" panose="020B0800000000000000" pitchFamily="34" charset="-128"/>
                <a:cs typeface="Noto Sans JP"/>
                <a:sym typeface="Noto Sans JP"/>
              </a:rPr>
              <a:t>（</a:t>
            </a:r>
            <a:r>
              <a:rPr lang="en-US" sz="1050" i="0" u="none" strike="noStrike" cap="none" dirty="0" err="1">
                <a:solidFill>
                  <a:srgbClr val="666666"/>
                </a:solidFill>
                <a:latin typeface="小塚ゴシック Pro B" panose="020B0800000000000000" pitchFamily="34" charset="-128"/>
                <a:ea typeface="小塚ゴシック Pro B" panose="020B0800000000000000" pitchFamily="34" charset="-128"/>
                <a:cs typeface="Noto Sans JP"/>
                <a:sym typeface="Noto Sans JP"/>
              </a:rPr>
              <a:t>内容により変動</a:t>
            </a:r>
            <a:r>
              <a:rPr lang="en-US" sz="1050" i="0" u="none" strike="noStrike" cap="none" dirty="0">
                <a:solidFill>
                  <a:srgbClr val="666666"/>
                </a:solidFill>
                <a:latin typeface="小塚ゴシック Pro B" panose="020B0800000000000000" pitchFamily="34" charset="-128"/>
                <a:ea typeface="小塚ゴシック Pro B" panose="020B0800000000000000" pitchFamily="34" charset="-128"/>
                <a:cs typeface="Noto Sans JP"/>
                <a:sym typeface="Noto Sans JP"/>
              </a:rPr>
              <a:t> / </a:t>
            </a:r>
            <a:r>
              <a:rPr lang="en-US" sz="1050" i="0" u="none" strike="noStrike" cap="none" dirty="0" err="1">
                <a:solidFill>
                  <a:srgbClr val="666666"/>
                </a:solidFill>
                <a:latin typeface="小塚ゴシック Pro B" panose="020B0800000000000000" pitchFamily="34" charset="-128"/>
                <a:ea typeface="小塚ゴシック Pro B" panose="020B0800000000000000" pitchFamily="34" charset="-128"/>
                <a:cs typeface="Noto Sans JP"/>
                <a:sym typeface="Noto Sans JP"/>
              </a:rPr>
              <a:t>見積無料</a:t>
            </a:r>
            <a:r>
              <a:rPr lang="en-US" sz="1050" i="0" u="none" strike="noStrike" cap="none" dirty="0">
                <a:solidFill>
                  <a:srgbClr val="666666"/>
                </a:solidFill>
                <a:latin typeface="小塚ゴシック Pro B" panose="020B0800000000000000" pitchFamily="34" charset="-128"/>
                <a:ea typeface="小塚ゴシック Pro B" panose="020B0800000000000000" pitchFamily="34" charset="-128"/>
                <a:cs typeface="Noto Sans JP"/>
                <a:sym typeface="Noto Sans JP"/>
              </a:rPr>
              <a:t>）</a:t>
            </a:r>
            <a:endParaRPr dirty="0">
              <a:latin typeface="小塚ゴシック Pro B" panose="020B0800000000000000" pitchFamily="34" charset="-128"/>
              <a:ea typeface="小塚ゴシック Pro B" panose="020B0800000000000000" pitchFamily="34" charset="-128"/>
            </a:endParaRPr>
          </a:p>
        </p:txBody>
      </p:sp>
      <p:sp>
        <p:nvSpPr>
          <p:cNvPr id="409" name="Google Shape;409;p24"/>
          <p:cNvSpPr txBox="1"/>
          <p:nvPr/>
        </p:nvSpPr>
        <p:spPr>
          <a:xfrm>
            <a:off x="5505450" y="1931491"/>
            <a:ext cx="6686700" cy="302519"/>
          </a:xfrm>
          <a:prstGeom prst="rect">
            <a:avLst/>
          </a:prstGeom>
          <a:noFill/>
          <a:ln>
            <a:noFill/>
          </a:ln>
        </p:spPr>
        <p:txBody>
          <a:bodyPr spcFirstLastPara="1" wrap="square" lIns="0" tIns="0" rIns="0" bIns="0" anchor="t" anchorCtr="0">
            <a:spAutoFit/>
          </a:bodyPr>
          <a:lstStyle/>
          <a:p>
            <a:pPr marL="0" marR="0" lvl="0" indent="0" algn="l" rtl="0">
              <a:lnSpc>
                <a:spcPct val="139957"/>
              </a:lnSpc>
              <a:spcBef>
                <a:spcPts val="0"/>
              </a:spcBef>
              <a:spcAft>
                <a:spcPts val="0"/>
              </a:spcAft>
              <a:buNone/>
            </a:pPr>
            <a:r>
              <a:rPr lang="en-US" sz="1404" b="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カワリミをおすすめする理由3選</a:t>
            </a:r>
            <a:endParaRPr>
              <a:latin typeface="小塚ゴシック Pro B" panose="020B0800000000000000" pitchFamily="34" charset="-128"/>
              <a:ea typeface="小塚ゴシック Pro B" panose="020B0800000000000000" pitchFamily="34" charset="-128"/>
            </a:endParaRPr>
          </a:p>
        </p:txBody>
      </p:sp>
      <p:sp>
        <p:nvSpPr>
          <p:cNvPr id="410" name="Google Shape;410;p24"/>
          <p:cNvSpPr/>
          <p:nvPr/>
        </p:nvSpPr>
        <p:spPr>
          <a:xfrm>
            <a:off x="5505450" y="2371576"/>
            <a:ext cx="5924550" cy="1162200"/>
          </a:xfrm>
          <a:prstGeom prst="roundRect">
            <a:avLst>
              <a:gd name="adj" fmla="val 3278"/>
            </a:avLst>
          </a:prstGeom>
          <a:solidFill>
            <a:srgbClr val="FFFFFF"/>
          </a:solidFill>
          <a:ln w="9525" cap="flat" cmpd="sng">
            <a:solidFill>
              <a:srgbClr val="EEEEE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413" name="Google Shape;413;p24"/>
          <p:cNvSpPr txBox="1"/>
          <p:nvPr/>
        </p:nvSpPr>
        <p:spPr>
          <a:xfrm>
            <a:off x="6276975" y="2862402"/>
            <a:ext cx="4903817" cy="553998"/>
          </a:xfrm>
          <a:prstGeom prst="rect">
            <a:avLst/>
          </a:prstGeom>
          <a:noFill/>
          <a:ln>
            <a:noFill/>
          </a:ln>
        </p:spPr>
        <p:txBody>
          <a:bodyPr spcFirstLastPara="1" wrap="square" lIns="0" tIns="0" rIns="0" bIns="0" anchor="t" anchorCtr="0">
            <a:spAutoFit/>
          </a:bodyPr>
          <a:lstStyle/>
          <a:p>
            <a:pPr marL="0" lvl="0" indent="0" algn="l" rtl="0">
              <a:lnSpc>
                <a:spcPct val="150000"/>
              </a:lnSpc>
              <a:spcBef>
                <a:spcPts val="0"/>
              </a:spcBef>
              <a:spcAft>
                <a:spcPts val="0"/>
              </a:spcAft>
              <a:buSzPts val="1100"/>
              <a:buNone/>
            </a:pPr>
            <a:r>
              <a:rPr lang="en-US" sz="1200" dirty="0" err="1">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企画・構成から制作まで丸投げOK。 本業に集中できます。</a:t>
            </a:r>
            <a:endParaRPr sz="1200" dirty="0">
              <a:solidFill>
                <a:srgbClr val="555555"/>
              </a:solidFill>
              <a:latin typeface="小塚ゴシック Pro M" panose="020B0700000000000000" pitchFamily="34" charset="-128"/>
              <a:ea typeface="小塚ゴシック Pro M" panose="020B0700000000000000" pitchFamily="34" charset="-128"/>
              <a:cs typeface="Noto Sans JP"/>
              <a:sym typeface="Noto Sans JP"/>
            </a:endParaRPr>
          </a:p>
          <a:p>
            <a:pPr marL="0" lvl="0" indent="0" algn="l" rtl="0">
              <a:lnSpc>
                <a:spcPct val="150000"/>
              </a:lnSpc>
              <a:spcBef>
                <a:spcPts val="0"/>
              </a:spcBef>
              <a:spcAft>
                <a:spcPts val="0"/>
              </a:spcAft>
              <a:buSzPts val="1100"/>
              <a:buNone/>
            </a:pPr>
            <a:r>
              <a:rPr lang="en-US" sz="1200" dirty="0">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※制作に必要な情報・素材のご提供のみお願いします。</a:t>
            </a:r>
            <a:endParaRPr sz="1200" dirty="0">
              <a:solidFill>
                <a:srgbClr val="555555"/>
              </a:solidFill>
              <a:latin typeface="小塚ゴシック Pro M" panose="020B0700000000000000" pitchFamily="34" charset="-128"/>
              <a:ea typeface="小塚ゴシック Pro M" panose="020B0700000000000000" pitchFamily="34" charset="-128"/>
              <a:cs typeface="Noto Sans JP"/>
              <a:sym typeface="Noto Sans JP"/>
            </a:endParaRPr>
          </a:p>
        </p:txBody>
      </p:sp>
      <p:sp>
        <p:nvSpPr>
          <p:cNvPr id="414" name="Google Shape;414;p24"/>
          <p:cNvSpPr txBox="1"/>
          <p:nvPr/>
        </p:nvSpPr>
        <p:spPr>
          <a:xfrm>
            <a:off x="6276975" y="4214860"/>
            <a:ext cx="4903817" cy="553998"/>
          </a:xfrm>
          <a:prstGeom prst="rect">
            <a:avLst/>
          </a:prstGeom>
          <a:noFill/>
          <a:ln>
            <a:noFill/>
          </a:ln>
        </p:spPr>
        <p:txBody>
          <a:bodyPr spcFirstLastPara="1" wrap="square" lIns="0" tIns="0" rIns="0" bIns="0" anchor="t" anchorCtr="0">
            <a:spAutoFit/>
          </a:bodyPr>
          <a:lstStyle/>
          <a:p>
            <a:pPr marL="0" lvl="0" indent="0" algn="l" rtl="0">
              <a:lnSpc>
                <a:spcPct val="150000"/>
              </a:lnSpc>
              <a:spcBef>
                <a:spcPts val="0"/>
              </a:spcBef>
              <a:spcAft>
                <a:spcPts val="0"/>
              </a:spcAft>
              <a:buSzPts val="1100"/>
              <a:buNone/>
            </a:pPr>
            <a:r>
              <a:rPr lang="en-US" sz="1200" dirty="0" err="1">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法律を遵守しながら、ターゲットの心理を突くセールスライティングで成果を作ります</a:t>
            </a:r>
            <a:r>
              <a:rPr lang="en-US" sz="1200" dirty="0">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a:t>
            </a:r>
            <a:endParaRPr sz="1200" dirty="0">
              <a:solidFill>
                <a:srgbClr val="555555"/>
              </a:solidFill>
              <a:latin typeface="小塚ゴシック Pro M" panose="020B0700000000000000" pitchFamily="34" charset="-128"/>
              <a:ea typeface="小塚ゴシック Pro M" panose="020B0700000000000000" pitchFamily="34" charset="-128"/>
              <a:cs typeface="Noto Sans JP"/>
              <a:sym typeface="Noto Sans JP"/>
            </a:endParaRPr>
          </a:p>
        </p:txBody>
      </p:sp>
      <p:sp>
        <p:nvSpPr>
          <p:cNvPr id="415" name="Google Shape;415;p24"/>
          <p:cNvSpPr txBox="1"/>
          <p:nvPr/>
        </p:nvSpPr>
        <p:spPr>
          <a:xfrm>
            <a:off x="6276975" y="5556827"/>
            <a:ext cx="4903817" cy="553998"/>
          </a:xfrm>
          <a:prstGeom prst="rect">
            <a:avLst/>
          </a:prstGeom>
          <a:noFill/>
          <a:ln>
            <a:noFill/>
          </a:ln>
        </p:spPr>
        <p:txBody>
          <a:bodyPr spcFirstLastPara="1" wrap="square" lIns="0" tIns="0" rIns="0" bIns="0" anchor="t" anchorCtr="0">
            <a:spAutoFit/>
          </a:bodyPr>
          <a:lstStyle/>
          <a:p>
            <a:pPr marL="0" lvl="0" indent="0" algn="l" rtl="0">
              <a:lnSpc>
                <a:spcPct val="150000"/>
              </a:lnSpc>
              <a:spcBef>
                <a:spcPts val="0"/>
              </a:spcBef>
              <a:spcAft>
                <a:spcPts val="0"/>
              </a:spcAft>
              <a:buSzPts val="1100"/>
              <a:buNone/>
            </a:pPr>
            <a:r>
              <a:rPr lang="en-US" sz="1200" dirty="0" err="1">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制作物の相談を受けたときは、本当に必要なのかを判断した上で受注</a:t>
            </a:r>
            <a:r>
              <a:rPr lang="en-US" sz="1200" dirty="0">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a:t>
            </a:r>
            <a:endParaRPr sz="1200" dirty="0">
              <a:solidFill>
                <a:srgbClr val="555555"/>
              </a:solidFill>
              <a:latin typeface="小塚ゴシック Pro M" panose="020B0700000000000000" pitchFamily="34" charset="-128"/>
              <a:ea typeface="小塚ゴシック Pro M" panose="020B0700000000000000" pitchFamily="34" charset="-128"/>
              <a:cs typeface="Noto Sans JP"/>
              <a:sym typeface="Noto Sans JP"/>
            </a:endParaRPr>
          </a:p>
          <a:p>
            <a:pPr marL="0" lvl="0" indent="0" algn="l" rtl="0">
              <a:lnSpc>
                <a:spcPct val="150000"/>
              </a:lnSpc>
              <a:spcBef>
                <a:spcPts val="0"/>
              </a:spcBef>
              <a:spcAft>
                <a:spcPts val="0"/>
              </a:spcAft>
              <a:buSzPts val="1100"/>
              <a:buNone/>
            </a:pPr>
            <a:r>
              <a:rPr lang="en-US" sz="1200" dirty="0" err="1">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お互いの時間とお金を大事にします</a:t>
            </a:r>
            <a:r>
              <a:rPr lang="en-US" sz="1200" dirty="0">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a:t>
            </a:r>
            <a:endParaRPr sz="1200" dirty="0">
              <a:solidFill>
                <a:srgbClr val="555555"/>
              </a:solidFill>
              <a:latin typeface="小塚ゴシック Pro M" panose="020B0700000000000000" pitchFamily="34" charset="-128"/>
              <a:ea typeface="小塚ゴシック Pro M" panose="020B0700000000000000" pitchFamily="34" charset="-128"/>
              <a:cs typeface="Noto Sans JP"/>
              <a:sym typeface="Noto Sans JP"/>
            </a:endParaRPr>
          </a:p>
        </p:txBody>
      </p:sp>
      <p:sp>
        <p:nvSpPr>
          <p:cNvPr id="416" name="Google Shape;416;p24"/>
          <p:cNvSpPr txBox="1"/>
          <p:nvPr/>
        </p:nvSpPr>
        <p:spPr>
          <a:xfrm>
            <a:off x="6276975" y="2547720"/>
            <a:ext cx="2302500" cy="290849"/>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ja-JP" altLang="en-US" sz="1350" b="1" i="0" u="none" strike="noStrike" cap="none" dirty="0">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制作の手間を減らせる</a:t>
            </a:r>
            <a:endParaRPr dirty="0">
              <a:latin typeface="小塚ゴシック Pro B" panose="020B0800000000000000" pitchFamily="34" charset="-128"/>
              <a:ea typeface="小塚ゴシック Pro B" panose="020B0800000000000000" pitchFamily="34" charset="-128"/>
            </a:endParaRPr>
          </a:p>
        </p:txBody>
      </p:sp>
      <p:sp>
        <p:nvSpPr>
          <p:cNvPr id="417" name="Google Shape;417;p24"/>
          <p:cNvSpPr txBox="1"/>
          <p:nvPr/>
        </p:nvSpPr>
        <p:spPr>
          <a:xfrm>
            <a:off x="6276975" y="3887178"/>
            <a:ext cx="2512574" cy="290849"/>
          </a:xfrm>
          <a:prstGeom prst="rect">
            <a:avLst/>
          </a:prstGeom>
          <a:noFill/>
          <a:ln>
            <a:noFill/>
          </a:ln>
        </p:spPr>
        <p:txBody>
          <a:bodyPr spcFirstLastPara="1" wrap="square" lIns="0" tIns="0" rIns="0" bIns="0" anchor="t" anchorCtr="0">
            <a:spAutoFit/>
          </a:bodyPr>
          <a:lstStyle/>
          <a:p>
            <a:pPr marL="0" lvl="0" indent="0" algn="l" rtl="0">
              <a:lnSpc>
                <a:spcPct val="139925"/>
              </a:lnSpc>
              <a:spcBef>
                <a:spcPts val="0"/>
              </a:spcBef>
              <a:spcAft>
                <a:spcPts val="0"/>
              </a:spcAft>
              <a:buNone/>
            </a:pPr>
            <a:r>
              <a:rPr lang="en-US" sz="1350" b="1" dirty="0" err="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薬機法を守り</a:t>
            </a:r>
            <a:r>
              <a:rPr lang="ja-JP" altLang="en-US" sz="1350" b="1" dirty="0">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ながら</a:t>
            </a:r>
            <a:r>
              <a:rPr lang="en-US" sz="1350" b="1" dirty="0">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a:t>
            </a:r>
            <a:r>
              <a:rPr lang="en-US" sz="1350" b="1" dirty="0" err="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攻める</a:t>
            </a:r>
            <a:r>
              <a:rPr lang="en-US" sz="1350" b="1" dirty="0">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a:t>
            </a:r>
            <a:endParaRPr sz="1350" b="1" dirty="0">
              <a:solidFill>
                <a:srgbClr val="2C2C2C"/>
              </a:solidFill>
              <a:latin typeface="小塚ゴシック Pro B" panose="020B0800000000000000" pitchFamily="34" charset="-128"/>
              <a:ea typeface="小塚ゴシック Pro B" panose="020B0800000000000000" pitchFamily="34" charset="-128"/>
              <a:cs typeface="Noto Sans JP"/>
              <a:sym typeface="Noto Sans JP"/>
            </a:endParaRPr>
          </a:p>
        </p:txBody>
      </p:sp>
      <p:sp>
        <p:nvSpPr>
          <p:cNvPr id="418" name="Google Shape;418;p24"/>
          <p:cNvSpPr txBox="1"/>
          <p:nvPr/>
        </p:nvSpPr>
        <p:spPr>
          <a:xfrm>
            <a:off x="6276975" y="5231635"/>
            <a:ext cx="3283800" cy="290849"/>
          </a:xfrm>
          <a:prstGeom prst="rect">
            <a:avLst/>
          </a:prstGeom>
          <a:noFill/>
          <a:ln>
            <a:noFill/>
          </a:ln>
        </p:spPr>
        <p:txBody>
          <a:bodyPr spcFirstLastPara="1" wrap="square" lIns="0" tIns="0" rIns="0" bIns="0" anchor="t" anchorCtr="0">
            <a:spAutoFit/>
          </a:bodyPr>
          <a:lstStyle/>
          <a:p>
            <a:pPr marL="0" lvl="0" indent="0" algn="l" rtl="0">
              <a:lnSpc>
                <a:spcPct val="139925"/>
              </a:lnSpc>
              <a:spcBef>
                <a:spcPts val="0"/>
              </a:spcBef>
              <a:spcAft>
                <a:spcPts val="0"/>
              </a:spcAft>
              <a:buNone/>
            </a:pPr>
            <a:r>
              <a:rPr lang="en-US" sz="1350" b="1" dirty="0" err="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現状に合わせた制作物の提案も可能</a:t>
            </a:r>
            <a:endParaRPr sz="1350" b="1" dirty="0">
              <a:solidFill>
                <a:srgbClr val="2C2C2C"/>
              </a:solidFill>
              <a:latin typeface="小塚ゴシック Pro B" panose="020B0800000000000000" pitchFamily="34" charset="-128"/>
              <a:ea typeface="小塚ゴシック Pro B" panose="020B0800000000000000" pitchFamily="34" charset="-128"/>
              <a:cs typeface="Noto Sans JP"/>
              <a:sym typeface="Noto Sans JP"/>
            </a:endParaRPr>
          </a:p>
        </p:txBody>
      </p:sp>
      <p:sp>
        <p:nvSpPr>
          <p:cNvPr id="422" name="Google Shape;422;p24"/>
          <p:cNvSpPr txBox="1"/>
          <p:nvPr/>
        </p:nvSpPr>
        <p:spPr>
          <a:xfrm>
            <a:off x="1143000" y="5895076"/>
            <a:ext cx="3505200" cy="1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dirty="0">
                <a:solidFill>
                  <a:srgbClr val="666666"/>
                </a:solidFill>
                <a:latin typeface="小塚ゴシック Pro B" panose="020B0800000000000000" pitchFamily="34" charset="-128"/>
                <a:ea typeface="小塚ゴシック Pro B" panose="020B0800000000000000" pitchFamily="34" charset="-128"/>
                <a:cs typeface="Noto Sans JP"/>
                <a:sym typeface="Noto Sans JP"/>
              </a:rPr>
              <a:t>※単発5,000円は30秒のスピーチ原稿が対象。</a:t>
            </a:r>
            <a:endParaRPr dirty="0">
              <a:latin typeface="小塚ゴシック Pro B" panose="020B0800000000000000" pitchFamily="34" charset="-128"/>
              <a:ea typeface="小塚ゴシック Pro B" panose="020B0800000000000000" pitchFamily="34" charset="-128"/>
            </a:endParaRPr>
          </a:p>
        </p:txBody>
      </p:sp>
      <p:sp>
        <p:nvSpPr>
          <p:cNvPr id="2" name="スライド番号プレースホルダー 14">
            <a:extLst>
              <a:ext uri="{FF2B5EF4-FFF2-40B4-BE49-F238E27FC236}">
                <a16:creationId xmlns:a16="http://schemas.microsoft.com/office/drawing/2014/main" id="{C9BDD6D9-4066-5D99-1194-CEC174D87046}"/>
              </a:ext>
            </a:extLst>
          </p:cNvPr>
          <p:cNvSpPr txBox="1">
            <a:spLocks/>
          </p:cNvSpPr>
          <p:nvPr/>
        </p:nvSpPr>
        <p:spPr>
          <a:xfrm>
            <a:off x="8789549" y="6420836"/>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4B6131FB-BBC3-4224-AAE6-4E406EC349F0}" type="slidenum">
              <a:rPr kumimoji="1" lang="ja-JP" altLang="en-US" b="1" smtClean="0">
                <a:solidFill>
                  <a:srgbClr val="2C2C2C"/>
                </a:solidFill>
                <a:latin typeface="小塚ゴシック Pro B" panose="020B0800000000000000" pitchFamily="34" charset="-128"/>
                <a:ea typeface="小塚ゴシック Pro B" panose="020B0800000000000000" pitchFamily="34" charset="-128"/>
              </a:rPr>
              <a:pPr algn="r"/>
              <a:t>12</a:t>
            </a:fld>
            <a:endParaRPr kumimoji="1" lang="ja-JP" altLang="en-US" b="1" dirty="0">
              <a:solidFill>
                <a:srgbClr val="2C2C2C"/>
              </a:solidFill>
              <a:latin typeface="小塚ゴシック Pro B" panose="020B0800000000000000" pitchFamily="34" charset="-128"/>
              <a:ea typeface="小塚ゴシック Pro B" panose="020B0800000000000000" pitchFamily="34" charset="-128"/>
            </a:endParaRPr>
          </a:p>
        </p:txBody>
      </p:sp>
      <p:sp>
        <p:nvSpPr>
          <p:cNvPr id="8" name="楕円 7">
            <a:extLst>
              <a:ext uri="{FF2B5EF4-FFF2-40B4-BE49-F238E27FC236}">
                <a16:creationId xmlns:a16="http://schemas.microsoft.com/office/drawing/2014/main" id="{F1AAE6EE-C7C4-F826-4AA4-AF4153B43305}"/>
              </a:ext>
            </a:extLst>
          </p:cNvPr>
          <p:cNvSpPr/>
          <p:nvPr/>
        </p:nvSpPr>
        <p:spPr>
          <a:xfrm>
            <a:off x="5693070" y="2488294"/>
            <a:ext cx="374108" cy="374108"/>
          </a:xfrm>
          <a:prstGeom prst="ellipse">
            <a:avLst/>
          </a:prstGeom>
          <a:solidFill>
            <a:srgbClr val="F9F9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小塚ゴシック Pro B" panose="020B0800000000000000" pitchFamily="34" charset="-128"/>
              <a:ea typeface="小塚ゴシック Pro B" panose="020B0800000000000000" pitchFamily="34" charset="-128"/>
            </a:endParaRPr>
          </a:p>
        </p:txBody>
      </p:sp>
      <p:pic>
        <p:nvPicPr>
          <p:cNvPr id="420" name="Google Shape;420;p24" descr="image.png"/>
          <p:cNvPicPr preferRelativeResize="0"/>
          <p:nvPr/>
        </p:nvPicPr>
        <p:blipFill rotWithShape="1">
          <a:blip r:embed="rId8">
            <a:alphaModFix/>
          </a:blip>
          <a:srcRect/>
          <a:stretch/>
        </p:blipFill>
        <p:spPr>
          <a:xfrm>
            <a:off x="5791200" y="2564400"/>
            <a:ext cx="177849" cy="228600"/>
          </a:xfrm>
          <a:prstGeom prst="rect">
            <a:avLst/>
          </a:prstGeom>
          <a:noFill/>
          <a:ln>
            <a:noFill/>
          </a:ln>
        </p:spPr>
      </p:pic>
      <p:sp>
        <p:nvSpPr>
          <p:cNvPr id="9" name="楕円 8">
            <a:extLst>
              <a:ext uri="{FF2B5EF4-FFF2-40B4-BE49-F238E27FC236}">
                <a16:creationId xmlns:a16="http://schemas.microsoft.com/office/drawing/2014/main" id="{EFF0D5D9-AE6E-AA72-329F-69D6EDDE7DF5}"/>
              </a:ext>
            </a:extLst>
          </p:cNvPr>
          <p:cNvSpPr/>
          <p:nvPr/>
        </p:nvSpPr>
        <p:spPr>
          <a:xfrm>
            <a:off x="5693070" y="3840752"/>
            <a:ext cx="374108" cy="374108"/>
          </a:xfrm>
          <a:prstGeom prst="ellipse">
            <a:avLst/>
          </a:prstGeom>
          <a:solidFill>
            <a:srgbClr val="F9F9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小塚ゴシック Pro B" panose="020B0800000000000000" pitchFamily="34" charset="-128"/>
              <a:ea typeface="小塚ゴシック Pro B" panose="020B0800000000000000" pitchFamily="34" charset="-128"/>
            </a:endParaRPr>
          </a:p>
        </p:txBody>
      </p:sp>
      <p:pic>
        <p:nvPicPr>
          <p:cNvPr id="408" name="Google Shape;408;p24" descr="image.png"/>
          <p:cNvPicPr preferRelativeResize="0"/>
          <p:nvPr/>
        </p:nvPicPr>
        <p:blipFill rotWithShape="1">
          <a:blip r:embed="rId9">
            <a:alphaModFix/>
          </a:blip>
          <a:srcRect/>
          <a:stretch/>
        </p:blipFill>
        <p:spPr>
          <a:xfrm>
            <a:off x="5786205" y="3913506"/>
            <a:ext cx="177849" cy="228600"/>
          </a:xfrm>
          <a:prstGeom prst="rect">
            <a:avLst/>
          </a:prstGeom>
          <a:noFill/>
          <a:ln>
            <a:noFill/>
          </a:ln>
        </p:spPr>
      </p:pic>
      <p:sp>
        <p:nvSpPr>
          <p:cNvPr id="11" name="楕円 10">
            <a:extLst>
              <a:ext uri="{FF2B5EF4-FFF2-40B4-BE49-F238E27FC236}">
                <a16:creationId xmlns:a16="http://schemas.microsoft.com/office/drawing/2014/main" id="{22480BEF-4AF5-7CE4-7D0A-F9A7AF4A5947}"/>
              </a:ext>
            </a:extLst>
          </p:cNvPr>
          <p:cNvSpPr/>
          <p:nvPr/>
        </p:nvSpPr>
        <p:spPr>
          <a:xfrm>
            <a:off x="5693070" y="5177578"/>
            <a:ext cx="374108" cy="374108"/>
          </a:xfrm>
          <a:prstGeom prst="ellipse">
            <a:avLst/>
          </a:prstGeom>
          <a:solidFill>
            <a:srgbClr val="F9F9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小塚ゴシック Pro B" panose="020B0800000000000000" pitchFamily="34" charset="-128"/>
              <a:ea typeface="小塚ゴシック Pro B" panose="020B0800000000000000" pitchFamily="34" charset="-128"/>
            </a:endParaRPr>
          </a:p>
        </p:txBody>
      </p:sp>
      <p:pic>
        <p:nvPicPr>
          <p:cNvPr id="421" name="Google Shape;421;p24"/>
          <p:cNvPicPr preferRelativeResize="0"/>
          <p:nvPr/>
        </p:nvPicPr>
        <p:blipFill>
          <a:blip r:embed="rId10">
            <a:alphaModFix/>
          </a:blip>
          <a:stretch>
            <a:fillRect/>
          </a:stretch>
        </p:blipFill>
        <p:spPr>
          <a:xfrm>
            <a:off x="5760127" y="5265911"/>
            <a:ext cx="230004" cy="23000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26"/>
        <p:cNvGrpSpPr/>
        <p:nvPr/>
      </p:nvGrpSpPr>
      <p:grpSpPr>
        <a:xfrm>
          <a:off x="0" y="0"/>
          <a:ext cx="0" cy="0"/>
          <a:chOff x="0" y="0"/>
          <a:chExt cx="0" cy="0"/>
        </a:xfrm>
      </p:grpSpPr>
      <p:grpSp>
        <p:nvGrpSpPr>
          <p:cNvPr id="427" name="Google Shape;427;p25"/>
          <p:cNvGrpSpPr/>
          <p:nvPr/>
        </p:nvGrpSpPr>
        <p:grpSpPr>
          <a:xfrm>
            <a:off x="0" y="0"/>
            <a:ext cx="12643324" cy="6976048"/>
            <a:chOff x="0" y="0"/>
            <a:chExt cx="12643324" cy="6976048"/>
          </a:xfrm>
        </p:grpSpPr>
        <p:pic>
          <p:nvPicPr>
            <p:cNvPr id="428" name="Google Shape;428;p25"/>
            <p:cNvPicPr preferRelativeResize="0"/>
            <p:nvPr/>
          </p:nvPicPr>
          <p:blipFill>
            <a:blip r:embed="rId3">
              <a:alphaModFix/>
            </a:blip>
            <a:stretch>
              <a:fillRect/>
            </a:stretch>
          </p:blipFill>
          <p:spPr>
            <a:xfrm>
              <a:off x="0" y="0"/>
              <a:ext cx="12643315" cy="6976048"/>
            </a:xfrm>
            <a:prstGeom prst="rect">
              <a:avLst/>
            </a:prstGeom>
            <a:noFill/>
            <a:ln>
              <a:noFill/>
            </a:ln>
          </p:spPr>
        </p:pic>
        <p:pic>
          <p:nvPicPr>
            <p:cNvPr id="429" name="Google Shape;429;p25"/>
            <p:cNvPicPr preferRelativeResize="0"/>
            <p:nvPr/>
          </p:nvPicPr>
          <p:blipFill rotWithShape="1">
            <a:blip r:embed="rId3">
              <a:alphaModFix/>
            </a:blip>
            <a:srcRect l="88432" t="69407" b="11568"/>
            <a:stretch/>
          </p:blipFill>
          <p:spPr>
            <a:xfrm>
              <a:off x="11180801" y="5648888"/>
              <a:ext cx="1462523" cy="1327158"/>
            </a:xfrm>
            <a:prstGeom prst="rect">
              <a:avLst/>
            </a:prstGeom>
            <a:noFill/>
            <a:ln>
              <a:noFill/>
            </a:ln>
          </p:spPr>
        </p:pic>
      </p:grpSp>
      <p:pic>
        <p:nvPicPr>
          <p:cNvPr id="430" name="Google Shape;430;p25"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pic>
        <p:nvPicPr>
          <p:cNvPr id="431" name="Google Shape;431;p25" descr="image.png"/>
          <p:cNvPicPr preferRelativeResize="0"/>
          <p:nvPr/>
        </p:nvPicPr>
        <p:blipFill rotWithShape="1">
          <a:blip r:embed="rId5">
            <a:alphaModFix/>
          </a:blip>
          <a:srcRect/>
          <a:stretch/>
        </p:blipFill>
        <p:spPr>
          <a:xfrm>
            <a:off x="0" y="0"/>
            <a:ext cx="12192000" cy="142875"/>
          </a:xfrm>
          <a:prstGeom prst="rect">
            <a:avLst/>
          </a:prstGeom>
          <a:noFill/>
          <a:ln>
            <a:noFill/>
          </a:ln>
        </p:spPr>
      </p:pic>
      <p:sp>
        <p:nvSpPr>
          <p:cNvPr id="432" name="Google Shape;432;p25"/>
          <p:cNvSpPr txBox="1"/>
          <p:nvPr/>
        </p:nvSpPr>
        <p:spPr>
          <a:xfrm>
            <a:off x="762000" y="571500"/>
            <a:ext cx="10668000"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a:solidFill>
                  <a:srgbClr val="C5A059"/>
                </a:solidFill>
                <a:latin typeface="小塚ゴシック Pro B" panose="020B0800000000000000" pitchFamily="34" charset="-128"/>
                <a:ea typeface="小塚ゴシック Pro B" panose="020B0800000000000000" pitchFamily="34" charset="-128"/>
                <a:cs typeface="Lato"/>
                <a:sym typeface="Lato"/>
              </a:rPr>
              <a:t>SERVICE MENU</a:t>
            </a:r>
            <a:endParaRPr>
              <a:latin typeface="小塚ゴシック Pro B" panose="020B0800000000000000" pitchFamily="34" charset="-128"/>
              <a:ea typeface="小塚ゴシック Pro B" panose="020B0800000000000000" pitchFamily="34" charset="-128"/>
            </a:endParaRPr>
          </a:p>
        </p:txBody>
      </p:sp>
      <p:sp>
        <p:nvSpPr>
          <p:cNvPr id="433" name="Google Shape;433;p25"/>
          <p:cNvSpPr txBox="1"/>
          <p:nvPr/>
        </p:nvSpPr>
        <p:spPr>
          <a:xfrm>
            <a:off x="762000" y="880020"/>
            <a:ext cx="11201400" cy="581698"/>
          </a:xfrm>
          <a:prstGeom prst="rect">
            <a:avLst/>
          </a:prstGeom>
          <a:noFill/>
          <a:ln>
            <a:noFill/>
          </a:ln>
        </p:spPr>
        <p:txBody>
          <a:bodyPr spcFirstLastPara="1" wrap="square" lIns="0" tIns="0" rIns="0" bIns="0" anchor="t" anchorCtr="0">
            <a:spAutoFit/>
          </a:bodyPr>
          <a:lstStyle/>
          <a:p>
            <a:pPr marL="0" marR="0" lvl="0" indent="0" algn="l" rtl="0">
              <a:lnSpc>
                <a:spcPct val="139962"/>
              </a:lnSpc>
              <a:spcBef>
                <a:spcPts val="0"/>
              </a:spcBef>
              <a:spcAft>
                <a:spcPts val="0"/>
              </a:spcAft>
              <a:buNone/>
            </a:pPr>
            <a:r>
              <a:rPr lang="en-US" sz="27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制作メニュー・料金</a:t>
            </a:r>
            <a:r>
              <a:rPr lang="en-US" sz="2700" b="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例</a:t>
            </a:r>
            <a:endParaRPr>
              <a:latin typeface="小塚ゴシック Pro B" panose="020B0800000000000000" pitchFamily="34" charset="-128"/>
              <a:ea typeface="小塚ゴシック Pro B" panose="020B0800000000000000" pitchFamily="34" charset="-128"/>
            </a:endParaRPr>
          </a:p>
        </p:txBody>
      </p:sp>
      <p:graphicFrame>
        <p:nvGraphicFramePr>
          <p:cNvPr id="434" name="Google Shape;434;p25"/>
          <p:cNvGraphicFramePr/>
          <p:nvPr>
            <p:extLst>
              <p:ext uri="{D42A27DB-BD31-4B8C-83A1-F6EECF244321}">
                <p14:modId xmlns:p14="http://schemas.microsoft.com/office/powerpoint/2010/main" val="1701399045"/>
              </p:ext>
            </p:extLst>
          </p:nvPr>
        </p:nvGraphicFramePr>
        <p:xfrm>
          <a:off x="762000" y="1836241"/>
          <a:ext cx="10668000" cy="3638600"/>
        </p:xfrm>
        <a:graphic>
          <a:graphicData uri="http://schemas.openxmlformats.org/drawingml/2006/table">
            <a:tbl>
              <a:tblPr firstRow="1" bandRow="1">
                <a:noFill/>
                <a:tableStyleId>{8755441B-8EC1-4DEB-A316-B9E18D9EBE71}</a:tableStyleId>
              </a:tblPr>
              <a:tblGrid>
                <a:gridCol w="3555950">
                  <a:extLst>
                    <a:ext uri="{9D8B030D-6E8A-4147-A177-3AD203B41FA5}">
                      <a16:colId xmlns:a16="http://schemas.microsoft.com/office/drawing/2014/main" val="20000"/>
                    </a:ext>
                  </a:extLst>
                </a:gridCol>
                <a:gridCol w="3555950">
                  <a:extLst>
                    <a:ext uri="{9D8B030D-6E8A-4147-A177-3AD203B41FA5}">
                      <a16:colId xmlns:a16="http://schemas.microsoft.com/office/drawing/2014/main" val="20001"/>
                    </a:ext>
                  </a:extLst>
                </a:gridCol>
                <a:gridCol w="3556100">
                  <a:extLst>
                    <a:ext uri="{9D8B030D-6E8A-4147-A177-3AD203B41FA5}">
                      <a16:colId xmlns:a16="http://schemas.microsoft.com/office/drawing/2014/main" val="20002"/>
                    </a:ext>
                  </a:extLst>
                </a:gridCol>
              </a:tblGrid>
              <a:tr h="454825">
                <a:tc>
                  <a:txBody>
                    <a:bodyPr/>
                    <a:lstStyle/>
                    <a:p>
                      <a:pPr marL="0" marR="0" lvl="0" indent="0" algn="l" rtl="0">
                        <a:spcBef>
                          <a:spcPts val="0"/>
                        </a:spcBef>
                        <a:spcAft>
                          <a:spcPts val="0"/>
                        </a:spcAft>
                        <a:buNone/>
                      </a:pPr>
                      <a:r>
                        <a:rPr lang="en-US" sz="1200" b="1" i="0" u="none" strike="noStrike" cap="none" dirty="0" err="1">
                          <a:solidFill>
                            <a:srgbClr val="2C2C2C"/>
                          </a:solidFill>
                          <a:latin typeface="小塚ゴシック Pro M" panose="020B0700000000000000" pitchFamily="34" charset="-128"/>
                          <a:ea typeface="小塚ゴシック Pro M" panose="020B0700000000000000" pitchFamily="34" charset="-128"/>
                          <a:cs typeface="Noto Sans JP"/>
                          <a:sym typeface="Noto Sans JP"/>
                        </a:rPr>
                        <a:t>カテゴリ</a:t>
                      </a:r>
                      <a:r>
                        <a:rPr lang="en-US" sz="1200" b="1" i="0" u="none" strike="noStrike" cap="none" dirty="0">
                          <a:solidFill>
                            <a:srgbClr val="2C2C2C"/>
                          </a:solidFill>
                          <a:latin typeface="小塚ゴシック Pro M" panose="020B0700000000000000" pitchFamily="34" charset="-128"/>
                          <a:ea typeface="小塚ゴシック Pro M" panose="020B0700000000000000" pitchFamily="34" charset="-128"/>
                          <a:cs typeface="Noto Sans JP"/>
                          <a:sym typeface="Noto Sans JP"/>
                        </a:rPr>
                        <a:t>ー</a:t>
                      </a:r>
                      <a:endParaRPr dirty="0">
                        <a:latin typeface="小塚ゴシック Pro M" panose="020B0700000000000000" pitchFamily="34" charset="-128"/>
                        <a:ea typeface="小塚ゴシック Pro M" panose="020B07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9F9"/>
                    </a:solidFill>
                  </a:tcPr>
                </a:tc>
                <a:tc>
                  <a:txBody>
                    <a:bodyPr/>
                    <a:lstStyle/>
                    <a:p>
                      <a:pPr marL="0" marR="0" lvl="0" indent="0" algn="l" rtl="0">
                        <a:spcBef>
                          <a:spcPts val="0"/>
                        </a:spcBef>
                        <a:spcAft>
                          <a:spcPts val="0"/>
                        </a:spcAft>
                        <a:buNone/>
                      </a:pPr>
                      <a:r>
                        <a:rPr lang="en-US" sz="1200" b="1" i="0" u="none" strike="noStrike" cap="none" dirty="0" err="1">
                          <a:solidFill>
                            <a:srgbClr val="2C2C2C"/>
                          </a:solidFill>
                          <a:latin typeface="小塚ゴシック Pro M" panose="020B0700000000000000" pitchFamily="34" charset="-128"/>
                          <a:ea typeface="小塚ゴシック Pro M" panose="020B0700000000000000" pitchFamily="34" charset="-128"/>
                          <a:cs typeface="Noto Sans JP"/>
                          <a:sym typeface="Noto Sans JP"/>
                        </a:rPr>
                        <a:t>メニュー内容</a:t>
                      </a:r>
                      <a:endParaRPr dirty="0">
                        <a:latin typeface="小塚ゴシック Pro M" panose="020B0700000000000000" pitchFamily="34" charset="-128"/>
                        <a:ea typeface="小塚ゴシック Pro M" panose="020B07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9F9"/>
                    </a:solidFill>
                  </a:tcPr>
                </a:tc>
                <a:tc>
                  <a:txBody>
                    <a:bodyPr/>
                    <a:lstStyle/>
                    <a:p>
                      <a:pPr marL="0" marR="0" lvl="0" indent="0" algn="l" rtl="0">
                        <a:spcBef>
                          <a:spcPts val="0"/>
                        </a:spcBef>
                        <a:spcAft>
                          <a:spcPts val="0"/>
                        </a:spcAft>
                        <a:buNone/>
                      </a:pPr>
                      <a:r>
                        <a:rPr lang="en-US" sz="1200" b="1" i="0" u="none" strike="noStrike" cap="none" dirty="0" err="1">
                          <a:solidFill>
                            <a:srgbClr val="2C2C2C"/>
                          </a:solidFill>
                          <a:latin typeface="小塚ゴシック Pro M" panose="020B0700000000000000" pitchFamily="34" charset="-128"/>
                          <a:ea typeface="小塚ゴシック Pro M" panose="020B0700000000000000" pitchFamily="34" charset="-128"/>
                          <a:cs typeface="Noto Sans JP"/>
                          <a:sym typeface="Noto Sans JP"/>
                        </a:rPr>
                        <a:t>価格</a:t>
                      </a:r>
                      <a:r>
                        <a:rPr lang="en-US" sz="1200" b="1" i="0" u="none" strike="noStrike" cap="none" dirty="0">
                          <a:solidFill>
                            <a:srgbClr val="2C2C2C"/>
                          </a:solidFill>
                          <a:latin typeface="小塚ゴシック Pro M" panose="020B0700000000000000" pitchFamily="34" charset="-128"/>
                          <a:ea typeface="小塚ゴシック Pro M" panose="020B0700000000000000" pitchFamily="34" charset="-128"/>
                          <a:cs typeface="Noto Sans JP"/>
                          <a:sym typeface="Noto Sans JP"/>
                        </a:rPr>
                        <a:t>（</a:t>
                      </a:r>
                      <a:r>
                        <a:rPr lang="ja-JP" altLang="en-US" sz="1200" b="1" i="0" u="none" strike="noStrike" cap="none" dirty="0">
                          <a:solidFill>
                            <a:srgbClr val="2C2C2C"/>
                          </a:solidFill>
                          <a:latin typeface="小塚ゴシック Pro M" panose="020B0700000000000000" pitchFamily="34" charset="-128"/>
                          <a:ea typeface="小塚ゴシック Pro M" panose="020B0700000000000000" pitchFamily="34" charset="-128"/>
                          <a:cs typeface="Noto Sans JP"/>
                          <a:sym typeface="Noto Sans JP"/>
                        </a:rPr>
                        <a:t>税込</a:t>
                      </a:r>
                      <a:r>
                        <a:rPr lang="en-US" sz="1200" b="1" i="0" u="none" strike="noStrike" cap="none" dirty="0">
                          <a:solidFill>
                            <a:srgbClr val="2C2C2C"/>
                          </a:solidFill>
                          <a:latin typeface="小塚ゴシック Pro M" panose="020B0700000000000000" pitchFamily="34" charset="-128"/>
                          <a:ea typeface="小塚ゴシック Pro M" panose="020B0700000000000000" pitchFamily="34" charset="-128"/>
                          <a:cs typeface="Noto Sans JP"/>
                          <a:sym typeface="Noto Sans JP"/>
                        </a:rPr>
                        <a:t>）</a:t>
                      </a:r>
                      <a:endParaRPr dirty="0">
                        <a:latin typeface="小塚ゴシック Pro M" panose="020B0700000000000000" pitchFamily="34" charset="-128"/>
                        <a:ea typeface="小塚ゴシック Pro M" panose="020B07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9F9F9"/>
                    </a:solidFill>
                  </a:tcPr>
                </a:tc>
                <a:extLst>
                  <a:ext uri="{0D108BD9-81ED-4DB2-BD59-A6C34878D82A}">
                    <a16:rowId xmlns:a16="http://schemas.microsoft.com/office/drawing/2014/main" val="10000"/>
                  </a:ext>
                </a:extLst>
              </a:tr>
              <a:tr h="454825">
                <a:tc>
                  <a:txBody>
                    <a:bodyPr/>
                    <a:lstStyle/>
                    <a:p>
                      <a:pPr marL="0" marR="0" lvl="0" indent="0" algn="l" rtl="0">
                        <a:spcBef>
                          <a:spcPts val="0"/>
                        </a:spcBef>
                        <a:spcAft>
                          <a:spcPts val="0"/>
                        </a:spcAft>
                        <a:buNone/>
                      </a:pPr>
                      <a:r>
                        <a:rPr lang="en-US" sz="1200" b="0" i="0" u="none" strike="noStrike" cap="none" dirty="0" err="1">
                          <a:solidFill>
                            <a:srgbClr val="333333"/>
                          </a:solidFill>
                          <a:latin typeface="小塚ゴシック Pro B" panose="020B0800000000000000" pitchFamily="34" charset="-128"/>
                          <a:ea typeface="小塚ゴシック Pro B" panose="020B0800000000000000" pitchFamily="34" charset="-128"/>
                          <a:cs typeface="Noto Sans JP"/>
                          <a:sym typeface="Noto Sans JP"/>
                        </a:rPr>
                        <a:t>Web制作</a:t>
                      </a:r>
                      <a:endParaRPr dirty="0">
                        <a:latin typeface="小塚ゴシック Pro B" panose="020B0800000000000000" pitchFamily="34" charset="-128"/>
                        <a:ea typeface="小塚ゴシック Pro B" panose="020B08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None/>
                      </a:pPr>
                      <a:r>
                        <a:rPr lang="en-US" sz="1200" b="1" i="0" u="none" strike="noStrike" cap="none"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LP制作</a:t>
                      </a:r>
                      <a:r>
                        <a:rPr lang="en-US" sz="1200"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a:t>
                      </a:r>
                      <a:r>
                        <a:rPr lang="en-US" sz="1200" b="0" i="0" u="none" strike="noStrike" cap="none"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Wix</a:t>
                      </a:r>
                      <a:r>
                        <a:rPr lang="en-US" sz="1200" b="0" i="0" u="none" strike="noStrike" cap="none"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 / </a:t>
                      </a:r>
                      <a:r>
                        <a:rPr lang="en-US" sz="1200" b="0" i="0" u="none" strike="noStrike" cap="none"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ペライチ</a:t>
                      </a:r>
                      <a:r>
                        <a:rPr lang="en-US" sz="1200" b="0" i="0" u="none" strike="noStrike" cap="none"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 / WordPress）</a:t>
                      </a:r>
                      <a:endParaRPr dirty="0">
                        <a:latin typeface="小塚ゴシック Pro M" panose="020B0700000000000000" pitchFamily="34" charset="-128"/>
                        <a:ea typeface="小塚ゴシック Pro M" panose="020B07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None/>
                      </a:pPr>
                      <a:r>
                        <a:rPr lang="en-US" sz="1200" b="0" i="0" u="none" strike="noStrike" cap="none"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100,000円〜</a:t>
                      </a:r>
                      <a:endParaRPr dirty="0">
                        <a:latin typeface="小塚ゴシック Pro M" panose="020B0700000000000000" pitchFamily="34" charset="-128"/>
                        <a:ea typeface="小塚ゴシック Pro M" panose="020B07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1"/>
                  </a:ext>
                </a:extLst>
              </a:tr>
              <a:tr h="454825">
                <a:tc>
                  <a:txBody>
                    <a:bodyPr/>
                    <a:lstStyle/>
                    <a:p>
                      <a:pPr marL="0" marR="0" lvl="0" indent="0" algn="l" rtl="0">
                        <a:spcBef>
                          <a:spcPts val="0"/>
                        </a:spcBef>
                        <a:spcAft>
                          <a:spcPts val="0"/>
                        </a:spcAft>
                        <a:buNone/>
                      </a:pPr>
                      <a:r>
                        <a:rPr lang="en-US" sz="1200" b="0" i="0" u="none" strike="noStrike" cap="none" dirty="0" err="1">
                          <a:solidFill>
                            <a:srgbClr val="333333"/>
                          </a:solidFill>
                          <a:latin typeface="小塚ゴシック Pro B" panose="020B0800000000000000" pitchFamily="34" charset="-128"/>
                          <a:ea typeface="小塚ゴシック Pro B" panose="020B0800000000000000" pitchFamily="34" charset="-128"/>
                          <a:cs typeface="Noto Sans JP"/>
                          <a:sym typeface="Noto Sans JP"/>
                        </a:rPr>
                        <a:t>Web制作</a:t>
                      </a:r>
                      <a:endParaRPr dirty="0">
                        <a:latin typeface="小塚ゴシック Pro B" panose="020B0800000000000000" pitchFamily="34" charset="-128"/>
                        <a:ea typeface="小塚ゴシック Pro B" panose="020B08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None/>
                      </a:pPr>
                      <a:r>
                        <a:rPr lang="en-US" sz="1200" b="1" i="0" u="none" strike="noStrike" cap="none"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HP制作</a:t>
                      </a:r>
                      <a:r>
                        <a:rPr lang="en-US" sz="1200"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a:t>
                      </a:r>
                      <a:r>
                        <a:rPr lang="en-US" sz="1200" b="0" i="0" u="none" strike="noStrike" cap="none"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Wix</a:t>
                      </a:r>
                      <a:r>
                        <a:rPr lang="en-US" sz="1200"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 / </a:t>
                      </a:r>
                      <a:r>
                        <a:rPr lang="en-US" sz="1200"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ペライチ</a:t>
                      </a:r>
                      <a:r>
                        <a:rPr lang="en-US" sz="1200"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 / WordPress</a:t>
                      </a:r>
                      <a:r>
                        <a:rPr lang="en-US" sz="1200" b="0" i="0" u="none" strike="noStrike" cap="none"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a:t>
                      </a:r>
                      <a:endParaRPr dirty="0">
                        <a:latin typeface="小塚ゴシック Pro M" panose="020B0700000000000000" pitchFamily="34" charset="-128"/>
                        <a:ea typeface="小塚ゴシック Pro M" panose="020B07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None/>
                      </a:pPr>
                      <a:r>
                        <a:rPr lang="en-US" sz="1200" b="0" i="0" u="none" strike="noStrike" cap="none"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100,000円〜</a:t>
                      </a:r>
                      <a:endParaRPr dirty="0">
                        <a:latin typeface="小塚ゴシック Pro M" panose="020B0700000000000000" pitchFamily="34" charset="-128"/>
                        <a:ea typeface="小塚ゴシック Pro M" panose="020B07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2"/>
                  </a:ext>
                </a:extLst>
              </a:tr>
              <a:tr h="454825">
                <a:tc>
                  <a:txBody>
                    <a:bodyPr/>
                    <a:lstStyle/>
                    <a:p>
                      <a:pPr marL="0" marR="0" lvl="0" indent="0" algn="l" rtl="0">
                        <a:spcBef>
                          <a:spcPts val="0"/>
                        </a:spcBef>
                        <a:spcAft>
                          <a:spcPts val="0"/>
                        </a:spcAft>
                        <a:buNone/>
                      </a:pPr>
                      <a:r>
                        <a:rPr lang="en-US" sz="1200" b="0" i="0" u="none" strike="noStrike" cap="none" dirty="0" err="1">
                          <a:solidFill>
                            <a:srgbClr val="333333"/>
                          </a:solidFill>
                          <a:latin typeface="小塚ゴシック Pro B" panose="020B0800000000000000" pitchFamily="34" charset="-128"/>
                          <a:ea typeface="小塚ゴシック Pro B" panose="020B0800000000000000" pitchFamily="34" charset="-128"/>
                          <a:cs typeface="Noto Sans JP"/>
                          <a:sym typeface="Noto Sans JP"/>
                        </a:rPr>
                        <a:t>Web制作</a:t>
                      </a:r>
                      <a:endParaRPr dirty="0">
                        <a:latin typeface="小塚ゴシック Pro B" panose="020B0800000000000000" pitchFamily="34" charset="-128"/>
                        <a:ea typeface="小塚ゴシック Pro B" panose="020B08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None/>
                      </a:pPr>
                      <a:r>
                        <a:rPr lang="en-US" sz="1200" b="1" i="0" u="none" strike="noStrike" cap="none"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LPライティング</a:t>
                      </a:r>
                      <a:r>
                        <a:rPr lang="en-US" sz="1200" b="0" i="0" u="none" strike="noStrike" cap="none"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（構成・原稿</a:t>
                      </a:r>
                      <a:r>
                        <a:rPr lang="en-US" sz="1200"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・ワイヤー</a:t>
                      </a:r>
                      <a:r>
                        <a:rPr lang="en-US" sz="1200" b="0" i="0" u="none" strike="noStrike" cap="none"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作成</a:t>
                      </a:r>
                      <a:r>
                        <a:rPr lang="en-US" sz="1200" b="0" i="0" u="none" strike="noStrike" cap="none"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a:t>
                      </a:r>
                      <a:endParaRPr dirty="0">
                        <a:latin typeface="小塚ゴシック Pro M" panose="020B0700000000000000" pitchFamily="34" charset="-128"/>
                        <a:ea typeface="小塚ゴシック Pro M" panose="020B07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None/>
                      </a:pPr>
                      <a:r>
                        <a:rPr lang="en-US" sz="1200" b="0" i="0" u="none" strike="noStrike" cap="none"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80,000円〜</a:t>
                      </a:r>
                      <a:endParaRPr dirty="0">
                        <a:latin typeface="小塚ゴシック Pro M" panose="020B0700000000000000" pitchFamily="34" charset="-128"/>
                        <a:ea typeface="小塚ゴシック Pro M" panose="020B07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3"/>
                  </a:ext>
                </a:extLst>
              </a:tr>
              <a:tr h="454825">
                <a:tc>
                  <a:txBody>
                    <a:bodyPr/>
                    <a:lstStyle/>
                    <a:p>
                      <a:pPr marL="0" marR="0" lvl="0" indent="0" algn="l" rtl="0">
                        <a:spcBef>
                          <a:spcPts val="0"/>
                        </a:spcBef>
                        <a:spcAft>
                          <a:spcPts val="0"/>
                        </a:spcAft>
                        <a:buNone/>
                      </a:pPr>
                      <a:r>
                        <a:rPr lang="en-US" sz="1200" b="0" i="0" u="none" strike="noStrike" cap="none" dirty="0">
                          <a:solidFill>
                            <a:srgbClr val="333333"/>
                          </a:solidFill>
                          <a:latin typeface="小塚ゴシック Pro B" panose="020B0800000000000000" pitchFamily="34" charset="-128"/>
                          <a:ea typeface="小塚ゴシック Pro B" panose="020B0800000000000000" pitchFamily="34" charset="-128"/>
                          <a:cs typeface="Noto Sans JP"/>
                          <a:sym typeface="Noto Sans JP"/>
                        </a:rPr>
                        <a:t>SNS/</a:t>
                      </a:r>
                      <a:r>
                        <a:rPr lang="en-US" sz="1200" b="0" i="0" u="none" strike="noStrike" cap="none" dirty="0" err="1">
                          <a:solidFill>
                            <a:srgbClr val="333333"/>
                          </a:solidFill>
                          <a:latin typeface="小塚ゴシック Pro B" panose="020B0800000000000000" pitchFamily="34" charset="-128"/>
                          <a:ea typeface="小塚ゴシック Pro B" panose="020B0800000000000000" pitchFamily="34" charset="-128"/>
                          <a:cs typeface="Noto Sans JP"/>
                          <a:sym typeface="Noto Sans JP"/>
                        </a:rPr>
                        <a:t>広告</a:t>
                      </a:r>
                      <a:endParaRPr dirty="0">
                        <a:latin typeface="小塚ゴシック Pro B" panose="020B0800000000000000" pitchFamily="34" charset="-128"/>
                        <a:ea typeface="小塚ゴシック Pro B" panose="020B08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None/>
                      </a:pPr>
                      <a:r>
                        <a:rPr lang="en-US" sz="1200" b="1" i="0" u="none" strike="noStrike" cap="none"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LINE構築</a:t>
                      </a:r>
                      <a:r>
                        <a:rPr lang="en-US" sz="1200" b="1" i="0" u="none" strike="noStrike" cap="none"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 + </a:t>
                      </a:r>
                      <a:r>
                        <a:rPr lang="en-US" sz="1200" b="1" i="0" u="none" strike="noStrike" cap="none"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運用</a:t>
                      </a:r>
                      <a:r>
                        <a:rPr lang="en-US" sz="1200" b="0" i="0" u="none" strike="noStrike" cap="none"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（配信代行含む</a:t>
                      </a:r>
                      <a:r>
                        <a:rPr lang="en-US" sz="1200" b="0" i="0" u="none" strike="noStrike" cap="none"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a:t>
                      </a:r>
                      <a:endParaRPr dirty="0">
                        <a:latin typeface="小塚ゴシック Pro M" panose="020B0700000000000000" pitchFamily="34" charset="-128"/>
                        <a:ea typeface="小塚ゴシック Pro M" panose="020B07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None/>
                      </a:pPr>
                      <a:r>
                        <a:rPr lang="en-US" sz="1200" b="0" i="0" u="none" strike="noStrike" cap="none"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初月50,000円</a:t>
                      </a:r>
                      <a:r>
                        <a:rPr lang="en-US" sz="1200"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～、月額</a:t>
                      </a:r>
                      <a:r>
                        <a:rPr lang="en-US" sz="1200" b="0" i="0" u="none" strike="noStrike" cap="none"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30,000円〜</a:t>
                      </a:r>
                      <a:endParaRPr dirty="0">
                        <a:latin typeface="小塚ゴシック Pro M" panose="020B0700000000000000" pitchFamily="34" charset="-128"/>
                        <a:ea typeface="小塚ゴシック Pro M" panose="020B07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4"/>
                  </a:ext>
                </a:extLst>
              </a:tr>
              <a:tr h="454825">
                <a:tc>
                  <a:txBody>
                    <a:bodyPr/>
                    <a:lstStyle/>
                    <a:p>
                      <a:pPr marL="0" marR="0" lvl="0" indent="0" algn="l" rtl="0">
                        <a:spcBef>
                          <a:spcPts val="0"/>
                        </a:spcBef>
                        <a:spcAft>
                          <a:spcPts val="0"/>
                        </a:spcAft>
                        <a:buNone/>
                      </a:pPr>
                      <a:r>
                        <a:rPr lang="en-US" sz="1200" b="0" i="0" u="none" strike="noStrike" cap="none" dirty="0">
                          <a:solidFill>
                            <a:srgbClr val="333333"/>
                          </a:solidFill>
                          <a:latin typeface="小塚ゴシック Pro B" panose="020B0800000000000000" pitchFamily="34" charset="-128"/>
                          <a:ea typeface="小塚ゴシック Pro B" panose="020B0800000000000000" pitchFamily="34" charset="-128"/>
                          <a:cs typeface="Noto Sans JP"/>
                          <a:sym typeface="Noto Sans JP"/>
                        </a:rPr>
                        <a:t>SNS/</a:t>
                      </a:r>
                      <a:r>
                        <a:rPr lang="en-US" sz="1200" b="0" i="0" u="none" strike="noStrike" cap="none" dirty="0" err="1">
                          <a:solidFill>
                            <a:srgbClr val="333333"/>
                          </a:solidFill>
                          <a:latin typeface="小塚ゴシック Pro B" panose="020B0800000000000000" pitchFamily="34" charset="-128"/>
                          <a:ea typeface="小塚ゴシック Pro B" panose="020B0800000000000000" pitchFamily="34" charset="-128"/>
                          <a:cs typeface="Noto Sans JP"/>
                          <a:sym typeface="Noto Sans JP"/>
                        </a:rPr>
                        <a:t>広告</a:t>
                      </a:r>
                      <a:endParaRPr dirty="0">
                        <a:latin typeface="小塚ゴシック Pro B" panose="020B0800000000000000" pitchFamily="34" charset="-128"/>
                        <a:ea typeface="小塚ゴシック Pro B" panose="020B08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None/>
                      </a:pPr>
                      <a:r>
                        <a:rPr lang="en-US" sz="1200" b="1" i="0" u="none" strike="noStrike" cap="none"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Meta広告運用</a:t>
                      </a:r>
                      <a:r>
                        <a:rPr lang="en-US" sz="1200" b="0" i="0" u="none" strike="noStrike" cap="none"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（FB</a:t>
                      </a:r>
                      <a:r>
                        <a:rPr lang="en-US" sz="1200" b="0" i="0" u="none" strike="noStrike" cap="none"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 / Instagram）</a:t>
                      </a:r>
                      <a:endParaRPr dirty="0">
                        <a:latin typeface="小塚ゴシック Pro M" panose="020B0700000000000000" pitchFamily="34" charset="-128"/>
                        <a:ea typeface="小塚ゴシック Pro M" panose="020B07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None/>
                      </a:pPr>
                      <a:r>
                        <a:rPr lang="en-US" sz="1200" b="0" i="0" u="none" strike="noStrike" cap="none"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初月30,000円</a:t>
                      </a:r>
                      <a:r>
                        <a:rPr lang="en-US" sz="1200"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a:t>
                      </a:r>
                      <a:r>
                        <a:rPr lang="en-US" sz="1200"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月額</a:t>
                      </a:r>
                      <a:r>
                        <a:rPr lang="en-US" sz="1200"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 </a:t>
                      </a:r>
                      <a:r>
                        <a:rPr lang="en-US" sz="1200" b="0" i="0" u="none" strike="noStrike" cap="none"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広告費の20%</a:t>
                      </a:r>
                      <a:endParaRPr dirty="0">
                        <a:latin typeface="小塚ゴシック Pro M" panose="020B0700000000000000" pitchFamily="34" charset="-128"/>
                        <a:ea typeface="小塚ゴシック Pro M" panose="020B07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5"/>
                  </a:ext>
                </a:extLst>
              </a:tr>
              <a:tr h="454825">
                <a:tc>
                  <a:txBody>
                    <a:bodyPr/>
                    <a:lstStyle/>
                    <a:p>
                      <a:pPr marL="0" marR="0" lvl="0" indent="0" algn="l" rtl="0">
                        <a:spcBef>
                          <a:spcPts val="0"/>
                        </a:spcBef>
                        <a:spcAft>
                          <a:spcPts val="0"/>
                        </a:spcAft>
                        <a:buNone/>
                      </a:pPr>
                      <a:r>
                        <a:rPr lang="en-US" sz="1200" b="0" i="0" u="none" strike="noStrike" cap="none" dirty="0" err="1">
                          <a:solidFill>
                            <a:srgbClr val="333333"/>
                          </a:solidFill>
                          <a:latin typeface="小塚ゴシック Pro B" panose="020B0800000000000000" pitchFamily="34" charset="-128"/>
                          <a:ea typeface="小塚ゴシック Pro B" panose="020B0800000000000000" pitchFamily="34" charset="-128"/>
                          <a:cs typeface="Noto Sans JP"/>
                          <a:sym typeface="Noto Sans JP"/>
                        </a:rPr>
                        <a:t>紙媒体</a:t>
                      </a:r>
                      <a:endParaRPr dirty="0">
                        <a:latin typeface="小塚ゴシック Pro B" panose="020B0800000000000000" pitchFamily="34" charset="-128"/>
                        <a:ea typeface="小塚ゴシック Pro B" panose="020B08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None/>
                      </a:pPr>
                      <a:r>
                        <a:rPr lang="en-US" sz="1200" b="1" i="0" u="none" strike="noStrike" cap="none"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チラシ制作</a:t>
                      </a:r>
                      <a:r>
                        <a:rPr lang="en-US" sz="1200" b="0" i="0" u="none" strike="noStrike" cap="none"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（片面</a:t>
                      </a:r>
                      <a:r>
                        <a:rPr lang="en-US" sz="1200" b="0" i="0" u="none" strike="noStrike" cap="none"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 / </a:t>
                      </a:r>
                      <a:r>
                        <a:rPr lang="en-US" sz="1200" b="0" i="0" u="none" strike="noStrike" cap="none"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両面</a:t>
                      </a:r>
                      <a:r>
                        <a:rPr lang="en-US" sz="1200" b="0" i="0" u="none" strike="noStrike" cap="none"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a:t>
                      </a:r>
                      <a:endParaRPr dirty="0">
                        <a:latin typeface="小塚ゴシック Pro M" panose="020B0700000000000000" pitchFamily="34" charset="-128"/>
                        <a:ea typeface="小塚ゴシック Pro M" panose="020B07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None/>
                      </a:pPr>
                      <a:r>
                        <a:rPr lang="en-US" sz="1200" b="0" i="0" u="none" strike="noStrike" cap="none"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30,000円 / 50,000円〜</a:t>
                      </a:r>
                      <a:endParaRPr dirty="0">
                        <a:latin typeface="小塚ゴシック Pro M" panose="020B0700000000000000" pitchFamily="34" charset="-128"/>
                        <a:ea typeface="小塚ゴシック Pro M" panose="020B07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6"/>
                  </a:ext>
                </a:extLst>
              </a:tr>
              <a:tr h="454825">
                <a:tc>
                  <a:txBody>
                    <a:bodyPr/>
                    <a:lstStyle/>
                    <a:p>
                      <a:pPr marL="0" marR="0" lvl="0" indent="0" algn="l" rtl="0">
                        <a:spcBef>
                          <a:spcPts val="0"/>
                        </a:spcBef>
                        <a:spcAft>
                          <a:spcPts val="0"/>
                        </a:spcAft>
                        <a:buNone/>
                      </a:pPr>
                      <a:r>
                        <a:rPr lang="en-US" sz="1200" b="0" i="0" u="none" strike="noStrike" cap="none" dirty="0" err="1">
                          <a:solidFill>
                            <a:srgbClr val="333333"/>
                          </a:solidFill>
                          <a:latin typeface="小塚ゴシック Pro B" panose="020B0800000000000000" pitchFamily="34" charset="-128"/>
                          <a:ea typeface="小塚ゴシック Pro B" panose="020B0800000000000000" pitchFamily="34" charset="-128"/>
                          <a:cs typeface="Noto Sans JP"/>
                          <a:sym typeface="Noto Sans JP"/>
                        </a:rPr>
                        <a:t>その他</a:t>
                      </a:r>
                      <a:endParaRPr dirty="0">
                        <a:latin typeface="小塚ゴシック Pro B" panose="020B0800000000000000" pitchFamily="34" charset="-128"/>
                        <a:ea typeface="小塚ゴシック Pro B" panose="020B08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None/>
                      </a:pPr>
                      <a:r>
                        <a:rPr lang="en-US" sz="1200" b="1" i="0" u="none" strike="noStrike" cap="none"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スピーチ原稿</a:t>
                      </a:r>
                      <a:r>
                        <a:rPr lang="en-US" sz="1200" b="1" i="0" u="none" strike="noStrike" cap="none"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 / </a:t>
                      </a:r>
                      <a:r>
                        <a:rPr lang="en-US" sz="1200" b="1" i="0" u="none" strike="noStrike" cap="none"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営業資料</a:t>
                      </a:r>
                      <a:endParaRPr dirty="0">
                        <a:latin typeface="小塚ゴシック Pro M" panose="020B0700000000000000" pitchFamily="34" charset="-128"/>
                        <a:ea typeface="小塚ゴシック Pro M" panose="020B07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None/>
                      </a:pPr>
                      <a:r>
                        <a:rPr lang="en-US" sz="1200" b="0" i="0" u="none" strike="noStrike" cap="none"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5,000円 / 50,000円〜</a:t>
                      </a:r>
                      <a:endParaRPr dirty="0">
                        <a:latin typeface="小塚ゴシック Pro M" panose="020B0700000000000000" pitchFamily="34" charset="-128"/>
                        <a:ea typeface="小塚ゴシック Pro M" panose="020B0700000000000000" pitchFamily="34" charset="-128"/>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bg1"/>
                    </a:solidFill>
                  </a:tcPr>
                </a:tc>
                <a:extLst>
                  <a:ext uri="{0D108BD9-81ED-4DB2-BD59-A6C34878D82A}">
                    <a16:rowId xmlns:a16="http://schemas.microsoft.com/office/drawing/2014/main" val="10007"/>
                  </a:ext>
                </a:extLst>
              </a:tr>
            </a:tbl>
          </a:graphicData>
        </a:graphic>
      </p:graphicFrame>
      <p:sp>
        <p:nvSpPr>
          <p:cNvPr id="435" name="Google Shape;435;p25"/>
          <p:cNvSpPr txBox="1"/>
          <p:nvPr/>
        </p:nvSpPr>
        <p:spPr>
          <a:xfrm>
            <a:off x="762000" y="5617666"/>
            <a:ext cx="10668000" cy="221599"/>
          </a:xfrm>
          <a:prstGeom prst="rect">
            <a:avLst/>
          </a:prstGeom>
          <a:noFill/>
          <a:ln>
            <a:noFill/>
          </a:ln>
        </p:spPr>
        <p:txBody>
          <a:bodyPr spcFirstLastPara="1" wrap="square" lIns="0" tIns="0" rIns="0" bIns="0" anchor="t" anchorCtr="0">
            <a:spAutoFit/>
          </a:bodyPr>
          <a:lstStyle/>
          <a:p>
            <a:pPr marL="0" marR="0" lvl="0" indent="0" algn="r" rtl="0">
              <a:lnSpc>
                <a:spcPct val="159888"/>
              </a:lnSpc>
              <a:spcBef>
                <a:spcPts val="0"/>
              </a:spcBef>
              <a:spcAft>
                <a:spcPts val="0"/>
              </a:spcAft>
              <a:buNone/>
            </a:pPr>
            <a:r>
              <a:rPr lang="en-US" sz="900" b="0" i="0" u="none" strike="noStrike" cap="none">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※上記は目安です。内容やボリュームにより変動する場合がございます。お気軽にお見積りをご依頼ください。</a:t>
            </a:r>
            <a:endParaRPr>
              <a:latin typeface="小塚ゴシック Pro M" panose="020B0700000000000000" pitchFamily="34" charset="-128"/>
              <a:ea typeface="小塚ゴシック Pro M" panose="020B0700000000000000" pitchFamily="34" charset="-128"/>
            </a:endParaRPr>
          </a:p>
        </p:txBody>
      </p:sp>
      <p:sp>
        <p:nvSpPr>
          <p:cNvPr id="436" name="Google Shape;436;p25"/>
          <p:cNvSpPr txBox="1"/>
          <p:nvPr/>
        </p:nvSpPr>
        <p:spPr>
          <a:xfrm>
            <a:off x="762000" y="6534150"/>
            <a:ext cx="1651099"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99999"/>
                </a:solidFill>
                <a:latin typeface="Lato"/>
                <a:ea typeface="Lato"/>
                <a:cs typeface="Lato"/>
                <a:sym typeface="Lato"/>
              </a:rPr>
              <a:t>© U-Writing All Rights Reserved.</a:t>
            </a:r>
            <a:endParaRPr/>
          </a:p>
        </p:txBody>
      </p:sp>
      <p:sp>
        <p:nvSpPr>
          <p:cNvPr id="438" name="Google Shape;438;p25"/>
          <p:cNvSpPr/>
          <p:nvPr/>
        </p:nvSpPr>
        <p:spPr>
          <a:xfrm>
            <a:off x="762000" y="2260103"/>
            <a:ext cx="355595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439" name="Google Shape;439;p25"/>
          <p:cNvSpPr/>
          <p:nvPr/>
        </p:nvSpPr>
        <p:spPr>
          <a:xfrm>
            <a:off x="4317950" y="2260103"/>
            <a:ext cx="355595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440" name="Google Shape;440;p25"/>
          <p:cNvSpPr/>
          <p:nvPr/>
        </p:nvSpPr>
        <p:spPr>
          <a:xfrm>
            <a:off x="7873900" y="2260103"/>
            <a:ext cx="3556099"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441" name="Google Shape;441;p25"/>
          <p:cNvSpPr/>
          <p:nvPr/>
        </p:nvSpPr>
        <p:spPr>
          <a:xfrm>
            <a:off x="762000" y="2717303"/>
            <a:ext cx="355595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442" name="Google Shape;442;p25"/>
          <p:cNvSpPr/>
          <p:nvPr/>
        </p:nvSpPr>
        <p:spPr>
          <a:xfrm>
            <a:off x="4317950" y="2717303"/>
            <a:ext cx="355595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443" name="Google Shape;443;p25"/>
          <p:cNvSpPr/>
          <p:nvPr/>
        </p:nvSpPr>
        <p:spPr>
          <a:xfrm>
            <a:off x="7873900" y="2717303"/>
            <a:ext cx="3556099"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444" name="Google Shape;444;p25"/>
          <p:cNvSpPr/>
          <p:nvPr/>
        </p:nvSpPr>
        <p:spPr>
          <a:xfrm>
            <a:off x="762000" y="3174503"/>
            <a:ext cx="355595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445" name="Google Shape;445;p25"/>
          <p:cNvSpPr/>
          <p:nvPr/>
        </p:nvSpPr>
        <p:spPr>
          <a:xfrm>
            <a:off x="4317950" y="3174503"/>
            <a:ext cx="355595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446" name="Google Shape;446;p25"/>
          <p:cNvSpPr/>
          <p:nvPr/>
        </p:nvSpPr>
        <p:spPr>
          <a:xfrm>
            <a:off x="7873900" y="3174503"/>
            <a:ext cx="3556099"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447" name="Google Shape;447;p25"/>
          <p:cNvSpPr/>
          <p:nvPr/>
        </p:nvSpPr>
        <p:spPr>
          <a:xfrm>
            <a:off x="762000" y="3631703"/>
            <a:ext cx="355595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448" name="Google Shape;448;p25"/>
          <p:cNvSpPr/>
          <p:nvPr/>
        </p:nvSpPr>
        <p:spPr>
          <a:xfrm>
            <a:off x="4317950" y="3631703"/>
            <a:ext cx="355595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449" name="Google Shape;449;p25"/>
          <p:cNvSpPr/>
          <p:nvPr/>
        </p:nvSpPr>
        <p:spPr>
          <a:xfrm>
            <a:off x="7873900" y="3631703"/>
            <a:ext cx="3556099"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450" name="Google Shape;450;p25"/>
          <p:cNvSpPr/>
          <p:nvPr/>
        </p:nvSpPr>
        <p:spPr>
          <a:xfrm>
            <a:off x="762000" y="4088903"/>
            <a:ext cx="355595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451" name="Google Shape;451;p25"/>
          <p:cNvSpPr/>
          <p:nvPr/>
        </p:nvSpPr>
        <p:spPr>
          <a:xfrm>
            <a:off x="4317950" y="4088903"/>
            <a:ext cx="355595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452" name="Google Shape;452;p25"/>
          <p:cNvSpPr/>
          <p:nvPr/>
        </p:nvSpPr>
        <p:spPr>
          <a:xfrm>
            <a:off x="7873900" y="4088903"/>
            <a:ext cx="3556099"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453" name="Google Shape;453;p25"/>
          <p:cNvSpPr/>
          <p:nvPr/>
        </p:nvSpPr>
        <p:spPr>
          <a:xfrm>
            <a:off x="762000" y="4546103"/>
            <a:ext cx="355595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454" name="Google Shape;454;p25"/>
          <p:cNvSpPr/>
          <p:nvPr/>
        </p:nvSpPr>
        <p:spPr>
          <a:xfrm>
            <a:off x="4317950" y="4546103"/>
            <a:ext cx="355595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455" name="Google Shape;455;p25"/>
          <p:cNvSpPr/>
          <p:nvPr/>
        </p:nvSpPr>
        <p:spPr>
          <a:xfrm>
            <a:off x="7873900" y="4546103"/>
            <a:ext cx="3556099"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456" name="Google Shape;456;p25"/>
          <p:cNvSpPr/>
          <p:nvPr/>
        </p:nvSpPr>
        <p:spPr>
          <a:xfrm>
            <a:off x="762000" y="5003303"/>
            <a:ext cx="355595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457" name="Google Shape;457;p25"/>
          <p:cNvSpPr/>
          <p:nvPr/>
        </p:nvSpPr>
        <p:spPr>
          <a:xfrm>
            <a:off x="4317950" y="5003303"/>
            <a:ext cx="355595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458" name="Google Shape;458;p25"/>
          <p:cNvSpPr/>
          <p:nvPr/>
        </p:nvSpPr>
        <p:spPr>
          <a:xfrm>
            <a:off x="7873900" y="5003303"/>
            <a:ext cx="3556099"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459" name="Google Shape;459;p25"/>
          <p:cNvSpPr/>
          <p:nvPr/>
        </p:nvSpPr>
        <p:spPr>
          <a:xfrm>
            <a:off x="762000" y="5460503"/>
            <a:ext cx="355595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460" name="Google Shape;460;p25"/>
          <p:cNvSpPr/>
          <p:nvPr/>
        </p:nvSpPr>
        <p:spPr>
          <a:xfrm>
            <a:off x="4317950" y="5460503"/>
            <a:ext cx="3555950"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461" name="Google Shape;461;p25"/>
          <p:cNvSpPr/>
          <p:nvPr/>
        </p:nvSpPr>
        <p:spPr>
          <a:xfrm>
            <a:off x="7873900" y="5460503"/>
            <a:ext cx="3556099" cy="9525"/>
          </a:xfrm>
          <a:prstGeom prst="rect">
            <a:avLst/>
          </a:prstGeom>
          <a:solidFill>
            <a:srgbClr val="EEEEE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2" name="スライド番号プレースホルダー 14">
            <a:extLst>
              <a:ext uri="{FF2B5EF4-FFF2-40B4-BE49-F238E27FC236}">
                <a16:creationId xmlns:a16="http://schemas.microsoft.com/office/drawing/2014/main" id="{5892FF0E-A426-E32A-779E-5DEBF91F9753}"/>
              </a:ext>
            </a:extLst>
          </p:cNvPr>
          <p:cNvSpPr txBox="1">
            <a:spLocks/>
          </p:cNvSpPr>
          <p:nvPr/>
        </p:nvSpPr>
        <p:spPr>
          <a:xfrm>
            <a:off x="8789549" y="6420836"/>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4B6131FB-BBC3-4224-AAE6-4E406EC349F0}" type="slidenum">
              <a:rPr kumimoji="1" lang="ja-JP" altLang="en-US" b="1" smtClean="0">
                <a:solidFill>
                  <a:srgbClr val="2C2C2C"/>
                </a:solidFill>
                <a:latin typeface="小塚ゴシック Pro B" panose="020B0800000000000000" pitchFamily="34" charset="-128"/>
                <a:ea typeface="小塚ゴシック Pro B" panose="020B0800000000000000" pitchFamily="34" charset="-128"/>
              </a:rPr>
              <a:pPr algn="r"/>
              <a:t>13</a:t>
            </a:fld>
            <a:endParaRPr kumimoji="1" lang="ja-JP" altLang="en-US" b="1" dirty="0">
              <a:solidFill>
                <a:srgbClr val="2C2C2C"/>
              </a:solidFill>
              <a:latin typeface="小塚ゴシック Pro B" panose="020B0800000000000000" pitchFamily="34" charset="-128"/>
              <a:ea typeface="小塚ゴシック Pro B" panose="020B0800000000000000" pitchFamily="34" charset="-128"/>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5"/>
        <p:cNvGrpSpPr/>
        <p:nvPr/>
      </p:nvGrpSpPr>
      <p:grpSpPr>
        <a:xfrm>
          <a:off x="0" y="0"/>
          <a:ext cx="0" cy="0"/>
          <a:chOff x="0" y="0"/>
          <a:chExt cx="0" cy="0"/>
        </a:xfrm>
      </p:grpSpPr>
      <p:grpSp>
        <p:nvGrpSpPr>
          <p:cNvPr id="466" name="Google Shape;466;p26"/>
          <p:cNvGrpSpPr/>
          <p:nvPr/>
        </p:nvGrpSpPr>
        <p:grpSpPr>
          <a:xfrm>
            <a:off x="0" y="0"/>
            <a:ext cx="12643324" cy="6976048"/>
            <a:chOff x="0" y="0"/>
            <a:chExt cx="12643324" cy="6976048"/>
          </a:xfrm>
        </p:grpSpPr>
        <p:pic>
          <p:nvPicPr>
            <p:cNvPr id="467" name="Google Shape;467;p26"/>
            <p:cNvPicPr preferRelativeResize="0"/>
            <p:nvPr/>
          </p:nvPicPr>
          <p:blipFill>
            <a:blip r:embed="rId3">
              <a:alphaModFix/>
            </a:blip>
            <a:stretch>
              <a:fillRect/>
            </a:stretch>
          </p:blipFill>
          <p:spPr>
            <a:xfrm>
              <a:off x="0" y="0"/>
              <a:ext cx="12643315" cy="6976048"/>
            </a:xfrm>
            <a:prstGeom prst="rect">
              <a:avLst/>
            </a:prstGeom>
            <a:noFill/>
            <a:ln>
              <a:noFill/>
            </a:ln>
          </p:spPr>
        </p:pic>
        <p:pic>
          <p:nvPicPr>
            <p:cNvPr id="468" name="Google Shape;468;p26"/>
            <p:cNvPicPr preferRelativeResize="0"/>
            <p:nvPr/>
          </p:nvPicPr>
          <p:blipFill rotWithShape="1">
            <a:blip r:embed="rId3">
              <a:alphaModFix/>
            </a:blip>
            <a:srcRect l="88432" t="69407" b="11568"/>
            <a:stretch/>
          </p:blipFill>
          <p:spPr>
            <a:xfrm>
              <a:off x="11180801" y="5648888"/>
              <a:ext cx="1462523" cy="1327158"/>
            </a:xfrm>
            <a:prstGeom prst="rect">
              <a:avLst/>
            </a:prstGeom>
            <a:noFill/>
            <a:ln>
              <a:noFill/>
            </a:ln>
          </p:spPr>
        </p:pic>
      </p:grpSp>
      <p:pic>
        <p:nvPicPr>
          <p:cNvPr id="469" name="Google Shape;469;p26"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pic>
        <p:nvPicPr>
          <p:cNvPr id="470" name="Google Shape;470;p26" descr="image.png"/>
          <p:cNvPicPr preferRelativeResize="0"/>
          <p:nvPr/>
        </p:nvPicPr>
        <p:blipFill rotWithShape="1">
          <a:blip r:embed="rId5">
            <a:alphaModFix/>
          </a:blip>
          <a:srcRect/>
          <a:stretch/>
        </p:blipFill>
        <p:spPr>
          <a:xfrm>
            <a:off x="762000" y="1740999"/>
            <a:ext cx="4267200" cy="4497727"/>
          </a:xfrm>
          <a:prstGeom prst="rect">
            <a:avLst/>
          </a:prstGeom>
          <a:noFill/>
          <a:ln>
            <a:noFill/>
          </a:ln>
        </p:spPr>
      </p:pic>
      <p:pic>
        <p:nvPicPr>
          <p:cNvPr id="471" name="Google Shape;471;p26" descr="image.png"/>
          <p:cNvPicPr preferRelativeResize="0"/>
          <p:nvPr/>
        </p:nvPicPr>
        <p:blipFill rotWithShape="1">
          <a:blip r:embed="rId6">
            <a:alphaModFix/>
          </a:blip>
          <a:srcRect/>
          <a:stretch/>
        </p:blipFill>
        <p:spPr>
          <a:xfrm>
            <a:off x="1143000" y="5021312"/>
            <a:ext cx="3505200" cy="828526"/>
          </a:xfrm>
          <a:prstGeom prst="rect">
            <a:avLst/>
          </a:prstGeom>
          <a:noFill/>
          <a:ln>
            <a:noFill/>
          </a:ln>
        </p:spPr>
      </p:pic>
      <p:pic>
        <p:nvPicPr>
          <p:cNvPr id="472" name="Google Shape;472;p26" descr="image.png"/>
          <p:cNvPicPr preferRelativeResize="0"/>
          <p:nvPr/>
        </p:nvPicPr>
        <p:blipFill rotWithShape="1">
          <a:blip r:embed="rId7">
            <a:alphaModFix/>
          </a:blip>
          <a:srcRect/>
          <a:stretch/>
        </p:blipFill>
        <p:spPr>
          <a:xfrm>
            <a:off x="0" y="0"/>
            <a:ext cx="12192000" cy="142875"/>
          </a:xfrm>
          <a:prstGeom prst="rect">
            <a:avLst/>
          </a:prstGeom>
          <a:noFill/>
          <a:ln>
            <a:noFill/>
          </a:ln>
        </p:spPr>
      </p:pic>
      <p:sp>
        <p:nvSpPr>
          <p:cNvPr id="473" name="Google Shape;473;p26"/>
          <p:cNvSpPr txBox="1"/>
          <p:nvPr/>
        </p:nvSpPr>
        <p:spPr>
          <a:xfrm>
            <a:off x="762000" y="571500"/>
            <a:ext cx="10668000"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a:solidFill>
                  <a:srgbClr val="C5A059"/>
                </a:solidFill>
                <a:latin typeface="小塚ゴシック Pro B" panose="020B0800000000000000" pitchFamily="34" charset="-128"/>
                <a:ea typeface="小塚ゴシック Pro B" panose="020B0800000000000000" pitchFamily="34" charset="-128"/>
                <a:cs typeface="Lato"/>
                <a:sym typeface="Lato"/>
              </a:rPr>
              <a:t>SERVICE DETAIL: MICHISUJI</a:t>
            </a:r>
            <a:endParaRPr>
              <a:latin typeface="小塚ゴシック Pro B" panose="020B0800000000000000" pitchFamily="34" charset="-128"/>
              <a:ea typeface="小塚ゴシック Pro B" panose="020B0800000000000000" pitchFamily="34" charset="-128"/>
            </a:endParaRPr>
          </a:p>
        </p:txBody>
      </p:sp>
      <p:sp>
        <p:nvSpPr>
          <p:cNvPr id="474" name="Google Shape;474;p26"/>
          <p:cNvSpPr txBox="1"/>
          <p:nvPr/>
        </p:nvSpPr>
        <p:spPr>
          <a:xfrm>
            <a:off x="762000" y="880020"/>
            <a:ext cx="11201400" cy="581698"/>
          </a:xfrm>
          <a:prstGeom prst="rect">
            <a:avLst/>
          </a:prstGeom>
          <a:noFill/>
          <a:ln>
            <a:noFill/>
          </a:ln>
        </p:spPr>
        <p:txBody>
          <a:bodyPr spcFirstLastPara="1" wrap="square" lIns="0" tIns="0" rIns="0" bIns="0" anchor="t" anchorCtr="0">
            <a:spAutoFit/>
          </a:bodyPr>
          <a:lstStyle/>
          <a:p>
            <a:pPr marL="0" marR="0" lvl="0" indent="0" algn="l" rtl="0">
              <a:lnSpc>
                <a:spcPct val="139962"/>
              </a:lnSpc>
              <a:spcBef>
                <a:spcPts val="0"/>
              </a:spcBef>
              <a:spcAft>
                <a:spcPts val="0"/>
              </a:spcAft>
              <a:buNone/>
            </a:pPr>
            <a:r>
              <a:rPr lang="en-US" sz="27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集客顧問サービス「ミチスジ」詳細</a:t>
            </a:r>
            <a:endParaRPr>
              <a:latin typeface="小塚ゴシック Pro B" panose="020B0800000000000000" pitchFamily="34" charset="-128"/>
              <a:ea typeface="小塚ゴシック Pro B" panose="020B0800000000000000" pitchFamily="34" charset="-128"/>
            </a:endParaRPr>
          </a:p>
        </p:txBody>
      </p:sp>
      <p:sp>
        <p:nvSpPr>
          <p:cNvPr id="475" name="Google Shape;475;p26"/>
          <p:cNvSpPr txBox="1"/>
          <p:nvPr/>
        </p:nvSpPr>
        <p:spPr>
          <a:xfrm>
            <a:off x="762000" y="6534150"/>
            <a:ext cx="1651099"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99999"/>
                </a:solidFill>
                <a:latin typeface="Lato"/>
                <a:ea typeface="Lato"/>
                <a:cs typeface="Lato"/>
                <a:sym typeface="Lato"/>
              </a:rPr>
              <a:t>© U-Writing All Rights Reserved.</a:t>
            </a:r>
            <a:endParaRPr/>
          </a:p>
        </p:txBody>
      </p:sp>
      <p:sp>
        <p:nvSpPr>
          <p:cNvPr id="477" name="Google Shape;477;p26"/>
          <p:cNvSpPr txBox="1"/>
          <p:nvPr/>
        </p:nvSpPr>
        <p:spPr>
          <a:xfrm>
            <a:off x="1143000" y="2216004"/>
            <a:ext cx="3505200" cy="1163395"/>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800" b="1" dirty="0" err="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成果</a:t>
            </a:r>
            <a:r>
              <a:rPr lang="en-US" sz="1800" b="1" i="0" u="none" strike="noStrike" cap="none" dirty="0" err="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が出ない</a:t>
            </a:r>
            <a:r>
              <a:rPr lang="en-US" sz="1800" b="1" dirty="0" err="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集客活動の</a:t>
            </a:r>
            <a:r>
              <a:rPr lang="en-US" sz="1800" b="1" i="0" u="none" strike="noStrike" cap="none" dirty="0" err="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「原因」を解明し</a:t>
            </a:r>
            <a:r>
              <a:rPr lang="en-US" sz="1800" b="1" dirty="0" err="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、現状に合った</a:t>
            </a:r>
            <a:r>
              <a:rPr lang="en-US" sz="1800" b="1" i="0" u="none" strike="noStrike" cap="none" dirty="0" err="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正解の</a:t>
            </a:r>
            <a:endParaRPr lang="en-US" sz="1800" b="1" i="0" u="none" strike="noStrike" cap="none" dirty="0">
              <a:solidFill>
                <a:srgbClr val="2C2C2C"/>
              </a:solidFill>
              <a:latin typeface="小塚ゴシック Pro B" panose="020B0800000000000000" pitchFamily="34" charset="-128"/>
              <a:ea typeface="小塚ゴシック Pro B" panose="020B0800000000000000" pitchFamily="34" charset="-128"/>
              <a:cs typeface="Noto Sans JP"/>
              <a:sym typeface="Noto Sans JP"/>
            </a:endParaRPr>
          </a:p>
          <a:p>
            <a:pPr marL="0" marR="0" lvl="0" indent="0" algn="l" rtl="0">
              <a:lnSpc>
                <a:spcPct val="140000"/>
              </a:lnSpc>
              <a:spcBef>
                <a:spcPts val="0"/>
              </a:spcBef>
              <a:spcAft>
                <a:spcPts val="0"/>
              </a:spcAft>
              <a:buNone/>
            </a:pPr>
            <a:r>
              <a:rPr lang="en-US" sz="1800" b="1" dirty="0">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a:t>
            </a:r>
            <a:r>
              <a:rPr lang="en-US" sz="1800" b="1" i="0" u="none" strike="noStrike" cap="none" dirty="0" err="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道筋」を提示</a:t>
            </a:r>
            <a:r>
              <a:rPr lang="en-US" sz="1800" b="1" dirty="0" err="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します</a:t>
            </a:r>
            <a:r>
              <a:rPr lang="en-US" sz="1800" b="1" i="0" u="none" strike="noStrike" cap="none" dirty="0">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a:t>
            </a:r>
            <a:endParaRPr dirty="0">
              <a:latin typeface="小塚ゴシック Pro B" panose="020B0800000000000000" pitchFamily="34" charset="-128"/>
              <a:ea typeface="小塚ゴシック Pro B" panose="020B0800000000000000" pitchFamily="34" charset="-128"/>
            </a:endParaRPr>
          </a:p>
        </p:txBody>
      </p:sp>
      <p:sp>
        <p:nvSpPr>
          <p:cNvPr id="478" name="Google Shape;478;p26"/>
          <p:cNvSpPr txBox="1"/>
          <p:nvPr/>
        </p:nvSpPr>
        <p:spPr>
          <a:xfrm>
            <a:off x="1143000" y="3670910"/>
            <a:ext cx="3505200" cy="8863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a:t>
            </a:r>
            <a:r>
              <a:rPr lang="en-US" sz="1200" b="0" i="0" u="none" strike="noStrike" cap="none" dirty="0" err="1">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何から手をつければいいかわからない</a:t>
            </a:r>
            <a:r>
              <a:rPr lang="en-US" sz="1200" b="0" i="0" u="none" strike="noStrike" cap="none" dirty="0">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a:t>
            </a:r>
            <a:r>
              <a:rPr lang="en-US" sz="1200" b="0" i="0" u="none" strike="noStrike" cap="none" dirty="0" err="1">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施策が合っているか不安」という経営者・担当者様に、プロの視点で客観的な診断とアドバイスを行います</a:t>
            </a:r>
            <a:r>
              <a:rPr lang="en-US" sz="1200" b="0" i="0" u="none" strike="noStrike" cap="none" dirty="0">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a:t>
            </a:r>
            <a:endParaRPr dirty="0">
              <a:latin typeface="小塚ゴシック Pro M" panose="020B0700000000000000" pitchFamily="34" charset="-128"/>
              <a:ea typeface="小塚ゴシック Pro M" panose="020B0700000000000000" pitchFamily="34" charset="-128"/>
            </a:endParaRPr>
          </a:p>
        </p:txBody>
      </p:sp>
      <p:sp>
        <p:nvSpPr>
          <p:cNvPr id="479" name="Google Shape;479;p26"/>
          <p:cNvSpPr txBox="1"/>
          <p:nvPr/>
        </p:nvSpPr>
        <p:spPr>
          <a:xfrm>
            <a:off x="5505450" y="1931491"/>
            <a:ext cx="6686700" cy="302519"/>
          </a:xfrm>
          <a:prstGeom prst="rect">
            <a:avLst/>
          </a:prstGeom>
          <a:noFill/>
          <a:ln>
            <a:noFill/>
          </a:ln>
        </p:spPr>
        <p:txBody>
          <a:bodyPr spcFirstLastPara="1" wrap="square" lIns="0" tIns="0" rIns="0" bIns="0" anchor="t" anchorCtr="0">
            <a:spAutoFit/>
          </a:bodyPr>
          <a:lstStyle/>
          <a:p>
            <a:pPr marL="0" marR="0" lvl="0" indent="0" algn="l" rtl="0">
              <a:lnSpc>
                <a:spcPct val="139957"/>
              </a:lnSpc>
              <a:spcBef>
                <a:spcPts val="0"/>
              </a:spcBef>
              <a:spcAft>
                <a:spcPts val="0"/>
              </a:spcAft>
              <a:buNone/>
            </a:pPr>
            <a:r>
              <a:rPr lang="en-US" sz="1404" b="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ミチスジ</a:t>
            </a:r>
            <a:r>
              <a:rPr lang="en-US" sz="1404"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のサポート内容</a:t>
            </a:r>
            <a:endParaRPr>
              <a:latin typeface="小塚ゴシック Pro B" panose="020B0800000000000000" pitchFamily="34" charset="-128"/>
              <a:ea typeface="小塚ゴシック Pro B" panose="020B0800000000000000" pitchFamily="34" charset="-128"/>
            </a:endParaRPr>
          </a:p>
        </p:txBody>
      </p:sp>
      <p:sp>
        <p:nvSpPr>
          <p:cNvPr id="480" name="Google Shape;480;p26"/>
          <p:cNvSpPr txBox="1"/>
          <p:nvPr/>
        </p:nvSpPr>
        <p:spPr>
          <a:xfrm>
            <a:off x="1304925" y="5242062"/>
            <a:ext cx="3181200" cy="27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dirty="0" err="1">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月額 49,800円〜</a:t>
            </a:r>
            <a:endParaRPr sz="1800" dirty="0">
              <a:latin typeface="小塚ゴシック Pro B" panose="020B0800000000000000" pitchFamily="34" charset="-128"/>
              <a:ea typeface="小塚ゴシック Pro B" panose="020B0800000000000000" pitchFamily="34" charset="-128"/>
            </a:endParaRPr>
          </a:p>
        </p:txBody>
      </p:sp>
      <p:sp>
        <p:nvSpPr>
          <p:cNvPr id="481" name="Google Shape;481;p26"/>
          <p:cNvSpPr txBox="1"/>
          <p:nvPr/>
        </p:nvSpPr>
        <p:spPr>
          <a:xfrm>
            <a:off x="1304925" y="5601242"/>
            <a:ext cx="3181200" cy="161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0" i="0" u="none" strike="noStrike" cap="none">
                <a:solidFill>
                  <a:srgbClr val="666666"/>
                </a:solidFill>
                <a:latin typeface="小塚ゴシック Pro B" panose="020B0800000000000000" pitchFamily="34" charset="-128"/>
                <a:ea typeface="小塚ゴシック Pro B" panose="020B0800000000000000" pitchFamily="34" charset="-128"/>
                <a:cs typeface="Noto Sans JP"/>
                <a:sym typeface="Noto Sans JP"/>
              </a:rPr>
              <a:t>（月最大4時間・制作代行 20%OFF特典付き）</a:t>
            </a:r>
            <a:endParaRPr>
              <a:latin typeface="小塚ゴシック Pro B" panose="020B0800000000000000" pitchFamily="34" charset="-128"/>
              <a:ea typeface="小塚ゴシック Pro B" panose="020B0800000000000000" pitchFamily="34" charset="-128"/>
            </a:endParaRPr>
          </a:p>
        </p:txBody>
      </p:sp>
      <p:sp>
        <p:nvSpPr>
          <p:cNvPr id="482" name="Google Shape;482;p26"/>
          <p:cNvSpPr/>
          <p:nvPr/>
        </p:nvSpPr>
        <p:spPr>
          <a:xfrm>
            <a:off x="5505451" y="2371576"/>
            <a:ext cx="5924550" cy="1162050"/>
          </a:xfrm>
          <a:prstGeom prst="roundRect">
            <a:avLst>
              <a:gd name="adj" fmla="val 3278"/>
            </a:avLst>
          </a:prstGeom>
          <a:solidFill>
            <a:srgbClr val="FFFFFF"/>
          </a:solidFill>
          <a:ln w="9525" cap="flat" cmpd="sng">
            <a:solidFill>
              <a:srgbClr val="EEEEE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483" name="Google Shape;483;p26"/>
          <p:cNvSpPr/>
          <p:nvPr/>
        </p:nvSpPr>
        <p:spPr>
          <a:xfrm>
            <a:off x="5505451" y="3724126"/>
            <a:ext cx="5924550" cy="1162050"/>
          </a:xfrm>
          <a:prstGeom prst="roundRect">
            <a:avLst>
              <a:gd name="adj" fmla="val 3278"/>
            </a:avLst>
          </a:prstGeom>
          <a:solidFill>
            <a:srgbClr val="FFFFFF"/>
          </a:solidFill>
          <a:ln w="9525" cap="flat" cmpd="sng">
            <a:solidFill>
              <a:srgbClr val="EEEEE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484" name="Google Shape;484;p26"/>
          <p:cNvSpPr/>
          <p:nvPr/>
        </p:nvSpPr>
        <p:spPr>
          <a:xfrm>
            <a:off x="5505451" y="5076676"/>
            <a:ext cx="5924550" cy="1162050"/>
          </a:xfrm>
          <a:prstGeom prst="roundRect">
            <a:avLst>
              <a:gd name="adj" fmla="val 3278"/>
            </a:avLst>
          </a:prstGeom>
          <a:solidFill>
            <a:srgbClr val="FFFFFF"/>
          </a:solidFill>
          <a:ln w="9525" cap="flat" cmpd="sng">
            <a:solidFill>
              <a:srgbClr val="EEEEE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488" name="Google Shape;488;p26"/>
          <p:cNvSpPr txBox="1"/>
          <p:nvPr/>
        </p:nvSpPr>
        <p:spPr>
          <a:xfrm>
            <a:off x="6276975" y="2876401"/>
            <a:ext cx="4903826" cy="5539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dirty="0" err="1">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集客施策の壁打ち、進捗確認、ネクストアクションの策定など、対面でじっくり相談できます</a:t>
            </a:r>
            <a:r>
              <a:rPr lang="en-US" sz="1200" b="0" i="0" u="none" strike="noStrike" cap="none" dirty="0">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a:t>
            </a:r>
            <a:endParaRPr dirty="0">
              <a:latin typeface="小塚ゴシック Pro M" panose="020B0700000000000000" pitchFamily="34" charset="-128"/>
              <a:ea typeface="小塚ゴシック Pro M" panose="020B0700000000000000" pitchFamily="34" charset="-128"/>
            </a:endParaRPr>
          </a:p>
        </p:txBody>
      </p:sp>
      <p:sp>
        <p:nvSpPr>
          <p:cNvPr id="489" name="Google Shape;489;p26"/>
          <p:cNvSpPr txBox="1"/>
          <p:nvPr/>
        </p:nvSpPr>
        <p:spPr>
          <a:xfrm>
            <a:off x="6276975" y="4228951"/>
            <a:ext cx="4903826" cy="5539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お客様が作成されたチラシ、LP、SNS投稿などの添削を行い、改善点をフィードバックします。</a:t>
            </a:r>
            <a:endParaRPr>
              <a:latin typeface="小塚ゴシック Pro M" panose="020B0700000000000000" pitchFamily="34" charset="-128"/>
              <a:ea typeface="小塚ゴシック Pro M" panose="020B0700000000000000" pitchFamily="34" charset="-128"/>
            </a:endParaRPr>
          </a:p>
        </p:txBody>
      </p:sp>
      <p:sp>
        <p:nvSpPr>
          <p:cNvPr id="490" name="Google Shape;490;p26"/>
          <p:cNvSpPr txBox="1"/>
          <p:nvPr/>
        </p:nvSpPr>
        <p:spPr>
          <a:xfrm>
            <a:off x="6276975" y="5581501"/>
            <a:ext cx="4903826" cy="5539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実施した施策の結果を分析し、「なぜうまくいかなかったのか」「次はどうすべきか」の仮説立てと検証を支援します。</a:t>
            </a:r>
            <a:endParaRPr>
              <a:latin typeface="小塚ゴシック Pro M" panose="020B0700000000000000" pitchFamily="34" charset="-128"/>
              <a:ea typeface="小塚ゴシック Pro M" panose="020B0700000000000000" pitchFamily="34" charset="-128"/>
            </a:endParaRPr>
          </a:p>
        </p:txBody>
      </p:sp>
      <p:pic>
        <p:nvPicPr>
          <p:cNvPr id="491" name="Google Shape;491;p26"/>
          <p:cNvPicPr preferRelativeResize="0"/>
          <p:nvPr/>
        </p:nvPicPr>
        <p:blipFill>
          <a:blip r:embed="rId8">
            <a:alphaModFix/>
          </a:blip>
          <a:stretch>
            <a:fillRect/>
          </a:stretch>
        </p:blipFill>
        <p:spPr>
          <a:xfrm>
            <a:off x="5641912" y="2459667"/>
            <a:ext cx="479550" cy="364915"/>
          </a:xfrm>
          <a:prstGeom prst="rect">
            <a:avLst/>
          </a:prstGeom>
          <a:noFill/>
          <a:ln>
            <a:noFill/>
          </a:ln>
        </p:spPr>
      </p:pic>
      <p:pic>
        <p:nvPicPr>
          <p:cNvPr id="492" name="Google Shape;492;p26"/>
          <p:cNvPicPr preferRelativeResize="0"/>
          <p:nvPr/>
        </p:nvPicPr>
        <p:blipFill>
          <a:blip r:embed="rId9">
            <a:alphaModFix/>
          </a:blip>
          <a:stretch>
            <a:fillRect/>
          </a:stretch>
        </p:blipFill>
        <p:spPr>
          <a:xfrm>
            <a:off x="5623050" y="3808457"/>
            <a:ext cx="559974" cy="479975"/>
          </a:xfrm>
          <a:prstGeom prst="rect">
            <a:avLst/>
          </a:prstGeom>
          <a:noFill/>
          <a:ln>
            <a:noFill/>
          </a:ln>
        </p:spPr>
      </p:pic>
      <p:pic>
        <p:nvPicPr>
          <p:cNvPr id="493" name="Google Shape;493;p26"/>
          <p:cNvPicPr preferRelativeResize="0"/>
          <p:nvPr/>
        </p:nvPicPr>
        <p:blipFill>
          <a:blip r:embed="rId10">
            <a:alphaModFix/>
          </a:blip>
          <a:stretch>
            <a:fillRect/>
          </a:stretch>
        </p:blipFill>
        <p:spPr>
          <a:xfrm>
            <a:off x="5623050" y="5206975"/>
            <a:ext cx="479538" cy="457200"/>
          </a:xfrm>
          <a:prstGeom prst="rect">
            <a:avLst/>
          </a:prstGeom>
          <a:noFill/>
          <a:ln>
            <a:noFill/>
          </a:ln>
        </p:spPr>
      </p:pic>
      <p:sp>
        <p:nvSpPr>
          <p:cNvPr id="494" name="Google Shape;494;p26"/>
          <p:cNvSpPr txBox="1"/>
          <p:nvPr/>
        </p:nvSpPr>
        <p:spPr>
          <a:xfrm>
            <a:off x="6276975" y="2505829"/>
            <a:ext cx="2302500" cy="290849"/>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Zoom相談（月最大4時間）</a:t>
            </a:r>
            <a:endParaRPr>
              <a:latin typeface="小塚ゴシック Pro B" panose="020B0800000000000000" pitchFamily="34" charset="-128"/>
              <a:ea typeface="小塚ゴシック Pro B" panose="020B0800000000000000" pitchFamily="34" charset="-128"/>
            </a:endParaRPr>
          </a:p>
        </p:txBody>
      </p:sp>
      <p:sp>
        <p:nvSpPr>
          <p:cNvPr id="495" name="Google Shape;495;p26"/>
          <p:cNvSpPr txBox="1"/>
          <p:nvPr/>
        </p:nvSpPr>
        <p:spPr>
          <a:xfrm>
            <a:off x="6276975" y="3885649"/>
            <a:ext cx="2302500" cy="290849"/>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制作物への添削・アドバイス</a:t>
            </a:r>
            <a:endParaRPr>
              <a:latin typeface="小塚ゴシック Pro B" panose="020B0800000000000000" pitchFamily="34" charset="-128"/>
              <a:ea typeface="小塚ゴシック Pro B" panose="020B0800000000000000" pitchFamily="34" charset="-128"/>
            </a:endParaRPr>
          </a:p>
        </p:txBody>
      </p:sp>
      <p:sp>
        <p:nvSpPr>
          <p:cNvPr id="496" name="Google Shape;496;p26"/>
          <p:cNvSpPr txBox="1"/>
          <p:nvPr/>
        </p:nvSpPr>
        <p:spPr>
          <a:xfrm>
            <a:off x="6276975" y="5276704"/>
            <a:ext cx="2302500" cy="290849"/>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集客施策の分析・仮説検証</a:t>
            </a:r>
            <a:endParaRPr>
              <a:latin typeface="小塚ゴシック Pro B" panose="020B0800000000000000" pitchFamily="34" charset="-128"/>
              <a:ea typeface="小塚ゴシック Pro B" panose="020B0800000000000000" pitchFamily="34" charset="-128"/>
            </a:endParaRPr>
          </a:p>
        </p:txBody>
      </p:sp>
      <p:sp>
        <p:nvSpPr>
          <p:cNvPr id="2" name="スライド番号プレースホルダー 14">
            <a:extLst>
              <a:ext uri="{FF2B5EF4-FFF2-40B4-BE49-F238E27FC236}">
                <a16:creationId xmlns:a16="http://schemas.microsoft.com/office/drawing/2014/main" id="{4B07FFF7-4938-23D1-852B-91B7B8A36896}"/>
              </a:ext>
            </a:extLst>
          </p:cNvPr>
          <p:cNvSpPr txBox="1">
            <a:spLocks/>
          </p:cNvSpPr>
          <p:nvPr/>
        </p:nvSpPr>
        <p:spPr>
          <a:xfrm>
            <a:off x="8789549" y="6420836"/>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4B6131FB-BBC3-4224-AAE6-4E406EC349F0}" type="slidenum">
              <a:rPr kumimoji="1" lang="ja-JP" altLang="en-US" b="1" smtClean="0">
                <a:solidFill>
                  <a:srgbClr val="2C2C2C"/>
                </a:solidFill>
                <a:latin typeface="小塚ゴシック Pro B" panose="020B0800000000000000" pitchFamily="34" charset="-128"/>
                <a:ea typeface="小塚ゴシック Pro B" panose="020B0800000000000000" pitchFamily="34" charset="-128"/>
              </a:rPr>
              <a:pPr algn="r"/>
              <a:t>14</a:t>
            </a:fld>
            <a:endParaRPr kumimoji="1" lang="ja-JP" altLang="en-US" b="1" dirty="0">
              <a:solidFill>
                <a:srgbClr val="2C2C2C"/>
              </a:solidFill>
              <a:latin typeface="小塚ゴシック Pro B" panose="020B0800000000000000" pitchFamily="34" charset="-128"/>
              <a:ea typeface="小塚ゴシック Pro B" panose="020B0800000000000000" pitchFamily="34" charset="-128"/>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0"/>
        <p:cNvGrpSpPr/>
        <p:nvPr/>
      </p:nvGrpSpPr>
      <p:grpSpPr>
        <a:xfrm>
          <a:off x="0" y="0"/>
          <a:ext cx="0" cy="0"/>
          <a:chOff x="0" y="0"/>
          <a:chExt cx="0" cy="0"/>
        </a:xfrm>
      </p:grpSpPr>
      <p:grpSp>
        <p:nvGrpSpPr>
          <p:cNvPr id="501" name="Google Shape;501;p27"/>
          <p:cNvGrpSpPr/>
          <p:nvPr/>
        </p:nvGrpSpPr>
        <p:grpSpPr>
          <a:xfrm>
            <a:off x="0" y="0"/>
            <a:ext cx="12643324" cy="6976048"/>
            <a:chOff x="0" y="0"/>
            <a:chExt cx="12643324" cy="6976048"/>
          </a:xfrm>
        </p:grpSpPr>
        <p:pic>
          <p:nvPicPr>
            <p:cNvPr id="502" name="Google Shape;502;p27"/>
            <p:cNvPicPr preferRelativeResize="0"/>
            <p:nvPr/>
          </p:nvPicPr>
          <p:blipFill>
            <a:blip r:embed="rId3">
              <a:alphaModFix/>
            </a:blip>
            <a:stretch>
              <a:fillRect/>
            </a:stretch>
          </p:blipFill>
          <p:spPr>
            <a:xfrm>
              <a:off x="0" y="0"/>
              <a:ext cx="12643315" cy="6976048"/>
            </a:xfrm>
            <a:prstGeom prst="rect">
              <a:avLst/>
            </a:prstGeom>
            <a:noFill/>
            <a:ln>
              <a:noFill/>
            </a:ln>
          </p:spPr>
        </p:pic>
        <p:pic>
          <p:nvPicPr>
            <p:cNvPr id="503" name="Google Shape;503;p27"/>
            <p:cNvPicPr preferRelativeResize="0"/>
            <p:nvPr/>
          </p:nvPicPr>
          <p:blipFill rotWithShape="1">
            <a:blip r:embed="rId3">
              <a:alphaModFix/>
            </a:blip>
            <a:srcRect l="88432" t="69407" b="11568"/>
            <a:stretch/>
          </p:blipFill>
          <p:spPr>
            <a:xfrm>
              <a:off x="11180801" y="5648888"/>
              <a:ext cx="1462523" cy="1327158"/>
            </a:xfrm>
            <a:prstGeom prst="rect">
              <a:avLst/>
            </a:prstGeom>
            <a:noFill/>
            <a:ln>
              <a:noFill/>
            </a:ln>
          </p:spPr>
        </p:pic>
      </p:grpSp>
      <p:pic>
        <p:nvPicPr>
          <p:cNvPr id="504" name="Google Shape;504;p27"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pic>
        <p:nvPicPr>
          <p:cNvPr id="505" name="Google Shape;505;p27" descr="image.png"/>
          <p:cNvPicPr preferRelativeResize="0"/>
          <p:nvPr/>
        </p:nvPicPr>
        <p:blipFill rotWithShape="1">
          <a:blip r:embed="rId5">
            <a:alphaModFix/>
          </a:blip>
          <a:srcRect/>
          <a:stretch/>
        </p:blipFill>
        <p:spPr>
          <a:xfrm>
            <a:off x="762000" y="1740991"/>
            <a:ext cx="4267200" cy="4545508"/>
          </a:xfrm>
          <a:prstGeom prst="rect">
            <a:avLst/>
          </a:prstGeom>
          <a:noFill/>
          <a:ln>
            <a:noFill/>
          </a:ln>
        </p:spPr>
      </p:pic>
      <p:pic>
        <p:nvPicPr>
          <p:cNvPr id="506" name="Google Shape;506;p27" descr="image.png"/>
          <p:cNvPicPr preferRelativeResize="0"/>
          <p:nvPr/>
        </p:nvPicPr>
        <p:blipFill rotWithShape="1">
          <a:blip r:embed="rId6">
            <a:alphaModFix/>
          </a:blip>
          <a:srcRect/>
          <a:stretch/>
        </p:blipFill>
        <p:spPr>
          <a:xfrm>
            <a:off x="1143000" y="4844206"/>
            <a:ext cx="3505200" cy="567630"/>
          </a:xfrm>
          <a:prstGeom prst="rect">
            <a:avLst/>
          </a:prstGeom>
          <a:noFill/>
          <a:ln>
            <a:noFill/>
          </a:ln>
        </p:spPr>
      </p:pic>
      <p:pic>
        <p:nvPicPr>
          <p:cNvPr id="507" name="Google Shape;507;p27" descr="image.png"/>
          <p:cNvPicPr preferRelativeResize="0"/>
          <p:nvPr/>
        </p:nvPicPr>
        <p:blipFill rotWithShape="1">
          <a:blip r:embed="rId7">
            <a:alphaModFix/>
          </a:blip>
          <a:srcRect/>
          <a:stretch/>
        </p:blipFill>
        <p:spPr>
          <a:xfrm>
            <a:off x="0" y="0"/>
            <a:ext cx="12192000" cy="142875"/>
          </a:xfrm>
          <a:prstGeom prst="rect">
            <a:avLst/>
          </a:prstGeom>
          <a:noFill/>
          <a:ln>
            <a:noFill/>
          </a:ln>
        </p:spPr>
      </p:pic>
      <p:sp>
        <p:nvSpPr>
          <p:cNvPr id="508" name="Google Shape;508;p27"/>
          <p:cNvSpPr txBox="1"/>
          <p:nvPr/>
        </p:nvSpPr>
        <p:spPr>
          <a:xfrm>
            <a:off x="762000" y="571500"/>
            <a:ext cx="10668000"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a:solidFill>
                  <a:srgbClr val="C5A059"/>
                </a:solidFill>
                <a:latin typeface="小塚ゴシック Pro B" panose="020B0800000000000000" pitchFamily="34" charset="-128"/>
                <a:ea typeface="小塚ゴシック Pro B" panose="020B0800000000000000" pitchFamily="34" charset="-128"/>
                <a:cs typeface="Lato"/>
                <a:sym typeface="Lato"/>
              </a:rPr>
              <a:t>SERVICE DETAIL: MICHISUJI TRIAL</a:t>
            </a:r>
            <a:endParaRPr>
              <a:latin typeface="小塚ゴシック Pro B" panose="020B0800000000000000" pitchFamily="34" charset="-128"/>
              <a:ea typeface="小塚ゴシック Pro B" panose="020B0800000000000000" pitchFamily="34" charset="-128"/>
            </a:endParaRPr>
          </a:p>
        </p:txBody>
      </p:sp>
      <p:sp>
        <p:nvSpPr>
          <p:cNvPr id="509" name="Google Shape;509;p27"/>
          <p:cNvSpPr txBox="1"/>
          <p:nvPr/>
        </p:nvSpPr>
        <p:spPr>
          <a:xfrm>
            <a:off x="762000" y="880020"/>
            <a:ext cx="11201400" cy="581698"/>
          </a:xfrm>
          <a:prstGeom prst="rect">
            <a:avLst/>
          </a:prstGeom>
          <a:noFill/>
          <a:ln>
            <a:noFill/>
          </a:ln>
        </p:spPr>
        <p:txBody>
          <a:bodyPr spcFirstLastPara="1" wrap="square" lIns="0" tIns="0" rIns="0" bIns="0" anchor="t" anchorCtr="0">
            <a:spAutoFit/>
          </a:bodyPr>
          <a:lstStyle/>
          <a:p>
            <a:pPr marL="0" marR="0" lvl="0" indent="0" algn="l" rtl="0">
              <a:lnSpc>
                <a:spcPct val="139963"/>
              </a:lnSpc>
              <a:spcBef>
                <a:spcPts val="0"/>
              </a:spcBef>
              <a:spcAft>
                <a:spcPts val="0"/>
              </a:spcAft>
              <a:buNone/>
            </a:pPr>
            <a:r>
              <a:rPr lang="en-US" sz="27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集客顧問「ミチスジ」相談プラン詳細</a:t>
            </a:r>
            <a:endParaRPr>
              <a:latin typeface="小塚ゴシック Pro B" panose="020B0800000000000000" pitchFamily="34" charset="-128"/>
              <a:ea typeface="小塚ゴシック Pro B" panose="020B0800000000000000" pitchFamily="34" charset="-128"/>
            </a:endParaRPr>
          </a:p>
        </p:txBody>
      </p:sp>
      <p:sp>
        <p:nvSpPr>
          <p:cNvPr id="510" name="Google Shape;510;p27"/>
          <p:cNvSpPr txBox="1"/>
          <p:nvPr/>
        </p:nvSpPr>
        <p:spPr>
          <a:xfrm>
            <a:off x="762000" y="6534150"/>
            <a:ext cx="1651200" cy="1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99999"/>
                </a:solidFill>
                <a:latin typeface="Lato"/>
                <a:ea typeface="Lato"/>
                <a:cs typeface="Lato"/>
                <a:sym typeface="Lato"/>
              </a:rPr>
              <a:t>© U-Writing All Rights Reserved.</a:t>
            </a:r>
            <a:endParaRPr/>
          </a:p>
        </p:txBody>
      </p:sp>
      <p:sp>
        <p:nvSpPr>
          <p:cNvPr id="512" name="Google Shape;512;p27"/>
          <p:cNvSpPr txBox="1"/>
          <p:nvPr/>
        </p:nvSpPr>
        <p:spPr>
          <a:xfrm>
            <a:off x="1143000" y="2216582"/>
            <a:ext cx="3505200" cy="77559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800" b="1" i="0" u="none" strike="noStrike" cap="none" dirty="0">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まずは1回、プロの視点で</a:t>
            </a:r>
            <a:br>
              <a:rPr lang="en-US" sz="1800" b="0" i="0" u="none" strike="noStrike" cap="none" dirty="0">
                <a:solidFill>
                  <a:schemeClr val="dk1"/>
                </a:solidFill>
                <a:latin typeface="小塚ゴシック Pro B" panose="020B0800000000000000" pitchFamily="34" charset="-128"/>
                <a:ea typeface="小塚ゴシック Pro B" panose="020B0800000000000000" pitchFamily="34" charset="-128"/>
                <a:cs typeface="Calibri"/>
                <a:sym typeface="Calibri"/>
              </a:rPr>
            </a:br>
            <a:r>
              <a:rPr lang="en-US" sz="1800" b="1" i="0" u="none" strike="noStrike" cap="none" dirty="0">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 </a:t>
            </a:r>
            <a:r>
              <a:rPr lang="en-US" sz="1800" b="1" i="0" u="none" strike="noStrike" cap="none" dirty="0" err="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現状を整理・診断</a:t>
            </a:r>
            <a:r>
              <a:rPr lang="en-US" sz="1800" b="1" i="0" u="none" strike="noStrike" cap="none" dirty="0">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a:t>
            </a:r>
            <a:endParaRPr dirty="0">
              <a:latin typeface="小塚ゴシック Pro B" panose="020B0800000000000000" pitchFamily="34" charset="-128"/>
              <a:ea typeface="小塚ゴシック Pro B" panose="020B0800000000000000" pitchFamily="34" charset="-128"/>
            </a:endParaRPr>
          </a:p>
        </p:txBody>
      </p:sp>
      <p:sp>
        <p:nvSpPr>
          <p:cNvPr id="513" name="Google Shape;513;p27"/>
          <p:cNvSpPr txBox="1"/>
          <p:nvPr/>
        </p:nvSpPr>
        <p:spPr>
          <a:xfrm>
            <a:off x="1143000" y="3684240"/>
            <a:ext cx="3505200" cy="8863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err="1">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継続契約の前に、単発で相談したい方向け。現状の悩みや手持ちの制作物をその場で添削し、今すぐできる改善点をアドバイスします</a:t>
            </a:r>
            <a:r>
              <a:rPr lang="en-US" sz="1200" b="0" i="0" u="none" strike="noStrike" cap="none" dirty="0">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a:t>
            </a:r>
            <a:endParaRPr dirty="0">
              <a:latin typeface="小塚ゴシック Pro M" panose="020B0700000000000000" pitchFamily="34" charset="-128"/>
              <a:ea typeface="小塚ゴシック Pro M" panose="020B0700000000000000" pitchFamily="34" charset="-128"/>
            </a:endParaRPr>
          </a:p>
        </p:txBody>
      </p:sp>
      <p:sp>
        <p:nvSpPr>
          <p:cNvPr id="514" name="Google Shape;514;p27"/>
          <p:cNvSpPr txBox="1"/>
          <p:nvPr/>
        </p:nvSpPr>
        <p:spPr>
          <a:xfrm>
            <a:off x="5505450" y="1931491"/>
            <a:ext cx="6686700" cy="302519"/>
          </a:xfrm>
          <a:prstGeom prst="rect">
            <a:avLst/>
          </a:prstGeom>
          <a:noFill/>
          <a:ln>
            <a:noFill/>
          </a:ln>
        </p:spPr>
        <p:txBody>
          <a:bodyPr spcFirstLastPara="1" wrap="square" lIns="0" tIns="0" rIns="0" bIns="0" anchor="t" anchorCtr="0">
            <a:spAutoFit/>
          </a:bodyPr>
          <a:lstStyle/>
          <a:p>
            <a:pPr marL="0" marR="0" lvl="0" indent="0" algn="l" rtl="0">
              <a:lnSpc>
                <a:spcPct val="139957"/>
              </a:lnSpc>
              <a:spcBef>
                <a:spcPts val="0"/>
              </a:spcBef>
              <a:spcAft>
                <a:spcPts val="0"/>
              </a:spcAft>
              <a:buNone/>
            </a:pPr>
            <a:r>
              <a:rPr lang="en-US" sz="1404"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相談プランの内容</a:t>
            </a:r>
            <a:endParaRPr>
              <a:latin typeface="小塚ゴシック Pro B" panose="020B0800000000000000" pitchFamily="34" charset="-128"/>
              <a:ea typeface="小塚ゴシック Pro B" panose="020B0800000000000000" pitchFamily="34" charset="-128"/>
            </a:endParaRPr>
          </a:p>
        </p:txBody>
      </p:sp>
      <p:sp>
        <p:nvSpPr>
          <p:cNvPr id="515" name="Google Shape;515;p27"/>
          <p:cNvSpPr txBox="1"/>
          <p:nvPr/>
        </p:nvSpPr>
        <p:spPr>
          <a:xfrm>
            <a:off x="1304925" y="5031901"/>
            <a:ext cx="3181200" cy="184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dirty="0" err="1">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単発 14,800円〜</a:t>
            </a:r>
            <a:endParaRPr dirty="0">
              <a:latin typeface="小塚ゴシック Pro B" panose="020B0800000000000000" pitchFamily="34" charset="-128"/>
              <a:ea typeface="小塚ゴシック Pro B" panose="020B0800000000000000" pitchFamily="34" charset="-128"/>
            </a:endParaRPr>
          </a:p>
        </p:txBody>
      </p:sp>
      <p:sp>
        <p:nvSpPr>
          <p:cNvPr id="516" name="Google Shape;516;p27"/>
          <p:cNvSpPr/>
          <p:nvPr/>
        </p:nvSpPr>
        <p:spPr>
          <a:xfrm>
            <a:off x="5505451" y="2371576"/>
            <a:ext cx="5924550" cy="933600"/>
          </a:xfrm>
          <a:prstGeom prst="roundRect">
            <a:avLst>
              <a:gd name="adj" fmla="val 4081"/>
            </a:avLst>
          </a:prstGeom>
          <a:solidFill>
            <a:srgbClr val="FFFFFF"/>
          </a:solidFill>
          <a:ln w="9525" cap="flat" cmpd="sng">
            <a:solidFill>
              <a:srgbClr val="EEEEE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517" name="Google Shape;517;p27"/>
          <p:cNvSpPr/>
          <p:nvPr/>
        </p:nvSpPr>
        <p:spPr>
          <a:xfrm>
            <a:off x="5505451" y="3495526"/>
            <a:ext cx="5924550" cy="933600"/>
          </a:xfrm>
          <a:prstGeom prst="roundRect">
            <a:avLst>
              <a:gd name="adj" fmla="val 4081"/>
            </a:avLst>
          </a:prstGeom>
          <a:solidFill>
            <a:srgbClr val="FFFFFF"/>
          </a:solidFill>
          <a:ln w="9525" cap="flat" cmpd="sng">
            <a:solidFill>
              <a:srgbClr val="EEEEE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518" name="Google Shape;518;p27"/>
          <p:cNvSpPr/>
          <p:nvPr/>
        </p:nvSpPr>
        <p:spPr>
          <a:xfrm>
            <a:off x="5505451" y="4619476"/>
            <a:ext cx="5924550" cy="933600"/>
          </a:xfrm>
          <a:prstGeom prst="roundRect">
            <a:avLst>
              <a:gd name="adj" fmla="val 4081"/>
            </a:avLst>
          </a:prstGeom>
          <a:solidFill>
            <a:srgbClr val="FFFFFF"/>
          </a:solidFill>
          <a:ln w="9525" cap="flat" cmpd="sng">
            <a:solidFill>
              <a:srgbClr val="EEEEE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522" name="Google Shape;522;p27"/>
          <p:cNvSpPr txBox="1"/>
          <p:nvPr/>
        </p:nvSpPr>
        <p:spPr>
          <a:xfrm>
            <a:off x="6276975" y="2876401"/>
            <a:ext cx="5429400" cy="276999"/>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課題のヒアリングから壁打ちまで、対面形式でじっくり対応します。</a:t>
            </a:r>
            <a:endParaRPr>
              <a:latin typeface="小塚ゴシック Pro M" panose="020B0700000000000000" pitchFamily="34" charset="-128"/>
              <a:ea typeface="小塚ゴシック Pro M" panose="020B0700000000000000" pitchFamily="34" charset="-128"/>
            </a:endParaRPr>
          </a:p>
        </p:txBody>
      </p:sp>
      <p:sp>
        <p:nvSpPr>
          <p:cNvPr id="523" name="Google Shape;523;p27"/>
          <p:cNvSpPr txBox="1"/>
          <p:nvPr/>
        </p:nvSpPr>
        <p:spPr>
          <a:xfrm>
            <a:off x="6276975" y="4000351"/>
            <a:ext cx="5429400" cy="276999"/>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チラシやLPなどを画面共有しながら、その場で改善点を指摘します。</a:t>
            </a:r>
            <a:endParaRPr>
              <a:latin typeface="小塚ゴシック Pro M" panose="020B0700000000000000" pitchFamily="34" charset="-128"/>
              <a:ea typeface="小塚ゴシック Pro M" panose="020B0700000000000000" pitchFamily="34" charset="-128"/>
            </a:endParaRPr>
          </a:p>
        </p:txBody>
      </p:sp>
      <p:sp>
        <p:nvSpPr>
          <p:cNvPr id="524" name="Google Shape;524;p27"/>
          <p:cNvSpPr txBox="1"/>
          <p:nvPr/>
        </p:nvSpPr>
        <p:spPr>
          <a:xfrm>
            <a:off x="6276975" y="5124301"/>
            <a:ext cx="5429400" cy="276999"/>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「まず何から手を付けるべきか」の優先順位と方向性を提示します。</a:t>
            </a:r>
            <a:endParaRPr>
              <a:latin typeface="小塚ゴシック Pro M" panose="020B0700000000000000" pitchFamily="34" charset="-128"/>
              <a:ea typeface="小塚ゴシック Pro M" panose="020B0700000000000000" pitchFamily="34" charset="-128"/>
            </a:endParaRPr>
          </a:p>
        </p:txBody>
      </p:sp>
      <p:pic>
        <p:nvPicPr>
          <p:cNvPr id="525" name="Google Shape;525;p27"/>
          <p:cNvPicPr preferRelativeResize="0"/>
          <p:nvPr/>
        </p:nvPicPr>
        <p:blipFill>
          <a:blip r:embed="rId8">
            <a:alphaModFix/>
          </a:blip>
          <a:stretch>
            <a:fillRect/>
          </a:stretch>
        </p:blipFill>
        <p:spPr>
          <a:xfrm>
            <a:off x="5649413" y="2485877"/>
            <a:ext cx="466725" cy="381000"/>
          </a:xfrm>
          <a:prstGeom prst="rect">
            <a:avLst/>
          </a:prstGeom>
          <a:noFill/>
          <a:ln>
            <a:noFill/>
          </a:ln>
        </p:spPr>
      </p:pic>
      <p:pic>
        <p:nvPicPr>
          <p:cNvPr id="526" name="Google Shape;526;p27"/>
          <p:cNvPicPr preferRelativeResize="0"/>
          <p:nvPr/>
        </p:nvPicPr>
        <p:blipFill>
          <a:blip r:embed="rId9">
            <a:alphaModFix/>
          </a:blip>
          <a:stretch>
            <a:fillRect/>
          </a:stretch>
        </p:blipFill>
        <p:spPr>
          <a:xfrm>
            <a:off x="5677975" y="3624114"/>
            <a:ext cx="409575" cy="371475"/>
          </a:xfrm>
          <a:prstGeom prst="rect">
            <a:avLst/>
          </a:prstGeom>
          <a:noFill/>
          <a:ln>
            <a:noFill/>
          </a:ln>
        </p:spPr>
      </p:pic>
      <p:pic>
        <p:nvPicPr>
          <p:cNvPr id="527" name="Google Shape;527;p27"/>
          <p:cNvPicPr preferRelativeResize="0"/>
          <p:nvPr/>
        </p:nvPicPr>
        <p:blipFill>
          <a:blip r:embed="rId10">
            <a:alphaModFix/>
          </a:blip>
          <a:stretch>
            <a:fillRect/>
          </a:stretch>
        </p:blipFill>
        <p:spPr>
          <a:xfrm>
            <a:off x="5720838" y="4786494"/>
            <a:ext cx="323850" cy="314325"/>
          </a:xfrm>
          <a:prstGeom prst="rect">
            <a:avLst/>
          </a:prstGeom>
          <a:noFill/>
          <a:ln>
            <a:noFill/>
          </a:ln>
        </p:spPr>
      </p:pic>
      <p:sp>
        <p:nvSpPr>
          <p:cNvPr id="528" name="Google Shape;528;p27"/>
          <p:cNvSpPr txBox="1"/>
          <p:nvPr/>
        </p:nvSpPr>
        <p:spPr>
          <a:xfrm>
            <a:off x="6276975" y="2505829"/>
            <a:ext cx="2302500" cy="290849"/>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最大2時間のZoom相談</a:t>
            </a:r>
            <a:endParaRPr>
              <a:latin typeface="小塚ゴシック Pro B" panose="020B0800000000000000" pitchFamily="34" charset="-128"/>
              <a:ea typeface="小塚ゴシック Pro B" panose="020B0800000000000000" pitchFamily="34" charset="-128"/>
            </a:endParaRPr>
          </a:p>
        </p:txBody>
      </p:sp>
      <p:sp>
        <p:nvSpPr>
          <p:cNvPr id="529" name="Google Shape;529;p27"/>
          <p:cNvSpPr txBox="1"/>
          <p:nvPr/>
        </p:nvSpPr>
        <p:spPr>
          <a:xfrm>
            <a:off x="6276975" y="3636387"/>
            <a:ext cx="2302500" cy="290849"/>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現状の添削・フィードバック</a:t>
            </a:r>
            <a:endParaRPr>
              <a:latin typeface="小塚ゴシック Pro B" panose="020B0800000000000000" pitchFamily="34" charset="-128"/>
              <a:ea typeface="小塚ゴシック Pro B" panose="020B0800000000000000" pitchFamily="34" charset="-128"/>
            </a:endParaRPr>
          </a:p>
        </p:txBody>
      </p:sp>
      <p:sp>
        <p:nvSpPr>
          <p:cNvPr id="530" name="Google Shape;530;p27"/>
          <p:cNvSpPr txBox="1"/>
          <p:nvPr/>
        </p:nvSpPr>
        <p:spPr>
          <a:xfrm>
            <a:off x="6276975" y="4766070"/>
            <a:ext cx="2302500" cy="290849"/>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対応方針のご提案</a:t>
            </a:r>
            <a:endParaRPr>
              <a:latin typeface="小塚ゴシック Pro B" panose="020B0800000000000000" pitchFamily="34" charset="-128"/>
              <a:ea typeface="小塚ゴシック Pro B" panose="020B0800000000000000" pitchFamily="34" charset="-128"/>
            </a:endParaRPr>
          </a:p>
        </p:txBody>
      </p:sp>
      <p:sp>
        <p:nvSpPr>
          <p:cNvPr id="2" name="スライド番号プレースホルダー 14">
            <a:extLst>
              <a:ext uri="{FF2B5EF4-FFF2-40B4-BE49-F238E27FC236}">
                <a16:creationId xmlns:a16="http://schemas.microsoft.com/office/drawing/2014/main" id="{D096BC58-C7D1-A752-9354-14A740D719A1}"/>
              </a:ext>
            </a:extLst>
          </p:cNvPr>
          <p:cNvSpPr txBox="1">
            <a:spLocks/>
          </p:cNvSpPr>
          <p:nvPr/>
        </p:nvSpPr>
        <p:spPr>
          <a:xfrm>
            <a:off x="8789549" y="6420836"/>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4B6131FB-BBC3-4224-AAE6-4E406EC349F0}" type="slidenum">
              <a:rPr kumimoji="1" lang="ja-JP" altLang="en-US" b="1" smtClean="0">
                <a:solidFill>
                  <a:srgbClr val="2C2C2C"/>
                </a:solidFill>
                <a:latin typeface="小塚ゴシック Pro B" panose="020B0800000000000000" pitchFamily="34" charset="-128"/>
                <a:ea typeface="小塚ゴシック Pro B" panose="020B0800000000000000" pitchFamily="34" charset="-128"/>
              </a:rPr>
              <a:pPr algn="r"/>
              <a:t>15</a:t>
            </a:fld>
            <a:endParaRPr kumimoji="1" lang="ja-JP" altLang="en-US" b="1" dirty="0">
              <a:solidFill>
                <a:srgbClr val="2C2C2C"/>
              </a:solidFill>
              <a:latin typeface="小塚ゴシック Pro B" panose="020B0800000000000000" pitchFamily="34" charset="-128"/>
              <a:ea typeface="小塚ゴシック Pro B" panose="020B0800000000000000" pitchFamily="34" charset="-128"/>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34"/>
        <p:cNvGrpSpPr/>
        <p:nvPr/>
      </p:nvGrpSpPr>
      <p:grpSpPr>
        <a:xfrm>
          <a:off x="0" y="0"/>
          <a:ext cx="0" cy="0"/>
          <a:chOff x="0" y="0"/>
          <a:chExt cx="0" cy="0"/>
        </a:xfrm>
      </p:grpSpPr>
      <p:grpSp>
        <p:nvGrpSpPr>
          <p:cNvPr id="535" name="Google Shape;535;p28"/>
          <p:cNvGrpSpPr/>
          <p:nvPr/>
        </p:nvGrpSpPr>
        <p:grpSpPr>
          <a:xfrm>
            <a:off x="0" y="0"/>
            <a:ext cx="12643324" cy="6976048"/>
            <a:chOff x="0" y="0"/>
            <a:chExt cx="12643324" cy="6976048"/>
          </a:xfrm>
        </p:grpSpPr>
        <p:pic>
          <p:nvPicPr>
            <p:cNvPr id="536" name="Google Shape;536;p28"/>
            <p:cNvPicPr preferRelativeResize="0"/>
            <p:nvPr/>
          </p:nvPicPr>
          <p:blipFill>
            <a:blip r:embed="rId3">
              <a:alphaModFix/>
            </a:blip>
            <a:stretch>
              <a:fillRect/>
            </a:stretch>
          </p:blipFill>
          <p:spPr>
            <a:xfrm>
              <a:off x="0" y="0"/>
              <a:ext cx="12643315" cy="6976048"/>
            </a:xfrm>
            <a:prstGeom prst="rect">
              <a:avLst/>
            </a:prstGeom>
            <a:noFill/>
            <a:ln>
              <a:noFill/>
            </a:ln>
          </p:spPr>
        </p:pic>
        <p:pic>
          <p:nvPicPr>
            <p:cNvPr id="537" name="Google Shape;537;p28"/>
            <p:cNvPicPr preferRelativeResize="0"/>
            <p:nvPr/>
          </p:nvPicPr>
          <p:blipFill rotWithShape="1">
            <a:blip r:embed="rId3">
              <a:alphaModFix/>
            </a:blip>
            <a:srcRect l="88432" t="69407" b="11568"/>
            <a:stretch/>
          </p:blipFill>
          <p:spPr>
            <a:xfrm>
              <a:off x="11180801" y="5648888"/>
              <a:ext cx="1462523" cy="1327158"/>
            </a:xfrm>
            <a:prstGeom prst="rect">
              <a:avLst/>
            </a:prstGeom>
            <a:noFill/>
            <a:ln>
              <a:noFill/>
            </a:ln>
          </p:spPr>
        </p:pic>
      </p:grpSp>
      <p:pic>
        <p:nvPicPr>
          <p:cNvPr id="538" name="Google Shape;538;p28"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pic>
        <p:nvPicPr>
          <p:cNvPr id="539" name="Google Shape;539;p28" descr="image.png"/>
          <p:cNvPicPr preferRelativeResize="0"/>
          <p:nvPr/>
        </p:nvPicPr>
        <p:blipFill rotWithShape="1">
          <a:blip r:embed="rId5">
            <a:alphaModFix/>
          </a:blip>
          <a:srcRect/>
          <a:stretch/>
        </p:blipFill>
        <p:spPr>
          <a:xfrm>
            <a:off x="762000" y="1740991"/>
            <a:ext cx="4267200" cy="4545508"/>
          </a:xfrm>
          <a:prstGeom prst="rect">
            <a:avLst/>
          </a:prstGeom>
          <a:noFill/>
          <a:ln>
            <a:noFill/>
          </a:ln>
        </p:spPr>
      </p:pic>
      <p:pic>
        <p:nvPicPr>
          <p:cNvPr id="540" name="Google Shape;540;p28" descr="image.png"/>
          <p:cNvPicPr preferRelativeResize="0"/>
          <p:nvPr/>
        </p:nvPicPr>
        <p:blipFill rotWithShape="1">
          <a:blip r:embed="rId6">
            <a:alphaModFix/>
          </a:blip>
          <a:srcRect/>
          <a:stretch/>
        </p:blipFill>
        <p:spPr>
          <a:xfrm>
            <a:off x="1143000" y="4844206"/>
            <a:ext cx="3505200" cy="567630"/>
          </a:xfrm>
          <a:prstGeom prst="rect">
            <a:avLst/>
          </a:prstGeom>
          <a:noFill/>
          <a:ln>
            <a:noFill/>
          </a:ln>
        </p:spPr>
      </p:pic>
      <p:pic>
        <p:nvPicPr>
          <p:cNvPr id="541" name="Google Shape;541;p28" descr="image.png"/>
          <p:cNvPicPr preferRelativeResize="0"/>
          <p:nvPr/>
        </p:nvPicPr>
        <p:blipFill rotWithShape="1">
          <a:blip r:embed="rId7">
            <a:alphaModFix/>
          </a:blip>
          <a:srcRect/>
          <a:stretch/>
        </p:blipFill>
        <p:spPr>
          <a:xfrm>
            <a:off x="0" y="0"/>
            <a:ext cx="12192000" cy="142875"/>
          </a:xfrm>
          <a:prstGeom prst="rect">
            <a:avLst/>
          </a:prstGeom>
          <a:noFill/>
          <a:ln>
            <a:noFill/>
          </a:ln>
        </p:spPr>
      </p:pic>
      <p:sp>
        <p:nvSpPr>
          <p:cNvPr id="542" name="Google Shape;542;p28"/>
          <p:cNvSpPr txBox="1"/>
          <p:nvPr/>
        </p:nvSpPr>
        <p:spPr>
          <a:xfrm>
            <a:off x="762000" y="571500"/>
            <a:ext cx="10668000"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a:solidFill>
                  <a:srgbClr val="C5A059"/>
                </a:solidFill>
                <a:latin typeface="小塚ゴシック Pro B" panose="020B0800000000000000" pitchFamily="34" charset="-128"/>
                <a:ea typeface="小塚ゴシック Pro B" panose="020B0800000000000000" pitchFamily="34" charset="-128"/>
                <a:cs typeface="Lato"/>
                <a:sym typeface="Lato"/>
              </a:rPr>
              <a:t>SERVICE DETAIL: MICHISUJI PROPOSAL</a:t>
            </a:r>
            <a:endParaRPr>
              <a:latin typeface="小塚ゴシック Pro B" panose="020B0800000000000000" pitchFamily="34" charset="-128"/>
              <a:ea typeface="小塚ゴシック Pro B" panose="020B0800000000000000" pitchFamily="34" charset="-128"/>
            </a:endParaRPr>
          </a:p>
        </p:txBody>
      </p:sp>
      <p:sp>
        <p:nvSpPr>
          <p:cNvPr id="543" name="Google Shape;543;p28"/>
          <p:cNvSpPr txBox="1"/>
          <p:nvPr/>
        </p:nvSpPr>
        <p:spPr>
          <a:xfrm>
            <a:off x="762000" y="880020"/>
            <a:ext cx="11201400" cy="581698"/>
          </a:xfrm>
          <a:prstGeom prst="rect">
            <a:avLst/>
          </a:prstGeom>
          <a:noFill/>
          <a:ln>
            <a:noFill/>
          </a:ln>
        </p:spPr>
        <p:txBody>
          <a:bodyPr spcFirstLastPara="1" wrap="square" lIns="0" tIns="0" rIns="0" bIns="0" anchor="t" anchorCtr="0">
            <a:spAutoFit/>
          </a:bodyPr>
          <a:lstStyle/>
          <a:p>
            <a:pPr marL="0" marR="0" lvl="0" indent="0" algn="l" rtl="0">
              <a:lnSpc>
                <a:spcPct val="139963"/>
              </a:lnSpc>
              <a:spcBef>
                <a:spcPts val="0"/>
              </a:spcBef>
              <a:spcAft>
                <a:spcPts val="0"/>
              </a:spcAft>
              <a:buNone/>
            </a:pPr>
            <a:r>
              <a:rPr lang="en-US" sz="27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集客顧問「ミチスジ」提案プラン詳細</a:t>
            </a:r>
            <a:endParaRPr>
              <a:latin typeface="小塚ゴシック Pro B" panose="020B0800000000000000" pitchFamily="34" charset="-128"/>
              <a:ea typeface="小塚ゴシック Pro B" panose="020B0800000000000000" pitchFamily="34" charset="-128"/>
            </a:endParaRPr>
          </a:p>
        </p:txBody>
      </p:sp>
      <p:sp>
        <p:nvSpPr>
          <p:cNvPr id="544" name="Google Shape;544;p28"/>
          <p:cNvSpPr txBox="1"/>
          <p:nvPr/>
        </p:nvSpPr>
        <p:spPr>
          <a:xfrm>
            <a:off x="762000" y="6534150"/>
            <a:ext cx="1651200" cy="1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99999"/>
                </a:solidFill>
                <a:latin typeface="Lato"/>
                <a:ea typeface="Lato"/>
                <a:cs typeface="Lato"/>
                <a:sym typeface="Lato"/>
              </a:rPr>
              <a:t>© U-Writing All Rights Reserved.</a:t>
            </a:r>
            <a:endParaRPr/>
          </a:p>
        </p:txBody>
      </p:sp>
      <p:sp>
        <p:nvSpPr>
          <p:cNvPr id="546" name="Google Shape;546;p28"/>
          <p:cNvSpPr txBox="1"/>
          <p:nvPr/>
        </p:nvSpPr>
        <p:spPr>
          <a:xfrm>
            <a:off x="1143000" y="2211301"/>
            <a:ext cx="3505200" cy="77559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800" b="1" i="0" u="none" strike="noStrike" cap="none" dirty="0" err="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分析に基づいた『正解の道筋』を</a:t>
            </a:r>
            <a:br>
              <a:rPr lang="en-US" sz="1800" b="0" i="0" u="none" strike="noStrike" cap="none" dirty="0">
                <a:solidFill>
                  <a:schemeClr val="dk1"/>
                </a:solidFill>
                <a:latin typeface="小塚ゴシック Pro B" panose="020B0800000000000000" pitchFamily="34" charset="-128"/>
                <a:ea typeface="小塚ゴシック Pro B" panose="020B0800000000000000" pitchFamily="34" charset="-128"/>
                <a:cs typeface="Calibri"/>
                <a:sym typeface="Calibri"/>
              </a:rPr>
            </a:br>
            <a:r>
              <a:rPr lang="en-US" sz="1800" b="1" i="0" u="none" strike="noStrike" cap="none" dirty="0">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 </a:t>
            </a:r>
            <a:r>
              <a:rPr lang="en-US" sz="1800" b="1" i="0" u="none" strike="noStrike" cap="none" dirty="0" err="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提案書として可視化</a:t>
            </a:r>
            <a:r>
              <a:rPr lang="en-US" sz="1800" b="1" i="0" u="none" strike="noStrike" cap="none" dirty="0">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a:t>
            </a:r>
            <a:endParaRPr dirty="0">
              <a:latin typeface="小塚ゴシック Pro B" panose="020B0800000000000000" pitchFamily="34" charset="-128"/>
              <a:ea typeface="小塚ゴシック Pro B" panose="020B0800000000000000" pitchFamily="34" charset="-128"/>
            </a:endParaRPr>
          </a:p>
        </p:txBody>
      </p:sp>
      <p:sp>
        <p:nvSpPr>
          <p:cNvPr id="547" name="Google Shape;547;p28"/>
          <p:cNvSpPr txBox="1"/>
          <p:nvPr/>
        </p:nvSpPr>
        <p:spPr>
          <a:xfrm>
            <a:off x="1143000" y="3684240"/>
            <a:ext cx="3505200" cy="8863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err="1">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ヒアリングと現状データをもとに分析し、必要な施策をまとめた「提案書」を納品します。</a:t>
            </a:r>
            <a:endParaRPr lang="en-US" sz="1200" b="0" i="0" u="none" strike="noStrike" cap="none" dirty="0">
              <a:solidFill>
                <a:srgbClr val="666666"/>
              </a:solidFill>
              <a:latin typeface="小塚ゴシック Pro M" panose="020B0700000000000000" pitchFamily="34" charset="-128"/>
              <a:ea typeface="小塚ゴシック Pro M" panose="020B0700000000000000" pitchFamily="34" charset="-128"/>
              <a:cs typeface="Noto Sans JP"/>
              <a:sym typeface="Noto Sans JP"/>
            </a:endParaRPr>
          </a:p>
          <a:p>
            <a:pPr marL="0" marR="0" lvl="0" indent="0" algn="l" rtl="0">
              <a:lnSpc>
                <a:spcPct val="160000"/>
              </a:lnSpc>
              <a:spcBef>
                <a:spcPts val="0"/>
              </a:spcBef>
              <a:spcAft>
                <a:spcPts val="0"/>
              </a:spcAft>
              <a:buNone/>
            </a:pPr>
            <a:r>
              <a:rPr lang="en-US" sz="1200" b="0" i="0" u="none" strike="noStrike" cap="none" dirty="0" err="1">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※分析範囲により変動します。</a:t>
            </a:r>
            <a:endParaRPr dirty="0">
              <a:latin typeface="小塚ゴシック Pro M" panose="020B0700000000000000" pitchFamily="34" charset="-128"/>
              <a:ea typeface="小塚ゴシック Pro M" panose="020B0700000000000000" pitchFamily="34" charset="-128"/>
            </a:endParaRPr>
          </a:p>
        </p:txBody>
      </p:sp>
      <p:sp>
        <p:nvSpPr>
          <p:cNvPr id="548" name="Google Shape;548;p28"/>
          <p:cNvSpPr txBox="1"/>
          <p:nvPr/>
        </p:nvSpPr>
        <p:spPr>
          <a:xfrm>
            <a:off x="5505450" y="1931491"/>
            <a:ext cx="6686700" cy="302519"/>
          </a:xfrm>
          <a:prstGeom prst="rect">
            <a:avLst/>
          </a:prstGeom>
          <a:noFill/>
          <a:ln>
            <a:noFill/>
          </a:ln>
        </p:spPr>
        <p:txBody>
          <a:bodyPr spcFirstLastPara="1" wrap="square" lIns="0" tIns="0" rIns="0" bIns="0" anchor="t" anchorCtr="0">
            <a:spAutoFit/>
          </a:bodyPr>
          <a:lstStyle/>
          <a:p>
            <a:pPr marL="0" marR="0" lvl="0" indent="0" algn="l" rtl="0">
              <a:lnSpc>
                <a:spcPct val="139957"/>
              </a:lnSpc>
              <a:spcBef>
                <a:spcPts val="0"/>
              </a:spcBef>
              <a:spcAft>
                <a:spcPts val="0"/>
              </a:spcAft>
              <a:buNone/>
            </a:pPr>
            <a:r>
              <a:rPr lang="en-US" sz="1404"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提案プランの内容</a:t>
            </a:r>
            <a:endParaRPr>
              <a:latin typeface="小塚ゴシック Pro B" panose="020B0800000000000000" pitchFamily="34" charset="-128"/>
              <a:ea typeface="小塚ゴシック Pro B" panose="020B0800000000000000" pitchFamily="34" charset="-128"/>
            </a:endParaRPr>
          </a:p>
        </p:txBody>
      </p:sp>
      <p:sp>
        <p:nvSpPr>
          <p:cNvPr id="549" name="Google Shape;549;p28"/>
          <p:cNvSpPr txBox="1"/>
          <p:nvPr/>
        </p:nvSpPr>
        <p:spPr>
          <a:xfrm>
            <a:off x="1304925" y="5036804"/>
            <a:ext cx="3181200" cy="184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dirty="0" err="1">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単発 49,800円〜</a:t>
            </a:r>
            <a:endParaRPr dirty="0">
              <a:latin typeface="小塚ゴシック Pro B" panose="020B0800000000000000" pitchFamily="34" charset="-128"/>
              <a:ea typeface="小塚ゴシック Pro B" panose="020B0800000000000000" pitchFamily="34" charset="-128"/>
            </a:endParaRPr>
          </a:p>
        </p:txBody>
      </p:sp>
      <p:sp>
        <p:nvSpPr>
          <p:cNvPr id="550" name="Google Shape;550;p28"/>
          <p:cNvSpPr/>
          <p:nvPr/>
        </p:nvSpPr>
        <p:spPr>
          <a:xfrm>
            <a:off x="5505451" y="2371576"/>
            <a:ext cx="5924550" cy="1181234"/>
          </a:xfrm>
          <a:prstGeom prst="roundRect">
            <a:avLst>
              <a:gd name="adj" fmla="val 4081"/>
            </a:avLst>
          </a:prstGeom>
          <a:solidFill>
            <a:srgbClr val="FFFFFF"/>
          </a:solidFill>
          <a:ln w="9525" cap="flat" cmpd="sng">
            <a:solidFill>
              <a:srgbClr val="EEEEE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551" name="Google Shape;551;p28"/>
          <p:cNvSpPr/>
          <p:nvPr/>
        </p:nvSpPr>
        <p:spPr>
          <a:xfrm>
            <a:off x="5505451" y="3743160"/>
            <a:ext cx="5924550" cy="933600"/>
          </a:xfrm>
          <a:prstGeom prst="roundRect">
            <a:avLst>
              <a:gd name="adj" fmla="val 4081"/>
            </a:avLst>
          </a:prstGeom>
          <a:solidFill>
            <a:srgbClr val="FFFFFF"/>
          </a:solidFill>
          <a:ln w="9525" cap="flat" cmpd="sng">
            <a:solidFill>
              <a:srgbClr val="EEEEE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552" name="Google Shape;552;p28"/>
          <p:cNvSpPr/>
          <p:nvPr/>
        </p:nvSpPr>
        <p:spPr>
          <a:xfrm>
            <a:off x="5505451" y="4867110"/>
            <a:ext cx="5924550" cy="1162200"/>
          </a:xfrm>
          <a:prstGeom prst="roundRect">
            <a:avLst>
              <a:gd name="adj" fmla="val 3278"/>
            </a:avLst>
          </a:prstGeom>
          <a:solidFill>
            <a:srgbClr val="FFFFFF"/>
          </a:solidFill>
          <a:ln w="9525" cap="flat" cmpd="sng">
            <a:solidFill>
              <a:srgbClr val="EEEEE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556" name="Google Shape;556;p28"/>
          <p:cNvSpPr txBox="1"/>
          <p:nvPr/>
        </p:nvSpPr>
        <p:spPr>
          <a:xfrm>
            <a:off x="6276975" y="2876401"/>
            <a:ext cx="4772025" cy="5539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dirty="0" err="1">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共有いただいたデータや競合他社の状況を専門家の視点で深掘り分析します</a:t>
            </a:r>
            <a:r>
              <a:rPr lang="en-US" sz="1200" b="0" i="0" u="none" strike="noStrike" cap="none" dirty="0">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a:t>
            </a:r>
            <a:endParaRPr dirty="0">
              <a:latin typeface="小塚ゴシック Pro M" panose="020B0700000000000000" pitchFamily="34" charset="-128"/>
              <a:ea typeface="小塚ゴシック Pro M" panose="020B0700000000000000" pitchFamily="34" charset="-128"/>
            </a:endParaRPr>
          </a:p>
        </p:txBody>
      </p:sp>
      <p:sp>
        <p:nvSpPr>
          <p:cNvPr id="557" name="Google Shape;557;p28"/>
          <p:cNvSpPr txBox="1"/>
          <p:nvPr/>
        </p:nvSpPr>
        <p:spPr>
          <a:xfrm>
            <a:off x="6276975" y="4247985"/>
            <a:ext cx="4772025" cy="276999"/>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集客とサービス改善の両面から、実行可能な施策を資料化します。</a:t>
            </a:r>
            <a:endParaRPr>
              <a:latin typeface="小塚ゴシック Pro M" panose="020B0700000000000000" pitchFamily="34" charset="-128"/>
              <a:ea typeface="小塚ゴシック Pro M" panose="020B0700000000000000" pitchFamily="34" charset="-128"/>
            </a:endParaRPr>
          </a:p>
        </p:txBody>
      </p:sp>
      <p:sp>
        <p:nvSpPr>
          <p:cNvPr id="558" name="Google Shape;558;p28"/>
          <p:cNvSpPr txBox="1"/>
          <p:nvPr/>
        </p:nvSpPr>
        <p:spPr>
          <a:xfrm>
            <a:off x="6276975" y="5371935"/>
            <a:ext cx="4772025" cy="55399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作成した提案書をもとに、実行に向けた詳細な解説とアドバイスを実施します。</a:t>
            </a:r>
            <a:endParaRPr>
              <a:latin typeface="小塚ゴシック Pro M" panose="020B0700000000000000" pitchFamily="34" charset="-128"/>
              <a:ea typeface="小塚ゴシック Pro M" panose="020B0700000000000000" pitchFamily="34" charset="-128"/>
            </a:endParaRPr>
          </a:p>
        </p:txBody>
      </p:sp>
      <p:pic>
        <p:nvPicPr>
          <p:cNvPr id="559" name="Google Shape;559;p28"/>
          <p:cNvPicPr preferRelativeResize="0"/>
          <p:nvPr/>
        </p:nvPicPr>
        <p:blipFill>
          <a:blip r:embed="rId8">
            <a:alphaModFix/>
          </a:blip>
          <a:stretch>
            <a:fillRect/>
          </a:stretch>
        </p:blipFill>
        <p:spPr>
          <a:xfrm>
            <a:off x="5648415" y="2434301"/>
            <a:ext cx="468732" cy="425129"/>
          </a:xfrm>
          <a:prstGeom prst="rect">
            <a:avLst/>
          </a:prstGeom>
          <a:noFill/>
          <a:ln>
            <a:noFill/>
          </a:ln>
        </p:spPr>
      </p:pic>
      <p:pic>
        <p:nvPicPr>
          <p:cNvPr id="560" name="Google Shape;560;p28"/>
          <p:cNvPicPr preferRelativeResize="0"/>
          <p:nvPr/>
        </p:nvPicPr>
        <p:blipFill>
          <a:blip r:embed="rId9">
            <a:alphaModFix/>
          </a:blip>
          <a:stretch>
            <a:fillRect/>
          </a:stretch>
        </p:blipFill>
        <p:spPr>
          <a:xfrm>
            <a:off x="5694941" y="3755268"/>
            <a:ext cx="375695" cy="425129"/>
          </a:xfrm>
          <a:prstGeom prst="rect">
            <a:avLst/>
          </a:prstGeom>
          <a:noFill/>
          <a:ln>
            <a:noFill/>
          </a:ln>
        </p:spPr>
      </p:pic>
      <p:pic>
        <p:nvPicPr>
          <p:cNvPr id="561" name="Google Shape;561;p28"/>
          <p:cNvPicPr preferRelativeResize="0"/>
          <p:nvPr/>
        </p:nvPicPr>
        <p:blipFill>
          <a:blip r:embed="rId10">
            <a:alphaModFix/>
          </a:blip>
          <a:stretch>
            <a:fillRect/>
          </a:stretch>
        </p:blipFill>
        <p:spPr>
          <a:xfrm>
            <a:off x="5675171" y="4946721"/>
            <a:ext cx="415242" cy="425129"/>
          </a:xfrm>
          <a:prstGeom prst="rect">
            <a:avLst/>
          </a:prstGeom>
          <a:noFill/>
          <a:ln>
            <a:noFill/>
          </a:ln>
        </p:spPr>
      </p:pic>
      <p:sp>
        <p:nvSpPr>
          <p:cNvPr id="562" name="Google Shape;562;p28"/>
          <p:cNvSpPr txBox="1"/>
          <p:nvPr/>
        </p:nvSpPr>
        <p:spPr>
          <a:xfrm>
            <a:off x="6276975" y="2505829"/>
            <a:ext cx="2302500" cy="290849"/>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現状分析・競合リサーチ</a:t>
            </a:r>
            <a:endParaRPr>
              <a:latin typeface="小塚ゴシック Pro B" panose="020B0800000000000000" pitchFamily="34" charset="-128"/>
              <a:ea typeface="小塚ゴシック Pro B" panose="020B0800000000000000" pitchFamily="34" charset="-128"/>
            </a:endParaRPr>
          </a:p>
        </p:txBody>
      </p:sp>
      <p:sp>
        <p:nvSpPr>
          <p:cNvPr id="563" name="Google Shape;563;p28"/>
          <p:cNvSpPr txBox="1"/>
          <p:nvPr/>
        </p:nvSpPr>
        <p:spPr>
          <a:xfrm>
            <a:off x="6276975" y="3884021"/>
            <a:ext cx="2302500" cy="290849"/>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具体的な施策の提案書作成</a:t>
            </a:r>
            <a:endParaRPr>
              <a:latin typeface="小塚ゴシック Pro B" panose="020B0800000000000000" pitchFamily="34" charset="-128"/>
              <a:ea typeface="小塚ゴシック Pro B" panose="020B0800000000000000" pitchFamily="34" charset="-128"/>
            </a:endParaRPr>
          </a:p>
        </p:txBody>
      </p:sp>
      <p:sp>
        <p:nvSpPr>
          <p:cNvPr id="564" name="Google Shape;564;p28"/>
          <p:cNvSpPr txBox="1"/>
          <p:nvPr/>
        </p:nvSpPr>
        <p:spPr>
          <a:xfrm>
            <a:off x="6276975" y="5013704"/>
            <a:ext cx="2302500" cy="290849"/>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提案プレゼン・質疑応答</a:t>
            </a:r>
            <a:endParaRPr>
              <a:latin typeface="小塚ゴシック Pro B" panose="020B0800000000000000" pitchFamily="34" charset="-128"/>
              <a:ea typeface="小塚ゴシック Pro B" panose="020B0800000000000000" pitchFamily="34" charset="-128"/>
            </a:endParaRPr>
          </a:p>
        </p:txBody>
      </p:sp>
      <p:sp>
        <p:nvSpPr>
          <p:cNvPr id="2" name="スライド番号プレースホルダー 14">
            <a:extLst>
              <a:ext uri="{FF2B5EF4-FFF2-40B4-BE49-F238E27FC236}">
                <a16:creationId xmlns:a16="http://schemas.microsoft.com/office/drawing/2014/main" id="{F1C10DE7-9CD4-BE23-74A6-F20F916219D4}"/>
              </a:ext>
            </a:extLst>
          </p:cNvPr>
          <p:cNvSpPr txBox="1">
            <a:spLocks/>
          </p:cNvSpPr>
          <p:nvPr/>
        </p:nvSpPr>
        <p:spPr>
          <a:xfrm>
            <a:off x="8789549" y="6420836"/>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4B6131FB-BBC3-4224-AAE6-4E406EC349F0}" type="slidenum">
              <a:rPr kumimoji="1" lang="ja-JP" altLang="en-US" b="1" smtClean="0">
                <a:solidFill>
                  <a:srgbClr val="2C2C2C"/>
                </a:solidFill>
                <a:latin typeface="小塚ゴシック Pro B" panose="020B0800000000000000" pitchFamily="34" charset="-128"/>
                <a:ea typeface="小塚ゴシック Pro B" panose="020B0800000000000000" pitchFamily="34" charset="-128"/>
              </a:rPr>
              <a:pPr algn="r"/>
              <a:t>16</a:t>
            </a:fld>
            <a:endParaRPr kumimoji="1" lang="ja-JP" altLang="en-US" b="1" dirty="0">
              <a:solidFill>
                <a:srgbClr val="2C2C2C"/>
              </a:solidFill>
              <a:latin typeface="小塚ゴシック Pro B" panose="020B0800000000000000" pitchFamily="34" charset="-128"/>
              <a:ea typeface="小塚ゴシック Pro B" panose="020B0800000000000000" pitchFamily="34" charset="-128"/>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68"/>
        <p:cNvGrpSpPr/>
        <p:nvPr/>
      </p:nvGrpSpPr>
      <p:grpSpPr>
        <a:xfrm>
          <a:off x="0" y="0"/>
          <a:ext cx="0" cy="0"/>
          <a:chOff x="0" y="0"/>
          <a:chExt cx="0" cy="0"/>
        </a:xfrm>
      </p:grpSpPr>
      <p:grpSp>
        <p:nvGrpSpPr>
          <p:cNvPr id="569" name="Google Shape;569;p29"/>
          <p:cNvGrpSpPr/>
          <p:nvPr/>
        </p:nvGrpSpPr>
        <p:grpSpPr>
          <a:xfrm>
            <a:off x="0" y="0"/>
            <a:ext cx="12643324" cy="6976048"/>
            <a:chOff x="0" y="0"/>
            <a:chExt cx="12643324" cy="6976048"/>
          </a:xfrm>
        </p:grpSpPr>
        <p:pic>
          <p:nvPicPr>
            <p:cNvPr id="570" name="Google Shape;570;p29"/>
            <p:cNvPicPr preferRelativeResize="0"/>
            <p:nvPr/>
          </p:nvPicPr>
          <p:blipFill>
            <a:blip r:embed="rId3">
              <a:alphaModFix/>
            </a:blip>
            <a:stretch>
              <a:fillRect/>
            </a:stretch>
          </p:blipFill>
          <p:spPr>
            <a:xfrm>
              <a:off x="0" y="0"/>
              <a:ext cx="12643315" cy="6976048"/>
            </a:xfrm>
            <a:prstGeom prst="rect">
              <a:avLst/>
            </a:prstGeom>
            <a:noFill/>
            <a:ln>
              <a:noFill/>
            </a:ln>
          </p:spPr>
        </p:pic>
        <p:pic>
          <p:nvPicPr>
            <p:cNvPr id="571" name="Google Shape;571;p29"/>
            <p:cNvPicPr preferRelativeResize="0"/>
            <p:nvPr/>
          </p:nvPicPr>
          <p:blipFill rotWithShape="1">
            <a:blip r:embed="rId3">
              <a:alphaModFix/>
            </a:blip>
            <a:srcRect l="88432" t="69407" b="11568"/>
            <a:stretch/>
          </p:blipFill>
          <p:spPr>
            <a:xfrm>
              <a:off x="11180801" y="5648888"/>
              <a:ext cx="1462523" cy="1327158"/>
            </a:xfrm>
            <a:prstGeom prst="rect">
              <a:avLst/>
            </a:prstGeom>
            <a:noFill/>
            <a:ln>
              <a:noFill/>
            </a:ln>
          </p:spPr>
        </p:pic>
      </p:grpSp>
      <p:pic>
        <p:nvPicPr>
          <p:cNvPr id="572" name="Google Shape;572;p29"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pic>
        <p:nvPicPr>
          <p:cNvPr id="573" name="Google Shape;573;p29" descr="image.png"/>
          <p:cNvPicPr preferRelativeResize="0"/>
          <p:nvPr/>
        </p:nvPicPr>
        <p:blipFill rotWithShape="1">
          <a:blip r:embed="rId5">
            <a:alphaModFix/>
          </a:blip>
          <a:srcRect/>
          <a:stretch/>
        </p:blipFill>
        <p:spPr>
          <a:xfrm>
            <a:off x="762000" y="1741000"/>
            <a:ext cx="5143500" cy="4548100"/>
          </a:xfrm>
          <a:prstGeom prst="rect">
            <a:avLst/>
          </a:prstGeom>
          <a:noFill/>
          <a:ln>
            <a:noFill/>
          </a:ln>
        </p:spPr>
      </p:pic>
      <p:pic>
        <p:nvPicPr>
          <p:cNvPr id="574" name="Google Shape;574;p29" descr="image.png"/>
          <p:cNvPicPr preferRelativeResize="0"/>
          <p:nvPr/>
        </p:nvPicPr>
        <p:blipFill rotWithShape="1">
          <a:blip r:embed="rId6">
            <a:alphaModFix/>
          </a:blip>
          <a:srcRect/>
          <a:stretch/>
        </p:blipFill>
        <p:spPr>
          <a:xfrm>
            <a:off x="6286500" y="1741000"/>
            <a:ext cx="5143500" cy="4548100"/>
          </a:xfrm>
          <a:prstGeom prst="rect">
            <a:avLst/>
          </a:prstGeom>
          <a:noFill/>
          <a:ln>
            <a:noFill/>
          </a:ln>
        </p:spPr>
      </p:pic>
      <p:pic>
        <p:nvPicPr>
          <p:cNvPr id="575" name="Google Shape;575;p29" descr="image.png"/>
          <p:cNvPicPr preferRelativeResize="0"/>
          <p:nvPr/>
        </p:nvPicPr>
        <p:blipFill rotWithShape="1">
          <a:blip r:embed="rId7">
            <a:alphaModFix/>
          </a:blip>
          <a:srcRect/>
          <a:stretch/>
        </p:blipFill>
        <p:spPr>
          <a:xfrm>
            <a:off x="6677025" y="5238425"/>
            <a:ext cx="4362450" cy="907287"/>
          </a:xfrm>
          <a:prstGeom prst="rect">
            <a:avLst/>
          </a:prstGeom>
          <a:noFill/>
          <a:ln>
            <a:noFill/>
          </a:ln>
        </p:spPr>
      </p:pic>
      <p:pic>
        <p:nvPicPr>
          <p:cNvPr id="576" name="Google Shape;576;p29" descr="image.png"/>
          <p:cNvPicPr preferRelativeResize="0"/>
          <p:nvPr/>
        </p:nvPicPr>
        <p:blipFill rotWithShape="1">
          <a:blip r:embed="rId8">
            <a:alphaModFix/>
          </a:blip>
          <a:srcRect/>
          <a:stretch/>
        </p:blipFill>
        <p:spPr>
          <a:xfrm>
            <a:off x="0" y="0"/>
            <a:ext cx="12192000" cy="142875"/>
          </a:xfrm>
          <a:prstGeom prst="rect">
            <a:avLst/>
          </a:prstGeom>
          <a:noFill/>
          <a:ln>
            <a:noFill/>
          </a:ln>
        </p:spPr>
      </p:pic>
      <p:sp>
        <p:nvSpPr>
          <p:cNvPr id="577" name="Google Shape;577;p29"/>
          <p:cNvSpPr txBox="1"/>
          <p:nvPr/>
        </p:nvSpPr>
        <p:spPr>
          <a:xfrm>
            <a:off x="762000" y="571500"/>
            <a:ext cx="10668000"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a:solidFill>
                  <a:srgbClr val="C5A059"/>
                </a:solidFill>
                <a:latin typeface="小塚ゴシック Pro B" panose="020B0800000000000000" pitchFamily="34" charset="-128"/>
                <a:ea typeface="小塚ゴシック Pro B" panose="020B0800000000000000" pitchFamily="34" charset="-128"/>
                <a:cs typeface="Lato"/>
                <a:sym typeface="Lato"/>
              </a:rPr>
              <a:t>PROSPECTIVE CLIENTS &amp; PARTNERS</a:t>
            </a:r>
            <a:endParaRPr>
              <a:latin typeface="小塚ゴシック Pro B" panose="020B0800000000000000" pitchFamily="34" charset="-128"/>
              <a:ea typeface="小塚ゴシック Pro B" panose="020B0800000000000000" pitchFamily="34" charset="-128"/>
            </a:endParaRPr>
          </a:p>
        </p:txBody>
      </p:sp>
      <p:sp>
        <p:nvSpPr>
          <p:cNvPr id="578" name="Google Shape;578;p29"/>
          <p:cNvSpPr txBox="1"/>
          <p:nvPr/>
        </p:nvSpPr>
        <p:spPr>
          <a:xfrm>
            <a:off x="762000" y="880020"/>
            <a:ext cx="11201400" cy="581698"/>
          </a:xfrm>
          <a:prstGeom prst="rect">
            <a:avLst/>
          </a:prstGeom>
          <a:noFill/>
          <a:ln>
            <a:noFill/>
          </a:ln>
        </p:spPr>
        <p:txBody>
          <a:bodyPr spcFirstLastPara="1" wrap="square" lIns="0" tIns="0" rIns="0" bIns="0" anchor="t" anchorCtr="0">
            <a:spAutoFit/>
          </a:bodyPr>
          <a:lstStyle/>
          <a:p>
            <a:pPr marL="0" marR="0" lvl="0" indent="0" algn="l" rtl="0">
              <a:lnSpc>
                <a:spcPct val="139962"/>
              </a:lnSpc>
              <a:spcBef>
                <a:spcPts val="0"/>
              </a:spcBef>
              <a:spcAft>
                <a:spcPts val="0"/>
              </a:spcAft>
              <a:buNone/>
            </a:pPr>
            <a:r>
              <a:rPr lang="en-US" sz="27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ご紹介いただきたい方</a:t>
            </a:r>
            <a:endParaRPr>
              <a:latin typeface="小塚ゴシック Pro B" panose="020B0800000000000000" pitchFamily="34" charset="-128"/>
              <a:ea typeface="小塚ゴシック Pro B" panose="020B0800000000000000" pitchFamily="34" charset="-128"/>
            </a:endParaRPr>
          </a:p>
        </p:txBody>
      </p:sp>
      <p:sp>
        <p:nvSpPr>
          <p:cNvPr id="579" name="Google Shape;579;p29"/>
          <p:cNvSpPr txBox="1"/>
          <p:nvPr/>
        </p:nvSpPr>
        <p:spPr>
          <a:xfrm>
            <a:off x="762000" y="6534150"/>
            <a:ext cx="1651099"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99999"/>
                </a:solidFill>
                <a:latin typeface="Lato"/>
                <a:ea typeface="Lato"/>
                <a:cs typeface="Lato"/>
                <a:sym typeface="Lato"/>
              </a:rPr>
              <a:t>© U-Writing All Rights Reserved.</a:t>
            </a:r>
            <a:endParaRPr/>
          </a:p>
        </p:txBody>
      </p:sp>
      <p:sp>
        <p:nvSpPr>
          <p:cNvPr id="581" name="Google Shape;581;p29"/>
          <p:cNvSpPr txBox="1"/>
          <p:nvPr/>
        </p:nvSpPr>
        <p:spPr>
          <a:xfrm>
            <a:off x="1502866" y="2183516"/>
            <a:ext cx="4012108"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見込み客（クライアント）</a:t>
            </a:r>
            <a:endParaRPr>
              <a:latin typeface="小塚ゴシック Pro B" panose="020B0800000000000000" pitchFamily="34" charset="-128"/>
              <a:ea typeface="小塚ゴシック Pro B" panose="020B0800000000000000" pitchFamily="34" charset="-128"/>
            </a:endParaRPr>
          </a:p>
        </p:txBody>
      </p:sp>
      <p:sp>
        <p:nvSpPr>
          <p:cNvPr id="582" name="Google Shape;582;p29"/>
          <p:cNvSpPr txBox="1"/>
          <p:nvPr/>
        </p:nvSpPr>
        <p:spPr>
          <a:xfrm>
            <a:off x="1152525" y="2705929"/>
            <a:ext cx="4362600" cy="5909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「集客」や「制作」が追いついていない経営者様や担当者様をご紹介ください。</a:t>
            </a:r>
            <a:endParaRPr>
              <a:latin typeface="小塚ゴシック Pro M" panose="020B0700000000000000" pitchFamily="34" charset="-128"/>
              <a:ea typeface="小塚ゴシック Pro M" panose="020B0700000000000000" pitchFamily="34" charset="-128"/>
            </a:endParaRPr>
          </a:p>
        </p:txBody>
      </p:sp>
      <p:sp>
        <p:nvSpPr>
          <p:cNvPr id="583" name="Google Shape;583;p29"/>
          <p:cNvSpPr txBox="1"/>
          <p:nvPr/>
        </p:nvSpPr>
        <p:spPr>
          <a:xfrm>
            <a:off x="7027366" y="2183516"/>
            <a:ext cx="4012108" cy="276999"/>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8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協業パートナー</a:t>
            </a:r>
            <a:endParaRPr>
              <a:latin typeface="小塚ゴシック Pro B" panose="020B0800000000000000" pitchFamily="34" charset="-128"/>
              <a:ea typeface="小塚ゴシック Pro B" panose="020B0800000000000000" pitchFamily="34" charset="-128"/>
            </a:endParaRPr>
          </a:p>
        </p:txBody>
      </p:sp>
      <p:sp>
        <p:nvSpPr>
          <p:cNvPr id="584" name="Google Shape;584;p29"/>
          <p:cNvSpPr txBox="1"/>
          <p:nvPr/>
        </p:nvSpPr>
        <p:spPr>
          <a:xfrm>
            <a:off x="6677025" y="2705929"/>
            <a:ext cx="4362600" cy="5909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クライアント様の満足度向上や、業務効率化のために協業できるパートナー様を募集しています。</a:t>
            </a:r>
            <a:endParaRPr>
              <a:latin typeface="小塚ゴシック Pro M" panose="020B0700000000000000" pitchFamily="34" charset="-128"/>
              <a:ea typeface="小塚ゴシック Pro M" panose="020B0700000000000000" pitchFamily="34" charset="-128"/>
            </a:endParaRPr>
          </a:p>
        </p:txBody>
      </p:sp>
      <p:pic>
        <p:nvPicPr>
          <p:cNvPr id="585" name="Google Shape;585;p29" descr="image.png"/>
          <p:cNvPicPr preferRelativeResize="0"/>
          <p:nvPr/>
        </p:nvPicPr>
        <p:blipFill rotWithShape="1">
          <a:blip r:embed="rId9">
            <a:alphaModFix/>
          </a:blip>
          <a:srcRect/>
          <a:stretch/>
        </p:blipFill>
        <p:spPr>
          <a:xfrm>
            <a:off x="1152525" y="2188666"/>
            <a:ext cx="207466" cy="266700"/>
          </a:xfrm>
          <a:prstGeom prst="rect">
            <a:avLst/>
          </a:prstGeom>
          <a:noFill/>
          <a:ln>
            <a:noFill/>
          </a:ln>
        </p:spPr>
      </p:pic>
      <p:sp>
        <p:nvSpPr>
          <p:cNvPr id="586" name="Google Shape;586;p29"/>
          <p:cNvSpPr txBox="1"/>
          <p:nvPr/>
        </p:nvSpPr>
        <p:spPr>
          <a:xfrm>
            <a:off x="1343025" y="3472625"/>
            <a:ext cx="4659000" cy="415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美容・健康</a:t>
            </a:r>
            <a:r>
              <a:rPr lang="en-US" sz="1350" b="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商品やサービスを提供する</a:t>
            </a:r>
            <a:r>
              <a:rPr lang="en-US" sz="1350" b="1" i="0" u="none" strike="noStrike" cap="none">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企業・個人事業主</a:t>
            </a:r>
            <a:br>
              <a:rPr lang="en-US" sz="1800" b="0" i="0" u="none" strike="noStrike" cap="none">
                <a:solidFill>
                  <a:schemeClr val="dk1"/>
                </a:solidFill>
                <a:latin typeface="小塚ゴシック Pro M" panose="020B0700000000000000" pitchFamily="34" charset="-128"/>
                <a:ea typeface="小塚ゴシック Pro M" panose="020B0700000000000000" pitchFamily="34" charset="-128"/>
                <a:cs typeface="Calibri"/>
                <a:sym typeface="Calibri"/>
              </a:rPr>
            </a:br>
            <a:r>
              <a:rPr lang="en-US" sz="1350" b="0" i="0" u="none" strike="noStrike" cap="none">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（美容サロン、整体院、医療クリニック、健康食品など）</a:t>
            </a:r>
            <a:endParaRPr>
              <a:latin typeface="小塚ゴシック Pro M" panose="020B0700000000000000" pitchFamily="34" charset="-128"/>
              <a:ea typeface="小塚ゴシック Pro M" panose="020B0700000000000000" pitchFamily="34" charset="-128"/>
            </a:endParaRPr>
          </a:p>
        </p:txBody>
      </p:sp>
      <p:sp>
        <p:nvSpPr>
          <p:cNvPr id="587" name="Google Shape;587;p29"/>
          <p:cNvSpPr txBox="1"/>
          <p:nvPr/>
        </p:nvSpPr>
        <p:spPr>
          <a:xfrm>
            <a:off x="1343025" y="4015552"/>
            <a:ext cx="4172100" cy="2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集客</a:t>
            </a:r>
            <a:r>
              <a:rPr lang="en-US" sz="1350" b="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活動</a:t>
            </a:r>
            <a:r>
              <a:rPr lang="en-US" sz="1350" b="1" i="0" u="none" strike="noStrike" cap="none">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の成果が</a:t>
            </a:r>
            <a:r>
              <a:rPr lang="en-US" sz="1350" b="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思うように出せない</a:t>
            </a:r>
            <a:r>
              <a:rPr lang="en-US" sz="1350" b="1" i="0" u="none" strike="noStrike" cap="none">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方</a:t>
            </a:r>
            <a:endParaRPr>
              <a:latin typeface="小塚ゴシック Pro M" panose="020B0700000000000000" pitchFamily="34" charset="-128"/>
              <a:ea typeface="小塚ゴシック Pro M" panose="020B0700000000000000" pitchFamily="34" charset="-128"/>
            </a:endParaRPr>
          </a:p>
        </p:txBody>
      </p:sp>
      <p:sp>
        <p:nvSpPr>
          <p:cNvPr id="588" name="Google Shape;588;p29"/>
          <p:cNvSpPr txBox="1"/>
          <p:nvPr/>
        </p:nvSpPr>
        <p:spPr>
          <a:xfrm>
            <a:off x="1343025" y="4358452"/>
            <a:ext cx="4172100" cy="2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制作物の修正や新規作成にリソースが割けない方</a:t>
            </a:r>
            <a:endParaRPr>
              <a:latin typeface="小塚ゴシック Pro M" panose="020B0700000000000000" pitchFamily="34" charset="-128"/>
              <a:ea typeface="小塚ゴシック Pro M" panose="020B0700000000000000" pitchFamily="34" charset="-128"/>
            </a:endParaRPr>
          </a:p>
        </p:txBody>
      </p:sp>
      <p:sp>
        <p:nvSpPr>
          <p:cNvPr id="589" name="Google Shape;589;p29"/>
          <p:cNvSpPr txBox="1"/>
          <p:nvPr/>
        </p:nvSpPr>
        <p:spPr>
          <a:xfrm>
            <a:off x="1343025" y="4701352"/>
            <a:ext cx="4172100" cy="2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薬機法を考慮した表現が必要な方</a:t>
            </a:r>
            <a:endParaRPr>
              <a:latin typeface="小塚ゴシック Pro M" panose="020B0700000000000000" pitchFamily="34" charset="-128"/>
              <a:ea typeface="小塚ゴシック Pro M" panose="020B0700000000000000" pitchFamily="34" charset="-128"/>
            </a:endParaRPr>
          </a:p>
        </p:txBody>
      </p:sp>
      <p:pic>
        <p:nvPicPr>
          <p:cNvPr id="590" name="Google Shape;590;p29" descr="image.png"/>
          <p:cNvPicPr preferRelativeResize="0"/>
          <p:nvPr/>
        </p:nvPicPr>
        <p:blipFill rotWithShape="1">
          <a:blip r:embed="rId10">
            <a:alphaModFix/>
          </a:blip>
          <a:srcRect/>
          <a:stretch/>
        </p:blipFill>
        <p:spPr>
          <a:xfrm>
            <a:off x="6677025" y="2188666"/>
            <a:ext cx="207466" cy="266700"/>
          </a:xfrm>
          <a:prstGeom prst="rect">
            <a:avLst/>
          </a:prstGeom>
          <a:noFill/>
          <a:ln>
            <a:noFill/>
          </a:ln>
        </p:spPr>
      </p:pic>
      <p:sp>
        <p:nvSpPr>
          <p:cNvPr id="591" name="Google Shape;591;p29"/>
          <p:cNvSpPr txBox="1"/>
          <p:nvPr/>
        </p:nvSpPr>
        <p:spPr>
          <a:xfrm>
            <a:off x="6867525" y="3472627"/>
            <a:ext cx="4172100" cy="2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Web制作会社</a:t>
            </a:r>
            <a:endParaRPr>
              <a:latin typeface="小塚ゴシック Pro M" panose="020B0700000000000000" pitchFamily="34" charset="-128"/>
              <a:ea typeface="小塚ゴシック Pro M" panose="020B0700000000000000" pitchFamily="34" charset="-128"/>
            </a:endParaRPr>
          </a:p>
        </p:txBody>
      </p:sp>
      <p:sp>
        <p:nvSpPr>
          <p:cNvPr id="592" name="Google Shape;592;p29"/>
          <p:cNvSpPr txBox="1"/>
          <p:nvPr/>
        </p:nvSpPr>
        <p:spPr>
          <a:xfrm>
            <a:off x="6867525" y="3815527"/>
            <a:ext cx="4172100" cy="2079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sz="1350" b="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経営・財務コンサルタント</a:t>
            </a:r>
            <a:endParaRPr sz="1350" b="1">
              <a:solidFill>
                <a:srgbClr val="333333"/>
              </a:solidFill>
              <a:latin typeface="小塚ゴシック Pro M" panose="020B0700000000000000" pitchFamily="34" charset="-128"/>
              <a:ea typeface="小塚ゴシック Pro M" panose="020B0700000000000000" pitchFamily="34" charset="-128"/>
              <a:cs typeface="Noto Sans JP"/>
              <a:sym typeface="Noto Sans JP"/>
            </a:endParaRPr>
          </a:p>
        </p:txBody>
      </p:sp>
      <p:sp>
        <p:nvSpPr>
          <p:cNvPr id="593" name="Google Shape;593;p29"/>
          <p:cNvSpPr txBox="1"/>
          <p:nvPr/>
        </p:nvSpPr>
        <p:spPr>
          <a:xfrm>
            <a:off x="6867525" y="4158427"/>
            <a:ext cx="4172100" cy="2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医療・美容機器ディーラー</a:t>
            </a:r>
            <a:endParaRPr>
              <a:latin typeface="小塚ゴシック Pro M" panose="020B0700000000000000" pitchFamily="34" charset="-128"/>
              <a:ea typeface="小塚ゴシック Pro M" panose="020B0700000000000000" pitchFamily="34" charset="-128"/>
            </a:endParaRPr>
          </a:p>
        </p:txBody>
      </p:sp>
      <p:sp>
        <p:nvSpPr>
          <p:cNvPr id="594" name="Google Shape;594;p29"/>
          <p:cNvSpPr txBox="1"/>
          <p:nvPr/>
        </p:nvSpPr>
        <p:spPr>
          <a:xfrm>
            <a:off x="6819900" y="5381302"/>
            <a:ext cx="4076700" cy="1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2C2C2C"/>
                </a:solidFill>
                <a:latin typeface="小塚ゴシック Pro M" panose="020B0700000000000000" pitchFamily="34" charset="-128"/>
                <a:ea typeface="小塚ゴシック Pro M" panose="020B0700000000000000" pitchFamily="34" charset="-128"/>
                <a:cs typeface="Noto Sans JP"/>
                <a:sym typeface="Noto Sans JP"/>
              </a:rPr>
              <a:t>協業メリット</a:t>
            </a:r>
            <a:endParaRPr>
              <a:latin typeface="小塚ゴシック Pro M" panose="020B0700000000000000" pitchFamily="34" charset="-128"/>
              <a:ea typeface="小塚ゴシック Pro M" panose="020B0700000000000000" pitchFamily="34" charset="-128"/>
            </a:endParaRPr>
          </a:p>
        </p:txBody>
      </p:sp>
      <p:sp>
        <p:nvSpPr>
          <p:cNvPr id="595" name="Google Shape;595;p29"/>
          <p:cNvSpPr txBox="1"/>
          <p:nvPr/>
        </p:nvSpPr>
        <p:spPr>
          <a:xfrm>
            <a:off x="6819900" y="5628950"/>
            <a:ext cx="4076700" cy="452400"/>
          </a:xfrm>
          <a:prstGeom prst="rect">
            <a:avLst/>
          </a:prstGeom>
          <a:noFill/>
          <a:ln>
            <a:noFill/>
          </a:ln>
        </p:spPr>
        <p:txBody>
          <a:bodyPr spcFirstLastPara="1" wrap="square" lIns="0" tIns="0" rIns="0" bIns="0" anchor="t" anchorCtr="0">
            <a:spAutoFit/>
          </a:bodyPr>
          <a:lstStyle/>
          <a:p>
            <a:pPr marL="0" marR="0" lvl="0" indent="0" algn="l" rtl="0">
              <a:lnSpc>
                <a:spcPct val="93277"/>
              </a:lnSpc>
              <a:spcBef>
                <a:spcPts val="0"/>
              </a:spcBef>
              <a:spcAft>
                <a:spcPts val="0"/>
              </a:spcAft>
              <a:buNone/>
            </a:pPr>
            <a:r>
              <a:rPr lang="en-US" sz="1050" b="0" i="0" u="none" strike="noStrike" cap="none" dirty="0">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a:t>
            </a:r>
            <a:r>
              <a:rPr lang="en-US" sz="1050" b="0" i="0" u="none" strike="noStrike" cap="none" dirty="0" err="1">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ライティング工程の丸投げで工数削減</a:t>
            </a:r>
            <a:br>
              <a:rPr lang="en-US" sz="1800" b="0" i="0" u="none" strike="noStrike" cap="none" dirty="0">
                <a:solidFill>
                  <a:schemeClr val="dk1"/>
                </a:solidFill>
                <a:latin typeface="小塚ゴシック Pro M" panose="020B0700000000000000" pitchFamily="34" charset="-128"/>
                <a:ea typeface="小塚ゴシック Pro M" panose="020B0700000000000000" pitchFamily="34" charset="-128"/>
                <a:cs typeface="Calibri"/>
                <a:sym typeface="Calibri"/>
              </a:rPr>
            </a:br>
            <a:r>
              <a:rPr lang="en-US" sz="1050" b="0" i="0" u="none" strike="noStrike" cap="none" dirty="0">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a:t>
            </a:r>
            <a:r>
              <a:rPr lang="en-US" sz="1050" b="0" i="0" u="none" strike="noStrike" cap="none" dirty="0" err="1">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薬機法対応による信頼性向上</a:t>
            </a:r>
            <a:br>
              <a:rPr lang="en-US" sz="1800" b="0" i="0" u="none" strike="noStrike" cap="none" dirty="0">
                <a:solidFill>
                  <a:schemeClr val="dk1"/>
                </a:solidFill>
                <a:latin typeface="小塚ゴシック Pro M" panose="020B0700000000000000" pitchFamily="34" charset="-128"/>
                <a:ea typeface="小塚ゴシック Pro M" panose="020B0700000000000000" pitchFamily="34" charset="-128"/>
                <a:cs typeface="Calibri"/>
                <a:sym typeface="Calibri"/>
              </a:rPr>
            </a:br>
            <a:r>
              <a:rPr lang="en-US" sz="1050" b="0" i="0" u="none" strike="noStrike" cap="none" dirty="0">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a:t>
            </a:r>
            <a:r>
              <a:rPr lang="en-US" sz="1050" b="0" i="0" u="none" strike="noStrike" cap="none" dirty="0" err="1">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クライアントへの付加価値提供</a:t>
            </a:r>
            <a:endParaRPr dirty="0">
              <a:latin typeface="小塚ゴシック Pro M" panose="020B0700000000000000" pitchFamily="34" charset="-128"/>
              <a:ea typeface="小塚ゴシック Pro M" panose="020B0700000000000000" pitchFamily="34" charset="-128"/>
            </a:endParaRPr>
          </a:p>
        </p:txBody>
      </p:sp>
      <p:sp>
        <p:nvSpPr>
          <p:cNvPr id="596" name="Google Shape;596;p29"/>
          <p:cNvSpPr txBox="1"/>
          <p:nvPr/>
        </p:nvSpPr>
        <p:spPr>
          <a:xfrm>
            <a:off x="1152525" y="3444052"/>
            <a:ext cx="762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a:t>
            </a:r>
            <a:endParaRPr>
              <a:latin typeface="小塚ゴシック Pro B" panose="020B0800000000000000" pitchFamily="34" charset="-128"/>
              <a:ea typeface="小塚ゴシック Pro B" panose="020B0800000000000000" pitchFamily="34" charset="-128"/>
            </a:endParaRPr>
          </a:p>
        </p:txBody>
      </p:sp>
      <p:sp>
        <p:nvSpPr>
          <p:cNvPr id="597" name="Google Shape;597;p29"/>
          <p:cNvSpPr txBox="1"/>
          <p:nvPr/>
        </p:nvSpPr>
        <p:spPr>
          <a:xfrm>
            <a:off x="1152525" y="3986977"/>
            <a:ext cx="762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a:t>
            </a:r>
            <a:endParaRPr>
              <a:latin typeface="小塚ゴシック Pro B" panose="020B0800000000000000" pitchFamily="34" charset="-128"/>
              <a:ea typeface="小塚ゴシック Pro B" panose="020B0800000000000000" pitchFamily="34" charset="-128"/>
            </a:endParaRPr>
          </a:p>
        </p:txBody>
      </p:sp>
      <p:sp>
        <p:nvSpPr>
          <p:cNvPr id="598" name="Google Shape;598;p29"/>
          <p:cNvSpPr txBox="1"/>
          <p:nvPr/>
        </p:nvSpPr>
        <p:spPr>
          <a:xfrm>
            <a:off x="1152525" y="4329877"/>
            <a:ext cx="762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a:t>
            </a:r>
            <a:endParaRPr>
              <a:latin typeface="小塚ゴシック Pro B" panose="020B0800000000000000" pitchFamily="34" charset="-128"/>
              <a:ea typeface="小塚ゴシック Pro B" panose="020B0800000000000000" pitchFamily="34" charset="-128"/>
            </a:endParaRPr>
          </a:p>
        </p:txBody>
      </p:sp>
      <p:sp>
        <p:nvSpPr>
          <p:cNvPr id="599" name="Google Shape;599;p29"/>
          <p:cNvSpPr txBox="1"/>
          <p:nvPr/>
        </p:nvSpPr>
        <p:spPr>
          <a:xfrm>
            <a:off x="1152525" y="4672777"/>
            <a:ext cx="762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a:t>
            </a:r>
            <a:endParaRPr>
              <a:latin typeface="小塚ゴシック Pro B" panose="020B0800000000000000" pitchFamily="34" charset="-128"/>
              <a:ea typeface="小塚ゴシック Pro B" panose="020B0800000000000000" pitchFamily="34" charset="-128"/>
            </a:endParaRPr>
          </a:p>
        </p:txBody>
      </p:sp>
      <p:sp>
        <p:nvSpPr>
          <p:cNvPr id="600" name="Google Shape;600;p29"/>
          <p:cNvSpPr txBox="1"/>
          <p:nvPr/>
        </p:nvSpPr>
        <p:spPr>
          <a:xfrm>
            <a:off x="6677025" y="3444052"/>
            <a:ext cx="762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a:t>
            </a:r>
            <a:endParaRPr>
              <a:latin typeface="小塚ゴシック Pro B" panose="020B0800000000000000" pitchFamily="34" charset="-128"/>
              <a:ea typeface="小塚ゴシック Pro B" panose="020B0800000000000000" pitchFamily="34" charset="-128"/>
            </a:endParaRPr>
          </a:p>
        </p:txBody>
      </p:sp>
      <p:sp>
        <p:nvSpPr>
          <p:cNvPr id="601" name="Google Shape;601;p29"/>
          <p:cNvSpPr txBox="1"/>
          <p:nvPr/>
        </p:nvSpPr>
        <p:spPr>
          <a:xfrm>
            <a:off x="6677025" y="3786952"/>
            <a:ext cx="762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a:t>
            </a:r>
            <a:endParaRPr>
              <a:latin typeface="小塚ゴシック Pro B" panose="020B0800000000000000" pitchFamily="34" charset="-128"/>
              <a:ea typeface="小塚ゴシック Pro B" panose="020B0800000000000000" pitchFamily="34" charset="-128"/>
            </a:endParaRPr>
          </a:p>
        </p:txBody>
      </p:sp>
      <p:sp>
        <p:nvSpPr>
          <p:cNvPr id="602" name="Google Shape;602;p29"/>
          <p:cNvSpPr txBox="1"/>
          <p:nvPr/>
        </p:nvSpPr>
        <p:spPr>
          <a:xfrm>
            <a:off x="6677025" y="4129852"/>
            <a:ext cx="762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a:t>
            </a:r>
            <a:endParaRPr>
              <a:latin typeface="小塚ゴシック Pro B" panose="020B0800000000000000" pitchFamily="34" charset="-128"/>
              <a:ea typeface="小塚ゴシック Pro B" panose="020B0800000000000000" pitchFamily="34" charset="-128"/>
            </a:endParaRPr>
          </a:p>
        </p:txBody>
      </p:sp>
      <p:sp>
        <p:nvSpPr>
          <p:cNvPr id="603" name="Google Shape;603;p29"/>
          <p:cNvSpPr txBox="1"/>
          <p:nvPr/>
        </p:nvSpPr>
        <p:spPr>
          <a:xfrm>
            <a:off x="1343025" y="5044250"/>
            <a:ext cx="3067200" cy="415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AIや制作会社に広告制作を依頼しても</a:t>
            </a:r>
            <a:endParaRPr sz="1350" b="1">
              <a:solidFill>
                <a:srgbClr val="333333"/>
              </a:solidFill>
              <a:latin typeface="小塚ゴシック Pro M" panose="020B0700000000000000" pitchFamily="34" charset="-128"/>
              <a:ea typeface="小塚ゴシック Pro M" panose="020B0700000000000000" pitchFamily="34" charset="-128"/>
              <a:cs typeface="Noto Sans JP"/>
              <a:sym typeface="Noto Sans JP"/>
            </a:endParaRPr>
          </a:p>
          <a:p>
            <a:pPr marL="0" marR="0" lvl="0" indent="0" algn="l" rtl="0">
              <a:spcBef>
                <a:spcPts val="0"/>
              </a:spcBef>
              <a:spcAft>
                <a:spcPts val="0"/>
              </a:spcAft>
              <a:buNone/>
            </a:pPr>
            <a:r>
              <a:rPr lang="en-US" sz="1350" b="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集客につながらない方</a:t>
            </a:r>
            <a:endParaRPr>
              <a:latin typeface="小塚ゴシック Pro M" panose="020B0700000000000000" pitchFamily="34" charset="-128"/>
              <a:ea typeface="小塚ゴシック Pro M" panose="020B0700000000000000" pitchFamily="34" charset="-128"/>
            </a:endParaRPr>
          </a:p>
        </p:txBody>
      </p:sp>
      <p:sp>
        <p:nvSpPr>
          <p:cNvPr id="604" name="Google Shape;604;p29"/>
          <p:cNvSpPr txBox="1"/>
          <p:nvPr/>
        </p:nvSpPr>
        <p:spPr>
          <a:xfrm>
            <a:off x="1152525" y="5015677"/>
            <a:ext cx="762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a:t>
            </a:r>
            <a:endParaRPr>
              <a:latin typeface="小塚ゴシック Pro B" panose="020B0800000000000000" pitchFamily="34" charset="-128"/>
              <a:ea typeface="小塚ゴシック Pro B" panose="020B0800000000000000" pitchFamily="34" charset="-128"/>
            </a:endParaRPr>
          </a:p>
        </p:txBody>
      </p:sp>
      <p:sp>
        <p:nvSpPr>
          <p:cNvPr id="605" name="Google Shape;605;p29"/>
          <p:cNvSpPr txBox="1"/>
          <p:nvPr/>
        </p:nvSpPr>
        <p:spPr>
          <a:xfrm>
            <a:off x="6867525" y="4533227"/>
            <a:ext cx="4237076" cy="20774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レンタルスペース運営者・店舗物件中心の不動産仲介</a:t>
            </a:r>
            <a:endParaRPr dirty="0">
              <a:latin typeface="小塚ゴシック Pro M" panose="020B0700000000000000" pitchFamily="34" charset="-128"/>
              <a:ea typeface="小塚ゴシック Pro M" panose="020B0700000000000000" pitchFamily="34" charset="-128"/>
            </a:endParaRPr>
          </a:p>
        </p:txBody>
      </p:sp>
      <p:sp>
        <p:nvSpPr>
          <p:cNvPr id="606" name="Google Shape;606;p29"/>
          <p:cNvSpPr txBox="1"/>
          <p:nvPr/>
        </p:nvSpPr>
        <p:spPr>
          <a:xfrm>
            <a:off x="6677025" y="4504652"/>
            <a:ext cx="762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dirty="0">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a:t>
            </a:r>
            <a:endParaRPr dirty="0">
              <a:latin typeface="小塚ゴシック Pro B" panose="020B0800000000000000" pitchFamily="34" charset="-128"/>
              <a:ea typeface="小塚ゴシック Pro B" panose="020B0800000000000000" pitchFamily="34" charset="-128"/>
            </a:endParaRPr>
          </a:p>
        </p:txBody>
      </p:sp>
      <p:sp>
        <p:nvSpPr>
          <p:cNvPr id="607" name="Google Shape;607;p29"/>
          <p:cNvSpPr txBox="1"/>
          <p:nvPr/>
        </p:nvSpPr>
        <p:spPr>
          <a:xfrm>
            <a:off x="6867525" y="4881129"/>
            <a:ext cx="4172100" cy="2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経営者コミュニティ・マッチングサービス運営者</a:t>
            </a:r>
            <a:endParaRPr>
              <a:latin typeface="小塚ゴシック Pro M" panose="020B0700000000000000" pitchFamily="34" charset="-128"/>
              <a:ea typeface="小塚ゴシック Pro M" panose="020B0700000000000000" pitchFamily="34" charset="-128"/>
            </a:endParaRPr>
          </a:p>
        </p:txBody>
      </p:sp>
      <p:sp>
        <p:nvSpPr>
          <p:cNvPr id="608" name="Google Shape;608;p29"/>
          <p:cNvSpPr txBox="1"/>
          <p:nvPr/>
        </p:nvSpPr>
        <p:spPr>
          <a:xfrm>
            <a:off x="6677025" y="4852554"/>
            <a:ext cx="76200" cy="27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800" b="1" i="0" u="none" strike="noStrike" cap="none">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a:t>
            </a:r>
            <a:endParaRPr>
              <a:latin typeface="小塚ゴシック Pro B" panose="020B0800000000000000" pitchFamily="34" charset="-128"/>
              <a:ea typeface="小塚ゴシック Pro B" panose="020B0800000000000000" pitchFamily="34" charset="-128"/>
            </a:endParaRPr>
          </a:p>
        </p:txBody>
      </p:sp>
      <p:sp>
        <p:nvSpPr>
          <p:cNvPr id="2" name="スライド番号プレースホルダー 14">
            <a:extLst>
              <a:ext uri="{FF2B5EF4-FFF2-40B4-BE49-F238E27FC236}">
                <a16:creationId xmlns:a16="http://schemas.microsoft.com/office/drawing/2014/main" id="{58A34867-441F-C04C-963D-93807D46194D}"/>
              </a:ext>
            </a:extLst>
          </p:cNvPr>
          <p:cNvSpPr txBox="1">
            <a:spLocks/>
          </p:cNvSpPr>
          <p:nvPr/>
        </p:nvSpPr>
        <p:spPr>
          <a:xfrm>
            <a:off x="8789549" y="6420836"/>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4B6131FB-BBC3-4224-AAE6-4E406EC349F0}" type="slidenum">
              <a:rPr kumimoji="1" lang="ja-JP" altLang="en-US" b="1" smtClean="0">
                <a:solidFill>
                  <a:srgbClr val="2C2C2C"/>
                </a:solidFill>
                <a:latin typeface="小塚ゴシック Pro B" panose="020B0800000000000000" pitchFamily="34" charset="-128"/>
                <a:ea typeface="小塚ゴシック Pro B" panose="020B0800000000000000" pitchFamily="34" charset="-128"/>
              </a:rPr>
              <a:pPr algn="r"/>
              <a:t>17</a:t>
            </a:fld>
            <a:endParaRPr kumimoji="1" lang="ja-JP" altLang="en-US" b="1" dirty="0">
              <a:solidFill>
                <a:srgbClr val="2C2C2C"/>
              </a:solidFill>
              <a:latin typeface="小塚ゴシック Pro B" panose="020B0800000000000000" pitchFamily="34" charset="-128"/>
              <a:ea typeface="小塚ゴシック Pro B" panose="020B0800000000000000" pitchFamily="34" charset="-128"/>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12"/>
        <p:cNvGrpSpPr/>
        <p:nvPr/>
      </p:nvGrpSpPr>
      <p:grpSpPr>
        <a:xfrm>
          <a:off x="0" y="0"/>
          <a:ext cx="0" cy="0"/>
          <a:chOff x="0" y="0"/>
          <a:chExt cx="0" cy="0"/>
        </a:xfrm>
      </p:grpSpPr>
      <p:grpSp>
        <p:nvGrpSpPr>
          <p:cNvPr id="613" name="Google Shape;613;p30"/>
          <p:cNvGrpSpPr/>
          <p:nvPr/>
        </p:nvGrpSpPr>
        <p:grpSpPr>
          <a:xfrm>
            <a:off x="0" y="0"/>
            <a:ext cx="12643324" cy="6976048"/>
            <a:chOff x="0" y="0"/>
            <a:chExt cx="12643324" cy="6976048"/>
          </a:xfrm>
        </p:grpSpPr>
        <p:pic>
          <p:nvPicPr>
            <p:cNvPr id="614" name="Google Shape;614;p30"/>
            <p:cNvPicPr preferRelativeResize="0"/>
            <p:nvPr/>
          </p:nvPicPr>
          <p:blipFill>
            <a:blip r:embed="rId3">
              <a:alphaModFix/>
            </a:blip>
            <a:stretch>
              <a:fillRect/>
            </a:stretch>
          </p:blipFill>
          <p:spPr>
            <a:xfrm>
              <a:off x="0" y="0"/>
              <a:ext cx="12643315" cy="6976048"/>
            </a:xfrm>
            <a:prstGeom prst="rect">
              <a:avLst/>
            </a:prstGeom>
            <a:noFill/>
            <a:ln>
              <a:noFill/>
            </a:ln>
          </p:spPr>
        </p:pic>
        <p:pic>
          <p:nvPicPr>
            <p:cNvPr id="615" name="Google Shape;615;p30"/>
            <p:cNvPicPr preferRelativeResize="0"/>
            <p:nvPr/>
          </p:nvPicPr>
          <p:blipFill rotWithShape="1">
            <a:blip r:embed="rId3">
              <a:alphaModFix/>
            </a:blip>
            <a:srcRect l="88432" t="69407" b="11568"/>
            <a:stretch/>
          </p:blipFill>
          <p:spPr>
            <a:xfrm>
              <a:off x="11180801" y="5648888"/>
              <a:ext cx="1462523" cy="1327158"/>
            </a:xfrm>
            <a:prstGeom prst="rect">
              <a:avLst/>
            </a:prstGeom>
            <a:noFill/>
            <a:ln>
              <a:noFill/>
            </a:ln>
          </p:spPr>
        </p:pic>
      </p:grpSp>
      <p:pic>
        <p:nvPicPr>
          <p:cNvPr id="616" name="Google Shape;616;p30" descr="image.png"/>
          <p:cNvPicPr preferRelativeResize="0"/>
          <p:nvPr/>
        </p:nvPicPr>
        <p:blipFill rotWithShape="1">
          <a:blip r:embed="rId4">
            <a:alphaModFix/>
          </a:blip>
          <a:srcRect/>
          <a:stretch/>
        </p:blipFill>
        <p:spPr>
          <a:xfrm>
            <a:off x="762000" y="1740999"/>
            <a:ext cx="5143500" cy="4561061"/>
          </a:xfrm>
          <a:prstGeom prst="rect">
            <a:avLst/>
          </a:prstGeom>
          <a:noFill/>
          <a:ln>
            <a:noFill/>
          </a:ln>
        </p:spPr>
      </p:pic>
      <p:pic>
        <p:nvPicPr>
          <p:cNvPr id="617" name="Google Shape;617;p30" descr="image.png"/>
          <p:cNvPicPr preferRelativeResize="0"/>
          <p:nvPr/>
        </p:nvPicPr>
        <p:blipFill rotWithShape="1">
          <a:blip r:embed="rId5">
            <a:alphaModFix/>
          </a:blip>
          <a:srcRect/>
          <a:stretch/>
        </p:blipFill>
        <p:spPr>
          <a:xfrm>
            <a:off x="762000" y="6429375"/>
            <a:ext cx="10668000" cy="238125"/>
          </a:xfrm>
          <a:prstGeom prst="rect">
            <a:avLst/>
          </a:prstGeom>
          <a:noFill/>
          <a:ln>
            <a:noFill/>
          </a:ln>
        </p:spPr>
      </p:pic>
      <p:pic>
        <p:nvPicPr>
          <p:cNvPr id="618" name="Google Shape;618;p30" descr="image.png"/>
          <p:cNvPicPr preferRelativeResize="0"/>
          <p:nvPr/>
        </p:nvPicPr>
        <p:blipFill rotWithShape="1">
          <a:blip r:embed="rId6">
            <a:alphaModFix/>
          </a:blip>
          <a:srcRect/>
          <a:stretch/>
        </p:blipFill>
        <p:spPr>
          <a:xfrm>
            <a:off x="6334125" y="1487322"/>
            <a:ext cx="5095875" cy="1114127"/>
          </a:xfrm>
          <a:prstGeom prst="rect">
            <a:avLst/>
          </a:prstGeom>
          <a:noFill/>
          <a:ln>
            <a:noFill/>
          </a:ln>
        </p:spPr>
      </p:pic>
      <p:pic>
        <p:nvPicPr>
          <p:cNvPr id="619" name="Google Shape;619;p30" descr="image.png"/>
          <p:cNvPicPr preferRelativeResize="0"/>
          <p:nvPr/>
        </p:nvPicPr>
        <p:blipFill rotWithShape="1">
          <a:blip r:embed="rId7">
            <a:alphaModFix/>
          </a:blip>
          <a:srcRect/>
          <a:stretch/>
        </p:blipFill>
        <p:spPr>
          <a:xfrm>
            <a:off x="6334125" y="2791949"/>
            <a:ext cx="5095875" cy="1114127"/>
          </a:xfrm>
          <a:prstGeom prst="rect">
            <a:avLst/>
          </a:prstGeom>
          <a:noFill/>
          <a:ln>
            <a:noFill/>
          </a:ln>
        </p:spPr>
      </p:pic>
      <p:pic>
        <p:nvPicPr>
          <p:cNvPr id="620" name="Google Shape;620;p30" descr="image.png"/>
          <p:cNvPicPr preferRelativeResize="0"/>
          <p:nvPr/>
        </p:nvPicPr>
        <p:blipFill rotWithShape="1">
          <a:blip r:embed="rId8">
            <a:alphaModFix/>
          </a:blip>
          <a:srcRect/>
          <a:stretch/>
        </p:blipFill>
        <p:spPr>
          <a:xfrm>
            <a:off x="6334125" y="4096577"/>
            <a:ext cx="5095875" cy="1114127"/>
          </a:xfrm>
          <a:prstGeom prst="rect">
            <a:avLst/>
          </a:prstGeom>
          <a:noFill/>
          <a:ln>
            <a:noFill/>
          </a:ln>
        </p:spPr>
      </p:pic>
      <p:pic>
        <p:nvPicPr>
          <p:cNvPr id="621" name="Google Shape;621;p30" descr="image.png"/>
          <p:cNvPicPr preferRelativeResize="0"/>
          <p:nvPr/>
        </p:nvPicPr>
        <p:blipFill rotWithShape="1">
          <a:blip r:embed="rId9">
            <a:alphaModFix/>
          </a:blip>
          <a:srcRect/>
          <a:stretch/>
        </p:blipFill>
        <p:spPr>
          <a:xfrm>
            <a:off x="6334125" y="5401205"/>
            <a:ext cx="5095875" cy="900856"/>
          </a:xfrm>
          <a:prstGeom prst="rect">
            <a:avLst/>
          </a:prstGeom>
          <a:noFill/>
          <a:ln>
            <a:noFill/>
          </a:ln>
        </p:spPr>
      </p:pic>
      <p:pic>
        <p:nvPicPr>
          <p:cNvPr id="622" name="Google Shape;622;p30" descr="image.png"/>
          <p:cNvPicPr preferRelativeResize="0"/>
          <p:nvPr/>
        </p:nvPicPr>
        <p:blipFill rotWithShape="1">
          <a:blip r:embed="rId10">
            <a:alphaModFix/>
          </a:blip>
          <a:srcRect/>
          <a:stretch/>
        </p:blipFill>
        <p:spPr>
          <a:xfrm>
            <a:off x="6534150" y="1853886"/>
            <a:ext cx="381000" cy="381000"/>
          </a:xfrm>
          <a:prstGeom prst="rect">
            <a:avLst/>
          </a:prstGeom>
          <a:noFill/>
          <a:ln>
            <a:noFill/>
          </a:ln>
        </p:spPr>
      </p:pic>
      <p:pic>
        <p:nvPicPr>
          <p:cNvPr id="623" name="Google Shape;623;p30" descr="image.png"/>
          <p:cNvPicPr preferRelativeResize="0"/>
          <p:nvPr/>
        </p:nvPicPr>
        <p:blipFill rotWithShape="1">
          <a:blip r:embed="rId11">
            <a:alphaModFix/>
          </a:blip>
          <a:srcRect/>
          <a:stretch/>
        </p:blipFill>
        <p:spPr>
          <a:xfrm>
            <a:off x="6534150" y="3158513"/>
            <a:ext cx="381000" cy="381000"/>
          </a:xfrm>
          <a:prstGeom prst="rect">
            <a:avLst/>
          </a:prstGeom>
          <a:noFill/>
          <a:ln>
            <a:noFill/>
          </a:ln>
        </p:spPr>
      </p:pic>
      <p:pic>
        <p:nvPicPr>
          <p:cNvPr id="624" name="Google Shape;624;p30" descr="image.png"/>
          <p:cNvPicPr preferRelativeResize="0"/>
          <p:nvPr/>
        </p:nvPicPr>
        <p:blipFill rotWithShape="1">
          <a:blip r:embed="rId12">
            <a:alphaModFix/>
          </a:blip>
          <a:srcRect/>
          <a:stretch/>
        </p:blipFill>
        <p:spPr>
          <a:xfrm>
            <a:off x="6534150" y="4463141"/>
            <a:ext cx="381000" cy="381000"/>
          </a:xfrm>
          <a:prstGeom prst="rect">
            <a:avLst/>
          </a:prstGeom>
          <a:noFill/>
          <a:ln>
            <a:noFill/>
          </a:ln>
        </p:spPr>
      </p:pic>
      <p:pic>
        <p:nvPicPr>
          <p:cNvPr id="625" name="Google Shape;625;p30" descr="image.png"/>
          <p:cNvPicPr preferRelativeResize="0"/>
          <p:nvPr/>
        </p:nvPicPr>
        <p:blipFill rotWithShape="1">
          <a:blip r:embed="rId13">
            <a:alphaModFix/>
          </a:blip>
          <a:srcRect/>
          <a:stretch/>
        </p:blipFill>
        <p:spPr>
          <a:xfrm>
            <a:off x="6534150" y="5661059"/>
            <a:ext cx="381000" cy="381000"/>
          </a:xfrm>
          <a:prstGeom prst="rect">
            <a:avLst/>
          </a:prstGeom>
          <a:noFill/>
          <a:ln>
            <a:noFill/>
          </a:ln>
        </p:spPr>
      </p:pic>
      <p:pic>
        <p:nvPicPr>
          <p:cNvPr id="626" name="Google Shape;626;p30" descr="image.png"/>
          <p:cNvPicPr preferRelativeResize="0"/>
          <p:nvPr/>
        </p:nvPicPr>
        <p:blipFill rotWithShape="1">
          <a:blip r:embed="rId14">
            <a:alphaModFix/>
          </a:blip>
          <a:srcRect/>
          <a:stretch/>
        </p:blipFill>
        <p:spPr>
          <a:xfrm>
            <a:off x="0" y="0"/>
            <a:ext cx="12192000" cy="142875"/>
          </a:xfrm>
          <a:prstGeom prst="rect">
            <a:avLst/>
          </a:prstGeom>
          <a:noFill/>
          <a:ln>
            <a:noFill/>
          </a:ln>
        </p:spPr>
      </p:pic>
      <p:sp>
        <p:nvSpPr>
          <p:cNvPr id="627" name="Google Shape;627;p30"/>
          <p:cNvSpPr txBox="1"/>
          <p:nvPr/>
        </p:nvSpPr>
        <p:spPr>
          <a:xfrm>
            <a:off x="762000" y="571500"/>
            <a:ext cx="10668000"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a:solidFill>
                  <a:srgbClr val="C5A059"/>
                </a:solidFill>
                <a:latin typeface="小塚ゴシック Pro B" panose="020B0800000000000000" pitchFamily="34" charset="-128"/>
                <a:ea typeface="小塚ゴシック Pro B" panose="020B0800000000000000" pitchFamily="34" charset="-128"/>
                <a:cs typeface="Lato"/>
                <a:sym typeface="Lato"/>
              </a:rPr>
              <a:t>REFERRAL PROGRAM</a:t>
            </a:r>
            <a:endParaRPr>
              <a:latin typeface="小塚ゴシック Pro B" panose="020B0800000000000000" pitchFamily="34" charset="-128"/>
              <a:ea typeface="小塚ゴシック Pro B" panose="020B0800000000000000" pitchFamily="34" charset="-128"/>
            </a:endParaRPr>
          </a:p>
        </p:txBody>
      </p:sp>
      <p:sp>
        <p:nvSpPr>
          <p:cNvPr id="628" name="Google Shape;628;p30"/>
          <p:cNvSpPr txBox="1"/>
          <p:nvPr/>
        </p:nvSpPr>
        <p:spPr>
          <a:xfrm>
            <a:off x="762000" y="880020"/>
            <a:ext cx="11201400" cy="581698"/>
          </a:xfrm>
          <a:prstGeom prst="rect">
            <a:avLst/>
          </a:prstGeom>
          <a:noFill/>
          <a:ln>
            <a:noFill/>
          </a:ln>
        </p:spPr>
        <p:txBody>
          <a:bodyPr spcFirstLastPara="1" wrap="square" lIns="0" tIns="0" rIns="0" bIns="0" anchor="t" anchorCtr="0">
            <a:spAutoFit/>
          </a:bodyPr>
          <a:lstStyle/>
          <a:p>
            <a:pPr marL="0" marR="0" lvl="0" indent="0" algn="l" rtl="0">
              <a:lnSpc>
                <a:spcPct val="139962"/>
              </a:lnSpc>
              <a:spcBef>
                <a:spcPts val="0"/>
              </a:spcBef>
              <a:spcAft>
                <a:spcPts val="0"/>
              </a:spcAft>
              <a:buNone/>
            </a:pPr>
            <a:r>
              <a:rPr lang="en-US" sz="27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紹介パートナー制度のご案内</a:t>
            </a:r>
            <a:endParaRPr>
              <a:latin typeface="小塚ゴシック Pro B" panose="020B0800000000000000" pitchFamily="34" charset="-128"/>
              <a:ea typeface="小塚ゴシック Pro B" panose="020B0800000000000000" pitchFamily="34" charset="-128"/>
            </a:endParaRPr>
          </a:p>
        </p:txBody>
      </p:sp>
      <p:sp>
        <p:nvSpPr>
          <p:cNvPr id="629" name="Google Shape;629;p30"/>
          <p:cNvSpPr txBox="1"/>
          <p:nvPr/>
        </p:nvSpPr>
        <p:spPr>
          <a:xfrm>
            <a:off x="762000" y="6534150"/>
            <a:ext cx="1651099"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99999"/>
                </a:solidFill>
                <a:latin typeface="Lato"/>
                <a:ea typeface="Lato"/>
                <a:cs typeface="Lato"/>
                <a:sym typeface="Lato"/>
              </a:rPr>
              <a:t>© U-Writing All Rights Reserved.</a:t>
            </a:r>
            <a:endParaRPr/>
          </a:p>
        </p:txBody>
      </p:sp>
      <p:sp>
        <p:nvSpPr>
          <p:cNvPr id="631" name="Google Shape;631;p30"/>
          <p:cNvSpPr txBox="1"/>
          <p:nvPr/>
        </p:nvSpPr>
        <p:spPr>
          <a:xfrm>
            <a:off x="1162050" y="2020679"/>
            <a:ext cx="4510500" cy="471026"/>
          </a:xfrm>
          <a:prstGeom prst="rect">
            <a:avLst/>
          </a:prstGeom>
          <a:noFill/>
          <a:ln>
            <a:noFill/>
          </a:ln>
        </p:spPr>
        <p:txBody>
          <a:bodyPr spcFirstLastPara="1" wrap="square" lIns="0" tIns="0" rIns="0" bIns="0" anchor="t" anchorCtr="0">
            <a:spAutoFit/>
          </a:bodyPr>
          <a:lstStyle/>
          <a:p>
            <a:pPr marL="0" marR="0" lvl="0" indent="0" algn="l" rtl="0">
              <a:lnSpc>
                <a:spcPct val="109166"/>
              </a:lnSpc>
              <a:spcBef>
                <a:spcPts val="0"/>
              </a:spcBef>
              <a:spcAft>
                <a:spcPts val="0"/>
              </a:spcAft>
              <a:buNone/>
            </a:pPr>
            <a:r>
              <a:rPr lang="en-US" sz="1404" b="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見込み客をご紹介いただき、一部プランの契約につながれば、紹介料をお支払いします。</a:t>
            </a:r>
            <a:endParaRPr>
              <a:latin typeface="小塚ゴシック Pro B" panose="020B0800000000000000" pitchFamily="34" charset="-128"/>
              <a:ea typeface="小塚ゴシック Pro B" panose="020B0800000000000000" pitchFamily="34" charset="-128"/>
            </a:endParaRPr>
          </a:p>
        </p:txBody>
      </p:sp>
      <p:sp>
        <p:nvSpPr>
          <p:cNvPr id="632" name="Google Shape;632;p30"/>
          <p:cNvSpPr txBox="1"/>
          <p:nvPr/>
        </p:nvSpPr>
        <p:spPr>
          <a:xfrm>
            <a:off x="1162050" y="2757963"/>
            <a:ext cx="45105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2C2C2C"/>
                </a:solidFill>
                <a:latin typeface="小塚ゴシック Pro M" panose="020B0700000000000000" pitchFamily="34" charset="-128"/>
                <a:ea typeface="小塚ゴシック Pro M" panose="020B0700000000000000" pitchFamily="34" charset="-128"/>
                <a:cs typeface="Noto Sans JP"/>
                <a:sym typeface="Noto Sans JP"/>
              </a:rPr>
              <a:t>集客顧問「ミチスジ」</a:t>
            </a:r>
            <a:r>
              <a:rPr lang="en-US" sz="1200" b="1">
                <a:solidFill>
                  <a:srgbClr val="2C2C2C"/>
                </a:solidFill>
                <a:latin typeface="小塚ゴシック Pro M" panose="020B0700000000000000" pitchFamily="34" charset="-128"/>
                <a:ea typeface="小塚ゴシック Pro M" panose="020B0700000000000000" pitchFamily="34" charset="-128"/>
                <a:cs typeface="Noto Sans JP"/>
                <a:sym typeface="Noto Sans JP"/>
              </a:rPr>
              <a:t>顧問プラン</a:t>
            </a:r>
            <a:r>
              <a:rPr lang="en-US" sz="1200" b="1" i="0" u="none" strike="noStrike" cap="none">
                <a:solidFill>
                  <a:srgbClr val="2C2C2C"/>
                </a:solidFill>
                <a:latin typeface="小塚ゴシック Pro M" panose="020B0700000000000000" pitchFamily="34" charset="-128"/>
                <a:ea typeface="小塚ゴシック Pro M" panose="020B0700000000000000" pitchFamily="34" charset="-128"/>
                <a:cs typeface="Noto Sans JP"/>
                <a:sym typeface="Noto Sans JP"/>
              </a:rPr>
              <a:t>の</a:t>
            </a:r>
            <a:r>
              <a:rPr lang="en-US" sz="1200" b="1">
                <a:solidFill>
                  <a:srgbClr val="2C2C2C"/>
                </a:solidFill>
                <a:latin typeface="小塚ゴシック Pro M" panose="020B0700000000000000" pitchFamily="34" charset="-128"/>
                <a:ea typeface="小塚ゴシック Pro M" panose="020B0700000000000000" pitchFamily="34" charset="-128"/>
                <a:cs typeface="Noto Sans JP"/>
                <a:sym typeface="Noto Sans JP"/>
              </a:rPr>
              <a:t>契約時</a:t>
            </a:r>
            <a:endParaRPr sz="1200">
              <a:solidFill>
                <a:srgbClr val="333333"/>
              </a:solidFill>
              <a:latin typeface="小塚ゴシック Pro M" panose="020B0700000000000000" pitchFamily="34" charset="-128"/>
              <a:ea typeface="小塚ゴシック Pro M" panose="020B0700000000000000" pitchFamily="34" charset="-128"/>
              <a:cs typeface="Noto Sans JP"/>
              <a:sym typeface="Noto Sans JP"/>
            </a:endParaRPr>
          </a:p>
          <a:p>
            <a:pPr marL="0" marR="0" lvl="0" indent="0" algn="l" rtl="0">
              <a:spcBef>
                <a:spcPts val="0"/>
              </a:spcBef>
              <a:spcAft>
                <a:spcPts val="0"/>
              </a:spcAft>
              <a:buNone/>
            </a:pPr>
            <a:r>
              <a:rPr lang="en-US" sz="1200">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毎月：</a:t>
            </a:r>
            <a:r>
              <a:rPr lang="en-US" sz="1200" b="0" i="0" u="none" strike="noStrike" cap="none">
                <a:solidFill>
                  <a:srgbClr val="C5A059"/>
                </a:solidFill>
                <a:latin typeface="小塚ゴシック Pro M" panose="020B0700000000000000" pitchFamily="34" charset="-128"/>
                <a:ea typeface="小塚ゴシック Pro M" panose="020B0700000000000000" pitchFamily="34" charset="-128"/>
                <a:cs typeface="Noto Sans JP"/>
                <a:sym typeface="Noto Sans JP"/>
              </a:rPr>
              <a:t>契約金額20%</a:t>
            </a:r>
            <a:endParaRPr sz="1200" b="0" i="0" u="none" strike="noStrike" cap="none">
              <a:solidFill>
                <a:srgbClr val="C5A059"/>
              </a:solidFill>
              <a:latin typeface="小塚ゴシック Pro M" panose="020B0700000000000000" pitchFamily="34" charset="-128"/>
              <a:ea typeface="小塚ゴシック Pro M" panose="020B0700000000000000" pitchFamily="34" charset="-128"/>
              <a:cs typeface="Noto Sans JP"/>
              <a:sym typeface="Noto Sans JP"/>
            </a:endParaRPr>
          </a:p>
          <a:p>
            <a:pPr marL="0" lvl="0" indent="0" algn="l" rtl="0">
              <a:spcBef>
                <a:spcPts val="0"/>
              </a:spcBef>
              <a:spcAft>
                <a:spcPts val="0"/>
              </a:spcAft>
              <a:buClr>
                <a:schemeClr val="dk1"/>
              </a:buClr>
              <a:buFont typeface="Arial"/>
              <a:buNone/>
            </a:pPr>
            <a:r>
              <a:rPr lang="en-US" sz="1200">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※契約が続く限り、着金を確認してからお支払い。</a:t>
            </a:r>
            <a:endParaRPr sz="1200">
              <a:solidFill>
                <a:srgbClr val="C5A059"/>
              </a:solidFill>
              <a:latin typeface="小塚ゴシック Pro M" panose="020B0700000000000000" pitchFamily="34" charset="-128"/>
              <a:ea typeface="小塚ゴシック Pro M" panose="020B0700000000000000" pitchFamily="34" charset="-128"/>
              <a:cs typeface="Noto Sans JP"/>
              <a:sym typeface="Noto Sans JP"/>
            </a:endParaRPr>
          </a:p>
        </p:txBody>
      </p:sp>
      <p:sp>
        <p:nvSpPr>
          <p:cNvPr id="633" name="Google Shape;633;p30"/>
          <p:cNvSpPr txBox="1"/>
          <p:nvPr/>
        </p:nvSpPr>
        <p:spPr>
          <a:xfrm>
            <a:off x="1162050" y="3516675"/>
            <a:ext cx="2974200" cy="5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err="1">
                <a:solidFill>
                  <a:srgbClr val="2C2C2C"/>
                </a:solidFill>
                <a:latin typeface="小塚ゴシック Pro M" panose="020B0700000000000000" pitchFamily="34" charset="-128"/>
                <a:ea typeface="小塚ゴシック Pro M" panose="020B0700000000000000" pitchFamily="34" charset="-128"/>
                <a:cs typeface="Noto Sans JP"/>
                <a:sym typeface="Noto Sans JP"/>
              </a:rPr>
              <a:t>制作代行「カワリミ」の</a:t>
            </a:r>
            <a:r>
              <a:rPr lang="ja-JP" altLang="en-US" sz="1200" b="1" i="0" u="none" strike="noStrike" cap="none" dirty="0">
                <a:solidFill>
                  <a:srgbClr val="2C2C2C"/>
                </a:solidFill>
                <a:latin typeface="小塚ゴシック Pro M" panose="020B0700000000000000" pitchFamily="34" charset="-128"/>
                <a:ea typeface="小塚ゴシック Pro M" panose="020B0700000000000000" pitchFamily="34" charset="-128"/>
                <a:cs typeface="Noto Sans JP"/>
                <a:sym typeface="Noto Sans JP"/>
              </a:rPr>
              <a:t>契約時</a:t>
            </a:r>
            <a:endParaRPr sz="1200"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endParaRPr>
          </a:p>
          <a:p>
            <a:pPr marL="0" marR="0" lvl="0" indent="0" algn="l" rtl="0">
              <a:spcBef>
                <a:spcPts val="0"/>
              </a:spcBef>
              <a:spcAft>
                <a:spcPts val="0"/>
              </a:spcAft>
              <a:buNone/>
            </a:pPr>
            <a:r>
              <a:rPr lang="en-US" sz="1200" dirty="0">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単発：</a:t>
            </a:r>
            <a:r>
              <a:rPr lang="en-US" sz="1200" b="0" i="0" u="none" strike="noStrike" cap="none" dirty="0">
                <a:solidFill>
                  <a:srgbClr val="C5A059"/>
                </a:solidFill>
                <a:latin typeface="小塚ゴシック Pro M" panose="020B0700000000000000" pitchFamily="34" charset="-128"/>
                <a:ea typeface="小塚ゴシック Pro M" panose="020B0700000000000000" pitchFamily="34" charset="-128"/>
                <a:cs typeface="Noto Sans JP"/>
                <a:sym typeface="Noto Sans JP"/>
              </a:rPr>
              <a:t>契約金額の10%</a:t>
            </a:r>
            <a:endParaRPr sz="1200" dirty="0">
              <a:solidFill>
                <a:srgbClr val="333333"/>
              </a:solidFill>
              <a:latin typeface="小塚ゴシック Pro M" panose="020B0700000000000000" pitchFamily="34" charset="-128"/>
              <a:ea typeface="小塚ゴシック Pro M" panose="020B0700000000000000" pitchFamily="34" charset="-128"/>
              <a:cs typeface="Noto Sans JP"/>
              <a:sym typeface="Noto Sans JP"/>
            </a:endParaRPr>
          </a:p>
          <a:p>
            <a:pPr marL="0" marR="0" lvl="0" indent="0" algn="l" rtl="0">
              <a:spcBef>
                <a:spcPts val="0"/>
              </a:spcBef>
              <a:spcAft>
                <a:spcPts val="0"/>
              </a:spcAft>
              <a:buNone/>
            </a:pPr>
            <a:r>
              <a:rPr lang="en-US" sz="1200" b="0" i="0" u="none" strike="noStrike" cap="none" dirty="0">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※契約金額10万円以上の場合</a:t>
            </a:r>
            <a:r>
              <a:rPr lang="en-US" sz="1200" dirty="0">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に限ります。</a:t>
            </a:r>
            <a:endParaRPr dirty="0">
              <a:latin typeface="小塚ゴシック Pro M" panose="020B0700000000000000" pitchFamily="34" charset="-128"/>
              <a:ea typeface="小塚ゴシック Pro M" panose="020B0700000000000000" pitchFamily="34" charset="-128"/>
            </a:endParaRPr>
          </a:p>
        </p:txBody>
      </p:sp>
      <p:sp>
        <p:nvSpPr>
          <p:cNvPr id="634" name="Google Shape;634;p30"/>
          <p:cNvSpPr/>
          <p:nvPr/>
        </p:nvSpPr>
        <p:spPr>
          <a:xfrm>
            <a:off x="1162050" y="4279860"/>
            <a:ext cx="4295700" cy="9600"/>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635" name="Google Shape;635;p30"/>
          <p:cNvSpPr txBox="1"/>
          <p:nvPr/>
        </p:nvSpPr>
        <p:spPr>
          <a:xfrm>
            <a:off x="1162050" y="4450373"/>
            <a:ext cx="4295700" cy="29546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1" i="0" u="none" strike="noStrike" cap="none">
                <a:solidFill>
                  <a:srgbClr val="666666"/>
                </a:solidFill>
                <a:latin typeface="小塚ゴシック Pro B" panose="020B0800000000000000" pitchFamily="34" charset="-128"/>
                <a:ea typeface="小塚ゴシック Pro B" panose="020B0800000000000000" pitchFamily="34" charset="-128"/>
                <a:cs typeface="Noto Sans JP"/>
                <a:sym typeface="Noto Sans JP"/>
              </a:rPr>
              <a:t>こんなメリットがあります</a:t>
            </a:r>
            <a:endParaRPr>
              <a:latin typeface="小塚ゴシック Pro B" panose="020B0800000000000000" pitchFamily="34" charset="-128"/>
              <a:ea typeface="小塚ゴシック Pro B" panose="020B0800000000000000" pitchFamily="34" charset="-128"/>
            </a:endParaRPr>
          </a:p>
        </p:txBody>
      </p:sp>
      <p:sp>
        <p:nvSpPr>
          <p:cNvPr id="636" name="Google Shape;636;p30"/>
          <p:cNvSpPr txBox="1"/>
          <p:nvPr/>
        </p:nvSpPr>
        <p:spPr>
          <a:xfrm>
            <a:off x="1781175" y="4911554"/>
            <a:ext cx="2743200" cy="1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dirty="0" err="1">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自社サービスの付加価値として提案可能</a:t>
            </a:r>
            <a:endParaRPr dirty="0">
              <a:latin typeface="小塚ゴシック Pro M" panose="020B0700000000000000" pitchFamily="34" charset="-128"/>
              <a:ea typeface="小塚ゴシック Pro M" panose="020B0700000000000000" pitchFamily="34" charset="-128"/>
            </a:endParaRPr>
          </a:p>
        </p:txBody>
      </p:sp>
      <p:sp>
        <p:nvSpPr>
          <p:cNvPr id="637" name="Google Shape;637;p30"/>
          <p:cNvSpPr txBox="1"/>
          <p:nvPr/>
        </p:nvSpPr>
        <p:spPr>
          <a:xfrm>
            <a:off x="1781175" y="5206829"/>
            <a:ext cx="2743200" cy="1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リスクなく新たな収益源を確保</a:t>
            </a:r>
            <a:endParaRPr>
              <a:latin typeface="小塚ゴシック Pro M" panose="020B0700000000000000" pitchFamily="34" charset="-128"/>
              <a:ea typeface="小塚ゴシック Pro M" panose="020B0700000000000000" pitchFamily="34" charset="-128"/>
            </a:endParaRPr>
          </a:p>
        </p:txBody>
      </p:sp>
      <p:sp>
        <p:nvSpPr>
          <p:cNvPr id="638" name="Google Shape;638;p30"/>
          <p:cNvSpPr txBox="1"/>
          <p:nvPr/>
        </p:nvSpPr>
        <p:spPr>
          <a:xfrm>
            <a:off x="1781175" y="5502104"/>
            <a:ext cx="2743200" cy="1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333333"/>
                </a:solidFill>
                <a:latin typeface="小塚ゴシック Pro M" panose="020B0700000000000000" pitchFamily="34" charset="-128"/>
                <a:ea typeface="小塚ゴシック Pro M" panose="020B0700000000000000" pitchFamily="34" charset="-128"/>
                <a:cs typeface="Noto Sans JP"/>
                <a:sym typeface="Noto Sans JP"/>
              </a:rPr>
              <a:t>専門的な薬機法対応をアウトソース</a:t>
            </a:r>
            <a:endParaRPr>
              <a:latin typeface="小塚ゴシック Pro M" panose="020B0700000000000000" pitchFamily="34" charset="-128"/>
              <a:ea typeface="小塚ゴシック Pro M" panose="020B0700000000000000" pitchFamily="34" charset="-128"/>
            </a:endParaRPr>
          </a:p>
        </p:txBody>
      </p:sp>
      <p:sp>
        <p:nvSpPr>
          <p:cNvPr id="639" name="Google Shape;639;p30"/>
          <p:cNvSpPr txBox="1"/>
          <p:nvPr/>
        </p:nvSpPr>
        <p:spPr>
          <a:xfrm>
            <a:off x="1543050" y="4911554"/>
            <a:ext cx="133500" cy="1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a:t>
            </a:r>
            <a:endParaRPr>
              <a:latin typeface="小塚ゴシック Pro B" panose="020B0800000000000000" pitchFamily="34" charset="-128"/>
              <a:ea typeface="小塚ゴシック Pro B" panose="020B0800000000000000" pitchFamily="34" charset="-128"/>
            </a:endParaRPr>
          </a:p>
        </p:txBody>
      </p:sp>
      <p:sp>
        <p:nvSpPr>
          <p:cNvPr id="640" name="Google Shape;640;p30"/>
          <p:cNvSpPr txBox="1"/>
          <p:nvPr/>
        </p:nvSpPr>
        <p:spPr>
          <a:xfrm>
            <a:off x="1543050" y="5206829"/>
            <a:ext cx="133500" cy="1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a:t>
            </a:r>
            <a:endParaRPr>
              <a:latin typeface="小塚ゴシック Pro B" panose="020B0800000000000000" pitchFamily="34" charset="-128"/>
              <a:ea typeface="小塚ゴシック Pro B" panose="020B0800000000000000" pitchFamily="34" charset="-128"/>
            </a:endParaRPr>
          </a:p>
        </p:txBody>
      </p:sp>
      <p:sp>
        <p:nvSpPr>
          <p:cNvPr id="641" name="Google Shape;641;p30"/>
          <p:cNvSpPr txBox="1"/>
          <p:nvPr/>
        </p:nvSpPr>
        <p:spPr>
          <a:xfrm>
            <a:off x="1543050" y="5502104"/>
            <a:ext cx="133500" cy="1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a:t>
            </a:r>
            <a:endParaRPr>
              <a:latin typeface="小塚ゴシック Pro B" panose="020B0800000000000000" pitchFamily="34" charset="-128"/>
              <a:ea typeface="小塚ゴシック Pro B" panose="020B0800000000000000" pitchFamily="34" charset="-128"/>
            </a:endParaRPr>
          </a:p>
        </p:txBody>
      </p:sp>
      <p:sp>
        <p:nvSpPr>
          <p:cNvPr id="642" name="Google Shape;642;p30"/>
          <p:cNvSpPr txBox="1"/>
          <p:nvPr/>
        </p:nvSpPr>
        <p:spPr>
          <a:xfrm>
            <a:off x="7105650" y="1687347"/>
            <a:ext cx="4330500" cy="290849"/>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ご紹介・お繋ぎ</a:t>
            </a:r>
            <a:endParaRPr>
              <a:latin typeface="小塚ゴシック Pro B" panose="020B0800000000000000" pitchFamily="34" charset="-128"/>
              <a:ea typeface="小塚ゴシック Pro B" panose="020B0800000000000000" pitchFamily="34" charset="-128"/>
            </a:endParaRPr>
          </a:p>
        </p:txBody>
      </p:sp>
      <p:sp>
        <p:nvSpPr>
          <p:cNvPr id="643" name="Google Shape;643;p30"/>
          <p:cNvSpPr txBox="1"/>
          <p:nvPr/>
        </p:nvSpPr>
        <p:spPr>
          <a:xfrm>
            <a:off x="7105650" y="1974884"/>
            <a:ext cx="4124400" cy="517065"/>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0" i="0" u="none" strike="noStrike" cap="none">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課題をお持ちのお客様やパートナー様に、U-</a:t>
            </a:r>
            <a:r>
              <a:rPr lang="en-US" sz="1050">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ライティング</a:t>
            </a:r>
            <a:r>
              <a:rPr lang="en-US" sz="1050" b="0" i="0" u="none" strike="noStrike" cap="none">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の</a:t>
            </a:r>
            <a:endParaRPr sz="1050" b="0" i="0" u="none" strike="noStrike" cap="none">
              <a:solidFill>
                <a:srgbClr val="666666"/>
              </a:solidFill>
              <a:latin typeface="小塚ゴシック Pro M" panose="020B0700000000000000" pitchFamily="34" charset="-128"/>
              <a:ea typeface="小塚ゴシック Pro M" panose="020B0700000000000000" pitchFamily="34" charset="-128"/>
              <a:cs typeface="Noto Sans JP"/>
              <a:sym typeface="Noto Sans JP"/>
            </a:endParaRPr>
          </a:p>
          <a:p>
            <a:pPr marL="0" marR="0" lvl="0" indent="0" algn="l" rtl="0">
              <a:lnSpc>
                <a:spcPct val="159904"/>
              </a:lnSpc>
              <a:spcBef>
                <a:spcPts val="0"/>
              </a:spcBef>
              <a:spcAft>
                <a:spcPts val="0"/>
              </a:spcAft>
              <a:buNone/>
            </a:pPr>
            <a:r>
              <a:rPr lang="en-US" sz="1050" b="0" i="0" u="none" strike="noStrike" cap="none">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サービスをご紹介ください。</a:t>
            </a:r>
            <a:endParaRPr>
              <a:latin typeface="小塚ゴシック Pro M" panose="020B0700000000000000" pitchFamily="34" charset="-128"/>
              <a:ea typeface="小塚ゴシック Pro M" panose="020B0700000000000000" pitchFamily="34" charset="-128"/>
            </a:endParaRPr>
          </a:p>
        </p:txBody>
      </p:sp>
      <p:sp>
        <p:nvSpPr>
          <p:cNvPr id="644" name="Google Shape;644;p30"/>
          <p:cNvSpPr txBox="1"/>
          <p:nvPr/>
        </p:nvSpPr>
        <p:spPr>
          <a:xfrm>
            <a:off x="7105650" y="2991975"/>
            <a:ext cx="4330500" cy="290849"/>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商談・ご提案（弊社担当）</a:t>
            </a:r>
            <a:endParaRPr>
              <a:latin typeface="小塚ゴシック Pro B" panose="020B0800000000000000" pitchFamily="34" charset="-128"/>
              <a:ea typeface="小塚ゴシック Pro B" panose="020B0800000000000000" pitchFamily="34" charset="-128"/>
            </a:endParaRPr>
          </a:p>
        </p:txBody>
      </p:sp>
      <p:sp>
        <p:nvSpPr>
          <p:cNvPr id="645" name="Google Shape;645;p30"/>
          <p:cNvSpPr txBox="1"/>
          <p:nvPr/>
        </p:nvSpPr>
        <p:spPr>
          <a:xfrm>
            <a:off x="7105650" y="3279511"/>
            <a:ext cx="4124400" cy="517065"/>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0" i="0" u="none" strike="noStrike" cap="none">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具体的なヒアリングや提案はすべて弊社で行います。</a:t>
            </a:r>
            <a:endParaRPr sz="1050" b="0" i="0" u="none" strike="noStrike" cap="none">
              <a:solidFill>
                <a:srgbClr val="666666"/>
              </a:solidFill>
              <a:latin typeface="小塚ゴシック Pro M" panose="020B0700000000000000" pitchFamily="34" charset="-128"/>
              <a:ea typeface="小塚ゴシック Pro M" panose="020B0700000000000000" pitchFamily="34" charset="-128"/>
              <a:cs typeface="Noto Sans JP"/>
              <a:sym typeface="Noto Sans JP"/>
            </a:endParaRPr>
          </a:p>
          <a:p>
            <a:pPr marL="0" marR="0" lvl="0" indent="0" algn="l" rtl="0">
              <a:lnSpc>
                <a:spcPct val="159904"/>
              </a:lnSpc>
              <a:spcBef>
                <a:spcPts val="0"/>
              </a:spcBef>
              <a:spcAft>
                <a:spcPts val="0"/>
              </a:spcAft>
              <a:buNone/>
            </a:pPr>
            <a:r>
              <a:rPr lang="en-US" sz="1050" b="0" i="0" u="none" strike="noStrike" cap="none">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進捗は随時ご共有いたします。</a:t>
            </a:r>
            <a:endParaRPr>
              <a:latin typeface="小塚ゴシック Pro M" panose="020B0700000000000000" pitchFamily="34" charset="-128"/>
              <a:ea typeface="小塚ゴシック Pro M" panose="020B0700000000000000" pitchFamily="34" charset="-128"/>
            </a:endParaRPr>
          </a:p>
        </p:txBody>
      </p:sp>
      <p:sp>
        <p:nvSpPr>
          <p:cNvPr id="646" name="Google Shape;646;p30"/>
          <p:cNvSpPr txBox="1"/>
          <p:nvPr/>
        </p:nvSpPr>
        <p:spPr>
          <a:xfrm>
            <a:off x="7105650" y="4296602"/>
            <a:ext cx="4330500" cy="290849"/>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ご契約・業務開始</a:t>
            </a:r>
            <a:endParaRPr>
              <a:latin typeface="小塚ゴシック Pro B" panose="020B0800000000000000" pitchFamily="34" charset="-128"/>
              <a:ea typeface="小塚ゴシック Pro B" panose="020B0800000000000000" pitchFamily="34" charset="-128"/>
            </a:endParaRPr>
          </a:p>
        </p:txBody>
      </p:sp>
      <p:sp>
        <p:nvSpPr>
          <p:cNvPr id="647" name="Google Shape;647;p30"/>
          <p:cNvSpPr txBox="1"/>
          <p:nvPr/>
        </p:nvSpPr>
        <p:spPr>
          <a:xfrm>
            <a:off x="7105650" y="4584138"/>
            <a:ext cx="4124400" cy="517065"/>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0" i="0" u="none" strike="noStrike" cap="none">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お客様と弊社で契約を締結し、制作・コンサルティング業務を開始します。</a:t>
            </a:r>
            <a:endParaRPr>
              <a:latin typeface="小塚ゴシック Pro M" panose="020B0700000000000000" pitchFamily="34" charset="-128"/>
              <a:ea typeface="小塚ゴシック Pro M" panose="020B0700000000000000" pitchFamily="34" charset="-128"/>
            </a:endParaRPr>
          </a:p>
        </p:txBody>
      </p:sp>
      <p:sp>
        <p:nvSpPr>
          <p:cNvPr id="648" name="Google Shape;648;p30"/>
          <p:cNvSpPr txBox="1"/>
          <p:nvPr/>
        </p:nvSpPr>
        <p:spPr>
          <a:xfrm>
            <a:off x="7105650" y="5601230"/>
            <a:ext cx="4060500" cy="290849"/>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報酬のお支払い</a:t>
            </a:r>
            <a:endParaRPr>
              <a:latin typeface="小塚ゴシック Pro B" panose="020B0800000000000000" pitchFamily="34" charset="-128"/>
              <a:ea typeface="小塚ゴシック Pro B" panose="020B0800000000000000" pitchFamily="34" charset="-128"/>
            </a:endParaRPr>
          </a:p>
        </p:txBody>
      </p:sp>
      <p:sp>
        <p:nvSpPr>
          <p:cNvPr id="649" name="Google Shape;649;p30"/>
          <p:cNvSpPr txBox="1"/>
          <p:nvPr/>
        </p:nvSpPr>
        <p:spPr>
          <a:xfrm>
            <a:off x="7105650" y="5888766"/>
            <a:ext cx="3867300"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契約金の入金を確認後</a:t>
            </a:r>
            <a:r>
              <a:rPr lang="en-US" sz="1050" b="0" i="0" u="none" strike="noStrike" cap="none">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、紹介料をお支払いいたします。</a:t>
            </a:r>
            <a:endParaRPr>
              <a:latin typeface="小塚ゴシック Pro M" panose="020B0700000000000000" pitchFamily="34" charset="-128"/>
              <a:ea typeface="小塚ゴシック Pro M" panose="020B0700000000000000" pitchFamily="34" charset="-128"/>
            </a:endParaRPr>
          </a:p>
        </p:txBody>
      </p:sp>
      <p:sp>
        <p:nvSpPr>
          <p:cNvPr id="650" name="Google Shape;650;p30"/>
          <p:cNvSpPr/>
          <p:nvPr/>
        </p:nvSpPr>
        <p:spPr>
          <a:xfrm>
            <a:off x="1162050" y="2610623"/>
            <a:ext cx="4295700" cy="9600"/>
          </a:xfrm>
          <a:prstGeom prst="rect">
            <a:avLst/>
          </a:prstGeom>
          <a:solidFill>
            <a:srgbClr val="DDDDD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2" name="スライド番号プレースホルダー 14">
            <a:extLst>
              <a:ext uri="{FF2B5EF4-FFF2-40B4-BE49-F238E27FC236}">
                <a16:creationId xmlns:a16="http://schemas.microsoft.com/office/drawing/2014/main" id="{EA2A231C-3334-5727-1332-ED3893DE3EDA}"/>
              </a:ext>
            </a:extLst>
          </p:cNvPr>
          <p:cNvSpPr txBox="1">
            <a:spLocks/>
          </p:cNvSpPr>
          <p:nvPr/>
        </p:nvSpPr>
        <p:spPr>
          <a:xfrm>
            <a:off x="8789549" y="6420836"/>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4B6131FB-BBC3-4224-AAE6-4E406EC349F0}" type="slidenum">
              <a:rPr kumimoji="1" lang="ja-JP" altLang="en-US" b="1" smtClean="0">
                <a:solidFill>
                  <a:srgbClr val="2C2C2C"/>
                </a:solidFill>
                <a:latin typeface="小塚ゴシック Pro B" panose="020B0800000000000000" pitchFamily="34" charset="-128"/>
                <a:ea typeface="小塚ゴシック Pro B" panose="020B0800000000000000" pitchFamily="34" charset="-128"/>
              </a:rPr>
              <a:pPr algn="r"/>
              <a:t>18</a:t>
            </a:fld>
            <a:endParaRPr kumimoji="1" lang="ja-JP" altLang="en-US" b="1" dirty="0">
              <a:solidFill>
                <a:srgbClr val="2C2C2C"/>
              </a:solidFill>
              <a:latin typeface="小塚ゴシック Pro B" panose="020B0800000000000000" pitchFamily="34" charset="-128"/>
              <a:ea typeface="小塚ゴシック Pro B" panose="020B0800000000000000" pitchFamily="34" charset="-128"/>
            </a:endParaR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38" name="Google Shape;138;p15"/>
          <p:cNvGrpSpPr/>
          <p:nvPr/>
        </p:nvGrpSpPr>
        <p:grpSpPr>
          <a:xfrm>
            <a:off x="0" y="0"/>
            <a:ext cx="12643324" cy="6976048"/>
            <a:chOff x="0" y="0"/>
            <a:chExt cx="12643324" cy="6976048"/>
          </a:xfrm>
        </p:grpSpPr>
        <p:pic>
          <p:nvPicPr>
            <p:cNvPr id="139" name="Google Shape;139;p15"/>
            <p:cNvPicPr preferRelativeResize="0"/>
            <p:nvPr/>
          </p:nvPicPr>
          <p:blipFill>
            <a:blip r:embed="rId3">
              <a:alphaModFix/>
            </a:blip>
            <a:stretch>
              <a:fillRect/>
            </a:stretch>
          </p:blipFill>
          <p:spPr>
            <a:xfrm>
              <a:off x="0" y="0"/>
              <a:ext cx="12643315" cy="6976048"/>
            </a:xfrm>
            <a:prstGeom prst="rect">
              <a:avLst/>
            </a:prstGeom>
            <a:noFill/>
            <a:ln>
              <a:noFill/>
            </a:ln>
          </p:spPr>
        </p:pic>
        <p:pic>
          <p:nvPicPr>
            <p:cNvPr id="140" name="Google Shape;140;p15"/>
            <p:cNvPicPr preferRelativeResize="0"/>
            <p:nvPr/>
          </p:nvPicPr>
          <p:blipFill rotWithShape="1">
            <a:blip r:embed="rId3">
              <a:alphaModFix/>
            </a:blip>
            <a:srcRect l="88432" t="69407" b="11568"/>
            <a:stretch/>
          </p:blipFill>
          <p:spPr>
            <a:xfrm>
              <a:off x="11180801" y="5648888"/>
              <a:ext cx="1462523" cy="1327158"/>
            </a:xfrm>
            <a:prstGeom prst="rect">
              <a:avLst/>
            </a:prstGeom>
            <a:noFill/>
            <a:ln>
              <a:noFill/>
            </a:ln>
          </p:spPr>
        </p:pic>
      </p:grpSp>
      <p:pic>
        <p:nvPicPr>
          <p:cNvPr id="141" name="Google Shape;141;p15" descr="image.png"/>
          <p:cNvPicPr preferRelativeResize="0"/>
          <p:nvPr/>
        </p:nvPicPr>
        <p:blipFill rotWithShape="1">
          <a:blip r:embed="rId8">
            <a:alphaModFix/>
          </a:blip>
          <a:srcRect/>
          <a:stretch/>
        </p:blipFill>
        <p:spPr>
          <a:xfrm>
            <a:off x="762000" y="6429375"/>
            <a:ext cx="10668000" cy="238125"/>
          </a:xfrm>
          <a:prstGeom prst="rect">
            <a:avLst/>
          </a:prstGeom>
          <a:noFill/>
          <a:ln>
            <a:noFill/>
          </a:ln>
        </p:spPr>
      </p:pic>
      <p:pic>
        <p:nvPicPr>
          <p:cNvPr id="142" name="Google Shape;142;p15" descr="image.png"/>
          <p:cNvPicPr preferRelativeResize="0"/>
          <p:nvPr/>
        </p:nvPicPr>
        <p:blipFill rotWithShape="1">
          <a:blip r:embed="rId6">
            <a:alphaModFix/>
          </a:blip>
          <a:srcRect/>
          <a:stretch/>
        </p:blipFill>
        <p:spPr>
          <a:xfrm>
            <a:off x="762000" y="2591692"/>
            <a:ext cx="3301900" cy="2651521"/>
          </a:xfrm>
          <a:prstGeom prst="rect">
            <a:avLst/>
          </a:prstGeom>
          <a:noFill/>
          <a:ln>
            <a:noFill/>
          </a:ln>
        </p:spPr>
      </p:pic>
      <p:pic>
        <p:nvPicPr>
          <p:cNvPr id="143" name="Google Shape;143;p15" descr="image.png"/>
          <p:cNvPicPr preferRelativeResize="0"/>
          <p:nvPr/>
        </p:nvPicPr>
        <p:blipFill rotWithShape="1">
          <a:blip r:embed="rId5">
            <a:alphaModFix/>
          </a:blip>
          <a:srcRect/>
          <a:stretch/>
        </p:blipFill>
        <p:spPr>
          <a:xfrm>
            <a:off x="4444900" y="2591692"/>
            <a:ext cx="3302049" cy="2651521"/>
          </a:xfrm>
          <a:prstGeom prst="rect">
            <a:avLst/>
          </a:prstGeom>
          <a:noFill/>
          <a:ln>
            <a:noFill/>
          </a:ln>
        </p:spPr>
      </p:pic>
      <p:pic>
        <p:nvPicPr>
          <p:cNvPr id="144" name="Google Shape;144;p15" descr="image.png"/>
          <p:cNvPicPr preferRelativeResize="0"/>
          <p:nvPr/>
        </p:nvPicPr>
        <p:blipFill rotWithShape="1">
          <a:blip r:embed="rId6">
            <a:alphaModFix/>
          </a:blip>
          <a:srcRect/>
          <a:stretch/>
        </p:blipFill>
        <p:spPr>
          <a:xfrm>
            <a:off x="8127950" y="2591692"/>
            <a:ext cx="3301900" cy="2651521"/>
          </a:xfrm>
          <a:prstGeom prst="rect">
            <a:avLst/>
          </a:prstGeom>
          <a:noFill/>
          <a:ln>
            <a:noFill/>
          </a:ln>
        </p:spPr>
      </p:pic>
      <p:pic>
        <p:nvPicPr>
          <p:cNvPr id="145" name="Google Shape;145;p15" descr="image.png"/>
          <p:cNvPicPr preferRelativeResize="0"/>
          <p:nvPr/>
        </p:nvPicPr>
        <p:blipFill rotWithShape="1">
          <a:blip r:embed="rId4">
            <a:alphaModFix/>
          </a:blip>
          <a:srcRect/>
          <a:stretch/>
        </p:blipFill>
        <p:spPr>
          <a:xfrm>
            <a:off x="0" y="0"/>
            <a:ext cx="12192000" cy="142875"/>
          </a:xfrm>
          <a:prstGeom prst="rect">
            <a:avLst/>
          </a:prstGeom>
          <a:noFill/>
          <a:ln>
            <a:noFill/>
          </a:ln>
        </p:spPr>
      </p:pic>
      <p:sp>
        <p:nvSpPr>
          <p:cNvPr id="146" name="Google Shape;146;p15"/>
          <p:cNvSpPr txBox="1"/>
          <p:nvPr/>
        </p:nvSpPr>
        <p:spPr>
          <a:xfrm>
            <a:off x="762000" y="571500"/>
            <a:ext cx="10668000"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a:solidFill>
                  <a:srgbClr val="C5A059"/>
                </a:solidFill>
                <a:latin typeface="小塚ゴシック Pro B" panose="020B0800000000000000" pitchFamily="34" charset="-128"/>
                <a:ea typeface="小塚ゴシック Pro B" panose="020B0800000000000000" pitchFamily="34" charset="-128"/>
                <a:cs typeface="Lato"/>
                <a:sym typeface="Lato"/>
              </a:rPr>
              <a:t>REFERRAL KEYWORDS</a:t>
            </a:r>
            <a:endParaRPr>
              <a:latin typeface="小塚ゴシック Pro B" panose="020B0800000000000000" pitchFamily="34" charset="-128"/>
              <a:ea typeface="小塚ゴシック Pro B" panose="020B0800000000000000" pitchFamily="34" charset="-128"/>
            </a:endParaRPr>
          </a:p>
        </p:txBody>
      </p:sp>
      <p:sp>
        <p:nvSpPr>
          <p:cNvPr id="147" name="Google Shape;147;p15"/>
          <p:cNvSpPr txBox="1"/>
          <p:nvPr/>
        </p:nvSpPr>
        <p:spPr>
          <a:xfrm>
            <a:off x="762000" y="880025"/>
            <a:ext cx="10668000" cy="581698"/>
          </a:xfrm>
          <a:prstGeom prst="rect">
            <a:avLst/>
          </a:prstGeom>
          <a:noFill/>
          <a:ln>
            <a:noFill/>
          </a:ln>
        </p:spPr>
        <p:txBody>
          <a:bodyPr spcFirstLastPara="1" wrap="square" lIns="0" tIns="0" rIns="0" bIns="0" anchor="t" anchorCtr="0">
            <a:spAutoFit/>
          </a:bodyPr>
          <a:lstStyle/>
          <a:p>
            <a:pPr marL="0" marR="0" lvl="0" indent="0" algn="l" rtl="0">
              <a:lnSpc>
                <a:spcPct val="139962"/>
              </a:lnSpc>
              <a:spcBef>
                <a:spcPts val="0"/>
              </a:spcBef>
              <a:spcAft>
                <a:spcPts val="0"/>
              </a:spcAft>
              <a:buNone/>
            </a:pPr>
            <a:r>
              <a:rPr lang="en-US" sz="27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こんな声を聞いたら、ご紹介ください</a:t>
            </a:r>
            <a:endParaRPr>
              <a:latin typeface="小塚ゴシック Pro B" panose="020B0800000000000000" pitchFamily="34" charset="-128"/>
              <a:ea typeface="小塚ゴシック Pro B" panose="020B0800000000000000" pitchFamily="34" charset="-128"/>
            </a:endParaRPr>
          </a:p>
        </p:txBody>
      </p:sp>
      <p:sp>
        <p:nvSpPr>
          <p:cNvPr id="148" name="Google Shape;148;p15"/>
          <p:cNvSpPr txBox="1"/>
          <p:nvPr/>
        </p:nvSpPr>
        <p:spPr>
          <a:xfrm>
            <a:off x="762000" y="5651644"/>
            <a:ext cx="10668000" cy="59093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2400" b="1" i="0" u="none" strike="noStrike" cap="none" dirty="0">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合言葉は「マーケティング迷子」です。</a:t>
            </a:r>
            <a:endParaRPr sz="2400" dirty="0">
              <a:solidFill>
                <a:srgbClr val="2C2C2C"/>
              </a:solidFill>
              <a:latin typeface="小塚ゴシック Pro B" panose="020B0800000000000000" pitchFamily="34" charset="-128"/>
              <a:ea typeface="小塚ゴシック Pro B" panose="020B0800000000000000" pitchFamily="34" charset="-128"/>
            </a:endParaRPr>
          </a:p>
        </p:txBody>
      </p:sp>
      <p:sp>
        <p:nvSpPr>
          <p:cNvPr id="149" name="Google Shape;149;p15"/>
          <p:cNvSpPr txBox="1"/>
          <p:nvPr/>
        </p:nvSpPr>
        <p:spPr>
          <a:xfrm>
            <a:off x="762000" y="6534150"/>
            <a:ext cx="1651099"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99999"/>
                </a:solidFill>
                <a:latin typeface="Lato"/>
                <a:ea typeface="Lato"/>
                <a:cs typeface="Lato"/>
                <a:sym typeface="Lato"/>
              </a:rPr>
              <a:t>© U-Writing All Rights Reserved.</a:t>
            </a:r>
            <a:endParaRPr/>
          </a:p>
        </p:txBody>
      </p:sp>
      <p:sp>
        <p:nvSpPr>
          <p:cNvPr id="152" name="Google Shape;152;p15"/>
          <p:cNvSpPr txBox="1"/>
          <p:nvPr/>
        </p:nvSpPr>
        <p:spPr>
          <a:xfrm>
            <a:off x="1047750" y="3210817"/>
            <a:ext cx="2866800" cy="650050"/>
          </a:xfrm>
          <a:prstGeom prst="rect">
            <a:avLst/>
          </a:prstGeom>
          <a:noFill/>
          <a:ln>
            <a:noFill/>
          </a:ln>
        </p:spPr>
        <p:txBody>
          <a:bodyPr spcFirstLastPara="1" wrap="square" lIns="0" tIns="0" rIns="0" bIns="0" anchor="t" anchorCtr="0">
            <a:spAutoFit/>
          </a:bodyPr>
          <a:lstStyle/>
          <a:p>
            <a:pPr marL="0" lvl="0" indent="0" algn="l" rtl="0">
              <a:lnSpc>
                <a:spcPct val="128333"/>
              </a:lnSpc>
              <a:spcBef>
                <a:spcPts val="0"/>
              </a:spcBef>
              <a:spcAft>
                <a:spcPts val="0"/>
              </a:spcAft>
              <a:buNone/>
            </a:pPr>
            <a:r>
              <a:rPr lang="en-US" sz="1650" b="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「チラシやLPを作ったけど反応がない」</a:t>
            </a:r>
            <a:br>
              <a:rPr lang="en-US" sz="1800">
                <a:solidFill>
                  <a:schemeClr val="dk1"/>
                </a:solidFill>
                <a:latin typeface="小塚ゴシック Pro B" panose="020B0800000000000000" pitchFamily="34" charset="-128"/>
                <a:ea typeface="小塚ゴシック Pro B" panose="020B0800000000000000" pitchFamily="34" charset="-128"/>
                <a:cs typeface="Calibri"/>
                <a:sym typeface="Calibri"/>
              </a:rPr>
            </a:br>
            <a:endParaRPr sz="1650" b="1">
              <a:solidFill>
                <a:srgbClr val="2C2C2C"/>
              </a:solidFill>
              <a:latin typeface="小塚ゴシック Pro B" panose="020B0800000000000000" pitchFamily="34" charset="-128"/>
              <a:ea typeface="小塚ゴシック Pro B" panose="020B0800000000000000" pitchFamily="34" charset="-128"/>
              <a:cs typeface="Noto Sans JP"/>
              <a:sym typeface="Noto Sans JP"/>
            </a:endParaRPr>
          </a:p>
        </p:txBody>
      </p:sp>
      <p:sp>
        <p:nvSpPr>
          <p:cNvPr id="153" name="Google Shape;153;p15"/>
          <p:cNvSpPr txBox="1"/>
          <p:nvPr/>
        </p:nvSpPr>
        <p:spPr>
          <a:xfrm>
            <a:off x="1047750" y="3987998"/>
            <a:ext cx="2730300" cy="886397"/>
          </a:xfrm>
          <a:prstGeom prst="rect">
            <a:avLst/>
          </a:prstGeom>
          <a:noFill/>
          <a:ln>
            <a:noFill/>
          </a:ln>
        </p:spPr>
        <p:txBody>
          <a:bodyPr spcFirstLastPara="1" wrap="square" lIns="0" tIns="0" rIns="0" bIns="0" anchor="t" anchorCtr="0">
            <a:spAutoFit/>
          </a:bodyPr>
          <a:lstStyle/>
          <a:p>
            <a:pPr marL="0" lvl="0" indent="0" algn="l" rtl="0">
              <a:lnSpc>
                <a:spcPct val="160000"/>
              </a:lnSpc>
              <a:spcBef>
                <a:spcPts val="0"/>
              </a:spcBef>
              <a:spcAft>
                <a:spcPts val="0"/>
              </a:spcAft>
              <a:buNone/>
            </a:pPr>
            <a:r>
              <a:rPr lang="en-US" sz="1200">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作った後に成果が出ていない方。原因の診断から改善までお手伝いします。</a:t>
            </a:r>
            <a:endParaRPr sz="1200">
              <a:solidFill>
                <a:srgbClr val="666666"/>
              </a:solidFill>
              <a:latin typeface="小塚ゴシック Pro M" panose="020B0700000000000000" pitchFamily="34" charset="-128"/>
              <a:ea typeface="小塚ゴシック Pro M" panose="020B0700000000000000" pitchFamily="34" charset="-128"/>
              <a:cs typeface="Noto Sans JP"/>
              <a:sym typeface="Noto Sans JP"/>
            </a:endParaRPr>
          </a:p>
        </p:txBody>
      </p:sp>
      <p:sp>
        <p:nvSpPr>
          <p:cNvPr id="155" name="Google Shape;155;p15"/>
          <p:cNvSpPr txBox="1"/>
          <p:nvPr/>
        </p:nvSpPr>
        <p:spPr>
          <a:xfrm>
            <a:off x="4730650" y="3210817"/>
            <a:ext cx="2867100" cy="650050"/>
          </a:xfrm>
          <a:prstGeom prst="rect">
            <a:avLst/>
          </a:prstGeom>
          <a:noFill/>
          <a:ln>
            <a:noFill/>
          </a:ln>
        </p:spPr>
        <p:txBody>
          <a:bodyPr spcFirstLastPara="1" wrap="square" lIns="0" tIns="0" rIns="0" bIns="0" anchor="t" anchorCtr="0">
            <a:spAutoFit/>
          </a:bodyPr>
          <a:lstStyle/>
          <a:p>
            <a:pPr marL="0" lvl="0" indent="0" algn="l" rtl="0">
              <a:lnSpc>
                <a:spcPct val="128333"/>
              </a:lnSpc>
              <a:spcBef>
                <a:spcPts val="0"/>
              </a:spcBef>
              <a:spcAft>
                <a:spcPts val="0"/>
              </a:spcAft>
              <a:buNone/>
            </a:pPr>
            <a:r>
              <a:rPr lang="en-US" sz="1650" b="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「この表現、薬機法的に大丈夫？」</a:t>
            </a:r>
            <a:br>
              <a:rPr lang="en-US" sz="1800">
                <a:solidFill>
                  <a:schemeClr val="dk1"/>
                </a:solidFill>
                <a:latin typeface="小塚ゴシック Pro B" panose="020B0800000000000000" pitchFamily="34" charset="-128"/>
                <a:ea typeface="小塚ゴシック Pro B" panose="020B0800000000000000" pitchFamily="34" charset="-128"/>
                <a:cs typeface="Calibri"/>
                <a:sym typeface="Calibri"/>
              </a:rPr>
            </a:br>
            <a:endParaRPr sz="1650" b="1">
              <a:solidFill>
                <a:srgbClr val="2C2C2C"/>
              </a:solidFill>
              <a:latin typeface="小塚ゴシック Pro B" panose="020B0800000000000000" pitchFamily="34" charset="-128"/>
              <a:ea typeface="小塚ゴシック Pro B" panose="020B0800000000000000" pitchFamily="34" charset="-128"/>
              <a:cs typeface="Noto Sans JP"/>
              <a:sym typeface="Noto Sans JP"/>
            </a:endParaRPr>
          </a:p>
        </p:txBody>
      </p:sp>
      <p:sp>
        <p:nvSpPr>
          <p:cNvPr id="156" name="Google Shape;156;p15"/>
          <p:cNvSpPr txBox="1"/>
          <p:nvPr/>
        </p:nvSpPr>
        <p:spPr>
          <a:xfrm>
            <a:off x="4730650" y="3987998"/>
            <a:ext cx="2730600" cy="590931"/>
          </a:xfrm>
          <a:prstGeom prst="rect">
            <a:avLst/>
          </a:prstGeom>
          <a:noFill/>
          <a:ln>
            <a:noFill/>
          </a:ln>
        </p:spPr>
        <p:txBody>
          <a:bodyPr spcFirstLastPara="1" wrap="square" lIns="0" tIns="0" rIns="0" bIns="0" anchor="t" anchorCtr="0">
            <a:spAutoFit/>
          </a:bodyPr>
          <a:lstStyle/>
          <a:p>
            <a:pPr marL="0" lvl="0" indent="0" algn="l" rtl="0">
              <a:lnSpc>
                <a:spcPct val="160000"/>
              </a:lnSpc>
              <a:spcBef>
                <a:spcPts val="0"/>
              </a:spcBef>
              <a:spcAft>
                <a:spcPts val="0"/>
              </a:spcAft>
              <a:buNone/>
            </a:pPr>
            <a:r>
              <a:rPr lang="en-US" sz="1200">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美容・健康分野で表現に悩む方。守りながら「売れる」表現を作ります。</a:t>
            </a:r>
            <a:endParaRPr sz="1200">
              <a:solidFill>
                <a:srgbClr val="666666"/>
              </a:solidFill>
              <a:latin typeface="小塚ゴシック Pro M" panose="020B0700000000000000" pitchFamily="34" charset="-128"/>
              <a:ea typeface="小塚ゴシック Pro M" panose="020B0700000000000000" pitchFamily="34" charset="-128"/>
              <a:cs typeface="Noto Sans JP"/>
              <a:sym typeface="Noto Sans JP"/>
            </a:endParaRPr>
          </a:p>
        </p:txBody>
      </p:sp>
      <p:sp>
        <p:nvSpPr>
          <p:cNvPr id="158" name="Google Shape;158;p15"/>
          <p:cNvSpPr txBox="1"/>
          <p:nvPr/>
        </p:nvSpPr>
        <p:spPr>
          <a:xfrm>
            <a:off x="8413700" y="3210817"/>
            <a:ext cx="2866800" cy="650050"/>
          </a:xfrm>
          <a:prstGeom prst="rect">
            <a:avLst/>
          </a:prstGeom>
          <a:noFill/>
          <a:ln>
            <a:noFill/>
          </a:ln>
        </p:spPr>
        <p:txBody>
          <a:bodyPr spcFirstLastPara="1" wrap="square" lIns="0" tIns="0" rIns="0" bIns="0" anchor="t" anchorCtr="0">
            <a:spAutoFit/>
          </a:bodyPr>
          <a:lstStyle/>
          <a:p>
            <a:pPr marL="0" lvl="0" indent="0" algn="l" rtl="0">
              <a:lnSpc>
                <a:spcPct val="128333"/>
              </a:lnSpc>
              <a:spcBef>
                <a:spcPts val="0"/>
              </a:spcBef>
              <a:spcAft>
                <a:spcPts val="0"/>
              </a:spcAft>
              <a:buNone/>
            </a:pPr>
            <a:r>
              <a:rPr lang="en-US" sz="1650" b="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「集客まで手が回らない」</a:t>
            </a:r>
            <a:br>
              <a:rPr lang="en-US" sz="1800">
                <a:solidFill>
                  <a:schemeClr val="dk1"/>
                </a:solidFill>
                <a:latin typeface="小塚ゴシック Pro B" panose="020B0800000000000000" pitchFamily="34" charset="-128"/>
                <a:ea typeface="小塚ゴシック Pro B" panose="020B0800000000000000" pitchFamily="34" charset="-128"/>
                <a:cs typeface="Calibri"/>
                <a:sym typeface="Calibri"/>
              </a:rPr>
            </a:br>
            <a:endParaRPr sz="1650" b="1">
              <a:solidFill>
                <a:srgbClr val="2C2C2C"/>
              </a:solidFill>
              <a:latin typeface="小塚ゴシック Pro B" panose="020B0800000000000000" pitchFamily="34" charset="-128"/>
              <a:ea typeface="小塚ゴシック Pro B" panose="020B0800000000000000" pitchFamily="34" charset="-128"/>
              <a:cs typeface="Noto Sans JP"/>
              <a:sym typeface="Noto Sans JP"/>
            </a:endParaRPr>
          </a:p>
        </p:txBody>
      </p:sp>
      <p:sp>
        <p:nvSpPr>
          <p:cNvPr id="159" name="Google Shape;159;p15"/>
          <p:cNvSpPr txBox="1"/>
          <p:nvPr/>
        </p:nvSpPr>
        <p:spPr>
          <a:xfrm>
            <a:off x="8413700" y="3987998"/>
            <a:ext cx="2730300" cy="886397"/>
          </a:xfrm>
          <a:prstGeom prst="rect">
            <a:avLst/>
          </a:prstGeom>
          <a:noFill/>
          <a:ln>
            <a:noFill/>
          </a:ln>
        </p:spPr>
        <p:txBody>
          <a:bodyPr spcFirstLastPara="1" wrap="square" lIns="0" tIns="0" rIns="0" bIns="0" anchor="t" anchorCtr="0">
            <a:spAutoFit/>
          </a:bodyPr>
          <a:lstStyle/>
          <a:p>
            <a:pPr marL="0" lvl="0" indent="0" algn="l" rtl="0">
              <a:lnSpc>
                <a:spcPct val="160000"/>
              </a:lnSpc>
              <a:spcBef>
                <a:spcPts val="0"/>
              </a:spcBef>
              <a:spcAft>
                <a:spcPts val="0"/>
              </a:spcAft>
              <a:buNone/>
            </a:pPr>
            <a:r>
              <a:rPr lang="en-US" sz="1200">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本業が忙しい方、迷っている方。制作代行と集客顧問で支えます。</a:t>
            </a:r>
            <a:endParaRPr sz="1200">
              <a:solidFill>
                <a:srgbClr val="666666"/>
              </a:solidFill>
              <a:latin typeface="小塚ゴシック Pro M" panose="020B0700000000000000" pitchFamily="34" charset="-128"/>
              <a:ea typeface="小塚ゴシック Pro M" panose="020B0700000000000000" pitchFamily="34" charset="-128"/>
              <a:cs typeface="Noto Sans JP"/>
              <a:sym typeface="Noto Sans JP"/>
            </a:endParaRPr>
          </a:p>
        </p:txBody>
      </p:sp>
      <p:sp>
        <p:nvSpPr>
          <p:cNvPr id="2" name="スライド番号プレースホルダー 14">
            <a:extLst>
              <a:ext uri="{FF2B5EF4-FFF2-40B4-BE49-F238E27FC236}">
                <a16:creationId xmlns:a16="http://schemas.microsoft.com/office/drawing/2014/main" id="{F0F9276C-8430-0D4A-CE23-E09B5F8C5C56}"/>
              </a:ext>
            </a:extLst>
          </p:cNvPr>
          <p:cNvSpPr txBox="1">
            <a:spLocks/>
          </p:cNvSpPr>
          <p:nvPr/>
        </p:nvSpPr>
        <p:spPr>
          <a:xfrm>
            <a:off x="8789549" y="6420836"/>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4B6131FB-BBC3-4224-AAE6-4E406EC349F0}" type="slidenum">
              <a:rPr kumimoji="1" lang="ja-JP" altLang="en-US" b="1" smtClean="0">
                <a:solidFill>
                  <a:srgbClr val="2C2C2C"/>
                </a:solidFill>
                <a:latin typeface="小塚ゴシック Pro B" panose="020B0800000000000000" pitchFamily="34" charset="-128"/>
                <a:ea typeface="小塚ゴシック Pro B" panose="020B0800000000000000" pitchFamily="34" charset="-128"/>
              </a:rPr>
              <a:pPr algn="r"/>
              <a:t>4</a:t>
            </a:fld>
            <a:endParaRPr kumimoji="1" lang="ja-JP" altLang="en-US" b="1" dirty="0">
              <a:solidFill>
                <a:srgbClr val="2C2C2C"/>
              </a:solidFill>
              <a:latin typeface="小塚ゴシック Pro B" panose="020B0800000000000000" pitchFamily="34" charset="-128"/>
              <a:ea typeface="小塚ゴシック Pro B" panose="020B0800000000000000" pitchFamily="34" charset="-128"/>
            </a:endParaRPr>
          </a:p>
        </p:txBody>
      </p:sp>
      <p:sp>
        <p:nvSpPr>
          <p:cNvPr id="160" name="Rectangle 159"/>
          <p:cNvSpPr/>
          <p:nvPr/>
        </p:nvSpPr>
        <p:spPr>
          <a:xfrm>
            <a:off x="8413700" y="2496442"/>
            <a:ext cx="737889" cy="266700"/>
          </a:xfrm>
          <a:prstGeom prst="rect">
            <a:avLst/>
          </a:prstGeom>
          <a:solidFill>
            <a:srgbClr val="C6A15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rPr>
              <a:t>KEYWORD 03</a:t>
            </a:r>
          </a:p>
        </p:txBody>
      </p:sp>
      <p:sp>
        <p:nvSpPr>
          <p:cNvPr id="161" name="Rectangle 160"/>
          <p:cNvSpPr/>
          <p:nvPr/>
        </p:nvSpPr>
        <p:spPr>
          <a:xfrm>
            <a:off x="4730650" y="2496442"/>
            <a:ext cx="737889" cy="266700"/>
          </a:xfrm>
          <a:prstGeom prst="rect">
            <a:avLst/>
          </a:prstGeom>
          <a:solidFill>
            <a:srgbClr val="C6A15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rPr>
              <a:t>KEYWORD 02</a:t>
            </a:r>
          </a:p>
        </p:txBody>
      </p:sp>
      <p:sp>
        <p:nvSpPr>
          <p:cNvPr id="162" name="Rectangle 161"/>
          <p:cNvSpPr/>
          <p:nvPr/>
        </p:nvSpPr>
        <p:spPr>
          <a:xfrm>
            <a:off x="1047750" y="2496442"/>
            <a:ext cx="737889" cy="266700"/>
          </a:xfrm>
          <a:prstGeom prst="rect">
            <a:avLst/>
          </a:prstGeom>
          <a:solidFill>
            <a:srgbClr val="C6A15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Noto Sans JP"/>
              </a:rPr>
              <a:t>KEYWORD 01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164" name="Google Shape;164;p16"/>
          <p:cNvGrpSpPr/>
          <p:nvPr/>
        </p:nvGrpSpPr>
        <p:grpSpPr>
          <a:xfrm>
            <a:off x="0" y="0"/>
            <a:ext cx="12643324" cy="6976048"/>
            <a:chOff x="0" y="0"/>
            <a:chExt cx="12643324" cy="6976048"/>
          </a:xfrm>
        </p:grpSpPr>
        <p:pic>
          <p:nvPicPr>
            <p:cNvPr id="165" name="Google Shape;165;p16"/>
            <p:cNvPicPr preferRelativeResize="0"/>
            <p:nvPr/>
          </p:nvPicPr>
          <p:blipFill>
            <a:blip r:embed="rId2">
              <a:alphaModFix/>
            </a:blip>
            <a:stretch>
              <a:fillRect/>
            </a:stretch>
          </p:blipFill>
          <p:spPr>
            <a:xfrm>
              <a:off x="0" y="0"/>
              <a:ext cx="12643315" cy="6976048"/>
            </a:xfrm>
            <a:prstGeom prst="rect">
              <a:avLst/>
            </a:prstGeom>
            <a:noFill/>
            <a:ln>
              <a:noFill/>
            </a:ln>
          </p:spPr>
        </p:pic>
        <p:pic>
          <p:nvPicPr>
            <p:cNvPr id="166" name="Google Shape;166;p16"/>
            <p:cNvPicPr preferRelativeResize="0"/>
            <p:nvPr/>
          </p:nvPicPr>
          <p:blipFill rotWithShape="1">
            <a:blip r:embed="rId2">
              <a:alphaModFix/>
            </a:blip>
            <a:srcRect l="88432" t="69407" b="11568"/>
            <a:stretch/>
          </p:blipFill>
          <p:spPr>
            <a:xfrm>
              <a:off x="11180801" y="5648888"/>
              <a:ext cx="1462523" cy="1327158"/>
            </a:xfrm>
            <a:prstGeom prst="rect">
              <a:avLst/>
            </a:prstGeom>
            <a:noFill/>
            <a:ln>
              <a:noFill/>
            </a:ln>
          </p:spPr>
        </p:pic>
      </p:grpSp>
      <p:pic>
        <p:nvPicPr>
          <p:cNvPr id="167" name="Google Shape;167;p16" descr="image.png"/>
          <p:cNvPicPr preferRelativeResize="0"/>
          <p:nvPr/>
        </p:nvPicPr>
        <p:blipFill rotWithShape="1">
          <a:blip r:embed="rId4">
            <a:alphaModFix/>
          </a:blip>
          <a:srcRect/>
          <a:stretch/>
        </p:blipFill>
        <p:spPr>
          <a:xfrm>
            <a:off x="762000" y="6429375"/>
            <a:ext cx="10668000" cy="238125"/>
          </a:xfrm>
          <a:prstGeom prst="rect">
            <a:avLst/>
          </a:prstGeom>
          <a:noFill/>
          <a:ln>
            <a:noFill/>
          </a:ln>
        </p:spPr>
      </p:pic>
      <p:pic>
        <p:nvPicPr>
          <p:cNvPr id="168" name="Google Shape;168;p16" descr="image.png"/>
          <p:cNvPicPr preferRelativeResize="0"/>
          <p:nvPr/>
        </p:nvPicPr>
        <p:blipFill rotWithShape="1">
          <a:blip r:embed="rId3">
            <a:alphaModFix/>
          </a:blip>
          <a:srcRect/>
          <a:stretch/>
        </p:blipFill>
        <p:spPr>
          <a:xfrm>
            <a:off x="0" y="0"/>
            <a:ext cx="12192000" cy="142875"/>
          </a:xfrm>
          <a:prstGeom prst="rect">
            <a:avLst/>
          </a:prstGeom>
          <a:noFill/>
          <a:ln>
            <a:noFill/>
          </a:ln>
        </p:spPr>
      </p:pic>
      <p:sp>
        <p:nvSpPr>
          <p:cNvPr id="169" name="Google Shape;169;p16"/>
          <p:cNvSpPr txBox="1"/>
          <p:nvPr/>
        </p:nvSpPr>
        <p:spPr>
          <a:xfrm>
            <a:off x="762000" y="6534150"/>
            <a:ext cx="1651099"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99999"/>
                </a:solidFill>
                <a:latin typeface="Lato"/>
                <a:ea typeface="Lato"/>
                <a:cs typeface="Lato"/>
                <a:sym typeface="Lato"/>
              </a:rPr>
              <a:t>© U-Writing All Rights Reserved.</a:t>
            </a:r>
            <a:endParaRPr/>
          </a:p>
        </p:txBody>
      </p:sp>
      <p:sp>
        <p:nvSpPr>
          <p:cNvPr id="171" name="Google Shape;171;p16"/>
          <p:cNvSpPr txBox="1"/>
          <p:nvPr/>
        </p:nvSpPr>
        <p:spPr>
          <a:xfrm>
            <a:off x="762000" y="1387078"/>
            <a:ext cx="5181600"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a:solidFill>
                  <a:srgbClr val="C5A059"/>
                </a:solidFill>
                <a:latin typeface="小塚ゴシック Pro B" panose="020B0800000000000000" pitchFamily="34" charset="-128"/>
                <a:ea typeface="小塚ゴシック Pro B" panose="020B0800000000000000" pitchFamily="34" charset="-128"/>
                <a:cs typeface="Lato"/>
                <a:sym typeface="Lato"/>
              </a:rPr>
              <a:t>VOICE &amp; WORKS</a:t>
            </a:r>
            <a:endParaRPr>
              <a:latin typeface="小塚ゴシック Pro B" panose="020B0800000000000000" pitchFamily="34" charset="-128"/>
              <a:ea typeface="小塚ゴシック Pro B" panose="020B0800000000000000" pitchFamily="34" charset="-128"/>
            </a:endParaRPr>
          </a:p>
        </p:txBody>
      </p:sp>
      <p:sp>
        <p:nvSpPr>
          <p:cNvPr id="172" name="Google Shape;172;p16"/>
          <p:cNvSpPr txBox="1"/>
          <p:nvPr/>
        </p:nvSpPr>
        <p:spPr>
          <a:xfrm>
            <a:off x="762000" y="1695598"/>
            <a:ext cx="5440680" cy="581698"/>
          </a:xfrm>
          <a:prstGeom prst="rect">
            <a:avLst/>
          </a:prstGeom>
          <a:noFill/>
          <a:ln>
            <a:noFill/>
          </a:ln>
        </p:spPr>
        <p:txBody>
          <a:bodyPr spcFirstLastPara="1" wrap="square" lIns="0" tIns="0" rIns="0" bIns="0" anchor="t" anchorCtr="0">
            <a:spAutoFit/>
          </a:bodyPr>
          <a:lstStyle/>
          <a:p>
            <a:pPr marL="0" marR="0" lvl="0" indent="0" algn="l" rtl="0">
              <a:lnSpc>
                <a:spcPct val="139962"/>
              </a:lnSpc>
              <a:spcBef>
                <a:spcPts val="0"/>
              </a:spcBef>
              <a:spcAft>
                <a:spcPts val="0"/>
              </a:spcAft>
              <a:buNone/>
            </a:pPr>
            <a:r>
              <a:rPr lang="en-US" sz="27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お客様の声・その他の実績</a:t>
            </a:r>
            <a:endParaRPr>
              <a:latin typeface="小塚ゴシック Pro B" panose="020B0800000000000000" pitchFamily="34" charset="-128"/>
              <a:ea typeface="小塚ゴシック Pro B" panose="020B0800000000000000" pitchFamily="34" charset="-128"/>
            </a:endParaRPr>
          </a:p>
        </p:txBody>
      </p:sp>
      <p:sp>
        <p:nvSpPr>
          <p:cNvPr id="173" name="Google Shape;173;p16"/>
          <p:cNvSpPr txBox="1"/>
          <p:nvPr/>
        </p:nvSpPr>
        <p:spPr>
          <a:xfrm>
            <a:off x="1000125" y="2794700"/>
            <a:ext cx="3194225" cy="387798"/>
          </a:xfrm>
          <a:prstGeom prst="rect">
            <a:avLst/>
          </a:prstGeom>
          <a:noFill/>
          <a:ln>
            <a:noFill/>
          </a:ln>
        </p:spPr>
        <p:txBody>
          <a:bodyPr spcFirstLastPara="1" wrap="square" lIns="0" tIns="0" rIns="0" bIns="0" anchor="t" anchorCtr="0">
            <a:spAutoFit/>
          </a:bodyPr>
          <a:lstStyle/>
          <a:p>
            <a:pPr marL="0" marR="0" lvl="0" indent="0" algn="l" rtl="0">
              <a:lnSpc>
                <a:spcPct val="139957"/>
              </a:lnSpc>
              <a:spcBef>
                <a:spcPts val="0"/>
              </a:spcBef>
              <a:spcAft>
                <a:spcPts val="0"/>
              </a:spcAft>
              <a:buNone/>
            </a:pPr>
            <a:r>
              <a:rPr lang="en-US" sz="18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提案力の高さ</a:t>
            </a:r>
            <a:endParaRPr sz="1800">
              <a:latin typeface="小塚ゴシック Pro B" panose="020B0800000000000000" pitchFamily="34" charset="-128"/>
              <a:ea typeface="小塚ゴシック Pro B" panose="020B0800000000000000" pitchFamily="34" charset="-128"/>
            </a:endParaRPr>
          </a:p>
        </p:txBody>
      </p:sp>
      <p:sp>
        <p:nvSpPr>
          <p:cNvPr id="174" name="Google Shape;174;p16"/>
          <p:cNvSpPr/>
          <p:nvPr/>
        </p:nvSpPr>
        <p:spPr>
          <a:xfrm>
            <a:off x="1000125" y="3531413"/>
            <a:ext cx="3194225" cy="16500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小塚ゴシック Pro B" panose="020B0800000000000000" pitchFamily="34" charset="-128"/>
              <a:ea typeface="小塚ゴシック Pro B" panose="020B0800000000000000" pitchFamily="34" charset="-128"/>
              <a:cs typeface="Calibri"/>
              <a:sym typeface="Calibri"/>
            </a:endParaRPr>
          </a:p>
        </p:txBody>
      </p:sp>
      <p:sp>
        <p:nvSpPr>
          <p:cNvPr id="175" name="Google Shape;175;p16"/>
          <p:cNvSpPr txBox="1"/>
          <p:nvPr/>
        </p:nvSpPr>
        <p:spPr>
          <a:xfrm>
            <a:off x="4494350" y="2811500"/>
            <a:ext cx="3194225" cy="387798"/>
          </a:xfrm>
          <a:prstGeom prst="rect">
            <a:avLst/>
          </a:prstGeom>
          <a:noFill/>
          <a:ln>
            <a:noFill/>
          </a:ln>
        </p:spPr>
        <p:txBody>
          <a:bodyPr spcFirstLastPara="1" wrap="square" lIns="0" tIns="0" rIns="0" bIns="0" anchor="t" anchorCtr="0">
            <a:spAutoFit/>
          </a:bodyPr>
          <a:lstStyle/>
          <a:p>
            <a:pPr marL="0" marR="0" lvl="0" indent="0" algn="l" rtl="0">
              <a:lnSpc>
                <a:spcPct val="139957"/>
              </a:lnSpc>
              <a:spcBef>
                <a:spcPts val="0"/>
              </a:spcBef>
              <a:spcAft>
                <a:spcPts val="0"/>
              </a:spcAft>
              <a:buNone/>
            </a:pPr>
            <a:r>
              <a:rPr lang="en-US" sz="18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ヒアリング力の高さ</a:t>
            </a:r>
            <a:endParaRPr sz="1800">
              <a:latin typeface="小塚ゴシック Pro B" panose="020B0800000000000000" pitchFamily="34" charset="-128"/>
              <a:ea typeface="小塚ゴシック Pro B" panose="020B0800000000000000" pitchFamily="34" charset="-128"/>
            </a:endParaRPr>
          </a:p>
        </p:txBody>
      </p:sp>
      <p:sp>
        <p:nvSpPr>
          <p:cNvPr id="176" name="Google Shape;176;p16"/>
          <p:cNvSpPr/>
          <p:nvPr/>
        </p:nvSpPr>
        <p:spPr>
          <a:xfrm>
            <a:off x="1000125" y="3339525"/>
            <a:ext cx="3194225" cy="36600"/>
          </a:xfrm>
          <a:prstGeom prst="rect">
            <a:avLst/>
          </a:prstGeom>
          <a:solidFill>
            <a:srgbClr val="C5A0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177" name="Google Shape;177;p16"/>
          <p:cNvSpPr/>
          <p:nvPr/>
        </p:nvSpPr>
        <p:spPr>
          <a:xfrm>
            <a:off x="4494350" y="3339525"/>
            <a:ext cx="3194225" cy="36600"/>
          </a:xfrm>
          <a:prstGeom prst="rect">
            <a:avLst/>
          </a:prstGeom>
          <a:solidFill>
            <a:srgbClr val="C5A0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178" name="Google Shape;178;p16"/>
          <p:cNvSpPr/>
          <p:nvPr/>
        </p:nvSpPr>
        <p:spPr>
          <a:xfrm>
            <a:off x="4494350" y="3531413"/>
            <a:ext cx="3194225" cy="16500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小塚ゴシック Pro B" panose="020B0800000000000000" pitchFamily="34" charset="-128"/>
              <a:ea typeface="小塚ゴシック Pro B" panose="020B0800000000000000" pitchFamily="34" charset="-128"/>
              <a:cs typeface="Calibri"/>
              <a:sym typeface="Calibri"/>
            </a:endParaRPr>
          </a:p>
        </p:txBody>
      </p:sp>
      <p:sp>
        <p:nvSpPr>
          <p:cNvPr id="179" name="Google Shape;179;p16"/>
          <p:cNvSpPr txBox="1"/>
          <p:nvPr/>
        </p:nvSpPr>
        <p:spPr>
          <a:xfrm>
            <a:off x="1000125" y="3566269"/>
            <a:ext cx="3194225" cy="1500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「こちらの要望も丁寧に聞いてくださり、的確な提案をいただけました。リーズナブルな価格にもかかわらず、しっかりとした内容でとても助かりました。」（健康装具の販売者 Sさん）</a:t>
            </a:r>
            <a:endParaRPr>
              <a:latin typeface="小塚ゴシック Pro M" panose="020B0700000000000000" pitchFamily="34" charset="-128"/>
              <a:ea typeface="小塚ゴシック Pro M" panose="020B0700000000000000" pitchFamily="34" charset="-128"/>
            </a:endParaRPr>
          </a:p>
        </p:txBody>
      </p:sp>
      <p:sp>
        <p:nvSpPr>
          <p:cNvPr id="180" name="Google Shape;180;p16"/>
          <p:cNvSpPr txBox="1"/>
          <p:nvPr/>
        </p:nvSpPr>
        <p:spPr>
          <a:xfrm>
            <a:off x="4494350" y="3556904"/>
            <a:ext cx="3194225" cy="1500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「これまでの広告課題やお客様の反応を丁寧にヒアリングしてくださり、納得感のある広告に仕上げていただけました。」（脱毛・ホワイトニングサロン Yさん）</a:t>
            </a:r>
            <a:endParaRPr>
              <a:latin typeface="小塚ゴシック Pro M" panose="020B0700000000000000" pitchFamily="34" charset="-128"/>
              <a:ea typeface="小塚ゴシック Pro M" panose="020B0700000000000000" pitchFamily="34" charset="-128"/>
            </a:endParaRPr>
          </a:p>
        </p:txBody>
      </p:sp>
      <p:sp>
        <p:nvSpPr>
          <p:cNvPr id="2" name="スライド番号プレースホルダー 14">
            <a:extLst>
              <a:ext uri="{FF2B5EF4-FFF2-40B4-BE49-F238E27FC236}">
                <a16:creationId xmlns:a16="http://schemas.microsoft.com/office/drawing/2014/main" id="{2846CAE8-78CC-BC8C-2499-70AD56C5C972}"/>
              </a:ext>
            </a:extLst>
          </p:cNvPr>
          <p:cNvSpPr txBox="1">
            <a:spLocks/>
          </p:cNvSpPr>
          <p:nvPr/>
        </p:nvSpPr>
        <p:spPr>
          <a:xfrm>
            <a:off x="8789549" y="6420836"/>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4B6131FB-BBC3-4224-AAE6-4E406EC349F0}" type="slidenum">
              <a:rPr kumimoji="1" lang="ja-JP" altLang="en-US" b="1" smtClean="0">
                <a:solidFill>
                  <a:srgbClr val="2C2C2C"/>
                </a:solidFill>
                <a:latin typeface="小塚ゴシック Pro B" panose="020B0800000000000000" pitchFamily="34" charset="-128"/>
                <a:ea typeface="小塚ゴシック Pro B" panose="020B0800000000000000" pitchFamily="34" charset="-128"/>
              </a:rPr>
              <a:pPr algn="r"/>
              <a:t>6</a:t>
            </a:fld>
            <a:endParaRPr kumimoji="1" lang="ja-JP" altLang="en-US" b="1" dirty="0">
              <a:solidFill>
                <a:srgbClr val="2C2C2C"/>
              </a:solidFill>
              <a:latin typeface="小塚ゴシック Pro B" panose="020B0800000000000000" pitchFamily="34" charset="-128"/>
              <a:ea typeface="小塚ゴシック Pro B" panose="020B0800000000000000" pitchFamily="34" charset="-128"/>
            </a:endParaRPr>
          </a:p>
        </p:txBody>
      </p:sp>
      <p:sp>
        <p:nvSpPr>
          <p:cNvPr id="175" name="Google Shape;175;p16"/>
          <p:cNvSpPr txBox="1"/>
          <p:nvPr/>
        </p:nvSpPr>
        <p:spPr>
          <a:xfrm>
            <a:off x="7988575" y="2811500"/>
            <a:ext cx="3194225" cy="387798"/>
          </a:xfrm>
          <a:prstGeom prst="rect">
            <a:avLst/>
          </a:prstGeom>
          <a:noFill/>
          <a:ln>
            <a:noFill/>
          </a:ln>
        </p:spPr>
        <p:txBody>
          <a:bodyPr spcFirstLastPara="1" wrap="square" lIns="0" tIns="0" rIns="0" bIns="0" anchor="t" anchorCtr="0">
            <a:spAutoFit/>
          </a:bodyPr>
          <a:lstStyle/>
          <a:p>
            <a:pPr marL="0" marR="0" lvl="0" indent="0" algn="l" rtl="0">
              <a:lnSpc>
                <a:spcPct val="139957"/>
              </a:lnSpc>
              <a:spcBef>
                <a:spcPts val="0"/>
              </a:spcBef>
              <a:spcAft>
                <a:spcPts val="0"/>
              </a:spcAft>
              <a:buNone/>
            </a:pPr>
            <a:r>
              <a:rPr lang="en-US" sz="18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薬機法も対策可</a:t>
            </a:r>
            <a:endParaRPr sz="1800">
              <a:latin typeface="小塚ゴシック Pro B" panose="020B0800000000000000" pitchFamily="34" charset="-128"/>
              <a:ea typeface="小塚ゴシック Pro B" panose="020B0800000000000000" pitchFamily="34" charset="-128"/>
            </a:endParaRPr>
          </a:p>
        </p:txBody>
      </p:sp>
      <p:sp>
        <p:nvSpPr>
          <p:cNvPr id="177" name="Google Shape;177;p16"/>
          <p:cNvSpPr/>
          <p:nvPr/>
        </p:nvSpPr>
        <p:spPr>
          <a:xfrm>
            <a:off x="7988575" y="3339525"/>
            <a:ext cx="3194225" cy="36600"/>
          </a:xfrm>
          <a:prstGeom prst="rect">
            <a:avLst/>
          </a:prstGeom>
          <a:solidFill>
            <a:srgbClr val="C5A0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178" name="Google Shape;178;p16"/>
          <p:cNvSpPr/>
          <p:nvPr/>
        </p:nvSpPr>
        <p:spPr>
          <a:xfrm>
            <a:off x="7988575" y="3531413"/>
            <a:ext cx="3194225" cy="16500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小塚ゴシック Pro B" panose="020B0800000000000000" pitchFamily="34" charset="-128"/>
              <a:ea typeface="小塚ゴシック Pro B" panose="020B0800000000000000" pitchFamily="34" charset="-128"/>
              <a:cs typeface="Calibri"/>
              <a:sym typeface="Calibri"/>
            </a:endParaRPr>
          </a:p>
        </p:txBody>
      </p:sp>
      <p:sp>
        <p:nvSpPr>
          <p:cNvPr id="180" name="Google Shape;180;p16"/>
          <p:cNvSpPr txBox="1"/>
          <p:nvPr/>
        </p:nvSpPr>
        <p:spPr>
          <a:xfrm>
            <a:off x="7988575" y="3556904"/>
            <a:ext cx="3194225" cy="15000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「薬機法が関わる案件でも、安心して上原さんにすべてお任せできました。丁寧な対応と、高い完成度の原稿にとても満足しています。」（デザイン制作会社 Hさん）</a:t>
            </a:r>
            <a:endParaRPr>
              <a:latin typeface="小塚ゴシック Pro M" panose="020B0700000000000000" pitchFamily="34" charset="-128"/>
              <a:ea typeface="小塚ゴシック Pro M" panose="020B0700000000000000" pitchFamily="34" charset="-128"/>
            </a:endParaRPr>
          </a:p>
        </p:txBody>
      </p:sp>
      <p:sp>
        <p:nvSpPr>
          <p:cNvPr id="181" name="Rectangle 180"/>
          <p:cNvSpPr/>
          <p:nvPr/>
        </p:nvSpPr>
        <p:spPr>
          <a:xfrm>
            <a:off x="1000125" y="5420000"/>
            <a:ext cx="10182675" cy="850000"/>
          </a:xfrm>
          <a:prstGeom prst="rect">
            <a:avLst/>
          </a:prstGeom>
          <a:solidFill>
            <a:srgbClr val="FFFFFF"/>
          </a:solidFill>
          <a:ln>
            <a:solidFill>
              <a:srgbClr val="C6A15B"/>
            </a:solidFill>
          </a:ln>
        </p:spPr>
        <p:style>
          <a:lnRef idx="1">
            <a:schemeClr val="accent1"/>
          </a:lnRef>
          <a:fillRef idx="3">
            <a:schemeClr val="accent1"/>
          </a:fillRef>
          <a:effectRef idx="2">
            <a:schemeClr val="accent1"/>
          </a:effectRef>
          <a:fontRef idx="minor">
            <a:schemeClr val="lt1"/>
          </a:fontRef>
        </p:style>
        <p:txBody>
          <a:bodyPr rtlCol="0" anchor="ctr" lIns="250000"/>
          <a:lstStyle/>
          <a:p>
            <a:pPr algn="l"/>
            <a:r>
              <a:rPr sz="1400" b="1">
                <a:solidFill>
                  <a:srgbClr val="333333"/>
                </a:solidFill>
                <a:latin typeface="Noto Sans JP"/>
              </a:rPr>
              <a:t>その他の実績11件・過去の成果物はWebサイトで公開中</a:t>
            </a:r>
          </a:p>
          <a:p>
            <a:pPr algn="l"/>
            <a:r>
              <a:rPr sz="1200" b="0">
                <a:solidFill>
                  <a:srgbClr val="C6A15B"/>
                </a:solidFill>
                <a:latin typeface="Noto Sans JP"/>
              </a:rPr>
              <a:t>https://www.u-promotion.com/</a:t>
            </a:r>
          </a:p>
        </p:txBody>
      </p:sp>
      <p:pic>
        <p:nvPicPr>
          <p:cNvPr id="182" name="Picture 181" descr="qr.png"/>
          <p:cNvPicPr>
            <a:picLocks noChangeAspect="1"/>
          </p:cNvPicPr>
          <p:nvPr/>
        </p:nvPicPr>
        <p:blipFill>
          <a:blip r:embed="rId5"/>
          <a:stretch>
            <a:fillRect/>
          </a:stretch>
        </p:blipFill>
        <p:spPr>
          <a:xfrm>
            <a:off x="10350000" y="5470000"/>
            <a:ext cx="750000" cy="750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501" name="Google Shape;501;p27"/>
          <p:cNvGrpSpPr/>
          <p:nvPr/>
        </p:nvGrpSpPr>
        <p:grpSpPr>
          <a:xfrm>
            <a:off x="0" y="0"/>
            <a:ext cx="12643324" cy="6976048"/>
            <a:chOff x="0" y="0"/>
            <a:chExt cx="12643324" cy="6976048"/>
          </a:xfrm>
        </p:grpSpPr>
        <p:pic>
          <p:nvPicPr>
            <p:cNvPr id="502" name="Google Shape;502;p27"/>
            <p:cNvPicPr preferRelativeResize="0"/>
            <p:nvPr/>
          </p:nvPicPr>
          <p:blipFill>
            <a:blip r:embed="rId3">
              <a:alphaModFix/>
            </a:blip>
            <a:stretch>
              <a:fillRect/>
            </a:stretch>
          </p:blipFill>
          <p:spPr>
            <a:xfrm>
              <a:off x="0" y="0"/>
              <a:ext cx="12643315" cy="6976048"/>
            </a:xfrm>
            <a:prstGeom prst="rect">
              <a:avLst/>
            </a:prstGeom>
            <a:noFill/>
            <a:ln>
              <a:noFill/>
            </a:ln>
          </p:spPr>
        </p:pic>
        <p:pic>
          <p:nvPicPr>
            <p:cNvPr id="503" name="Google Shape;503;p27"/>
            <p:cNvPicPr preferRelativeResize="0"/>
            <p:nvPr/>
          </p:nvPicPr>
          <p:blipFill rotWithShape="1">
            <a:blip r:embed="rId3">
              <a:alphaModFix/>
            </a:blip>
            <a:srcRect l="88432" t="69407" b="11568"/>
            <a:stretch/>
          </p:blipFill>
          <p:spPr>
            <a:xfrm>
              <a:off x="11180801" y="5648888"/>
              <a:ext cx="1462523" cy="1327158"/>
            </a:xfrm>
            <a:prstGeom prst="rect">
              <a:avLst/>
            </a:prstGeom>
            <a:noFill/>
            <a:ln>
              <a:noFill/>
            </a:ln>
          </p:spPr>
        </p:pic>
      </p:grpSp>
      <p:pic>
        <p:nvPicPr>
          <p:cNvPr id="504" name="Google Shape;504;p27" descr="image.png"/>
          <p:cNvPicPr preferRelativeResize="0"/>
          <p:nvPr/>
        </p:nvPicPr>
        <p:blipFill rotWithShape="1">
          <a:blip r:embed="rId8">
            <a:alphaModFix/>
          </a:blip>
          <a:srcRect/>
          <a:stretch/>
        </p:blipFill>
        <p:spPr>
          <a:xfrm>
            <a:off x="762000" y="6429375"/>
            <a:ext cx="10668000" cy="238125"/>
          </a:xfrm>
          <a:prstGeom prst="rect">
            <a:avLst/>
          </a:prstGeom>
          <a:noFill/>
          <a:ln>
            <a:noFill/>
          </a:ln>
        </p:spPr>
      </p:pic>
      <p:pic>
        <p:nvPicPr>
          <p:cNvPr id="505" name="Google Shape;505;p27" descr="image.png"/>
          <p:cNvPicPr preferRelativeResize="0"/>
          <p:nvPr/>
        </p:nvPicPr>
        <p:blipFill rotWithShape="1">
          <a:blip r:embed="rId6">
            <a:alphaModFix/>
          </a:blip>
          <a:srcRect/>
          <a:stretch/>
        </p:blipFill>
        <p:spPr>
          <a:xfrm>
            <a:off x="762000" y="1740991"/>
            <a:ext cx="4267200" cy="4545508"/>
          </a:xfrm>
          <a:prstGeom prst="rect">
            <a:avLst/>
          </a:prstGeom>
          <a:noFill/>
          <a:ln>
            <a:noFill/>
          </a:ln>
        </p:spPr>
      </p:pic>
      <p:pic>
        <p:nvPicPr>
          <p:cNvPr id="506" name="Google Shape;506;p27" descr="image.png"/>
          <p:cNvPicPr preferRelativeResize="0"/>
          <p:nvPr/>
        </p:nvPicPr>
        <p:blipFill rotWithShape="1">
          <a:blip r:embed="rId5">
            <a:alphaModFix/>
          </a:blip>
          <a:srcRect/>
          <a:stretch/>
        </p:blipFill>
        <p:spPr>
          <a:xfrm>
            <a:off x="1143000" y="4844206"/>
            <a:ext cx="3505200" cy="567630"/>
          </a:xfrm>
          <a:prstGeom prst="rect">
            <a:avLst/>
          </a:prstGeom>
          <a:noFill/>
          <a:ln>
            <a:noFill/>
          </a:ln>
        </p:spPr>
      </p:pic>
      <p:pic>
        <p:nvPicPr>
          <p:cNvPr id="507" name="Google Shape;507;p27" descr="image.png"/>
          <p:cNvPicPr preferRelativeResize="0"/>
          <p:nvPr/>
        </p:nvPicPr>
        <p:blipFill rotWithShape="1">
          <a:blip r:embed="rId4">
            <a:alphaModFix/>
          </a:blip>
          <a:srcRect/>
          <a:stretch/>
        </p:blipFill>
        <p:spPr>
          <a:xfrm>
            <a:off x="0" y="0"/>
            <a:ext cx="12192000" cy="142875"/>
          </a:xfrm>
          <a:prstGeom prst="rect">
            <a:avLst/>
          </a:prstGeom>
          <a:noFill/>
          <a:ln>
            <a:noFill/>
          </a:ln>
        </p:spPr>
      </p:pic>
      <p:sp>
        <p:nvSpPr>
          <p:cNvPr id="508" name="Google Shape;508;p27"/>
          <p:cNvSpPr txBox="1"/>
          <p:nvPr/>
        </p:nvSpPr>
        <p:spPr>
          <a:xfrm>
            <a:off x="762000" y="571500"/>
            <a:ext cx="10668000" cy="258532"/>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1" i="0" u="none" strike="noStrike" cap="none">
                <a:solidFill>
                  <a:srgbClr val="C5A059"/>
                </a:solidFill>
                <a:latin typeface="小塚ゴシック Pro B" panose="020B0800000000000000" pitchFamily="34" charset="-128"/>
                <a:ea typeface="小塚ゴシック Pro B" panose="020B0800000000000000" pitchFamily="34" charset="-128"/>
                <a:cs typeface="Lato"/>
                <a:sym typeface="Lato"/>
              </a:rPr>
              <a:t>NEXT STEP</a:t>
            </a:r>
            <a:endParaRPr>
              <a:latin typeface="小塚ゴシック Pro B" panose="020B0800000000000000" pitchFamily="34" charset="-128"/>
              <a:ea typeface="小塚ゴシック Pro B" panose="020B0800000000000000" pitchFamily="34" charset="-128"/>
            </a:endParaRPr>
          </a:p>
        </p:txBody>
      </p:sp>
      <p:sp>
        <p:nvSpPr>
          <p:cNvPr id="509" name="Google Shape;509;p27"/>
          <p:cNvSpPr txBox="1"/>
          <p:nvPr/>
        </p:nvSpPr>
        <p:spPr>
          <a:xfrm>
            <a:off x="762000" y="880020"/>
            <a:ext cx="11201400" cy="581698"/>
          </a:xfrm>
          <a:prstGeom prst="rect">
            <a:avLst/>
          </a:prstGeom>
          <a:noFill/>
          <a:ln>
            <a:noFill/>
          </a:ln>
        </p:spPr>
        <p:txBody>
          <a:bodyPr spcFirstLastPara="1" wrap="square" lIns="0" tIns="0" rIns="0" bIns="0" anchor="t" anchorCtr="0">
            <a:spAutoFit/>
          </a:bodyPr>
          <a:lstStyle/>
          <a:p>
            <a:pPr marL="0" marR="0" lvl="0" indent="0" algn="l" rtl="0">
              <a:lnSpc>
                <a:spcPct val="139963"/>
              </a:lnSpc>
              <a:spcBef>
                <a:spcPts val="0"/>
              </a:spcBef>
              <a:spcAft>
                <a:spcPts val="0"/>
              </a:spcAft>
              <a:buNone/>
            </a:pPr>
            <a:r>
              <a:rPr lang="en-US" sz="2700"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次の一歩</a:t>
            </a:r>
            <a:endParaRPr>
              <a:latin typeface="小塚ゴシック Pro B" panose="020B0800000000000000" pitchFamily="34" charset="-128"/>
              <a:ea typeface="小塚ゴシック Pro B" panose="020B0800000000000000" pitchFamily="34" charset="-128"/>
            </a:endParaRPr>
          </a:p>
        </p:txBody>
      </p:sp>
      <p:sp>
        <p:nvSpPr>
          <p:cNvPr id="510" name="Google Shape;510;p27"/>
          <p:cNvSpPr txBox="1"/>
          <p:nvPr/>
        </p:nvSpPr>
        <p:spPr>
          <a:xfrm>
            <a:off x="762000" y="6534150"/>
            <a:ext cx="1651200" cy="13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99999"/>
                </a:solidFill>
                <a:latin typeface="Lato"/>
                <a:ea typeface="Lato"/>
                <a:cs typeface="Lato"/>
                <a:sym typeface="Lato"/>
              </a:rPr>
              <a:t>© U-Writing All Rights Reserved.</a:t>
            </a:r>
            <a:endParaRPr/>
          </a:p>
        </p:txBody>
      </p:sp>
      <p:sp>
        <p:nvSpPr>
          <p:cNvPr id="512" name="Google Shape;512;p27"/>
          <p:cNvSpPr txBox="1"/>
          <p:nvPr/>
        </p:nvSpPr>
        <p:spPr>
          <a:xfrm>
            <a:off x="1143000" y="2216582"/>
            <a:ext cx="3505200" cy="775597"/>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800" b="1" i="0" u="none" strike="noStrike" cap="none" dirty="0">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本日のお話をもとに、</a:t>
            </a:r>
            <a:br>
              <a:rPr lang="en-US" sz="1800" b="0" i="0" u="none" strike="noStrike" cap="none" dirty="0">
                <a:solidFill>
                  <a:schemeClr val="dk1"/>
                </a:solidFill>
                <a:latin typeface="小塚ゴシック Pro B" panose="020B0800000000000000" pitchFamily="34" charset="-128"/>
                <a:ea typeface="小塚ゴシック Pro B" panose="020B0800000000000000" pitchFamily="34" charset="-128"/>
                <a:cs typeface="Calibri"/>
                <a:sym typeface="Calibri"/>
              </a:rPr>
            </a:br>
            <a:endParaRPr dirty="0">
              <a:latin typeface="小塚ゴシック Pro B" panose="020B0800000000000000" pitchFamily="34" charset="-128"/>
              <a:ea typeface="小塚ゴシック Pro B" panose="020B0800000000000000" pitchFamily="34" charset="-128"/>
            </a:endParaRPr>
          </a:p>
          <a:p>
            <a:pPr marL="0" marR="0" lvl="0" indent="0" algn="l" rtl="0">
              <a:lnSpc>
                <a:spcPct val="140000"/>
              </a:lnSpc>
              <a:spcBef>
                <a:spcPts val="0"/>
              </a:spcBef>
              <a:spcAft>
                <a:spcPts val="0"/>
              </a:spcAft>
              <a:buNone/>
            </a:pPr>
            <a:r>
              <a:rPr lang="en-US" sz="1800" b="1" i="0" u="none" strike="noStrike" cap="none" dirty="0">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必要なものだけをご提案します。</a:t>
            </a:r>
            <a:br>
              <a:rPr lang="en-US" sz="1800" b="0" i="0" u="none" strike="noStrike" cap="none" dirty="0">
                <a:solidFill>
                  <a:schemeClr val="dk1"/>
                </a:solidFill>
                <a:latin typeface="小塚ゴシック Pro B" panose="020B0800000000000000" pitchFamily="34" charset="-128"/>
                <a:ea typeface="小塚ゴシック Pro B" panose="020B0800000000000000" pitchFamily="34" charset="-128"/>
                <a:cs typeface="Calibri"/>
                <a:sym typeface="Calibri"/>
              </a:rPr>
            </a:br>
            <a:endParaRPr dirty="0">
              <a:latin typeface="小塚ゴシック Pro B" panose="020B0800000000000000" pitchFamily="34" charset="-128"/>
              <a:ea typeface="小塚ゴシック Pro B" panose="020B0800000000000000" pitchFamily="34" charset="-128"/>
            </a:endParaRPr>
          </a:p>
        </p:txBody>
      </p:sp>
      <p:sp>
        <p:nvSpPr>
          <p:cNvPr id="513" name="Google Shape;513;p27"/>
          <p:cNvSpPr txBox="1"/>
          <p:nvPr/>
        </p:nvSpPr>
        <p:spPr>
          <a:xfrm>
            <a:off x="1143000" y="3684240"/>
            <a:ext cx="3505200" cy="8863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dirty="0" err="1">
                <a:solidFill>
                  <a:srgbClr val="666666"/>
                </a:solidFill>
                <a:latin typeface="小塚ゴシック Pro M" panose="020B0700000000000000" pitchFamily="34" charset="-128"/>
                <a:ea typeface="小塚ゴシック Pro M" panose="020B0700000000000000" pitchFamily="34" charset="-128"/>
                <a:cs typeface="Noto Sans JP"/>
                <a:sym typeface="Noto Sans JP"/>
              </a:rPr>
              <a:t>ご状況に合わせて3つの進め方からお選びいただけます。必要のない契約はおすすめしません。</a:t>
            </a:r>
            <a:endParaRPr dirty="0">
              <a:latin typeface="小塚ゴシック Pro M" panose="020B0700000000000000" pitchFamily="34" charset="-128"/>
              <a:ea typeface="小塚ゴシック Pro M" panose="020B0700000000000000" pitchFamily="34" charset="-128"/>
            </a:endParaRPr>
          </a:p>
        </p:txBody>
      </p:sp>
      <p:sp>
        <p:nvSpPr>
          <p:cNvPr id="514" name="Google Shape;514;p27"/>
          <p:cNvSpPr txBox="1"/>
          <p:nvPr/>
        </p:nvSpPr>
        <p:spPr>
          <a:xfrm>
            <a:off x="5505450" y="1931491"/>
            <a:ext cx="6686700" cy="302519"/>
          </a:xfrm>
          <a:prstGeom prst="rect">
            <a:avLst/>
          </a:prstGeom>
          <a:noFill/>
          <a:ln>
            <a:noFill/>
          </a:ln>
        </p:spPr>
        <p:txBody>
          <a:bodyPr spcFirstLastPara="1" wrap="square" lIns="0" tIns="0" rIns="0" bIns="0" anchor="t" anchorCtr="0">
            <a:spAutoFit/>
          </a:bodyPr>
          <a:lstStyle/>
          <a:p>
            <a:pPr marL="0" marR="0" lvl="0" indent="0" algn="l" rtl="0">
              <a:lnSpc>
                <a:spcPct val="139957"/>
              </a:lnSpc>
              <a:spcBef>
                <a:spcPts val="0"/>
              </a:spcBef>
              <a:spcAft>
                <a:spcPts val="0"/>
              </a:spcAft>
              <a:buNone/>
            </a:pPr>
            <a:r>
              <a:rPr lang="en-US" sz="1404" b="1" i="0" u="none" strike="noStrike" cap="none">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進め方</a:t>
            </a:r>
            <a:endParaRPr>
              <a:latin typeface="小塚ゴシック Pro B" panose="020B0800000000000000" pitchFamily="34" charset="-128"/>
              <a:ea typeface="小塚ゴシック Pro B" panose="020B0800000000000000" pitchFamily="34" charset="-128"/>
            </a:endParaRPr>
          </a:p>
        </p:txBody>
      </p:sp>
      <p:sp>
        <p:nvSpPr>
          <p:cNvPr id="515" name="Google Shape;515;p27"/>
          <p:cNvSpPr txBox="1"/>
          <p:nvPr/>
        </p:nvSpPr>
        <p:spPr>
          <a:xfrm>
            <a:off x="1304925" y="5031901"/>
            <a:ext cx="3181200" cy="184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dirty="0" err="1">
                <a:solidFill>
                  <a:srgbClr val="C5A059"/>
                </a:solidFill>
                <a:latin typeface="小塚ゴシック Pro B" panose="020B0800000000000000" pitchFamily="34" charset="-128"/>
                <a:ea typeface="小塚ゴシック Pro B" panose="020B0800000000000000" pitchFamily="34" charset="-128"/>
                <a:cs typeface="Noto Sans JP"/>
                <a:sym typeface="Noto Sans JP"/>
              </a:rPr>
              <a:t>ご提案・お見積りは無料です</a:t>
            </a:r>
            <a:endParaRPr dirty="0">
              <a:latin typeface="小塚ゴシック Pro B" panose="020B0800000000000000" pitchFamily="34" charset="-128"/>
              <a:ea typeface="小塚ゴシック Pro B" panose="020B0800000000000000" pitchFamily="34" charset="-128"/>
            </a:endParaRPr>
          </a:p>
        </p:txBody>
      </p:sp>
      <p:sp>
        <p:nvSpPr>
          <p:cNvPr id="516" name="Google Shape;516;p27"/>
          <p:cNvSpPr/>
          <p:nvPr/>
        </p:nvSpPr>
        <p:spPr>
          <a:xfrm>
            <a:off x="5505451" y="2371576"/>
            <a:ext cx="5924550" cy="933600"/>
          </a:xfrm>
          <a:prstGeom prst="roundRect">
            <a:avLst>
              <a:gd name="adj" fmla="val 4081"/>
            </a:avLst>
          </a:prstGeom>
          <a:solidFill>
            <a:srgbClr val="FFFFFF"/>
          </a:solidFill>
          <a:ln w="9525" cap="flat" cmpd="sng">
            <a:solidFill>
              <a:srgbClr val="EEEEE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517" name="Google Shape;517;p27"/>
          <p:cNvSpPr/>
          <p:nvPr/>
        </p:nvSpPr>
        <p:spPr>
          <a:xfrm>
            <a:off x="5505451" y="3495526"/>
            <a:ext cx="5924550" cy="933600"/>
          </a:xfrm>
          <a:prstGeom prst="roundRect">
            <a:avLst>
              <a:gd name="adj" fmla="val 4081"/>
            </a:avLst>
          </a:prstGeom>
          <a:solidFill>
            <a:srgbClr val="FFFFFF"/>
          </a:solidFill>
          <a:ln w="9525" cap="flat" cmpd="sng">
            <a:solidFill>
              <a:srgbClr val="EEEEE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518" name="Google Shape;518;p27"/>
          <p:cNvSpPr/>
          <p:nvPr/>
        </p:nvSpPr>
        <p:spPr>
          <a:xfrm>
            <a:off x="5505451" y="4619476"/>
            <a:ext cx="5924550" cy="933600"/>
          </a:xfrm>
          <a:prstGeom prst="roundRect">
            <a:avLst>
              <a:gd name="adj" fmla="val 4081"/>
            </a:avLst>
          </a:prstGeom>
          <a:solidFill>
            <a:srgbClr val="FFFFFF"/>
          </a:solidFill>
          <a:ln w="9525" cap="flat" cmpd="sng">
            <a:solidFill>
              <a:srgbClr val="EEEEEE"/>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小塚ゴシック Pro B" panose="020B0800000000000000" pitchFamily="34" charset="-128"/>
              <a:ea typeface="小塚ゴシック Pro B" panose="020B0800000000000000" pitchFamily="34" charset="-128"/>
              <a:cs typeface="Calibri"/>
              <a:sym typeface="Calibri"/>
            </a:endParaRPr>
          </a:p>
        </p:txBody>
      </p:sp>
      <p:sp>
        <p:nvSpPr>
          <p:cNvPr id="522" name="Google Shape;522;p27"/>
          <p:cNvSpPr txBox="1"/>
          <p:nvPr/>
        </p:nvSpPr>
        <p:spPr>
          <a:xfrm>
            <a:off x="6276975" y="2876401"/>
            <a:ext cx="5429400" cy="276999"/>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今日伺った課題に対し、制作・顧問の提案と見積りをお送りします。</a:t>
            </a:r>
            <a:endParaRPr>
              <a:latin typeface="小塚ゴシック Pro M" panose="020B0700000000000000" pitchFamily="34" charset="-128"/>
              <a:ea typeface="小塚ゴシック Pro M" panose="020B0700000000000000" pitchFamily="34" charset="-128"/>
            </a:endParaRPr>
          </a:p>
        </p:txBody>
      </p:sp>
      <p:sp>
        <p:nvSpPr>
          <p:cNvPr id="523" name="Google Shape;523;p27"/>
          <p:cNvSpPr txBox="1"/>
          <p:nvPr/>
        </p:nvSpPr>
        <p:spPr>
          <a:xfrm>
            <a:off x="6276975" y="4000351"/>
            <a:ext cx="5429400" cy="276999"/>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まだ迷っている方は、最大2時間のZoom相談で現状を一緒に整理します。</a:t>
            </a:r>
            <a:endParaRPr>
              <a:latin typeface="小塚ゴシック Pro M" panose="020B0700000000000000" pitchFamily="34" charset="-128"/>
              <a:ea typeface="小塚ゴシック Pro M" panose="020B0700000000000000" pitchFamily="34" charset="-128"/>
            </a:endParaRPr>
          </a:p>
        </p:txBody>
      </p:sp>
      <p:sp>
        <p:nvSpPr>
          <p:cNvPr id="524" name="Google Shape;524;p27"/>
          <p:cNvSpPr txBox="1"/>
          <p:nvPr/>
        </p:nvSpPr>
        <p:spPr>
          <a:xfrm>
            <a:off x="6276975" y="5124301"/>
            <a:ext cx="5429400" cy="276999"/>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0" i="0" u="none" strike="noStrike" cap="none">
                <a:solidFill>
                  <a:srgbClr val="555555"/>
                </a:solidFill>
                <a:latin typeface="小塚ゴシック Pro M" panose="020B0700000000000000" pitchFamily="34" charset="-128"/>
                <a:ea typeface="小塚ゴシック Pro M" panose="020B0700000000000000" pitchFamily="34" charset="-128"/>
                <a:cs typeface="Noto Sans JP"/>
                <a:sym typeface="Noto Sans JP"/>
              </a:rPr>
              <a:t>集客や広告でお困りの方がいれば、ぜひおつなぎください。</a:t>
            </a:r>
            <a:endParaRPr>
              <a:latin typeface="小塚ゴシック Pro M" panose="020B0700000000000000" pitchFamily="34" charset="-128"/>
              <a:ea typeface="小塚ゴシック Pro M" panose="020B0700000000000000" pitchFamily="34" charset="-128"/>
            </a:endParaRPr>
          </a:p>
        </p:txBody>
      </p:sp>
      <p:pic>
        <p:nvPicPr>
          <p:cNvPr id="525" name="Google Shape;525;p27"/>
          <p:cNvPicPr preferRelativeResize="0"/>
          <p:nvPr/>
        </p:nvPicPr>
        <p:blipFill>
          <a:blip r:embed="rId2">
            <a:alphaModFix/>
          </a:blip>
          <a:stretch>
            <a:fillRect/>
          </a:stretch>
        </p:blipFill>
        <p:spPr>
          <a:xfrm>
            <a:off x="5649413" y="2485877"/>
            <a:ext cx="466725" cy="381000"/>
          </a:xfrm>
          <a:prstGeom prst="rect">
            <a:avLst/>
          </a:prstGeom>
          <a:noFill/>
          <a:ln>
            <a:noFill/>
          </a:ln>
        </p:spPr>
      </p:pic>
      <p:pic>
        <p:nvPicPr>
          <p:cNvPr id="526" name="Google Shape;526;p27"/>
          <p:cNvPicPr preferRelativeResize="0"/>
          <p:nvPr/>
        </p:nvPicPr>
        <p:blipFill>
          <a:blip r:embed="rId9">
            <a:alphaModFix/>
          </a:blip>
          <a:stretch>
            <a:fillRect/>
          </a:stretch>
        </p:blipFill>
        <p:spPr>
          <a:xfrm>
            <a:off x="5677975" y="3624114"/>
            <a:ext cx="409575" cy="371475"/>
          </a:xfrm>
          <a:prstGeom prst="rect">
            <a:avLst/>
          </a:prstGeom>
          <a:noFill/>
          <a:ln>
            <a:noFill/>
          </a:ln>
        </p:spPr>
      </p:pic>
      <p:pic>
        <p:nvPicPr>
          <p:cNvPr id="527" name="Google Shape;527;p27"/>
          <p:cNvPicPr preferRelativeResize="0"/>
          <p:nvPr/>
        </p:nvPicPr>
        <p:blipFill>
          <a:blip r:embed="rId7">
            <a:alphaModFix/>
          </a:blip>
          <a:stretch>
            <a:fillRect/>
          </a:stretch>
        </p:blipFill>
        <p:spPr>
          <a:xfrm>
            <a:off x="5720838" y="4786494"/>
            <a:ext cx="323850" cy="314325"/>
          </a:xfrm>
          <a:prstGeom prst="rect">
            <a:avLst/>
          </a:prstGeom>
          <a:noFill/>
          <a:ln>
            <a:noFill/>
          </a:ln>
        </p:spPr>
      </p:pic>
      <p:sp>
        <p:nvSpPr>
          <p:cNvPr id="528" name="Google Shape;528;p27"/>
          <p:cNvSpPr txBox="1"/>
          <p:nvPr/>
        </p:nvSpPr>
        <p:spPr>
          <a:xfrm>
            <a:off x="6276975" y="2505829"/>
            <a:ext cx="4000000" cy="290849"/>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① ご提案・お見積り（無料）</a:t>
            </a:r>
            <a:endParaRPr>
              <a:latin typeface="小塚ゴシック Pro B" panose="020B0800000000000000" pitchFamily="34" charset="-128"/>
              <a:ea typeface="小塚ゴシック Pro B" panose="020B0800000000000000" pitchFamily="34" charset="-128"/>
            </a:endParaRPr>
          </a:p>
        </p:txBody>
      </p:sp>
      <p:sp>
        <p:nvSpPr>
          <p:cNvPr id="529" name="Google Shape;529;p27"/>
          <p:cNvSpPr txBox="1"/>
          <p:nvPr/>
        </p:nvSpPr>
        <p:spPr>
          <a:xfrm>
            <a:off x="6276975" y="3636387"/>
            <a:ext cx="4000000" cy="290849"/>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② 相談プラン（14,800円〜）</a:t>
            </a:r>
            <a:endParaRPr>
              <a:latin typeface="小塚ゴシック Pro B" panose="020B0800000000000000" pitchFamily="34" charset="-128"/>
              <a:ea typeface="小塚ゴシック Pro B" panose="020B0800000000000000" pitchFamily="34" charset="-128"/>
            </a:endParaRPr>
          </a:p>
        </p:txBody>
      </p:sp>
      <p:sp>
        <p:nvSpPr>
          <p:cNvPr id="530" name="Google Shape;530;p27"/>
          <p:cNvSpPr txBox="1"/>
          <p:nvPr/>
        </p:nvSpPr>
        <p:spPr>
          <a:xfrm>
            <a:off x="6276975" y="4766070"/>
            <a:ext cx="4000000" cy="290849"/>
          </a:xfrm>
          <a:prstGeom prst="rect">
            <a:avLst/>
          </a:prstGeom>
          <a:noFill/>
          <a:ln>
            <a:noFill/>
          </a:ln>
        </p:spPr>
        <p:txBody>
          <a:bodyPr spcFirstLastPara="1" wrap="square" lIns="0" tIns="0" rIns="0" bIns="0" anchor="t" anchorCtr="0">
            <a:spAutoFit/>
          </a:bodyPr>
          <a:lstStyle/>
          <a:p>
            <a:pPr marL="0" marR="0" lvl="0" indent="0" algn="l" rtl="0">
              <a:lnSpc>
                <a:spcPct val="139925"/>
              </a:lnSpc>
              <a:spcBef>
                <a:spcPts val="0"/>
              </a:spcBef>
              <a:spcAft>
                <a:spcPts val="0"/>
              </a:spcAft>
              <a:buNone/>
            </a:pPr>
            <a:r>
              <a:rPr lang="en-US" sz="1350" b="1">
                <a:solidFill>
                  <a:srgbClr val="2C2C2C"/>
                </a:solidFill>
                <a:latin typeface="小塚ゴシック Pro B" panose="020B0800000000000000" pitchFamily="34" charset="-128"/>
                <a:ea typeface="小塚ゴシック Pro B" panose="020B0800000000000000" pitchFamily="34" charset="-128"/>
                <a:cs typeface="Noto Sans JP"/>
                <a:sym typeface="Noto Sans JP"/>
              </a:rPr>
              <a:t>③ お知り合いのご紹介</a:t>
            </a:r>
            <a:endParaRPr>
              <a:latin typeface="小塚ゴシック Pro B" panose="020B0800000000000000" pitchFamily="34" charset="-128"/>
              <a:ea typeface="小塚ゴシック Pro B" panose="020B0800000000000000" pitchFamily="34" charset="-128"/>
            </a:endParaRPr>
          </a:p>
        </p:txBody>
      </p:sp>
      <p:sp>
        <p:nvSpPr>
          <p:cNvPr id="2" name="スライド番号プレースホルダー 14">
            <a:extLst>
              <a:ext uri="{FF2B5EF4-FFF2-40B4-BE49-F238E27FC236}">
                <a16:creationId xmlns:a16="http://schemas.microsoft.com/office/drawing/2014/main" id="{D096BC58-C7D1-A752-9354-14A740D719A1}"/>
              </a:ext>
            </a:extLst>
          </p:cNvPr>
          <p:cNvSpPr txBox="1">
            <a:spLocks/>
          </p:cNvSpPr>
          <p:nvPr/>
        </p:nvSpPr>
        <p:spPr>
          <a:xfrm>
            <a:off x="8789549" y="6420836"/>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4B6131FB-BBC3-4224-AAE6-4E406EC349F0}" type="slidenum">
              <a:rPr kumimoji="1" lang="ja-JP" altLang="en-US" b="1" smtClean="0">
                <a:solidFill>
                  <a:srgbClr val="2C2C2C"/>
                </a:solidFill>
                <a:latin typeface="小塚ゴシック Pro B" panose="020B0800000000000000" pitchFamily="34" charset="-128"/>
                <a:ea typeface="小塚ゴシック Pro B" panose="020B0800000000000000" pitchFamily="34" charset="-128"/>
              </a:rPr>
              <a:pPr algn="r"/>
              <a:t>15</a:t>
            </a:fld>
            <a:endParaRPr kumimoji="1" lang="ja-JP" altLang="en-US" b="1" dirty="0">
              <a:solidFill>
                <a:srgbClr val="2C2C2C"/>
              </a:solidFill>
              <a:latin typeface="小塚ゴシック Pro B" panose="020B0800000000000000" pitchFamily="34" charset="-128"/>
              <a:ea typeface="小塚ゴシック Pro B" panose="020B0800000000000000" pitchFamily="34" charset="-128"/>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219</TotalTime>
  <Words>1262</Words>
  <Application>Microsoft Office PowerPoint</Application>
  <PresentationFormat>ワイド画面</PresentationFormat>
  <Paragraphs>316</Paragraphs>
  <Slides>18</Slides>
  <Notes>18</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18</vt:i4>
      </vt:variant>
    </vt:vector>
  </HeadingPairs>
  <TitlesOfParts>
    <vt:vector size="25" baseType="lpstr">
      <vt:lpstr>Calibri</vt:lpstr>
      <vt:lpstr>Arial</vt:lpstr>
      <vt:lpstr>Lato Black</vt:lpstr>
      <vt:lpstr>小塚ゴシック Pro B</vt:lpstr>
      <vt:lpstr>Lato</vt:lpstr>
      <vt:lpstr>小塚ゴシック Pro M</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龍之介 上原</cp:lastModifiedBy>
  <cp:revision>34</cp:revision>
  <cp:lastPrinted>2026-01-14T16:37:51Z</cp:lastPrinted>
  <dcterms:modified xsi:type="dcterms:W3CDTF">2026-03-08T17:20:04Z</dcterms:modified>
</cp:coreProperties>
</file>