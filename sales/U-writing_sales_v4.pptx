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今日はまず○○さんのお仕事を伺って、そのあと、私が普段やっている「集客の診断」を一緒にやってみたいと思っています。</a:t>
            </a:r>
          </a:p>
          <a:p>
            <a:r>
              <a:t>集客がうまくいかない理由は、だいたい5つのパターンに分かれるんです。どれに当てはまるか、気軽に見てみてください。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a:p/>
          <a:p>
            <a:r>
              <a:t>→ 診断へのつなぎ</a:t>
            </a:r>
          </a:p>
          <a:p>
            <a:r>
              <a:t>今日はせっかくなので、私がいつもやっている診断を一緒にやってみませんか。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いろんな事業者さんの集客を見てきて、うまくいかない理由は、だいたいこの5つのパターンに分かれるんです。</a:t>
            </a:r>
          </a:p>
          <a:p>
            <a:r>
              <a:t>これはサイトにも載せている内容なんですが、○○さんのお話を伺いながら、どれが近いか一緒に見てみたいと思います。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【ここが一番大事。説明しないで、相手に選んでもらう】</a:t>
            </a:r>
          </a:p>
          <a:p>
            <a:r>
              <a:t>5つ、ざっと読んでみてください。○○さんのお話だと、どれが一番近いですか？ 2つまででも大丈夫です。</a:t>
            </a:r>
          </a:p>
          <a:p/>
          <a:p>
            <a:r>
              <a:t>・選んでもらったら「どうしてそれだと思いました？」と深掘りする。ここがそのままヒアリングになる。</a:t>
            </a:r>
          </a:p>
          <a:p>
            <a:r>
              <a:t>・選ばれた理由のスライド（次の5枚のどれか）だけ開く。選ばれなかったものは飛ばす。</a:t>
            </a:r>
          </a:p>
          <a:p>
            <a:r>
              <a:t>・相手が迷ったら、ヒアリングの内容から「私は②っぽいなと思って聞いていたんですが」と一つ挙げる。</a:t>
            </a:r>
          </a:p>
          <a:p>
            <a:r>
              <a:t>・紹介を目指す相手には「○○さんの周りで、どれかに当てはまりそうな方はいますか？」と聞く。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例えば美容サロンだと、「最新の美顔器を導入」と書いてしまう。でもお客様が知りたいのは、機械のすごさより「自分の肌がどう変わるか」なんです。</a:t>
            </a:r>
          </a:p>
          <a:p>
            <a:r>
              <a:t>私が作るときは、使った後の変化や体験を言葉にします。薬機法で効果を言えない商品でも、「体験」なら伝えられます。</a:t>
            </a:r>
          </a:p>
          <a:p/>
          <a:p>
            <a:r>
              <a:t>【添削チャンス】相手の手元にLPやチラシがあれば、キャッチコピーを1つだけ「変化」の言葉に言い換えて見せる。</a:t>
            </a:r>
          </a:p>
          <a:p>
            <a:r>
              <a:t>【注意】相手が美容サロンでも、相手の広告を名指しで否定しない。「よくあるパターンなんですが」で話す。</a:t>
            </a:r>
          </a:p>
          <a:p/>
          <a:p>
            <a:r>
              <a:t>【相手への質問】○○さんの広告は、商品の説明と、お客様の変化、どちらが多いですか？</a:t>
            </a:r>
          </a:p>
          <a:p>
            <a:r>
              <a:t>【つながるサービス】カワリミ（LP・広告のライティング）</a:t>
            </a:r>
          </a:p>
          <a:p>
            <a:r>
              <a:t>【近い事例】CASE 01：寝具を「朝の目覚め」の体験で伝えて目標の279%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「圧倒的スピード」「納得のコスト」「万全のアフターケア」。これ、どの会社にも書けてしまうんですよね。</a:t>
            </a:r>
          </a:p>
          <a:p>
            <a:r>
              <a:t>大事なのは「なぜあなたに頼むのか」。それはたいてい、ご本人の経歴や想いの中に埋まっていて、ご自身では当たり前すぎて気づいていないことが多いです。</a:t>
            </a:r>
          </a:p>
          <a:p/>
          <a:p>
            <a:r>
              <a:t>【添削チャンス】ヒアリングで聞いた「始めたきっかけ」を、その場で一文の強みに言い換えて返す。</a:t>
            </a:r>
          </a:p>
          <a:p/>
          <a:p>
            <a:r>
              <a:t>【相手への質問】同業の方と比べて、お客様が○○さんを選ぶ理由は何だと思いますか？</a:t>
            </a:r>
          </a:p>
          <a:p>
            <a:r>
              <a:t>【つながるサービス】カワリミ（HP・LPのライティング）／ミチスジ（強みの整理）</a:t>
            </a:r>
          </a:p>
          <a:p>
            <a:r>
              <a:t>【近い事例】CASE 04：求める人物像と代表の想いを記事にして、1週間で内定</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雰囲気はすごく素敵なんです。でも、見た人が「で、何をすればいいの？」となってしまう。</a:t>
            </a:r>
          </a:p>
          <a:p>
            <a:r>
              <a:t>デザインは大事ですが、人を動かすのは言葉です。私は先に言葉を作って、デザインはそれを届ける器として考えます。</a:t>
            </a:r>
          </a:p>
          <a:p>
            <a:r>
              <a:t>（※商品によってはデザイン重視が正解の場合もある、と一言添える）</a:t>
            </a:r>
          </a:p>
          <a:p/>
          <a:p>
            <a:r>
              <a:t>【注意】相手がジムやサロンでも名指ししない。</a:t>
            </a:r>
          </a:p>
          <a:p/>
          <a:p>
            <a:r>
              <a:t>【相手への質問】今の広告を見た人に、次に何をしてほしいか決まっていますか？</a:t>
            </a:r>
          </a:p>
          <a:p>
            <a:r>
              <a:t>【つながるサービス】カワリミ（LP・チラシ制作）</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シャッター街で不動産投資のチラシを配っても、反応は出ないですよね。極端な例ですが、実は同じことがSNSや広告でもよく起きています。</a:t>
            </a:r>
          </a:p>
          <a:p>
            <a:r>
              <a:t>「頑張っているのに反応がない」ときは、中身より先に「場所」がズレていることが多いです。</a:t>
            </a:r>
          </a:p>
          <a:p/>
          <a:p>
            <a:r>
              <a:t>【相手への質問】今のお客様は、どこで○○さんのことを知りましたか？</a:t>
            </a:r>
          </a:p>
          <a:p>
            <a:r>
              <a:t>【つながるサービス】ミチスジ（媒体の見直し）／カワリミ（Meta広告・LINE運用）</a:t>
            </a:r>
          </a:p>
          <a:p>
            <a:r>
              <a:t>【近い事例】CASE 03：広告・LP・LINEをつなぎ直して月の売上が最大150万円</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SNSもやって、LPも作って、新しいツールも入れて……。全部頑張っているのに、どれが効いているのか分からない。まさに「マーケティング迷子」の状態です。</a:t>
            </a:r>
          </a:p>
          <a:p>
            <a:r>
              <a:t>大事なのは、始める前に「これで何人来るはず」という仮説を立てること。そうすれば、結果を見て何を直せばいいかが分かります。</a:t>
            </a:r>
          </a:p>
          <a:p/>
          <a:p>
            <a:r>
              <a:t>→ この理由が選ばれたら、そのまま次の「マーケティング迷子」のスライドにつなげやすい。</a:t>
            </a:r>
          </a:p>
          <a:p/>
          <a:p>
            <a:r>
              <a:t>【相手への質問】今の集客で、「うまくいった／いかなかった」は何で判断していますか？</a:t>
            </a:r>
          </a:p>
          <a:p>
            <a:r>
              <a:t>【つながるサービス】ミチスジ（顧問・提案プラン）</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（診断が終わったら、ここで自分の想いを話す。2分以内）</a:t>
            </a:r>
          </a:p>
          <a:p>
            <a:r>
              <a:t>私がこの仕事を続けている理由を、少しだけお話しさせてください。</a:t>
            </a:r>
          </a:p>
          <a:p>
            <a:r>
              <a:t>いろんな事業者さんとお話しする中で、「何十万円もかけてホームページを作ったけど、問い合わせが来ない」「高い講座やコンサルを受けたけど、成果につながらなかった」という話を本当によく聞くんです。</a:t>
            </a:r>
          </a:p>
          <a:p>
            <a:r>
              <a:t>それでも皆さん諦めずに、自力で頑張ろうとする。でも自力だと時間がかかるし、専門家に頼むとまたお金がかかる。</a:t>
            </a:r>
          </a:p>
          <a:p>
            <a:r>
              <a:t>頑張っているのに、何にお金と時間を使えばいいか分からなくなっている。</a:t>
            </a:r>
          </a:p>
          <a:p>
            <a:r>
              <a:t>私はこれを「マーケティング迷子」と呼んでいます。</a:t>
            </a:r>
          </a:p>
          <a:p>
            <a:r>
              <a:t>（ここで一拍置く）</a:t>
            </a:r>
          </a:p>
          <a:p/>
          <a:p>
            <a:r>
              <a:t>【注意】「支援業者は高すぎる」という言い方は絶対にしない。同席者や紹介先にコンサル・制作会社がいる。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広告は一種の「投資」です。いきなり大金をつぎ込まず、まずは少額から試すのが大原則。</a:t>
            </a:r>
          </a:p>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この直後に②のヒアリングにつなげる：</a:t>
            </a:r>
          </a:p>
          <a:p>
            <a:r>
              <a:t>「先ほど○○さんが△△とおっしゃっていたのが、まさにこの話だと思っていて――」</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さっきの診断で○○さんは【①〜⑤】でしたよね。</a:t>
            </a:r>
          </a:p>
          <a:p>
            <a:r>
              <a:t>①〜③のように「言葉」の問題なら、私が代わりに作る「カワリミ」。</a:t>
            </a:r>
          </a:p>
          <a:p>
            <a:r>
              <a:t>④⑤のように「方針」の問題なら、横で道筋を示す「ミチスジ」が合います。</a:t>
            </a:r>
          </a:p>
          <a:p>
            <a:r>
              <a:t>○○さんの場合は、【カワリミ／ミチスジ】から始めるのがいいと思います。</a:t>
            </a:r>
          </a:p>
          <a:p/>
          <a:p>
            <a:r>
              <a:t>【サービスは1つに絞って言い切る】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料金はこちらです。今日のお話だと、【○○プラン】が近いと思います。</a:t>
            </a:r>
          </a:p>
          <a:p>
            <a:r>
              <a:t>正式な金額は、伺った内容をもとにお見積りしますね。</a:t>
            </a:r>
          </a:p>
          <a:p>
            <a:r>
              <a:t>（全プランを説明しない。勧めるプランの行だけ指差す）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（紹介を目指す場合、または契約の話のあとに）</a:t>
            </a:r>
          </a:p>
          <a:p>
            <a:r>
              <a:t>最後に一つ、お願いがあります。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今日一緒に見た5つのパターン、どれかで悩んでいる方が周りにいたら、私を思い出してください。</a:t>
            </a:r>
          </a:p>
          <a:p>
            <a:r>
              <a:t>「チラシやLPを作ったけど反応がない」「何から手をつければいいか分からない」と言っている方は、たいていこのどれかです。</a:t>
            </a:r>
          </a:p>
          <a:p>
            <a:r>
              <a:t>合言葉は「マーケティング迷子」です。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特に、美容サロン、整体院、医療クリニック、健康食品を扱っている事業者さんとは相性がいいです。</a:t>
            </a:r>
          </a:p>
          <a:p>
            <a:r>
              <a:t>協業できるパートナーさんも探しています。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料金や内容を詳しく聞かれたときだけ開く。</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カワリミは、集客に必要な広告づくりを私が代わりにやるサービスです。</a:t>
            </a:r>
          </a:p>
          <a:p>
            <a:r>
              <a:t>企画・構成から制作・運用まで丸投げいただけます。お願いするのは、必要な情報と素材のご提供だけです。</a:t>
            </a:r>
          </a:p>
          <a:p>
            <a:r>
              <a:t>（相手に関係のあるメニューだけ指差す。全部読み上げない）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10.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crop.png"/>
          <p:cNvPicPr>
            <a:picLocks noChangeAspect="1"/>
          </p:cNvPicPr>
          <p:nvPr/>
        </p:nvPicPr>
        <p:blipFill>
          <a:blip r:embed="rId2"/>
          <a:stretch>
            <a:fillRect/>
          </a:stretch>
        </p:blipFill>
        <p:spPr>
          <a:xfrm>
            <a:off x="5892000" y="0"/>
            <a:ext cx="7121769" cy="6858000"/>
          </a:xfrm>
          <a:prstGeom prst="rect">
            <a:avLst/>
          </a:prstGeom>
        </p:spPr>
      </p:pic>
      <p:sp>
        <p:nvSpPr>
          <p:cNvPr id="3" name="TextBox 2"/>
          <p:cNvSpPr txBox="1"/>
          <p:nvPr/>
        </p:nvSpPr>
        <p:spPr>
          <a:xfrm>
            <a:off x="762000" y="1500000"/>
            <a:ext cx="6000000" cy="300000"/>
          </a:xfrm>
          <a:prstGeom prst="rect">
            <a:avLst/>
          </a:prstGeom>
          <a:noFill/>
        </p:spPr>
        <p:txBody>
          <a:bodyPr wrap="square" anchor="t" lIns="0" rIns="0" tIns="0" bIns="0">
            <a:spAutoFit/>
          </a:bodyPr>
          <a:lstStyle/>
          <a:p>
            <a:pPr algn="l">
              <a:lnSpc>
                <a:spcPct val="125000"/>
              </a:lnSpc>
            </a:pPr>
            <a:r>
              <a:rPr sz="1300" b="1">
                <a:solidFill>
                  <a:srgbClr val="5E5E5E"/>
                </a:solidFill>
                <a:latin typeface="Noto Sans JP"/>
                <a:ea typeface="Noto Sans JP"/>
                <a:cs typeface="Noto Sans JP"/>
              </a:rPr>
              <a:t>U-ライティング サービスのご案内</a:t>
            </a:r>
          </a:p>
        </p:txBody>
      </p:sp>
      <p:sp>
        <p:nvSpPr>
          <p:cNvPr id="4" name="Rectangle 3"/>
          <p:cNvSpPr/>
          <p:nvPr/>
        </p:nvSpPr>
        <p:spPr>
          <a:xfrm>
            <a:off x="762000" y="1900000"/>
            <a:ext cx="7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150000"/>
            <a:ext cx="6200000" cy="1800000"/>
          </a:xfrm>
          <a:prstGeom prst="rect">
            <a:avLst/>
          </a:prstGeom>
          <a:noFill/>
        </p:spPr>
        <p:txBody>
          <a:bodyPr wrap="square" anchor="t" lIns="0" rIns="0" tIns="0" bIns="0">
            <a:spAutoFit/>
          </a:bodyPr>
          <a:lstStyle/>
          <a:p>
            <a:pPr algn="l">
              <a:lnSpc>
                <a:spcPct val="115000"/>
              </a:lnSpc>
            </a:pPr>
            <a:r>
              <a:rPr sz="4400" b="1">
                <a:solidFill>
                  <a:srgbClr val="2B2B2B"/>
                </a:solidFill>
                <a:latin typeface="Noto Sans JP"/>
                <a:ea typeface="Noto Sans JP"/>
                <a:cs typeface="Noto Sans JP"/>
              </a:rPr>
              <a:t>マーケティング迷子を、</a:t>
            </a:r>
          </a:p>
          <a:p>
            <a:pPr algn="l">
              <a:lnSpc>
                <a:spcPct val="115000"/>
              </a:lnSpc>
            </a:pPr>
            <a:r>
              <a:rPr sz="4400" b="1">
                <a:solidFill>
                  <a:srgbClr val="2B2B2B"/>
                </a:solidFill>
                <a:latin typeface="Noto Sans JP"/>
                <a:ea typeface="Noto Sans JP"/>
                <a:cs typeface="Noto Sans JP"/>
              </a:rPr>
              <a:t>減らす。</a:t>
            </a:r>
          </a:p>
        </p:txBody>
      </p:sp>
      <p:sp>
        <p:nvSpPr>
          <p:cNvPr id="6" name="TextBox 5"/>
          <p:cNvSpPr txBox="1"/>
          <p:nvPr/>
        </p:nvSpPr>
        <p:spPr>
          <a:xfrm>
            <a:off x="762000" y="3950000"/>
            <a:ext cx="6000000" cy="400000"/>
          </a:xfrm>
          <a:prstGeom prst="rect">
            <a:avLst/>
          </a:prstGeom>
          <a:noFill/>
        </p:spPr>
        <p:txBody>
          <a:bodyPr wrap="square" anchor="t" lIns="0" rIns="0" tIns="0" bIns="0">
            <a:spAutoFit/>
          </a:bodyPr>
          <a:lstStyle/>
          <a:p>
            <a:pPr algn="l">
              <a:lnSpc>
                <a:spcPct val="125000"/>
              </a:lnSpc>
            </a:pPr>
            <a:r>
              <a:rPr sz="1500" b="0">
                <a:solidFill>
                  <a:srgbClr val="5E5E5E"/>
                </a:solidFill>
                <a:latin typeface="Noto Sans JP"/>
                <a:ea typeface="Noto Sans JP"/>
                <a:cs typeface="Noto Sans JP"/>
              </a:rPr>
              <a:t>薬機法を守りながら“売れる”広告づくりと集客支援</a:t>
            </a:r>
          </a:p>
        </p:txBody>
      </p:sp>
      <p:sp>
        <p:nvSpPr>
          <p:cNvPr id="7" name="TextBox 6"/>
          <p:cNvSpPr txBox="1"/>
          <p:nvPr/>
        </p:nvSpPr>
        <p:spPr>
          <a:xfrm>
            <a:off x="762000" y="5300000"/>
            <a:ext cx="6000000" cy="6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集客プランナー / ライター</a:t>
            </a:r>
          </a:p>
          <a:p>
            <a:pPr algn="l">
              <a:lnSpc>
                <a:spcPct val="125000"/>
              </a:lnSpc>
            </a:pPr>
            <a:r>
              <a:rPr sz="1800" b="1">
                <a:solidFill>
                  <a:srgbClr val="2B2B2B"/>
                </a:solidFill>
                <a:latin typeface="Noto Sans JP"/>
                <a:ea typeface="Noto Sans JP"/>
                <a:cs typeface="Noto Sans JP"/>
              </a:rPr>
              <a:t>上原 龍之介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AGENDA</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本日の流れ</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a:t>
            </a:r>
          </a:p>
        </p:txBody>
      </p:sp>
      <p:sp>
        <p:nvSpPr>
          <p:cNvPr id="8" name="Rectangle 7"/>
          <p:cNvSpPr/>
          <p:nvPr/>
        </p:nvSpPr>
        <p:spPr>
          <a:xfrm>
            <a:off x="762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01</a:t>
            </a:r>
          </a:p>
        </p:txBody>
      </p:sp>
      <p:sp>
        <p:nvSpPr>
          <p:cNvPr id="10" name="TextBox 9"/>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○○様のお仕事</a:t>
            </a:r>
          </a:p>
        </p:txBody>
      </p:sp>
      <p:sp>
        <p:nvSpPr>
          <p:cNvPr id="11" name="TextBox 10"/>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お仕事の内容や、集客の今を</a:t>
            </a:r>
          </a:p>
          <a:p>
            <a:pPr algn="l">
              <a:lnSpc>
                <a:spcPct val="150000"/>
              </a:lnSpc>
            </a:pPr>
            <a:r>
              <a:rPr sz="1200" b="0">
                <a:solidFill>
                  <a:srgbClr val="5E5E5E"/>
                </a:solidFill>
                <a:latin typeface="Noto Sans JP"/>
                <a:ea typeface="Noto Sans JP"/>
                <a:cs typeface="Noto Sans JP"/>
              </a:rPr>
              <a:t>伺います</a:t>
            </a:r>
          </a:p>
        </p:txBody>
      </p:sp>
      <p:sp>
        <p:nvSpPr>
          <p:cNvPr id="12" name="Rectangle 11"/>
          <p:cNvSpPr/>
          <p:nvPr/>
        </p:nvSpPr>
        <p:spPr>
          <a:xfrm>
            <a:off x="3478000" y="1900000"/>
            <a:ext cx="2520000" cy="3600000"/>
          </a:xfrm>
          <a:prstGeom prst="rect">
            <a:avLst/>
          </a:prstGeom>
          <a:solidFill>
            <a:srgbClr val="F7F3EA"/>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02</a:t>
            </a:r>
          </a:p>
        </p:txBody>
      </p:sp>
      <p:sp>
        <p:nvSpPr>
          <p:cNvPr id="14" name="TextBox 13"/>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集客の診断</a:t>
            </a:r>
          </a:p>
        </p:txBody>
      </p:sp>
      <p:sp>
        <p:nvSpPr>
          <p:cNvPr id="15" name="TextBox 14"/>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うまくいかない理由5つのうち</a:t>
            </a:r>
          </a:p>
          <a:p>
            <a:pPr algn="l">
              <a:lnSpc>
                <a:spcPct val="150000"/>
              </a:lnSpc>
            </a:pPr>
            <a:r>
              <a:rPr sz="1200" b="0">
                <a:solidFill>
                  <a:srgbClr val="5E5E5E"/>
                </a:solidFill>
                <a:latin typeface="Noto Sans JP"/>
                <a:ea typeface="Noto Sans JP"/>
                <a:cs typeface="Noto Sans JP"/>
              </a:rPr>
              <a:t>どれに当てはまるかを一緒に</a:t>
            </a:r>
          </a:p>
        </p:txBody>
      </p:sp>
      <p:sp>
        <p:nvSpPr>
          <p:cNvPr id="16" name="Rectangle 15"/>
          <p:cNvSpPr/>
          <p:nvPr/>
        </p:nvSpPr>
        <p:spPr>
          <a:xfrm>
            <a:off x="6194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03</a:t>
            </a:r>
          </a:p>
        </p:txBody>
      </p:sp>
      <p:sp>
        <p:nvSpPr>
          <p:cNvPr id="18" name="TextBox 17"/>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私の仕事と想い</a:t>
            </a:r>
          </a:p>
        </p:txBody>
      </p:sp>
      <p:sp>
        <p:nvSpPr>
          <p:cNvPr id="19" name="TextBox 18"/>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診断をもとに、お役に立てる</a:t>
            </a:r>
          </a:p>
          <a:p>
            <a:pPr algn="l">
              <a:lnSpc>
                <a:spcPct val="150000"/>
              </a:lnSpc>
            </a:pPr>
            <a:r>
              <a:rPr sz="1200" b="0">
                <a:solidFill>
                  <a:srgbClr val="5E5E5E"/>
                </a:solidFill>
                <a:latin typeface="Noto Sans JP"/>
                <a:ea typeface="Noto Sans JP"/>
                <a:cs typeface="Noto Sans JP"/>
              </a:rPr>
              <a:t>ことをお話しします</a:t>
            </a:r>
          </a:p>
        </p:txBody>
      </p:sp>
      <p:sp>
        <p:nvSpPr>
          <p:cNvPr id="20" name="Rectangle 19"/>
          <p:cNvSpPr/>
          <p:nvPr/>
        </p:nvSpPr>
        <p:spPr>
          <a:xfrm>
            <a:off x="8910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04</a:t>
            </a:r>
          </a:p>
        </p:txBody>
      </p:sp>
      <p:sp>
        <p:nvSpPr>
          <p:cNvPr id="22" name="TextBox 21"/>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次の一歩</a:t>
            </a:r>
          </a:p>
        </p:txBody>
      </p:sp>
      <p:sp>
        <p:nvSpPr>
          <p:cNvPr id="23" name="TextBox 22"/>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今日のお話をもとに</a:t>
            </a:r>
          </a:p>
          <a:p>
            <a:pPr algn="l">
              <a:lnSpc>
                <a:spcPct val="150000"/>
              </a:lnSpc>
            </a:pPr>
            <a:r>
              <a:rPr sz="1200" b="0">
                <a:solidFill>
                  <a:srgbClr val="5E5E5E"/>
                </a:solidFill>
                <a:latin typeface="Noto Sans JP"/>
                <a:ea typeface="Noto Sans JP"/>
                <a:cs typeface="Noto Sans JP"/>
              </a:rPr>
              <a:t>進め方を決めます</a:t>
            </a:r>
          </a:p>
        </p:txBody>
      </p:sp>
      <p:sp>
        <p:nvSpPr>
          <p:cNvPr id="24" name="TextBox 23"/>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HEARING</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まずは○○様のことを教えてください</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3</a:t>
            </a:r>
          </a:p>
        </p:txBody>
      </p:sp>
      <p:sp>
        <p:nvSpPr>
          <p:cNvPr id="8" name="Rectangle 7"/>
          <p:cNvSpPr/>
          <p:nvPr/>
        </p:nvSpPr>
        <p:spPr>
          <a:xfrm>
            <a:off x="762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01</a:t>
            </a:r>
          </a:p>
        </p:txBody>
      </p:sp>
      <p:sp>
        <p:nvSpPr>
          <p:cNvPr id="11" name="TextBox 10"/>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お仕事のこと</a:t>
            </a:r>
          </a:p>
        </p:txBody>
      </p:sp>
      <p:sp>
        <p:nvSpPr>
          <p:cNvPr id="12" name="TextBox 11"/>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・どんなお客様に、何を提供されていますか？</a:t>
            </a:r>
          </a:p>
          <a:p>
            <a:pPr algn="l">
              <a:lnSpc>
                <a:spcPct val="145000"/>
              </a:lnSpc>
            </a:pPr>
            <a:r>
              <a:rPr sz="1300" b="0">
                <a:solidFill>
                  <a:srgbClr val="5E5E5E"/>
                </a:solidFill>
                <a:latin typeface="Noto Sans JP"/>
                <a:ea typeface="Noto Sans JP"/>
                <a:cs typeface="Noto Sans JP"/>
              </a:rPr>
              <a:t>・今のお仕事を始めたきっかけは？</a:t>
            </a:r>
          </a:p>
        </p:txBody>
      </p:sp>
      <p:sp>
        <p:nvSpPr>
          <p:cNvPr id="13" name="Rectangle 12"/>
          <p:cNvSpPr/>
          <p:nvPr/>
        </p:nvSpPr>
        <p:spPr>
          <a:xfrm>
            <a:off x="4396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02</a:t>
            </a:r>
          </a:p>
        </p:txBody>
      </p:sp>
      <p:sp>
        <p:nvSpPr>
          <p:cNvPr id="16" name="TextBox 15"/>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集客のこと</a:t>
            </a:r>
          </a:p>
        </p:txBody>
      </p:sp>
      <p:sp>
        <p:nvSpPr>
          <p:cNvPr id="17" name="TextBox 16"/>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・「これで合ってるのかな」と感じていることは？</a:t>
            </a:r>
          </a:p>
          <a:p>
            <a:pPr algn="l">
              <a:lnSpc>
                <a:spcPct val="145000"/>
              </a:lnSpc>
            </a:pPr>
            <a:r>
              <a:rPr sz="1300" b="0">
                <a:solidFill>
                  <a:srgbClr val="5E5E5E"/>
                </a:solidFill>
                <a:latin typeface="Noto Sans JP"/>
                <a:ea typeface="Noto Sans JP"/>
                <a:cs typeface="Noto Sans JP"/>
              </a:rPr>
              <a:t>・やってみたけど、効果が分からなかったものは？</a:t>
            </a:r>
          </a:p>
          <a:p>
            <a:pPr algn="l">
              <a:lnSpc>
                <a:spcPct val="145000"/>
              </a:lnSpc>
            </a:pPr>
            <a:r>
              <a:rPr sz="1300" b="0">
                <a:solidFill>
                  <a:srgbClr val="5E5E5E"/>
                </a:solidFill>
                <a:latin typeface="Noto Sans JP"/>
                <a:ea typeface="Noto Sans JP"/>
                <a:cs typeface="Noto Sans JP"/>
              </a:rPr>
              <a:t>・逆に、うまくいったと感じたのは？</a:t>
            </a:r>
          </a:p>
        </p:txBody>
      </p:sp>
      <p:sp>
        <p:nvSpPr>
          <p:cNvPr id="18" name="Rectangle 17"/>
          <p:cNvSpPr/>
          <p:nvPr/>
        </p:nvSpPr>
        <p:spPr>
          <a:xfrm>
            <a:off x="8030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03</a:t>
            </a:r>
          </a:p>
        </p:txBody>
      </p:sp>
      <p:sp>
        <p:nvSpPr>
          <p:cNvPr id="21" name="TextBox 20"/>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お知り合いのこと</a:t>
            </a:r>
          </a:p>
        </p:txBody>
      </p:sp>
      <p:sp>
        <p:nvSpPr>
          <p:cNvPr id="22" name="TextBox 21"/>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・普段どんな業種の方とつながっていますか？</a:t>
            </a:r>
          </a:p>
          <a:p>
            <a:pPr algn="l">
              <a:lnSpc>
                <a:spcPct val="145000"/>
              </a:lnSpc>
            </a:pPr>
            <a:r>
              <a:rPr sz="1300" b="0">
                <a:solidFill>
                  <a:srgbClr val="5E5E5E"/>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PROFILE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上原 龍之介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4</a:t>
            </a:r>
          </a:p>
        </p:txBody>
      </p:sp>
      <p:pic>
        <p:nvPicPr>
          <p:cNvPr id="8" name="Picture 7" descr="profile.jpg"/>
          <p:cNvPicPr>
            <a:picLocks noChangeAspect="1"/>
          </p:cNvPicPr>
          <p:nvPr/>
        </p:nvPicPr>
        <p:blipFill>
          <a:blip r:embed="rId4"/>
          <a:stretch>
            <a:fillRect/>
          </a:stretch>
        </p:blipFill>
        <p:spPr>
          <a:xfrm>
            <a:off x="762000" y="1650000"/>
            <a:ext cx="3900000" cy="3900000"/>
          </a:xfrm>
          <a:prstGeom prst="rect">
            <a:avLst/>
          </a:prstGeom>
        </p:spPr>
      </p:pic>
      <p:sp>
        <p:nvSpPr>
          <p:cNvPr id="9" name="TextBox 8"/>
          <p:cNvSpPr txBox="1"/>
          <p:nvPr/>
        </p:nvSpPr>
        <p:spPr>
          <a:xfrm>
            <a:off x="5162000" y="1700000"/>
            <a:ext cx="6000000" cy="300000"/>
          </a:xfrm>
          <a:prstGeom prst="rect">
            <a:avLst/>
          </a:prstGeom>
          <a:noFill/>
        </p:spPr>
        <p:txBody>
          <a:bodyPr wrap="square" anchor="t" lIns="0" rIns="0" tIns="0" bIns="0">
            <a:spAutoFit/>
          </a:bodyPr>
          <a:lstStyle/>
          <a:p>
            <a:pPr algn="l">
              <a:lnSpc>
                <a:spcPct val="125000"/>
              </a:lnSpc>
            </a:pPr>
            <a:r>
              <a:rPr sz="1300" b="1">
                <a:solidFill>
                  <a:srgbClr val="C6A15B"/>
                </a:solidFill>
                <a:latin typeface="Noto Sans JP"/>
                <a:ea typeface="Noto Sans JP"/>
                <a:cs typeface="Noto Sans JP"/>
              </a:rPr>
              <a:t>集客プランナー / ライター</a:t>
            </a:r>
          </a:p>
        </p:txBody>
      </p:sp>
      <p:sp>
        <p:nvSpPr>
          <p:cNvPr id="10" name="TextBox 9"/>
          <p:cNvSpPr txBox="1"/>
          <p:nvPr/>
        </p:nvSpPr>
        <p:spPr>
          <a:xfrm>
            <a:off x="5162000" y="2050000"/>
            <a:ext cx="6300000" cy="1100000"/>
          </a:xfrm>
          <a:prstGeom prst="rect">
            <a:avLst/>
          </a:prstGeom>
          <a:noFill/>
        </p:spPr>
        <p:txBody>
          <a:bodyPr wrap="square" anchor="t" lIns="0" rIns="0" tIns="0" bIns="0">
            <a:spAutoFit/>
          </a:bodyPr>
          <a:lstStyle/>
          <a:p>
            <a:pPr algn="l">
              <a:lnSpc>
                <a:spcPct val="135000"/>
              </a:lnSpc>
            </a:pPr>
            <a:r>
              <a:rPr sz="2000" b="1">
                <a:solidFill>
                  <a:srgbClr val="2B2B2B"/>
                </a:solidFill>
                <a:latin typeface="Noto Sans JP"/>
                <a:ea typeface="Noto Sans JP"/>
                <a:cs typeface="Noto Sans JP"/>
              </a:rPr>
              <a:t>美容・健康分野で、</a:t>
            </a:r>
          </a:p>
          <a:p>
            <a:pPr algn="l">
              <a:lnSpc>
                <a:spcPct val="135000"/>
              </a:lnSpc>
            </a:pPr>
            <a:r>
              <a:rPr sz="2000" b="1">
                <a:solidFill>
                  <a:srgbClr val="2B2B2B"/>
                </a:solidFill>
                <a:latin typeface="Noto Sans JP"/>
                <a:ea typeface="Noto Sans JP"/>
                <a:cs typeface="Noto Sans JP"/>
              </a:rPr>
              <a:t>薬機法を守りながら“売れる”広告を作っています。</a:t>
            </a:r>
          </a:p>
        </p:txBody>
      </p:sp>
      <p:sp>
        <p:nvSpPr>
          <p:cNvPr id="11" name="Rectangle 10"/>
          <p:cNvSpPr/>
          <p:nvPr/>
        </p:nvSpPr>
        <p:spPr>
          <a:xfrm>
            <a:off x="51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6年以上</a:t>
            </a:r>
          </a:p>
        </p:txBody>
      </p:sp>
      <p:sp>
        <p:nvSpPr>
          <p:cNvPr id="13" name="TextBox 12"/>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ライター歴</a:t>
            </a:r>
          </a:p>
        </p:txBody>
      </p:sp>
      <p:sp>
        <p:nvSpPr>
          <p:cNvPr id="14" name="Rectangle 13"/>
          <p:cNvSpPr/>
          <p:nvPr/>
        </p:nvSpPr>
        <p:spPr>
          <a:xfrm>
            <a:off x="731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LP・LINE・広告</a:t>
            </a:r>
          </a:p>
        </p:txBody>
      </p:sp>
      <p:sp>
        <p:nvSpPr>
          <p:cNvPr id="16" name="TextBox 15"/>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企画から運用まで</a:t>
            </a:r>
          </a:p>
        </p:txBody>
      </p:sp>
      <p:sp>
        <p:nvSpPr>
          <p:cNvPr id="17" name="Rectangle 16"/>
          <p:cNvSpPr/>
          <p:nvPr/>
        </p:nvSpPr>
        <p:spPr>
          <a:xfrm>
            <a:off x="94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薬機法・景表法</a:t>
            </a:r>
          </a:p>
        </p:txBody>
      </p:sp>
      <p:sp>
        <p:nvSpPr>
          <p:cNvPr id="19" name="TextBox 18"/>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配慮した表現設計</a:t>
            </a:r>
          </a:p>
        </p:txBody>
      </p:sp>
      <p:sp>
        <p:nvSpPr>
          <p:cNvPr id="20" name="TextBox 19"/>
          <p:cNvSpPr txBox="1"/>
          <p:nvPr/>
        </p:nvSpPr>
        <p:spPr>
          <a:xfrm>
            <a:off x="5162000" y="4800000"/>
            <a:ext cx="6300000" cy="1300000"/>
          </a:xfrm>
          <a:prstGeom prst="rect">
            <a:avLst/>
          </a:prstGeom>
          <a:noFill/>
        </p:spPr>
        <p:txBody>
          <a:bodyPr wrap="square" anchor="t" lIns="0" rIns="0" tIns="0" bIns="0">
            <a:spAutoFit/>
          </a:bodyPr>
          <a:lstStyle/>
          <a:p>
            <a:pPr algn="l">
              <a:lnSpc>
                <a:spcPct val="150000"/>
              </a:lnSpc>
            </a:pPr>
            <a:r>
              <a:rPr sz="1100" b="1">
                <a:solidFill>
                  <a:srgbClr val="C6A15B"/>
                </a:solidFill>
                <a:latin typeface="Noto Sans JP"/>
                <a:ea typeface="Noto Sans JP"/>
                <a:cs typeface="Noto Sans JP"/>
              </a:rPr>
              <a:t>略歴</a:t>
            </a:r>
          </a:p>
          <a:p>
            <a:pPr algn="l">
              <a:lnSpc>
                <a:spcPct val="150000"/>
              </a:lnSpc>
            </a:pPr>
            <a:r>
              <a:rPr sz="1100" b="0">
                <a:solidFill>
                  <a:srgbClr val="5E5E5E"/>
                </a:solidFill>
                <a:latin typeface="Noto Sans JP"/>
                <a:ea typeface="Noto Sans JP"/>
                <a:cs typeface="Noto Sans JP"/>
              </a:rPr>
              <a:t>ゲーム制作の専門学校を卒業 → ゲームアプリのメールサポート（2年）</a:t>
            </a:r>
          </a:p>
          <a:p>
            <a:pPr algn="l">
              <a:lnSpc>
                <a:spcPct val="150000"/>
              </a:lnSpc>
            </a:pPr>
            <a:r>
              <a:rPr sz="1100" b="0">
                <a:solidFill>
                  <a:srgbClr val="5E5E5E"/>
                </a:solidFill>
                <a:latin typeface="Noto Sans JP"/>
                <a:ea typeface="Noto Sans JP"/>
                <a:cs typeface="Noto Sans JP"/>
              </a:rPr>
              <a:t>→ 建築積算（3.5年） → フリーランスライターとして独立</a:t>
            </a:r>
          </a:p>
          <a:p>
            <a:pPr algn="l">
              <a:lnSpc>
                <a:spcPct val="150000"/>
              </a:lnSpc>
            </a:pPr>
            <a:r>
              <a:rPr sz="1100" b="0">
                <a:solidFill>
                  <a:srgbClr val="5E5E5E"/>
                </a:solidFill>
                <a:latin typeface="Noto Sans JP"/>
                <a:ea typeface="Noto Sans JP"/>
                <a:cs typeface="Noto Sans JP"/>
              </a:rPr>
              <a:t>→ 現在：ライター兼集客プランナー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集客の診断をしてみましょう</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5</a:t>
            </a:r>
          </a:p>
        </p:txBody>
      </p:sp>
      <p:pic>
        <p:nvPicPr>
          <p:cNvPr id="8" name="Picture 7" descr="lp_title.png"/>
          <p:cNvPicPr>
            <a:picLocks noChangeAspect="1"/>
          </p:cNvPicPr>
          <p:nvPr/>
        </p:nvPicPr>
        <p:blipFill>
          <a:blip r:embed="rId4"/>
          <a:stretch>
            <a:fillRect/>
          </a:stretch>
        </p:blipFill>
        <p:spPr>
          <a:xfrm>
            <a:off x="2116040" y="1600000"/>
            <a:ext cx="7959919" cy="3999999"/>
          </a:xfrm>
          <a:prstGeom prst="rect">
            <a:avLst/>
          </a:prstGeom>
          <a:ln w="12700">
            <a:solidFill>
              <a:srgbClr val="E5DCC8"/>
            </a:solidFill>
          </a:ln>
        </p:spPr>
      </p:pic>
      <p:sp>
        <p:nvSpPr>
          <p:cNvPr id="9" name="TextBox 8"/>
          <p:cNvSpPr txBox="1"/>
          <p:nvPr/>
        </p:nvSpPr>
        <p:spPr>
          <a:xfrm>
            <a:off x="762000" y="5750000"/>
            <a:ext cx="10668000" cy="400000"/>
          </a:xfrm>
          <a:prstGeom prst="rect">
            <a:avLst/>
          </a:prstGeom>
          <a:noFill/>
        </p:spPr>
        <p:txBody>
          <a:bodyPr wrap="square" anchor="t" lIns="0" rIns="0" tIns="0" bIns="0">
            <a:spAutoFit/>
          </a:bodyPr>
          <a:lstStyle/>
          <a:p>
            <a:pPr algn="r">
              <a:lnSpc>
                <a:spcPct val="125000"/>
              </a:lnSpc>
            </a:pPr>
            <a:r>
              <a:rPr sz="1000" b="0">
                <a:solidFill>
                  <a:srgbClr val="5E5E5E"/>
                </a:solidFill>
                <a:latin typeface="Noto Sans JP"/>
                <a:ea typeface="Noto Sans JP"/>
                <a:cs typeface="Noto Sans JP"/>
              </a:rPr>
              <a:t>※ U-ライティング サービスサイトより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○○様は、どれに近いですか？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6</a:t>
            </a:r>
          </a:p>
        </p:txBody>
      </p:sp>
      <p:sp>
        <p:nvSpPr>
          <p:cNvPr id="8" name="Rectangle 7"/>
          <p:cNvSpPr/>
          <p:nvPr/>
        </p:nvSpPr>
        <p:spPr>
          <a:xfrm>
            <a:off x="762000" y="1600000"/>
            <a:ext cx="10668000" cy="78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2000" y="1790000"/>
            <a:ext cx="400000" cy="40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2000" y="1720000"/>
            <a:ext cx="900000" cy="55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01</a:t>
            </a:r>
          </a:p>
        </p:txBody>
      </p:sp>
      <p:sp>
        <p:nvSpPr>
          <p:cNvPr id="11" name="TextBox 10"/>
          <p:cNvSpPr txBox="1"/>
          <p:nvPr/>
        </p:nvSpPr>
        <p:spPr>
          <a:xfrm>
            <a:off x="2462000" y="1720000"/>
            <a:ext cx="5600000" cy="55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商品の内容や素晴らしさばかりを伝えている</a:t>
            </a:r>
          </a:p>
        </p:txBody>
      </p:sp>
      <p:sp>
        <p:nvSpPr>
          <p:cNvPr id="12" name="TextBox 11"/>
          <p:cNvSpPr txBox="1"/>
          <p:nvPr/>
        </p:nvSpPr>
        <p:spPr>
          <a:xfrm>
            <a:off x="8162000" y="1720000"/>
            <a:ext cx="3068000" cy="550000"/>
          </a:xfrm>
          <a:prstGeom prst="rect">
            <a:avLst/>
          </a:prstGeom>
          <a:noFill/>
        </p:spPr>
        <p:txBody>
          <a:bodyPr wrap="square" anchor="ctr" lIns="0" rIns="0" tIns="0" bIns="0">
            <a:spAutoFit/>
          </a:bodyPr>
          <a:lstStyle/>
          <a:p>
            <a:pPr algn="l">
              <a:lnSpc>
                <a:spcPct val="125000"/>
              </a:lnSpc>
            </a:pPr>
            <a:r>
              <a:rPr sz="1200" b="0">
                <a:solidFill>
                  <a:srgbClr val="5E5E5E"/>
                </a:solidFill>
                <a:latin typeface="Noto Sans JP"/>
                <a:ea typeface="Noto Sans JP"/>
                <a:cs typeface="Noto Sans JP"/>
              </a:rPr>
              <a:t>機能や設備の説明が中心になっている</a:t>
            </a:r>
          </a:p>
        </p:txBody>
      </p:sp>
      <p:sp>
        <p:nvSpPr>
          <p:cNvPr id="13" name="Rectangle 12"/>
          <p:cNvSpPr/>
          <p:nvPr/>
        </p:nvSpPr>
        <p:spPr>
          <a:xfrm>
            <a:off x="762000" y="2500000"/>
            <a:ext cx="10668000" cy="78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2000" y="2690000"/>
            <a:ext cx="400000" cy="40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12000" y="2620000"/>
            <a:ext cx="900000" cy="55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02</a:t>
            </a:r>
          </a:p>
        </p:txBody>
      </p:sp>
      <p:sp>
        <p:nvSpPr>
          <p:cNvPr id="16" name="TextBox 15"/>
          <p:cNvSpPr txBox="1"/>
          <p:nvPr/>
        </p:nvSpPr>
        <p:spPr>
          <a:xfrm>
            <a:off x="2462000" y="2620000"/>
            <a:ext cx="5600000" cy="55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類似サービスと変わらない魅力を伝えている</a:t>
            </a:r>
          </a:p>
        </p:txBody>
      </p:sp>
      <p:sp>
        <p:nvSpPr>
          <p:cNvPr id="17" name="TextBox 16"/>
          <p:cNvSpPr txBox="1"/>
          <p:nvPr/>
        </p:nvSpPr>
        <p:spPr>
          <a:xfrm>
            <a:off x="8162000" y="2620000"/>
            <a:ext cx="3068000" cy="550000"/>
          </a:xfrm>
          <a:prstGeom prst="rect">
            <a:avLst/>
          </a:prstGeom>
          <a:noFill/>
        </p:spPr>
        <p:txBody>
          <a:bodyPr wrap="square" anchor="ctr" lIns="0" rIns="0" tIns="0" bIns="0">
            <a:spAutoFit/>
          </a:bodyPr>
          <a:lstStyle/>
          <a:p>
            <a:pPr algn="l">
              <a:lnSpc>
                <a:spcPct val="125000"/>
              </a:lnSpc>
            </a:pPr>
            <a:r>
              <a:rPr sz="1200" b="0">
                <a:solidFill>
                  <a:srgbClr val="5E5E5E"/>
                </a:solidFill>
                <a:latin typeface="Noto Sans JP"/>
                <a:ea typeface="Noto Sans JP"/>
                <a:cs typeface="Noto Sans JP"/>
              </a:rPr>
              <a:t>「なぜあなたに頼むのか」が伝わらない</a:t>
            </a:r>
          </a:p>
        </p:txBody>
      </p:sp>
      <p:sp>
        <p:nvSpPr>
          <p:cNvPr id="18" name="Rectangle 17"/>
          <p:cNvSpPr/>
          <p:nvPr/>
        </p:nvSpPr>
        <p:spPr>
          <a:xfrm>
            <a:off x="762000" y="3400000"/>
            <a:ext cx="10668000" cy="78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2000" y="3590000"/>
            <a:ext cx="400000" cy="40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12000" y="3520000"/>
            <a:ext cx="900000" cy="55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03</a:t>
            </a:r>
          </a:p>
        </p:txBody>
      </p:sp>
      <p:sp>
        <p:nvSpPr>
          <p:cNvPr id="21" name="TextBox 20"/>
          <p:cNvSpPr txBox="1"/>
          <p:nvPr/>
        </p:nvSpPr>
        <p:spPr>
          <a:xfrm>
            <a:off x="2462000" y="3520000"/>
            <a:ext cx="5600000" cy="55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デザインや雰囲気を重視して広告を作っている</a:t>
            </a:r>
          </a:p>
        </p:txBody>
      </p:sp>
      <p:sp>
        <p:nvSpPr>
          <p:cNvPr id="22" name="TextBox 21"/>
          <p:cNvSpPr txBox="1"/>
          <p:nvPr/>
        </p:nvSpPr>
        <p:spPr>
          <a:xfrm>
            <a:off x="8162000" y="3520000"/>
            <a:ext cx="3068000" cy="550000"/>
          </a:xfrm>
          <a:prstGeom prst="rect">
            <a:avLst/>
          </a:prstGeom>
          <a:noFill/>
        </p:spPr>
        <p:txBody>
          <a:bodyPr wrap="square" anchor="ctr" lIns="0" rIns="0" tIns="0" bIns="0">
            <a:spAutoFit/>
          </a:bodyPr>
          <a:lstStyle/>
          <a:p>
            <a:pPr algn="l">
              <a:lnSpc>
                <a:spcPct val="125000"/>
              </a:lnSpc>
            </a:pPr>
            <a:r>
              <a:rPr sz="1200" b="0">
                <a:solidFill>
                  <a:srgbClr val="5E5E5E"/>
                </a:solidFill>
                <a:latin typeface="Noto Sans JP"/>
                <a:ea typeface="Noto Sans JP"/>
                <a:cs typeface="Noto Sans JP"/>
              </a:rPr>
              <a:t>おしゃれだけど、行動につながらない</a:t>
            </a:r>
          </a:p>
        </p:txBody>
      </p:sp>
      <p:sp>
        <p:nvSpPr>
          <p:cNvPr id="23" name="Rectangle 22"/>
          <p:cNvSpPr/>
          <p:nvPr/>
        </p:nvSpPr>
        <p:spPr>
          <a:xfrm>
            <a:off x="762000" y="4300000"/>
            <a:ext cx="10668000" cy="78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2000" y="4490000"/>
            <a:ext cx="400000" cy="40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12000" y="4420000"/>
            <a:ext cx="900000" cy="55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04</a:t>
            </a:r>
          </a:p>
        </p:txBody>
      </p:sp>
      <p:sp>
        <p:nvSpPr>
          <p:cNvPr id="26" name="TextBox 25"/>
          <p:cNvSpPr txBox="1"/>
          <p:nvPr/>
        </p:nvSpPr>
        <p:spPr>
          <a:xfrm>
            <a:off x="2462000" y="4420000"/>
            <a:ext cx="5600000" cy="55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ターゲットが少ない場所で集客を続けている</a:t>
            </a:r>
          </a:p>
        </p:txBody>
      </p:sp>
      <p:sp>
        <p:nvSpPr>
          <p:cNvPr id="27" name="TextBox 26"/>
          <p:cNvSpPr txBox="1"/>
          <p:nvPr/>
        </p:nvSpPr>
        <p:spPr>
          <a:xfrm>
            <a:off x="8162000" y="4420000"/>
            <a:ext cx="3068000" cy="550000"/>
          </a:xfrm>
          <a:prstGeom prst="rect">
            <a:avLst/>
          </a:prstGeom>
          <a:noFill/>
        </p:spPr>
        <p:txBody>
          <a:bodyPr wrap="square" anchor="ctr" lIns="0" rIns="0" tIns="0" bIns="0">
            <a:spAutoFit/>
          </a:bodyPr>
          <a:lstStyle/>
          <a:p>
            <a:pPr algn="l">
              <a:lnSpc>
                <a:spcPct val="125000"/>
              </a:lnSpc>
            </a:pPr>
            <a:r>
              <a:rPr sz="1200" b="0">
                <a:solidFill>
                  <a:srgbClr val="5E5E5E"/>
                </a:solidFill>
                <a:latin typeface="Noto Sans JP"/>
                <a:ea typeface="Noto Sans JP"/>
                <a:cs typeface="Noto Sans JP"/>
              </a:rPr>
              <a:t>届けたい人がいない媒体で発信している</a:t>
            </a:r>
          </a:p>
        </p:txBody>
      </p:sp>
      <p:sp>
        <p:nvSpPr>
          <p:cNvPr id="28" name="Rectangle 27"/>
          <p:cNvSpPr/>
          <p:nvPr/>
        </p:nvSpPr>
        <p:spPr>
          <a:xfrm>
            <a:off x="762000" y="5200000"/>
            <a:ext cx="10668000" cy="78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2000" y="5390000"/>
            <a:ext cx="400000" cy="40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12000" y="5320000"/>
            <a:ext cx="900000" cy="55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05</a:t>
            </a:r>
          </a:p>
        </p:txBody>
      </p:sp>
      <p:sp>
        <p:nvSpPr>
          <p:cNvPr id="31" name="TextBox 30"/>
          <p:cNvSpPr txBox="1"/>
          <p:nvPr/>
        </p:nvSpPr>
        <p:spPr>
          <a:xfrm>
            <a:off x="2462000" y="5320000"/>
            <a:ext cx="5600000" cy="55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何も考えずに集客方針を決めている</a:t>
            </a:r>
          </a:p>
        </p:txBody>
      </p:sp>
      <p:sp>
        <p:nvSpPr>
          <p:cNvPr id="32" name="TextBox 31"/>
          <p:cNvSpPr txBox="1"/>
          <p:nvPr/>
        </p:nvSpPr>
        <p:spPr>
          <a:xfrm>
            <a:off x="8162000" y="5320000"/>
            <a:ext cx="3068000" cy="550000"/>
          </a:xfrm>
          <a:prstGeom prst="rect">
            <a:avLst/>
          </a:prstGeom>
          <a:noFill/>
        </p:spPr>
        <p:txBody>
          <a:bodyPr wrap="square" anchor="ctr" lIns="0" rIns="0" tIns="0" bIns="0">
            <a:spAutoFit/>
          </a:bodyPr>
          <a:lstStyle/>
          <a:p>
            <a:pPr algn="l">
              <a:lnSpc>
                <a:spcPct val="125000"/>
              </a:lnSpc>
            </a:pPr>
            <a:r>
              <a:rPr sz="1200" b="0">
                <a:solidFill>
                  <a:srgbClr val="5E5E5E"/>
                </a:solidFill>
                <a:latin typeface="Noto Sans JP"/>
                <a:ea typeface="Noto Sans JP"/>
                <a:cs typeface="Noto Sans JP"/>
              </a:rPr>
              <a:t>流行りを追って、何を直せばいいか分からない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  理由 01</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商品の内容や素晴らしさばかりを伝えている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7</a:t>
            </a:r>
          </a:p>
        </p:txBody>
      </p:sp>
      <p:pic>
        <p:nvPicPr>
          <p:cNvPr id="8" name="Picture 7" descr="lp_r1.png"/>
          <p:cNvPicPr>
            <a:picLocks noChangeAspect="1"/>
          </p:cNvPicPr>
          <p:nvPr/>
        </p:nvPicPr>
        <p:blipFill>
          <a:blip r:embed="rId4"/>
          <a:stretch>
            <a:fillRect/>
          </a:stretch>
        </p:blipFill>
        <p:spPr>
          <a:xfrm>
            <a:off x="762000" y="1982377"/>
            <a:ext cx="5600000" cy="3735245"/>
          </a:xfrm>
          <a:prstGeom prst="rect">
            <a:avLst/>
          </a:prstGeom>
          <a:ln w="12700">
            <a:solidFill>
              <a:srgbClr val="E5DCC8"/>
            </a:solidFill>
          </a:ln>
        </p:spPr>
      </p:pic>
      <p:sp>
        <p:nvSpPr>
          <p:cNvPr id="9" name="TextBox 8"/>
          <p:cNvSpPr txBox="1"/>
          <p:nvPr/>
        </p:nvSpPr>
        <p:spPr>
          <a:xfrm>
            <a:off x="6712000" y="1650000"/>
            <a:ext cx="47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なぜダメなのか</a:t>
            </a:r>
          </a:p>
        </p:txBody>
      </p:sp>
      <p:sp>
        <p:nvSpPr>
          <p:cNvPr id="10" name="TextBox 9"/>
          <p:cNvSpPr txBox="1"/>
          <p:nvPr/>
        </p:nvSpPr>
        <p:spPr>
          <a:xfrm>
            <a:off x="6712000" y="1950000"/>
            <a:ext cx="4718000" cy="800000"/>
          </a:xfrm>
          <a:prstGeom prst="rect">
            <a:avLst/>
          </a:prstGeom>
          <a:noFill/>
        </p:spPr>
        <p:txBody>
          <a:bodyPr wrap="square" anchor="t" lIns="0" rIns="0" tIns="0" bIns="0">
            <a:spAutoFit/>
          </a:bodyPr>
          <a:lstStyle/>
          <a:p>
            <a:pPr algn="l">
              <a:lnSpc>
                <a:spcPct val="150000"/>
              </a:lnSpc>
            </a:pPr>
            <a:r>
              <a:rPr sz="1300" b="0">
                <a:solidFill>
                  <a:srgbClr val="2B2B2B"/>
                </a:solidFill>
                <a:latin typeface="Noto Sans JP"/>
                <a:ea typeface="Noto Sans JP"/>
                <a:cs typeface="Noto Sans JP"/>
              </a:rPr>
              <a:t>見込み客が知りたいのは、商品そのものではなく「使った後の自分の変化」。</a:t>
            </a:r>
          </a:p>
        </p:txBody>
      </p:sp>
      <p:sp>
        <p:nvSpPr>
          <p:cNvPr id="11" name="Rectangle 10"/>
          <p:cNvSpPr/>
          <p:nvPr/>
        </p:nvSpPr>
        <p:spPr>
          <a:xfrm>
            <a:off x="6712000" y="2900000"/>
            <a:ext cx="4718000" cy="1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12000" y="2900000"/>
            <a:ext cx="76200" cy="1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62000" y="3020000"/>
            <a:ext cx="43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処方箋</a:t>
            </a:r>
          </a:p>
        </p:txBody>
      </p:sp>
      <p:sp>
        <p:nvSpPr>
          <p:cNvPr id="14" name="TextBox 13"/>
          <p:cNvSpPr txBox="1"/>
          <p:nvPr/>
        </p:nvSpPr>
        <p:spPr>
          <a:xfrm>
            <a:off x="6962000" y="3330000"/>
            <a:ext cx="4318000" cy="850000"/>
          </a:xfrm>
          <a:prstGeom prst="rect">
            <a:avLst/>
          </a:prstGeom>
          <a:noFill/>
        </p:spPr>
        <p:txBody>
          <a:bodyPr wrap="square" anchor="t" lIns="0" rIns="0" tIns="0" bIns="0">
            <a:spAutoFit/>
          </a:bodyPr>
          <a:lstStyle/>
          <a:p>
            <a:pPr algn="l">
              <a:lnSpc>
                <a:spcPct val="135000"/>
              </a:lnSpc>
            </a:pPr>
            <a:r>
              <a:rPr sz="1500" b="1">
                <a:solidFill>
                  <a:srgbClr val="2B2B2B"/>
                </a:solidFill>
                <a:latin typeface="Noto Sans JP"/>
                <a:ea typeface="Noto Sans JP"/>
                <a:cs typeface="Noto Sans JP"/>
              </a:rPr>
              <a:t>使った後の「変化」や「体験」を言葉にする。</a:t>
            </a:r>
          </a:p>
        </p:txBody>
      </p:sp>
      <p:sp>
        <p:nvSpPr>
          <p:cNvPr id="15" name="TextBox 14"/>
          <p:cNvSpPr txBox="1"/>
          <p:nvPr/>
        </p:nvSpPr>
        <p:spPr>
          <a:xfrm>
            <a:off x="6712000" y="4400000"/>
            <a:ext cx="47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○○様の場合は？</a:t>
            </a:r>
          </a:p>
        </p:txBody>
      </p:sp>
      <p:sp>
        <p:nvSpPr>
          <p:cNvPr id="16" name="TextBox 15"/>
          <p:cNvSpPr txBox="1"/>
          <p:nvPr/>
        </p:nvSpPr>
        <p:spPr>
          <a:xfrm>
            <a:off x="6712000" y="4700000"/>
            <a:ext cx="4718000" cy="800000"/>
          </a:xfrm>
          <a:prstGeom prst="rect">
            <a:avLst/>
          </a:prstGeom>
          <a:noFill/>
        </p:spPr>
        <p:txBody>
          <a:bodyPr wrap="square" anchor="t" lIns="0" rIns="0" tIns="0" bIns="0">
            <a:spAutoFit/>
          </a:bodyPr>
          <a:lstStyle/>
          <a:p>
            <a:pPr algn="l">
              <a:lnSpc>
                <a:spcPct val="140000"/>
              </a:lnSpc>
            </a:pPr>
            <a:r>
              <a:rPr sz="1400" b="1">
                <a:solidFill>
                  <a:srgbClr val="2B2B2B"/>
                </a:solidFill>
                <a:latin typeface="Noto Sans JP"/>
                <a:ea typeface="Noto Sans JP"/>
                <a:cs typeface="Noto Sans JP"/>
              </a:rPr>
              <a:t>○○さんの広告は、商品の説明と、お客様の変化、どちらが多いですか？</a:t>
            </a:r>
          </a:p>
        </p:txBody>
      </p:sp>
      <p:sp>
        <p:nvSpPr>
          <p:cNvPr id="17" name="TextBox 16"/>
          <p:cNvSpPr txBox="1"/>
          <p:nvPr/>
        </p:nvSpPr>
        <p:spPr>
          <a:xfrm>
            <a:off x="6712000" y="5650000"/>
            <a:ext cx="4718000" cy="500000"/>
          </a:xfrm>
          <a:prstGeom prst="rect">
            <a:avLst/>
          </a:prstGeom>
          <a:noFill/>
        </p:spPr>
        <p:txBody>
          <a:bodyPr wrap="square" anchor="t" lIns="0" rIns="0" tIns="0" bIns="0">
            <a:spAutoFit/>
          </a:bodyPr>
          <a:lstStyle/>
          <a:p>
            <a:pPr algn="l">
              <a:lnSpc>
                <a:spcPct val="130000"/>
              </a:lnSpc>
            </a:pPr>
            <a:r>
              <a:rPr sz="1000" b="0">
                <a:solidFill>
                  <a:srgbClr val="5E5E5E"/>
                </a:solidFill>
                <a:latin typeface="Noto Sans JP"/>
                <a:ea typeface="Noto Sans JP"/>
                <a:cs typeface="Noto Sans JP"/>
              </a:rPr>
              <a:t>関連事例 ▶ CASE 01：寝具を「朝の目覚め」の体験で伝えて目標の279%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  理由 02</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類似サービスと変わらない魅力を伝えている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8</a:t>
            </a:r>
          </a:p>
        </p:txBody>
      </p:sp>
      <p:pic>
        <p:nvPicPr>
          <p:cNvPr id="8" name="Picture 7" descr="lp_r2.png"/>
          <p:cNvPicPr>
            <a:picLocks noChangeAspect="1"/>
          </p:cNvPicPr>
          <p:nvPr/>
        </p:nvPicPr>
        <p:blipFill>
          <a:blip r:embed="rId4"/>
          <a:stretch>
            <a:fillRect/>
          </a:stretch>
        </p:blipFill>
        <p:spPr>
          <a:xfrm>
            <a:off x="762000" y="1600000"/>
            <a:ext cx="5502503" cy="4499999"/>
          </a:xfrm>
          <a:prstGeom prst="rect">
            <a:avLst/>
          </a:prstGeom>
          <a:ln w="12700">
            <a:solidFill>
              <a:srgbClr val="E5DCC8"/>
            </a:solidFill>
          </a:ln>
        </p:spPr>
      </p:pic>
      <p:sp>
        <p:nvSpPr>
          <p:cNvPr id="9" name="TextBox 8"/>
          <p:cNvSpPr txBox="1"/>
          <p:nvPr/>
        </p:nvSpPr>
        <p:spPr>
          <a:xfrm>
            <a:off x="6614503" y="1650000"/>
            <a:ext cx="4815497"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なぜダメなのか</a:t>
            </a:r>
          </a:p>
        </p:txBody>
      </p:sp>
      <p:sp>
        <p:nvSpPr>
          <p:cNvPr id="10" name="TextBox 9"/>
          <p:cNvSpPr txBox="1"/>
          <p:nvPr/>
        </p:nvSpPr>
        <p:spPr>
          <a:xfrm>
            <a:off x="6614503" y="1950000"/>
            <a:ext cx="4815497" cy="800000"/>
          </a:xfrm>
          <a:prstGeom prst="rect">
            <a:avLst/>
          </a:prstGeom>
          <a:noFill/>
        </p:spPr>
        <p:txBody>
          <a:bodyPr wrap="square" anchor="t" lIns="0" rIns="0" tIns="0" bIns="0">
            <a:spAutoFit/>
          </a:bodyPr>
          <a:lstStyle/>
          <a:p>
            <a:pPr algn="l">
              <a:lnSpc>
                <a:spcPct val="150000"/>
              </a:lnSpc>
            </a:pPr>
            <a:r>
              <a:rPr sz="1300" b="0">
                <a:solidFill>
                  <a:srgbClr val="2B2B2B"/>
                </a:solidFill>
                <a:latin typeface="Noto Sans JP"/>
                <a:ea typeface="Noto Sans JP"/>
                <a:cs typeface="Noto Sans JP"/>
              </a:rPr>
              <a:t>「スピード」「安心」「丁寧」はどこでも言える。「なぜあなたに頼むのか」が伝わらない。</a:t>
            </a:r>
          </a:p>
        </p:txBody>
      </p:sp>
      <p:sp>
        <p:nvSpPr>
          <p:cNvPr id="11" name="Rectangle 10"/>
          <p:cNvSpPr/>
          <p:nvPr/>
        </p:nvSpPr>
        <p:spPr>
          <a:xfrm>
            <a:off x="6614503" y="2900000"/>
            <a:ext cx="4815497" cy="1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14503" y="2900000"/>
            <a:ext cx="76200" cy="1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64503" y="3020000"/>
            <a:ext cx="4415497"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処方箋</a:t>
            </a:r>
          </a:p>
        </p:txBody>
      </p:sp>
      <p:sp>
        <p:nvSpPr>
          <p:cNvPr id="14" name="TextBox 13"/>
          <p:cNvSpPr txBox="1"/>
          <p:nvPr/>
        </p:nvSpPr>
        <p:spPr>
          <a:xfrm>
            <a:off x="6864503" y="3330000"/>
            <a:ext cx="4415497" cy="850000"/>
          </a:xfrm>
          <a:prstGeom prst="rect">
            <a:avLst/>
          </a:prstGeom>
          <a:noFill/>
        </p:spPr>
        <p:txBody>
          <a:bodyPr wrap="square" anchor="t" lIns="0" rIns="0" tIns="0" bIns="0">
            <a:spAutoFit/>
          </a:bodyPr>
          <a:lstStyle/>
          <a:p>
            <a:pPr algn="l">
              <a:lnSpc>
                <a:spcPct val="135000"/>
              </a:lnSpc>
            </a:pPr>
            <a:r>
              <a:rPr sz="1500" b="1">
                <a:solidFill>
                  <a:srgbClr val="2B2B2B"/>
                </a:solidFill>
                <a:latin typeface="Noto Sans JP"/>
                <a:ea typeface="Noto Sans JP"/>
                <a:cs typeface="Noto Sans JP"/>
              </a:rPr>
              <a:t>経歴・実績・想いを掘り起こして、「あなただけの理由」を言葉にする。</a:t>
            </a:r>
          </a:p>
        </p:txBody>
      </p:sp>
      <p:sp>
        <p:nvSpPr>
          <p:cNvPr id="15" name="TextBox 14"/>
          <p:cNvSpPr txBox="1"/>
          <p:nvPr/>
        </p:nvSpPr>
        <p:spPr>
          <a:xfrm>
            <a:off x="6614503" y="4400000"/>
            <a:ext cx="4815497"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○○様の場合は？</a:t>
            </a:r>
          </a:p>
        </p:txBody>
      </p:sp>
      <p:sp>
        <p:nvSpPr>
          <p:cNvPr id="16" name="TextBox 15"/>
          <p:cNvSpPr txBox="1"/>
          <p:nvPr/>
        </p:nvSpPr>
        <p:spPr>
          <a:xfrm>
            <a:off x="6614503" y="4700000"/>
            <a:ext cx="4815497" cy="800000"/>
          </a:xfrm>
          <a:prstGeom prst="rect">
            <a:avLst/>
          </a:prstGeom>
          <a:noFill/>
        </p:spPr>
        <p:txBody>
          <a:bodyPr wrap="square" anchor="t" lIns="0" rIns="0" tIns="0" bIns="0">
            <a:spAutoFit/>
          </a:bodyPr>
          <a:lstStyle/>
          <a:p>
            <a:pPr algn="l">
              <a:lnSpc>
                <a:spcPct val="140000"/>
              </a:lnSpc>
            </a:pPr>
            <a:r>
              <a:rPr sz="1400" b="1">
                <a:solidFill>
                  <a:srgbClr val="2B2B2B"/>
                </a:solidFill>
                <a:latin typeface="Noto Sans JP"/>
                <a:ea typeface="Noto Sans JP"/>
                <a:cs typeface="Noto Sans JP"/>
              </a:rPr>
              <a:t>同業の方と比べて、お客様が○○さんを選ぶ理由は何だと思いますか？</a:t>
            </a:r>
          </a:p>
        </p:txBody>
      </p:sp>
      <p:sp>
        <p:nvSpPr>
          <p:cNvPr id="17" name="TextBox 16"/>
          <p:cNvSpPr txBox="1"/>
          <p:nvPr/>
        </p:nvSpPr>
        <p:spPr>
          <a:xfrm>
            <a:off x="6614503" y="5650000"/>
            <a:ext cx="4815497" cy="500000"/>
          </a:xfrm>
          <a:prstGeom prst="rect">
            <a:avLst/>
          </a:prstGeom>
          <a:noFill/>
        </p:spPr>
        <p:txBody>
          <a:bodyPr wrap="square" anchor="t" lIns="0" rIns="0" tIns="0" bIns="0">
            <a:spAutoFit/>
          </a:bodyPr>
          <a:lstStyle/>
          <a:p>
            <a:pPr algn="l">
              <a:lnSpc>
                <a:spcPct val="130000"/>
              </a:lnSpc>
            </a:pPr>
            <a:r>
              <a:rPr sz="1000" b="0">
                <a:solidFill>
                  <a:srgbClr val="5E5E5E"/>
                </a:solidFill>
                <a:latin typeface="Noto Sans JP"/>
                <a:ea typeface="Noto Sans JP"/>
                <a:cs typeface="Noto Sans JP"/>
              </a:rPr>
              <a:t>関連事例 ▶ CASE 04：求める人物像と代表の想いを記事にして、1週間で内定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  理由 03</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デザインや雰囲気を重視して広告を作っている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9</a:t>
            </a:r>
          </a:p>
        </p:txBody>
      </p:sp>
      <p:pic>
        <p:nvPicPr>
          <p:cNvPr id="8" name="Picture 7" descr="lp_r3.png"/>
          <p:cNvPicPr>
            <a:picLocks noChangeAspect="1"/>
          </p:cNvPicPr>
          <p:nvPr/>
        </p:nvPicPr>
        <p:blipFill>
          <a:blip r:embed="rId4"/>
          <a:stretch>
            <a:fillRect/>
          </a:stretch>
        </p:blipFill>
        <p:spPr>
          <a:xfrm>
            <a:off x="762000" y="1600000"/>
            <a:ext cx="5166274" cy="4499999"/>
          </a:xfrm>
          <a:prstGeom prst="rect">
            <a:avLst/>
          </a:prstGeom>
          <a:ln w="12700">
            <a:solidFill>
              <a:srgbClr val="E5DCC8"/>
            </a:solidFill>
          </a:ln>
        </p:spPr>
      </p:pic>
      <p:sp>
        <p:nvSpPr>
          <p:cNvPr id="9" name="TextBox 8"/>
          <p:cNvSpPr txBox="1"/>
          <p:nvPr/>
        </p:nvSpPr>
        <p:spPr>
          <a:xfrm>
            <a:off x="6278274" y="1650000"/>
            <a:ext cx="5151726"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なぜダメなのか</a:t>
            </a:r>
          </a:p>
        </p:txBody>
      </p:sp>
      <p:sp>
        <p:nvSpPr>
          <p:cNvPr id="10" name="TextBox 9"/>
          <p:cNvSpPr txBox="1"/>
          <p:nvPr/>
        </p:nvSpPr>
        <p:spPr>
          <a:xfrm>
            <a:off x="6278274" y="1950000"/>
            <a:ext cx="5151726" cy="800000"/>
          </a:xfrm>
          <a:prstGeom prst="rect">
            <a:avLst/>
          </a:prstGeom>
          <a:noFill/>
        </p:spPr>
        <p:txBody>
          <a:bodyPr wrap="square" anchor="t" lIns="0" rIns="0" tIns="0" bIns="0">
            <a:spAutoFit/>
          </a:bodyPr>
          <a:lstStyle/>
          <a:p>
            <a:pPr algn="l">
              <a:lnSpc>
                <a:spcPct val="150000"/>
              </a:lnSpc>
            </a:pPr>
            <a:r>
              <a:rPr sz="1300" b="0">
                <a:solidFill>
                  <a:srgbClr val="2B2B2B"/>
                </a:solidFill>
                <a:latin typeface="Noto Sans JP"/>
                <a:ea typeface="Noto Sans JP"/>
                <a:cs typeface="Noto Sans JP"/>
              </a:rPr>
              <a:t>おしゃれでも、伝える言葉が弱ければ見込み客は行動しない。</a:t>
            </a:r>
          </a:p>
        </p:txBody>
      </p:sp>
      <p:sp>
        <p:nvSpPr>
          <p:cNvPr id="11" name="Rectangle 10"/>
          <p:cNvSpPr/>
          <p:nvPr/>
        </p:nvSpPr>
        <p:spPr>
          <a:xfrm>
            <a:off x="6278274" y="2900000"/>
            <a:ext cx="5151726" cy="1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78274" y="2900000"/>
            <a:ext cx="76200" cy="1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274" y="3020000"/>
            <a:ext cx="4751726"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処方箋</a:t>
            </a:r>
          </a:p>
        </p:txBody>
      </p:sp>
      <p:sp>
        <p:nvSpPr>
          <p:cNvPr id="14" name="TextBox 13"/>
          <p:cNvSpPr txBox="1"/>
          <p:nvPr/>
        </p:nvSpPr>
        <p:spPr>
          <a:xfrm>
            <a:off x="6528274" y="3330000"/>
            <a:ext cx="4751726" cy="850000"/>
          </a:xfrm>
          <a:prstGeom prst="rect">
            <a:avLst/>
          </a:prstGeom>
          <a:noFill/>
        </p:spPr>
        <p:txBody>
          <a:bodyPr wrap="square" anchor="t" lIns="0" rIns="0" tIns="0" bIns="0">
            <a:spAutoFit/>
          </a:bodyPr>
          <a:lstStyle/>
          <a:p>
            <a:pPr algn="l">
              <a:lnSpc>
                <a:spcPct val="135000"/>
              </a:lnSpc>
            </a:pPr>
            <a:r>
              <a:rPr sz="1500" b="1">
                <a:solidFill>
                  <a:srgbClr val="2B2B2B"/>
                </a:solidFill>
                <a:latin typeface="Noto Sans JP"/>
                <a:ea typeface="Noto Sans JP"/>
                <a:cs typeface="Noto Sans JP"/>
              </a:rPr>
              <a:t>先に「行動したくなる言葉」を作り、デザインはそれを届ける器にする。</a:t>
            </a:r>
          </a:p>
        </p:txBody>
      </p:sp>
      <p:sp>
        <p:nvSpPr>
          <p:cNvPr id="15" name="TextBox 14"/>
          <p:cNvSpPr txBox="1"/>
          <p:nvPr/>
        </p:nvSpPr>
        <p:spPr>
          <a:xfrm>
            <a:off x="6278274" y="4400000"/>
            <a:ext cx="5151726"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○○様の場合は？</a:t>
            </a:r>
          </a:p>
        </p:txBody>
      </p:sp>
      <p:sp>
        <p:nvSpPr>
          <p:cNvPr id="16" name="TextBox 15"/>
          <p:cNvSpPr txBox="1"/>
          <p:nvPr/>
        </p:nvSpPr>
        <p:spPr>
          <a:xfrm>
            <a:off x="6278274" y="4700000"/>
            <a:ext cx="5151726" cy="800000"/>
          </a:xfrm>
          <a:prstGeom prst="rect">
            <a:avLst/>
          </a:prstGeom>
          <a:noFill/>
        </p:spPr>
        <p:txBody>
          <a:bodyPr wrap="square" anchor="t" lIns="0" rIns="0" tIns="0" bIns="0">
            <a:spAutoFit/>
          </a:bodyPr>
          <a:lstStyle/>
          <a:p>
            <a:pPr algn="l">
              <a:lnSpc>
                <a:spcPct val="140000"/>
              </a:lnSpc>
            </a:pPr>
            <a:r>
              <a:rPr sz="1400" b="1">
                <a:solidFill>
                  <a:srgbClr val="2B2B2B"/>
                </a:solidFill>
                <a:latin typeface="Noto Sans JP"/>
                <a:ea typeface="Noto Sans JP"/>
                <a:cs typeface="Noto Sans JP"/>
              </a:rPr>
              <a:t>今の広告を見た人に、次に何をしてほしいか決まっていますか？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  理由 04</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ターゲットが少ない場所で集客を続けている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10</a:t>
            </a:r>
          </a:p>
        </p:txBody>
      </p:sp>
      <p:pic>
        <p:nvPicPr>
          <p:cNvPr id="8" name="Picture 7" descr="lp_r4.png"/>
          <p:cNvPicPr>
            <a:picLocks noChangeAspect="1"/>
          </p:cNvPicPr>
          <p:nvPr/>
        </p:nvPicPr>
        <p:blipFill>
          <a:blip r:embed="rId4"/>
          <a:stretch>
            <a:fillRect/>
          </a:stretch>
        </p:blipFill>
        <p:spPr>
          <a:xfrm>
            <a:off x="762000" y="1600000"/>
            <a:ext cx="5467080" cy="4499999"/>
          </a:xfrm>
          <a:prstGeom prst="rect">
            <a:avLst/>
          </a:prstGeom>
          <a:ln w="12700">
            <a:solidFill>
              <a:srgbClr val="E5DCC8"/>
            </a:solidFill>
          </a:ln>
        </p:spPr>
      </p:pic>
      <p:sp>
        <p:nvSpPr>
          <p:cNvPr id="9" name="TextBox 8"/>
          <p:cNvSpPr txBox="1"/>
          <p:nvPr/>
        </p:nvSpPr>
        <p:spPr>
          <a:xfrm>
            <a:off x="6579080" y="1650000"/>
            <a:ext cx="485092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なぜダメなのか</a:t>
            </a:r>
          </a:p>
        </p:txBody>
      </p:sp>
      <p:sp>
        <p:nvSpPr>
          <p:cNvPr id="10" name="TextBox 9"/>
          <p:cNvSpPr txBox="1"/>
          <p:nvPr/>
        </p:nvSpPr>
        <p:spPr>
          <a:xfrm>
            <a:off x="6579080" y="1950000"/>
            <a:ext cx="4850920" cy="800000"/>
          </a:xfrm>
          <a:prstGeom prst="rect">
            <a:avLst/>
          </a:prstGeom>
          <a:noFill/>
        </p:spPr>
        <p:txBody>
          <a:bodyPr wrap="square" anchor="t" lIns="0" rIns="0" tIns="0" bIns="0">
            <a:spAutoFit/>
          </a:bodyPr>
          <a:lstStyle/>
          <a:p>
            <a:pPr algn="l">
              <a:lnSpc>
                <a:spcPct val="150000"/>
              </a:lnSpc>
            </a:pPr>
            <a:r>
              <a:rPr sz="1300" b="0">
                <a:solidFill>
                  <a:srgbClr val="2B2B2B"/>
                </a:solidFill>
                <a:latin typeface="Noto Sans JP"/>
                <a:ea typeface="Noto Sans JP"/>
                <a:cs typeface="Noto Sans JP"/>
              </a:rPr>
              <a:t>商品を必要とする人がいない場所では、どれだけ頑張っても反応は出ない。</a:t>
            </a:r>
          </a:p>
        </p:txBody>
      </p:sp>
      <p:sp>
        <p:nvSpPr>
          <p:cNvPr id="11" name="Rectangle 10"/>
          <p:cNvSpPr/>
          <p:nvPr/>
        </p:nvSpPr>
        <p:spPr>
          <a:xfrm>
            <a:off x="6579080" y="2900000"/>
            <a:ext cx="4850920" cy="1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9080" y="2900000"/>
            <a:ext cx="76200" cy="1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29080" y="3020000"/>
            <a:ext cx="445092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処方箋</a:t>
            </a:r>
          </a:p>
        </p:txBody>
      </p:sp>
      <p:sp>
        <p:nvSpPr>
          <p:cNvPr id="14" name="TextBox 13"/>
          <p:cNvSpPr txBox="1"/>
          <p:nvPr/>
        </p:nvSpPr>
        <p:spPr>
          <a:xfrm>
            <a:off x="6829080" y="3330000"/>
            <a:ext cx="4450920" cy="850000"/>
          </a:xfrm>
          <a:prstGeom prst="rect">
            <a:avLst/>
          </a:prstGeom>
          <a:noFill/>
        </p:spPr>
        <p:txBody>
          <a:bodyPr wrap="square" anchor="t" lIns="0" rIns="0" tIns="0" bIns="0">
            <a:spAutoFit/>
          </a:bodyPr>
          <a:lstStyle/>
          <a:p>
            <a:pPr algn="l">
              <a:lnSpc>
                <a:spcPct val="135000"/>
              </a:lnSpc>
            </a:pPr>
            <a:r>
              <a:rPr sz="1500" b="1">
                <a:solidFill>
                  <a:srgbClr val="2B2B2B"/>
                </a:solidFill>
                <a:latin typeface="Noto Sans JP"/>
                <a:ea typeface="Noto Sans JP"/>
                <a:cs typeface="Noto Sans JP"/>
              </a:rPr>
              <a:t>お客様が実際にいる場所（媒体・地域・時間帯）を選び直す。</a:t>
            </a:r>
          </a:p>
        </p:txBody>
      </p:sp>
      <p:sp>
        <p:nvSpPr>
          <p:cNvPr id="15" name="TextBox 14"/>
          <p:cNvSpPr txBox="1"/>
          <p:nvPr/>
        </p:nvSpPr>
        <p:spPr>
          <a:xfrm>
            <a:off x="6579080" y="4400000"/>
            <a:ext cx="485092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○○様の場合は？</a:t>
            </a:r>
          </a:p>
        </p:txBody>
      </p:sp>
      <p:sp>
        <p:nvSpPr>
          <p:cNvPr id="16" name="TextBox 15"/>
          <p:cNvSpPr txBox="1"/>
          <p:nvPr/>
        </p:nvSpPr>
        <p:spPr>
          <a:xfrm>
            <a:off x="6579080" y="4700000"/>
            <a:ext cx="4850920" cy="800000"/>
          </a:xfrm>
          <a:prstGeom prst="rect">
            <a:avLst/>
          </a:prstGeom>
          <a:noFill/>
        </p:spPr>
        <p:txBody>
          <a:bodyPr wrap="square" anchor="t" lIns="0" rIns="0" tIns="0" bIns="0">
            <a:spAutoFit/>
          </a:bodyPr>
          <a:lstStyle/>
          <a:p>
            <a:pPr algn="l">
              <a:lnSpc>
                <a:spcPct val="140000"/>
              </a:lnSpc>
            </a:pPr>
            <a:r>
              <a:rPr sz="1400" b="1">
                <a:solidFill>
                  <a:srgbClr val="2B2B2B"/>
                </a:solidFill>
                <a:latin typeface="Noto Sans JP"/>
                <a:ea typeface="Noto Sans JP"/>
                <a:cs typeface="Noto Sans JP"/>
              </a:rPr>
              <a:t>今のお客様は、どこで○○さんのことを知りましたか？</a:t>
            </a:r>
          </a:p>
        </p:txBody>
      </p:sp>
      <p:sp>
        <p:nvSpPr>
          <p:cNvPr id="17" name="TextBox 16"/>
          <p:cNvSpPr txBox="1"/>
          <p:nvPr/>
        </p:nvSpPr>
        <p:spPr>
          <a:xfrm>
            <a:off x="6579080" y="5650000"/>
            <a:ext cx="4850920" cy="500000"/>
          </a:xfrm>
          <a:prstGeom prst="rect">
            <a:avLst/>
          </a:prstGeom>
          <a:noFill/>
        </p:spPr>
        <p:txBody>
          <a:bodyPr wrap="square" anchor="t" lIns="0" rIns="0" tIns="0" bIns="0">
            <a:spAutoFit/>
          </a:bodyPr>
          <a:lstStyle/>
          <a:p>
            <a:pPr algn="l">
              <a:lnSpc>
                <a:spcPct val="130000"/>
              </a:lnSpc>
            </a:pPr>
            <a:r>
              <a:rPr sz="1000" b="0">
                <a:solidFill>
                  <a:srgbClr val="5E5E5E"/>
                </a:solidFill>
                <a:latin typeface="Noto Sans JP"/>
                <a:ea typeface="Noto Sans JP"/>
                <a:cs typeface="Noto Sans JP"/>
              </a:rPr>
              <a:t>関連事例 ▶ CASE 03：広告・LP・LINEをつなぎ直して月の売上が最大150万円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CHECK  理由 05</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何も考えずに集客方針を決めている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11</a:t>
            </a:r>
          </a:p>
        </p:txBody>
      </p:sp>
      <p:pic>
        <p:nvPicPr>
          <p:cNvPr id="8" name="Picture 7" descr="lp_r5.png"/>
          <p:cNvPicPr>
            <a:picLocks noChangeAspect="1"/>
          </p:cNvPicPr>
          <p:nvPr/>
        </p:nvPicPr>
        <p:blipFill>
          <a:blip r:embed="rId4"/>
          <a:stretch>
            <a:fillRect/>
          </a:stretch>
        </p:blipFill>
        <p:spPr>
          <a:xfrm>
            <a:off x="762000" y="1674770"/>
            <a:ext cx="5600000" cy="4350460"/>
          </a:xfrm>
          <a:prstGeom prst="rect">
            <a:avLst/>
          </a:prstGeom>
          <a:ln w="12700">
            <a:solidFill>
              <a:srgbClr val="E5DCC8"/>
            </a:solidFill>
          </a:ln>
        </p:spPr>
      </p:pic>
      <p:sp>
        <p:nvSpPr>
          <p:cNvPr id="9" name="TextBox 8"/>
          <p:cNvSpPr txBox="1"/>
          <p:nvPr/>
        </p:nvSpPr>
        <p:spPr>
          <a:xfrm>
            <a:off x="6712000" y="1650000"/>
            <a:ext cx="47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なぜダメなのか</a:t>
            </a:r>
          </a:p>
        </p:txBody>
      </p:sp>
      <p:sp>
        <p:nvSpPr>
          <p:cNvPr id="10" name="TextBox 9"/>
          <p:cNvSpPr txBox="1"/>
          <p:nvPr/>
        </p:nvSpPr>
        <p:spPr>
          <a:xfrm>
            <a:off x="6712000" y="1950000"/>
            <a:ext cx="4718000" cy="800000"/>
          </a:xfrm>
          <a:prstGeom prst="rect">
            <a:avLst/>
          </a:prstGeom>
          <a:noFill/>
        </p:spPr>
        <p:txBody>
          <a:bodyPr wrap="square" anchor="t" lIns="0" rIns="0" tIns="0" bIns="0">
            <a:spAutoFit/>
          </a:bodyPr>
          <a:lstStyle/>
          <a:p>
            <a:pPr algn="l">
              <a:lnSpc>
                <a:spcPct val="150000"/>
              </a:lnSpc>
            </a:pPr>
            <a:r>
              <a:rPr sz="1300" b="0">
                <a:solidFill>
                  <a:srgbClr val="2B2B2B"/>
                </a:solidFill>
                <a:latin typeface="Noto Sans JP"/>
                <a:ea typeface="Noto Sans JP"/>
                <a:cs typeface="Noto Sans JP"/>
              </a:rPr>
              <a:t>流行りを追うだけだと、結果を見ても「何を直せばいいか」が分からない。</a:t>
            </a:r>
          </a:p>
        </p:txBody>
      </p:sp>
      <p:sp>
        <p:nvSpPr>
          <p:cNvPr id="11" name="Rectangle 10"/>
          <p:cNvSpPr/>
          <p:nvPr/>
        </p:nvSpPr>
        <p:spPr>
          <a:xfrm>
            <a:off x="6712000" y="2900000"/>
            <a:ext cx="4718000" cy="1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12000" y="2900000"/>
            <a:ext cx="76200" cy="1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62000" y="3020000"/>
            <a:ext cx="43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処方箋</a:t>
            </a:r>
          </a:p>
        </p:txBody>
      </p:sp>
      <p:sp>
        <p:nvSpPr>
          <p:cNvPr id="14" name="TextBox 13"/>
          <p:cNvSpPr txBox="1"/>
          <p:nvPr/>
        </p:nvSpPr>
        <p:spPr>
          <a:xfrm>
            <a:off x="6962000" y="3330000"/>
            <a:ext cx="4318000" cy="850000"/>
          </a:xfrm>
          <a:prstGeom prst="rect">
            <a:avLst/>
          </a:prstGeom>
          <a:noFill/>
        </p:spPr>
        <p:txBody>
          <a:bodyPr wrap="square" anchor="t" lIns="0" rIns="0" tIns="0" bIns="0">
            <a:spAutoFit/>
          </a:bodyPr>
          <a:lstStyle/>
          <a:p>
            <a:pPr algn="l">
              <a:lnSpc>
                <a:spcPct val="135000"/>
              </a:lnSpc>
            </a:pPr>
            <a:r>
              <a:rPr sz="1500" b="1">
                <a:solidFill>
                  <a:srgbClr val="2B2B2B"/>
                </a:solidFill>
                <a:latin typeface="Noto Sans JP"/>
                <a:ea typeface="Noto Sans JP"/>
                <a:cs typeface="Noto Sans JP"/>
              </a:rPr>
              <a:t>仮説を立ててから始め、数字を見て一つずつ直す。</a:t>
            </a:r>
          </a:p>
        </p:txBody>
      </p:sp>
      <p:sp>
        <p:nvSpPr>
          <p:cNvPr id="15" name="TextBox 14"/>
          <p:cNvSpPr txBox="1"/>
          <p:nvPr/>
        </p:nvSpPr>
        <p:spPr>
          <a:xfrm>
            <a:off x="6712000" y="4400000"/>
            <a:ext cx="47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○○様の場合は？</a:t>
            </a:r>
          </a:p>
        </p:txBody>
      </p:sp>
      <p:sp>
        <p:nvSpPr>
          <p:cNvPr id="16" name="TextBox 15"/>
          <p:cNvSpPr txBox="1"/>
          <p:nvPr/>
        </p:nvSpPr>
        <p:spPr>
          <a:xfrm>
            <a:off x="6712000" y="4700000"/>
            <a:ext cx="4718000" cy="800000"/>
          </a:xfrm>
          <a:prstGeom prst="rect">
            <a:avLst/>
          </a:prstGeom>
          <a:noFill/>
        </p:spPr>
        <p:txBody>
          <a:bodyPr wrap="square" anchor="t" lIns="0" rIns="0" tIns="0" bIns="0">
            <a:spAutoFit/>
          </a:bodyPr>
          <a:lstStyle/>
          <a:p>
            <a:pPr algn="l">
              <a:lnSpc>
                <a:spcPct val="140000"/>
              </a:lnSpc>
            </a:pPr>
            <a:r>
              <a:rPr sz="1400" b="1">
                <a:solidFill>
                  <a:srgbClr val="2B2B2B"/>
                </a:solidFill>
                <a:latin typeface="Noto Sans JP"/>
                <a:ea typeface="Noto Sans JP"/>
                <a:cs typeface="Noto Sans JP"/>
              </a:rPr>
              <a:t>今の集客で、「うまくいった／いかなかった」は何で判断していますか？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1700000"/>
            <a:ext cx="10668000" cy="400000"/>
          </a:xfrm>
          <a:prstGeom prst="rect">
            <a:avLst/>
          </a:prstGeom>
          <a:noFill/>
        </p:spPr>
        <p:txBody>
          <a:bodyPr wrap="square" anchor="t" lIns="0" rIns="0" tIns="0" bIns="0">
            <a:spAutoFit/>
          </a:bodyPr>
          <a:lstStyle/>
          <a:p>
            <a:pPr algn="ctr">
              <a:lnSpc>
                <a:spcPct val="125000"/>
              </a:lnSpc>
            </a:pPr>
            <a:r>
              <a:rPr sz="2000" b="0">
                <a:solidFill>
                  <a:srgbClr val="DDDDDD"/>
                </a:solidFill>
                <a:latin typeface="Noto Sans JP"/>
                <a:ea typeface="Noto Sans JP"/>
                <a:cs typeface="Noto Sans JP"/>
              </a:rPr>
              <a:t>頑張っているのに、何にお金と時間を使えばいいか分からない。</a:t>
            </a:r>
          </a:p>
        </p:txBody>
      </p:sp>
      <p:sp>
        <p:nvSpPr>
          <p:cNvPr id="3" name="TextBox 2"/>
          <p:cNvSpPr txBox="1"/>
          <p:nvPr/>
        </p:nvSpPr>
        <p:spPr>
          <a:xfrm>
            <a:off x="762000" y="2550000"/>
            <a:ext cx="10668000" cy="500000"/>
          </a:xfrm>
          <a:prstGeom prst="rect">
            <a:avLst/>
          </a:prstGeom>
          <a:noFill/>
        </p:spPr>
        <p:txBody>
          <a:bodyPr wrap="square" anchor="t" lIns="0" rIns="0" tIns="0" bIns="0">
            <a:spAutoFit/>
          </a:bodyPr>
          <a:lstStyle/>
          <a:p>
            <a:pPr algn="ctr">
              <a:lnSpc>
                <a:spcPct val="125000"/>
              </a:lnSpc>
            </a:pPr>
            <a:r>
              <a:rPr sz="1800" b="0">
                <a:solidFill>
                  <a:srgbClr val="DDDDDD"/>
                </a:solidFill>
                <a:latin typeface="Noto Sans JP"/>
                <a:ea typeface="Noto Sans JP"/>
                <a:cs typeface="Noto Sans JP"/>
              </a:rPr>
              <a:t>私はこれを</a:t>
            </a:r>
          </a:p>
        </p:txBody>
      </p:sp>
      <p:sp>
        <p:nvSpPr>
          <p:cNvPr id="4" name="TextBox 3"/>
          <p:cNvSpPr txBox="1"/>
          <p:nvPr/>
        </p:nvSpPr>
        <p:spPr>
          <a:xfrm>
            <a:off x="762000" y="3100000"/>
            <a:ext cx="10668000" cy="1100000"/>
          </a:xfrm>
          <a:prstGeom prst="rect">
            <a:avLst/>
          </a:prstGeom>
          <a:noFill/>
        </p:spPr>
        <p:txBody>
          <a:bodyPr wrap="square" anchor="t" lIns="0" rIns="0" tIns="0" bIns="0">
            <a:spAutoFit/>
          </a:bodyPr>
          <a:lstStyle/>
          <a:p>
            <a:pPr algn="ctr">
              <a:lnSpc>
                <a:spcPct val="125000"/>
              </a:lnSpc>
            </a:pPr>
            <a:r>
              <a:rPr sz="5400" b="1">
                <a:solidFill>
                  <a:srgbClr val="C6A15B"/>
                </a:solidFill>
                <a:latin typeface="Noto Sans JP"/>
                <a:ea typeface="Noto Sans JP"/>
                <a:cs typeface="Noto Sans JP"/>
              </a:rPr>
              <a:t>「マーケティング迷子」</a:t>
            </a:r>
          </a:p>
        </p:txBody>
      </p:sp>
      <p:sp>
        <p:nvSpPr>
          <p:cNvPr id="5" name="TextBox 4"/>
          <p:cNvSpPr txBox="1"/>
          <p:nvPr/>
        </p:nvSpPr>
        <p:spPr>
          <a:xfrm>
            <a:off x="762000" y="4350000"/>
            <a:ext cx="10668000" cy="500000"/>
          </a:xfrm>
          <a:prstGeom prst="rect">
            <a:avLst/>
          </a:prstGeom>
          <a:noFill/>
        </p:spPr>
        <p:txBody>
          <a:bodyPr wrap="square" anchor="t" lIns="0" rIns="0" tIns="0" bIns="0">
            <a:spAutoFit/>
          </a:bodyPr>
          <a:lstStyle/>
          <a:p>
            <a:pPr algn="ctr">
              <a:lnSpc>
                <a:spcPct val="125000"/>
              </a:lnSpc>
            </a:pPr>
            <a:r>
              <a:rPr sz="1800" b="0">
                <a:solidFill>
                  <a:srgbClr val="DDDDDD"/>
                </a:solidFill>
                <a:latin typeface="Noto Sans JP"/>
                <a:ea typeface="Noto Sans JP"/>
                <a:cs typeface="Noto Sans JP"/>
              </a:rPr>
              <a:t>と呼んでいます。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PROMISE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だから私は、こう決めています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13</a:t>
            </a:r>
          </a:p>
        </p:txBody>
      </p:sp>
      <p:sp>
        <p:nvSpPr>
          <p:cNvPr id="8" name="Rectangle 7"/>
          <p:cNvSpPr/>
          <p:nvPr/>
        </p:nvSpPr>
        <p:spPr>
          <a:xfrm>
            <a:off x="762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01</a:t>
            </a:r>
          </a:p>
        </p:txBody>
      </p:sp>
      <p:sp>
        <p:nvSpPr>
          <p:cNvPr id="11" name="TextBox 10"/>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本当に必要なものだけを作る</a:t>
            </a:r>
          </a:p>
        </p:txBody>
      </p:sp>
      <p:sp>
        <p:nvSpPr>
          <p:cNvPr id="12" name="TextBox 11"/>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ご依頼の前に、それが本当に必要かを一緒に考えます。</a:t>
            </a:r>
          </a:p>
        </p:txBody>
      </p:sp>
      <p:sp>
        <p:nvSpPr>
          <p:cNvPr id="13" name="Rectangle 12"/>
          <p:cNvSpPr/>
          <p:nvPr/>
        </p:nvSpPr>
        <p:spPr>
          <a:xfrm>
            <a:off x="6250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0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02</a:t>
            </a:r>
          </a:p>
        </p:txBody>
      </p:sp>
      <p:sp>
        <p:nvSpPr>
          <p:cNvPr id="16" name="TextBox 15"/>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作らなくていいなら、正直に言う</a:t>
            </a:r>
          </a:p>
        </p:txBody>
      </p:sp>
      <p:sp>
        <p:nvSpPr>
          <p:cNvPr id="17" name="TextBox 16"/>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不要だと判断したものは、おすすめしません。</a:t>
            </a:r>
          </a:p>
        </p:txBody>
      </p:sp>
      <p:sp>
        <p:nvSpPr>
          <p:cNvPr id="18" name="Rectangle 17"/>
          <p:cNvSpPr/>
          <p:nvPr/>
        </p:nvSpPr>
        <p:spPr>
          <a:xfrm>
            <a:off x="762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2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03</a:t>
            </a:r>
          </a:p>
        </p:txBody>
      </p:sp>
      <p:sp>
        <p:nvSpPr>
          <p:cNvPr id="21" name="TextBox 20"/>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1回の相談から使える</a:t>
            </a:r>
          </a:p>
        </p:txBody>
      </p:sp>
      <p:sp>
        <p:nvSpPr>
          <p:cNvPr id="22" name="TextBox 21"/>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契約の縛りはなく、必要なときだけご利用いただけます。</a:t>
            </a:r>
          </a:p>
        </p:txBody>
      </p:sp>
      <p:sp>
        <p:nvSpPr>
          <p:cNvPr id="23" name="Rectangle 22"/>
          <p:cNvSpPr/>
          <p:nvPr/>
        </p:nvSpPr>
        <p:spPr>
          <a:xfrm>
            <a:off x="6250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50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04</a:t>
            </a:r>
          </a:p>
        </p:txBody>
      </p:sp>
      <p:sp>
        <p:nvSpPr>
          <p:cNvPr id="26" name="TextBox 25"/>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誇大広告はしない</a:t>
            </a:r>
          </a:p>
        </p:txBody>
      </p:sp>
      <p:sp>
        <p:nvSpPr>
          <p:cNvPr id="27" name="TextBox 26"/>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SERVICE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診断の結果に合わせて、2つの支援があります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14</a:t>
            </a:r>
          </a:p>
        </p:txBody>
      </p:sp>
      <p:sp>
        <p:nvSpPr>
          <p:cNvPr id="8" name="Rectangle 7"/>
          <p:cNvSpPr/>
          <p:nvPr/>
        </p:nvSpPr>
        <p:spPr>
          <a:xfrm>
            <a:off x="762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10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1" name="TextBox 10"/>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2" name="Picture 11" descr="icon_kawarimi.png"/>
          <p:cNvPicPr>
            <a:picLocks noChangeAspect="1"/>
          </p:cNvPicPr>
          <p:nvPr/>
        </p:nvPicPr>
        <p:blipFill>
          <a:blip r:embed="rId4"/>
          <a:stretch>
            <a:fillRect/>
          </a:stretch>
        </p:blipFill>
        <p:spPr>
          <a:xfrm>
            <a:off x="4692000" y="1450000"/>
            <a:ext cx="1100000" cy="1100000"/>
          </a:xfrm>
          <a:prstGeom prst="rect">
            <a:avLst/>
          </a:prstGeom>
        </p:spPr>
      </p:pic>
      <p:sp>
        <p:nvSpPr>
          <p:cNvPr id="13" name="Rectangle 12"/>
          <p:cNvSpPr/>
          <p:nvPr/>
        </p:nvSpPr>
        <p:spPr>
          <a:xfrm>
            <a:off x="1112000" y="2900000"/>
            <a:ext cx="4480000" cy="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B2B2B"/>
                </a:solidFill>
                <a:latin typeface="Noto Sans JP"/>
                <a:ea typeface="Noto Sans JP"/>
                <a:cs typeface="Noto Sans JP"/>
              </a:rPr>
              <a:t>①②③「言葉」の問題に</a:t>
            </a:r>
          </a:p>
        </p:txBody>
      </p:sp>
      <p:sp>
        <p:nvSpPr>
          <p:cNvPr id="14" name="TextBox 13"/>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LP・HP制作／ライティング</a:t>
            </a:r>
          </a:p>
          <a:p>
            <a:pPr algn="l">
              <a:lnSpc>
                <a:spcPct val="160000"/>
              </a:lnSpc>
            </a:pPr>
            <a:r>
              <a:rPr sz="1300" b="0">
                <a:solidFill>
                  <a:srgbClr val="5E5E5E"/>
                </a:solidFill>
                <a:latin typeface="Noto Sans JP"/>
                <a:ea typeface="Noto Sans JP"/>
                <a:cs typeface="Noto Sans JP"/>
              </a:rPr>
              <a:t>✓ 公式LINE構築・運用</a:t>
            </a:r>
          </a:p>
          <a:p>
            <a:pPr algn="l">
              <a:lnSpc>
                <a:spcPct val="160000"/>
              </a:lnSpc>
            </a:pPr>
            <a:r>
              <a:rPr sz="1300" b="0">
                <a:solidFill>
                  <a:srgbClr val="5E5E5E"/>
                </a:solidFill>
                <a:latin typeface="Noto Sans JP"/>
                <a:ea typeface="Noto Sans JP"/>
                <a:cs typeface="Noto Sans JP"/>
              </a:rPr>
              <a:t>✓ Meta広告運用</a:t>
            </a:r>
          </a:p>
          <a:p>
            <a:pPr algn="l">
              <a:lnSpc>
                <a:spcPct val="160000"/>
              </a:lnSpc>
            </a:pPr>
            <a:r>
              <a:rPr sz="1300" b="0">
                <a:solidFill>
                  <a:srgbClr val="5E5E5E"/>
                </a:solidFill>
                <a:latin typeface="Noto Sans JP"/>
                <a:ea typeface="Noto Sans JP"/>
                <a:cs typeface="Noto Sans JP"/>
              </a:rPr>
              <a:t>✓ チラシ・営業資料など</a:t>
            </a:r>
          </a:p>
        </p:txBody>
      </p:sp>
      <p:sp>
        <p:nvSpPr>
          <p:cNvPr id="15" name="Rectangle 14"/>
          <p:cNvSpPr/>
          <p:nvPr/>
        </p:nvSpPr>
        <p:spPr>
          <a:xfrm>
            <a:off x="1112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単発 5,000円〜</a:t>
            </a:r>
          </a:p>
        </p:txBody>
      </p:sp>
      <p:sp>
        <p:nvSpPr>
          <p:cNvPr id="17" name="Rectangle 16"/>
          <p:cNvSpPr/>
          <p:nvPr/>
        </p:nvSpPr>
        <p:spPr>
          <a:xfrm>
            <a:off x="6250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0000" y="1650000"/>
            <a:ext cx="5180000" cy="10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20" name="TextBox 19"/>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21" name="Picture 20" descr="icon_michisuji.png"/>
          <p:cNvPicPr>
            <a:picLocks noChangeAspect="1"/>
          </p:cNvPicPr>
          <p:nvPr/>
        </p:nvPicPr>
        <p:blipFill>
          <a:blip r:embed="rId5"/>
          <a:stretch>
            <a:fillRect/>
          </a:stretch>
        </p:blipFill>
        <p:spPr>
          <a:xfrm>
            <a:off x="10180000" y="1450000"/>
            <a:ext cx="1100000" cy="1100000"/>
          </a:xfrm>
          <a:prstGeom prst="rect">
            <a:avLst/>
          </a:prstGeom>
        </p:spPr>
      </p:pic>
      <p:sp>
        <p:nvSpPr>
          <p:cNvPr id="22" name="Rectangle 21"/>
          <p:cNvSpPr/>
          <p:nvPr/>
        </p:nvSpPr>
        <p:spPr>
          <a:xfrm>
            <a:off x="6600000" y="2900000"/>
            <a:ext cx="4480000" cy="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B2B2B"/>
                </a:solidFill>
                <a:latin typeface="Noto Sans JP"/>
                <a:ea typeface="Noto Sans JP"/>
                <a:cs typeface="Noto Sans JP"/>
              </a:rPr>
              <a:t>④⑤「方針」の問題に</a:t>
            </a:r>
          </a:p>
        </p:txBody>
      </p:sp>
      <p:sp>
        <p:nvSpPr>
          <p:cNvPr id="23" name="TextBox 22"/>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月最大4時間のZoom相談</a:t>
            </a:r>
          </a:p>
          <a:p>
            <a:pPr algn="l">
              <a:lnSpc>
                <a:spcPct val="160000"/>
              </a:lnSpc>
            </a:pPr>
            <a:r>
              <a:rPr sz="1300" b="0">
                <a:solidFill>
                  <a:srgbClr val="5E5E5E"/>
                </a:solidFill>
                <a:latin typeface="Noto Sans JP"/>
                <a:ea typeface="Noto Sans JP"/>
                <a:cs typeface="Noto Sans JP"/>
              </a:rPr>
              <a:t>✓ 制作物への添削・アドバイス</a:t>
            </a:r>
          </a:p>
          <a:p>
            <a:pPr algn="l">
              <a:lnSpc>
                <a:spcPct val="160000"/>
              </a:lnSpc>
            </a:pPr>
            <a:r>
              <a:rPr sz="1300" b="0">
                <a:solidFill>
                  <a:srgbClr val="5E5E5E"/>
                </a:solidFill>
                <a:latin typeface="Noto Sans JP"/>
                <a:ea typeface="Noto Sans JP"/>
                <a:cs typeface="Noto Sans JP"/>
              </a:rPr>
              <a:t>✓ 集客施策の分析・仮説検証</a:t>
            </a:r>
          </a:p>
          <a:p>
            <a:pPr algn="l">
              <a:lnSpc>
                <a:spcPct val="160000"/>
              </a:lnSpc>
            </a:pPr>
            <a:r>
              <a:rPr sz="1300" b="0">
                <a:solidFill>
                  <a:srgbClr val="5E5E5E"/>
                </a:solidFill>
                <a:latin typeface="Noto Sans JP"/>
                <a:ea typeface="Noto Sans JP"/>
                <a:cs typeface="Noto Sans JP"/>
              </a:rPr>
              <a:t>✓ 1回だけの相談もOK</a:t>
            </a:r>
          </a:p>
        </p:txBody>
      </p:sp>
      <p:sp>
        <p:nvSpPr>
          <p:cNvPr id="24" name="Rectangle 23"/>
          <p:cNvSpPr/>
          <p:nvPr/>
        </p:nvSpPr>
        <p:spPr>
          <a:xfrm>
            <a:off x="6600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月額 49,800円〜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01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機能性寝具（羽毛ふとん）</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15</a:t>
            </a:r>
          </a:p>
        </p:txBody>
      </p:sp>
      <p:sp>
        <p:nvSpPr>
          <p:cNvPr id="8" name="Rectangle 7"/>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薬機法上、「快眠」「疲労回復」などの効果を直接うたえず、魅力の伝え方に悩んでいた。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279%</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目標30万円に対し、公開1ヶ月で83.9万円</a:t>
            </a:r>
          </a:p>
        </p:txBody>
      </p:sp>
      <p:pic>
        <p:nvPicPr>
          <p:cNvPr id="18" name="Picture 17" descr="case1.png"/>
          <p:cNvPicPr>
            <a:picLocks noChangeAspect="1"/>
          </p:cNvPicPr>
          <p:nvPr/>
        </p:nvPicPr>
        <p:blipFill>
          <a:blip r:embed="rId4"/>
          <a:stretch>
            <a:fillRect/>
          </a:stretch>
        </p:blipFill>
        <p:spPr>
          <a:xfrm>
            <a:off x="6462001" y="1796959"/>
            <a:ext cx="4967998" cy="4106080"/>
          </a:xfrm>
          <a:prstGeom prst="rect">
            <a:avLst/>
          </a:prstGeom>
          <a:ln w="12700">
            <a:solidFill>
              <a:srgbClr val="E5DC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02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健康雑貨（ツボ押しシート）</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16</a:t>
            </a:r>
          </a:p>
        </p:txBody>
      </p:sp>
      <p:sp>
        <p:nvSpPr>
          <p:cNvPr id="8" name="Rectangle 7"/>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ニッチな商品で、短期間で認知を広げて支援を集める必要があった。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219万円</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公開3日で約50万円、最終的に目標比109%</a:t>
            </a:r>
          </a:p>
        </p:txBody>
      </p:sp>
      <p:pic>
        <p:nvPicPr>
          <p:cNvPr id="18" name="Picture 17" descr="case2.png"/>
          <p:cNvPicPr>
            <a:picLocks noChangeAspect="1"/>
          </p:cNvPicPr>
          <p:nvPr/>
        </p:nvPicPr>
        <p:blipFill>
          <a:blip r:embed="rId4"/>
          <a:stretch>
            <a:fillRect/>
          </a:stretch>
        </p:blipFill>
        <p:spPr>
          <a:xfrm>
            <a:off x="6462000" y="1896452"/>
            <a:ext cx="4967999" cy="3907094"/>
          </a:xfrm>
          <a:prstGeom prst="rect">
            <a:avLst/>
          </a:prstGeom>
          <a:ln w="12700">
            <a:solidFill>
              <a:srgbClr val="E5DC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03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オンライン講座</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17</a:t>
            </a:r>
          </a:p>
        </p:txBody>
      </p:sp>
      <p:sp>
        <p:nvSpPr>
          <p:cNvPr id="8" name="Rectangle 7"/>
          <p:cNvSpPr/>
          <p:nvPr/>
        </p:nvSpPr>
        <p:spPr>
          <a:xfrm>
            <a:off x="762000" y="1450000"/>
            <a:ext cx="254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広告からの流入はあるが、LPでの離脱が多く成約率が伸びない。月商も横ばいが続いていた。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最大150万円</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月平均50万円の売上から改善</a:t>
            </a:r>
          </a:p>
        </p:txBody>
      </p:sp>
      <p:sp>
        <p:nvSpPr>
          <p:cNvPr id="18" name="Rectangle 17"/>
          <p:cNvSpPr/>
          <p:nvPr/>
        </p:nvSpPr>
        <p:spPr>
          <a:xfrm>
            <a:off x="6462000" y="16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01</a:t>
            </a:r>
          </a:p>
        </p:txBody>
      </p:sp>
      <p:sp>
        <p:nvSpPr>
          <p:cNvPr id="20" name="TextBox 19"/>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Meta広告運用</a:t>
            </a:r>
          </a:p>
        </p:txBody>
      </p:sp>
      <p:sp>
        <p:nvSpPr>
          <p:cNvPr id="21" name="TextBox 20"/>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見込み客を集める</a:t>
            </a:r>
          </a:p>
        </p:txBody>
      </p:sp>
      <p:sp>
        <p:nvSpPr>
          <p:cNvPr id="22" name="Rectangle 21"/>
          <p:cNvSpPr/>
          <p:nvPr/>
        </p:nvSpPr>
        <p:spPr>
          <a:xfrm>
            <a:off x="6462000" y="285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02</a:t>
            </a:r>
          </a:p>
        </p:txBody>
      </p:sp>
      <p:sp>
        <p:nvSpPr>
          <p:cNvPr id="24" name="TextBox 23"/>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LP改修</a:t>
            </a:r>
          </a:p>
        </p:txBody>
      </p:sp>
      <p:sp>
        <p:nvSpPr>
          <p:cNvPr id="25" name="TextBox 24"/>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離脱を減らし、成約率を上げる</a:t>
            </a:r>
          </a:p>
        </p:txBody>
      </p:sp>
      <p:sp>
        <p:nvSpPr>
          <p:cNvPr id="26" name="Rectangle 25"/>
          <p:cNvSpPr/>
          <p:nvPr/>
        </p:nvSpPr>
        <p:spPr>
          <a:xfrm>
            <a:off x="6462000" y="41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03</a:t>
            </a:r>
          </a:p>
        </p:txBody>
      </p:sp>
      <p:sp>
        <p:nvSpPr>
          <p:cNvPr id="28" name="TextBox 27"/>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LINEステップ配信</a:t>
            </a:r>
          </a:p>
        </p:txBody>
      </p:sp>
      <p:sp>
        <p:nvSpPr>
          <p:cNvPr id="29" name="TextBox 28"/>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教育から成約までの導線を整える</a:t>
            </a:r>
          </a:p>
        </p:txBody>
      </p:sp>
      <p:sp>
        <p:nvSpPr>
          <p:cNvPr id="30" name="Isosceles Triangle 29"/>
          <p:cNvSpPr/>
          <p:nvPr/>
        </p:nvSpPr>
        <p:spPr>
          <a:xfrm rot="10800000">
            <a:off x="8696000" y="5330000"/>
            <a:ext cx="500000" cy="250000"/>
          </a:xfrm>
          <a:prstGeom prst="triangle">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月の売上 最大150万円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04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建設会社（防水・塗装）の採用</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18</a:t>
            </a:r>
          </a:p>
        </p:txBody>
      </p:sp>
      <p:sp>
        <p:nvSpPr>
          <p:cNvPr id="8" name="Rectangle 7"/>
          <p:cNvSpPr/>
          <p:nvPr/>
        </p:nvSpPr>
        <p:spPr>
          <a:xfrm>
            <a:off x="762000" y="1450000"/>
            <a:ext cx="15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パンフレット制作は中止を提案。代わりに、求める人物像と代表の想いを伝える記事をHPに掲載。</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1週間</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記事公開から1週間以内に、新卒1名が入社決定</a:t>
            </a:r>
          </a:p>
        </p:txBody>
      </p:sp>
      <p:pic>
        <p:nvPicPr>
          <p:cNvPr id="18" name="Picture 17" descr="case4.png"/>
          <p:cNvPicPr>
            <a:picLocks noChangeAspect="1"/>
          </p:cNvPicPr>
          <p:nvPr/>
        </p:nvPicPr>
        <p:blipFill>
          <a:blip r:embed="rId4"/>
          <a:stretch>
            <a:fillRect/>
          </a:stretch>
        </p:blipFill>
        <p:spPr>
          <a:xfrm>
            <a:off x="6462001" y="2545474"/>
            <a:ext cx="4967998" cy="2609051"/>
          </a:xfrm>
          <a:prstGeom prst="rect">
            <a:avLst/>
          </a:prstGeom>
          <a:ln w="12700">
            <a:solidFill>
              <a:srgbClr val="E5DC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VOICE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お客様の声</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19</a:t>
            </a:r>
          </a:p>
        </p:txBody>
      </p:sp>
      <p:sp>
        <p:nvSpPr>
          <p:cNvPr id="8" name="Rectangle 7"/>
          <p:cNvSpPr/>
          <p:nvPr/>
        </p:nvSpPr>
        <p:spPr>
          <a:xfrm>
            <a:off x="762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2000" y="1950000"/>
            <a:ext cx="132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0" name="TextBox 9"/>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1" name="TextBox 10"/>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2" name="TextBox 11"/>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健康装具の販売者 Sさん</a:t>
            </a:r>
          </a:p>
        </p:txBody>
      </p:sp>
      <p:sp>
        <p:nvSpPr>
          <p:cNvPr id="13" name="Rectangle 12"/>
          <p:cNvSpPr/>
          <p:nvPr/>
        </p:nvSpPr>
        <p:spPr>
          <a:xfrm>
            <a:off x="4396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46000" y="1950000"/>
            <a:ext cx="183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5" name="TextBox 14"/>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6" name="TextBox 15"/>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7" name="TextBox 16"/>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脱毛・ホワイトニングサロン Yさん</a:t>
            </a:r>
          </a:p>
        </p:txBody>
      </p:sp>
      <p:sp>
        <p:nvSpPr>
          <p:cNvPr id="18" name="Rectangle 17"/>
          <p:cNvSpPr/>
          <p:nvPr/>
        </p:nvSpPr>
        <p:spPr>
          <a:xfrm>
            <a:off x="8030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80000" y="1950000"/>
            <a:ext cx="149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20" name="TextBox 19"/>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21" name="TextBox 20"/>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22" name="TextBox 21"/>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デザイン制作会社 Hさん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WORKS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その他の実績</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20</a:t>
            </a:r>
          </a:p>
        </p:txBody>
      </p:sp>
      <p:sp>
        <p:nvSpPr>
          <p:cNvPr id="8" name="Rectangle 7"/>
          <p:cNvSpPr/>
          <p:nvPr/>
        </p:nvSpPr>
        <p:spPr>
          <a:xfrm>
            <a:off x="762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9" name="Rectangle 8"/>
          <p:cNvSpPr/>
          <p:nvPr/>
        </p:nvSpPr>
        <p:spPr>
          <a:xfrm>
            <a:off x="762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17.12%</a:t>
            </a:r>
          </a:p>
        </p:txBody>
      </p:sp>
      <p:sp>
        <p:nvSpPr>
          <p:cNvPr id="11" name="TextBox 10"/>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化粧品の販促LINEシナリオ</a:t>
            </a:r>
          </a:p>
        </p:txBody>
      </p:sp>
      <p:sp>
        <p:nvSpPr>
          <p:cNvPr id="12" name="TextBox 11"/>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257通中44件が成約・単価2,000円</a:t>
            </a:r>
          </a:p>
        </p:txBody>
      </p:sp>
      <p:sp>
        <p:nvSpPr>
          <p:cNvPr id="13" name="Rectangle 12"/>
          <p:cNvSpPr/>
          <p:nvPr/>
        </p:nvSpPr>
        <p:spPr>
          <a:xfrm>
            <a:off x="762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約14,000円</a:t>
            </a:r>
          </a:p>
        </p:txBody>
      </p:sp>
      <p:sp>
        <p:nvSpPr>
          <p:cNvPr id="15" name="TextBox 14"/>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講座の集客にMeta広告を活用</a:t>
            </a:r>
          </a:p>
        </p:txBody>
      </p:sp>
      <p:sp>
        <p:nvSpPr>
          <p:cNvPr id="16" name="TextBox 15"/>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1人あたりの集客単価</a:t>
            </a:r>
          </a:p>
        </p:txBody>
      </p:sp>
      <p:sp>
        <p:nvSpPr>
          <p:cNvPr id="17" name="Rectangle 16"/>
          <p:cNvSpPr/>
          <p:nvPr/>
        </p:nvSpPr>
        <p:spPr>
          <a:xfrm>
            <a:off x="762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約6,750円</a:t>
            </a:r>
          </a:p>
        </p:txBody>
      </p:sp>
      <p:sp>
        <p:nvSpPr>
          <p:cNvPr id="19" name="TextBox 18"/>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セールス代行LPのライティング</a:t>
            </a:r>
          </a:p>
        </p:txBody>
      </p:sp>
      <p:sp>
        <p:nvSpPr>
          <p:cNvPr id="20" name="TextBox 19"/>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約54,000円で8件のLINE登録</a:t>
            </a:r>
          </a:p>
        </p:txBody>
      </p:sp>
      <p:sp>
        <p:nvSpPr>
          <p:cNvPr id="21" name="Rectangle 20"/>
          <p:cNvSpPr/>
          <p:nvPr/>
        </p:nvSpPr>
        <p:spPr>
          <a:xfrm>
            <a:off x="4396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22" name="Rectangle 21"/>
          <p:cNvSpPr/>
          <p:nvPr/>
        </p:nvSpPr>
        <p:spPr>
          <a:xfrm>
            <a:off x="4396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0人→5人</a:t>
            </a:r>
          </a:p>
        </p:txBody>
      </p:sp>
      <p:sp>
        <p:nvSpPr>
          <p:cNvPr id="24" name="TextBox 23"/>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コーチングのセミナー文章を改修</a:t>
            </a:r>
          </a:p>
        </p:txBody>
      </p:sp>
      <p:sp>
        <p:nvSpPr>
          <p:cNvPr id="25" name="TextBox 24"/>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集客数</a:t>
            </a:r>
          </a:p>
        </p:txBody>
      </p:sp>
      <p:sp>
        <p:nvSpPr>
          <p:cNvPr id="26" name="Rectangle 25"/>
          <p:cNvSpPr/>
          <p:nvPr/>
        </p:nvSpPr>
        <p:spPr>
          <a:xfrm>
            <a:off x="4396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新卒1人</a:t>
            </a:r>
          </a:p>
        </p:txBody>
      </p:sp>
      <p:sp>
        <p:nvSpPr>
          <p:cNvPr id="28" name="TextBox 27"/>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防水・塗装会社の採用記事</a:t>
            </a:r>
          </a:p>
        </p:txBody>
      </p:sp>
      <p:sp>
        <p:nvSpPr>
          <p:cNvPr id="29" name="TextBox 28"/>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公開1週間以内に入社決定</a:t>
            </a:r>
          </a:p>
        </p:txBody>
      </p:sp>
      <p:sp>
        <p:nvSpPr>
          <p:cNvPr id="30" name="Rectangle 29"/>
          <p:cNvSpPr/>
          <p:nvPr/>
        </p:nvSpPr>
        <p:spPr>
          <a:xfrm>
            <a:off x="4396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60→70サイト</a:t>
            </a:r>
          </a:p>
        </p:txBody>
      </p:sp>
      <p:sp>
        <p:nvSpPr>
          <p:cNvPr id="32" name="TextBox 31"/>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転職サービスのPR記事を企画</a:t>
            </a:r>
          </a:p>
        </p:txBody>
      </p:sp>
      <p:sp>
        <p:nvSpPr>
          <p:cNvPr id="33" name="TextBox 32"/>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記事の平均転載数</a:t>
            </a:r>
          </a:p>
        </p:txBody>
      </p:sp>
      <p:sp>
        <p:nvSpPr>
          <p:cNvPr id="34" name="Rectangle 33"/>
          <p:cNvSpPr/>
          <p:nvPr/>
        </p:nvSpPr>
        <p:spPr>
          <a:xfrm>
            <a:off x="8030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a:t>
            </a:r>
          </a:p>
        </p:txBody>
      </p:sp>
      <p:sp>
        <p:nvSpPr>
          <p:cNvPr id="35" name="Rectangle 34"/>
          <p:cNvSpPr/>
          <p:nvPr/>
        </p:nvSpPr>
        <p:spPr>
          <a:xfrm>
            <a:off x="8030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約30万円</a:t>
            </a:r>
          </a:p>
        </p:txBody>
      </p:sp>
      <p:sp>
        <p:nvSpPr>
          <p:cNvPr id="37" name="TextBox 36"/>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PCガジェット</a:t>
            </a:r>
          </a:p>
        </p:txBody>
      </p:sp>
      <p:sp>
        <p:nvSpPr>
          <p:cNvPr id="38" name="TextBox 37"/>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公開3日以内（ライティング担当）</a:t>
            </a:r>
          </a:p>
        </p:txBody>
      </p:sp>
      <p:sp>
        <p:nvSpPr>
          <p:cNvPr id="39" name="Rectangle 38"/>
          <p:cNvSpPr/>
          <p:nvPr/>
        </p:nvSpPr>
        <p:spPr>
          <a:xfrm>
            <a:off x="8030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2件</a:t>
            </a:r>
          </a:p>
        </p:txBody>
      </p:sp>
      <p:sp>
        <p:nvSpPr>
          <p:cNvPr id="41" name="TextBox 40"/>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機能性寝具・健康雑貨</a:t>
            </a:r>
          </a:p>
        </p:txBody>
      </p:sp>
      <p:sp>
        <p:nvSpPr>
          <p:cNvPr id="42" name="TextBox 41"/>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CASE 01・02でご紹介</a:t>
            </a:r>
          </a:p>
        </p:txBody>
      </p:sp>
      <p:sp>
        <p:nvSpPr>
          <p:cNvPr id="43" name="TextBox 42"/>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E5E5E"/>
                </a:solidFill>
                <a:latin typeface="Noto Sans JP"/>
                <a:ea typeface="Noto Sans JP"/>
                <a:cs typeface="Noto Sans JP"/>
              </a:rPr>
              <a:t>※ サービスサイト（https://www.u-promotion.com/）掲載の実績より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PRICE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料金一覧</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21</a:t>
            </a:r>
          </a:p>
        </p:txBody>
      </p:sp>
      <p:graphicFrame>
        <p:nvGraphicFramePr>
          <p:cNvPr id="8" name="Table 7"/>
          <p:cNvGraphicFramePr>
            <a:graphicFrameLocks noGrp="1"/>
          </p:cNvGraphicFramePr>
          <p:nvPr/>
        </p:nvGraphicFramePr>
        <p:xfrm>
          <a:off x="762000" y="1700000"/>
          <a:ext cx="10668000" cy="3600000"/>
        </p:xfrm>
        <a:graphic>
          <a:graphicData uri="http://schemas.openxmlformats.org/drawingml/2006/table">
            <a:tbl>
              <a:tblPr firstRow="1" bandRow="1">
                <a:tableStyleId>{5C22544A-7EE6-4342-B048-85BDC9FD1C3A}</a:tableStyleId>
              </a:tblPr>
              <a:tblGrid>
                <a:gridCol w="3300000"/>
                <a:gridCol w="5100000"/>
                <a:gridCol w="2268000"/>
              </a:tblGrid>
              <a:tr h="720000">
                <a:tc>
                  <a:txBody>
                    <a:bodyPr/>
                    <a:lstStyle/>
                    <a:p>
                      <a:pPr algn="l"/>
                      <a:r>
                        <a:rPr sz="1200" b="1">
                          <a:solidFill>
                            <a:srgbClr val="FFFFFF"/>
                          </a:solidFill>
                          <a:latin typeface="Noto Sans JP"/>
                          <a:ea typeface="Noto Sans JP"/>
                          <a:cs typeface="Noto Sans JP"/>
                        </a:rPr>
                        <a:t>プラン</a:t>
                      </a:r>
                    </a:p>
                  </a:txBody>
                  <a:tcPr anchor="ctr" marL="180000" marR="180000">
                    <a:solidFill>
                      <a:srgbClr val="2B2B2B"/>
                    </a:solidFill>
                  </a:tcPr>
                </a:tc>
                <a:tc>
                  <a:txBody>
                    <a:bodyPr/>
                    <a:lstStyle/>
                    <a:p>
                      <a:pPr algn="l"/>
                      <a:r>
                        <a:rPr sz="1200" b="1">
                          <a:solidFill>
                            <a:srgbClr val="FFFFFF"/>
                          </a:solidFill>
                          <a:latin typeface="Noto Sans JP"/>
                          <a:ea typeface="Noto Sans JP"/>
                          <a:cs typeface="Noto Sans JP"/>
                        </a:rPr>
                        <a:t>内容</a:t>
                      </a:r>
                    </a:p>
                  </a:txBody>
                  <a:tcPr anchor="ctr" marL="180000" marR="180000">
                    <a:solidFill>
                      <a:srgbClr val="2B2B2B"/>
                    </a:solidFill>
                  </a:tcPr>
                </a:tc>
                <a:tc>
                  <a:txBody>
                    <a:bodyPr/>
                    <a:lstStyle/>
                    <a:p>
                      <a:pPr algn="l"/>
                      <a:r>
                        <a:rPr sz="1200" b="1">
                          <a:solidFill>
                            <a:srgbClr val="FFFFFF"/>
                          </a:solidFill>
                          <a:latin typeface="Noto Sans JP"/>
                          <a:ea typeface="Noto Sans JP"/>
                          <a:cs typeface="Noto Sans JP"/>
                        </a:rPr>
                        <a:t>価格（税込）</a:t>
                      </a:r>
                    </a:p>
                  </a:txBody>
                  <a:tcPr anchor="ctr" marL="180000" marR="180000">
                    <a:solidFill>
                      <a:srgbClr val="2B2B2B"/>
                    </a:solidFill>
                  </a:tcPr>
                </a:tc>
              </a:tr>
              <a:tr h="720000">
                <a:tc>
                  <a:txBody>
                    <a:bodyPr/>
                    <a:lstStyle/>
                    <a:p>
                      <a:pPr algn="l"/>
                      <a:r>
                        <a:rPr sz="1400" b="1">
                          <a:solidFill>
                            <a:srgbClr val="2B2B2B"/>
                          </a:solidFill>
                          <a:latin typeface="Noto Sans JP"/>
                          <a:ea typeface="Noto Sans JP"/>
                          <a:cs typeface="Noto Sans JP"/>
                        </a:rPr>
                        <a:t>制作代行「カワリミ」</a:t>
                      </a:r>
                    </a:p>
                  </a:txBody>
                  <a:tcPr anchor="ctr" marL="180000" marR="180000">
                    <a:solidFill>
                      <a:srgbClr val="FFFFFF"/>
                    </a:solidFill>
                  </a:tcPr>
                </a:tc>
                <a:tc>
                  <a:txBody>
                    <a:bodyPr/>
                    <a:lstStyle/>
                    <a:p>
                      <a:pPr algn="l"/>
                      <a:r>
                        <a:rPr sz="1200" b="0">
                          <a:solidFill>
                            <a:srgbClr val="2B2B2B"/>
                          </a:solidFill>
                          <a:latin typeface="Noto Sans JP"/>
                          <a:ea typeface="Noto Sans JP"/>
                          <a:cs typeface="Noto Sans JP"/>
                        </a:rPr>
                        <a:t>広告物の制作・運用を代行（LP・HP、LINE、Meta広告、チラシなど）</a:t>
                      </a:r>
                    </a:p>
                  </a:txBody>
                  <a:tcPr anchor="ctr" marL="180000" marR="180000">
                    <a:solidFill>
                      <a:srgbClr val="FFFFFF"/>
                    </a:solidFill>
                  </a:tcPr>
                </a:tc>
                <a:tc>
                  <a:txBody>
                    <a:bodyPr/>
                    <a:lstStyle/>
                    <a:p>
                      <a:pPr algn="r"/>
                      <a:r>
                        <a:rPr sz="1400" b="1">
                          <a:solidFill>
                            <a:srgbClr val="C6A15B"/>
                          </a:solidFill>
                          <a:latin typeface="Noto Sans JP"/>
                          <a:ea typeface="Noto Sans JP"/>
                          <a:cs typeface="Noto Sans JP"/>
                        </a:rPr>
                        <a:t>単発 5,000円〜</a:t>
                      </a:r>
                    </a:p>
                  </a:txBody>
                  <a:tcPr anchor="ctr" marL="180000" marR="180000">
                    <a:solidFill>
                      <a:srgbClr val="FFFFFF"/>
                    </a:solidFill>
                  </a:tcPr>
                </a:tc>
              </a:tr>
              <a:tr h="720000">
                <a:tc>
                  <a:txBody>
                    <a:bodyPr/>
                    <a:lstStyle/>
                    <a:p>
                      <a:pPr algn="l"/>
                      <a:r>
                        <a:rPr sz="1400" b="1">
                          <a:solidFill>
                            <a:srgbClr val="2B2B2B"/>
                          </a:solidFill>
                          <a:latin typeface="Noto Sans JP"/>
                          <a:ea typeface="Noto Sans JP"/>
                          <a:cs typeface="Noto Sans JP"/>
                        </a:rPr>
                        <a:t>集客顧問「ミチスジ」顧問プラン</a:t>
                      </a:r>
                    </a:p>
                  </a:txBody>
                  <a:tcPr anchor="ctr" marL="180000" marR="180000">
                    <a:solidFill>
                      <a:srgbClr val="F7F3EA"/>
                    </a:solidFill>
                  </a:tcPr>
                </a:tc>
                <a:tc>
                  <a:txBody>
                    <a:bodyPr/>
                    <a:lstStyle/>
                    <a:p>
                      <a:pPr algn="l"/>
                      <a:r>
                        <a:rPr sz="1200" b="0">
                          <a:solidFill>
                            <a:srgbClr val="2B2B2B"/>
                          </a:solidFill>
                          <a:latin typeface="Noto Sans JP"/>
                          <a:ea typeface="Noto Sans JP"/>
                          <a:cs typeface="Noto Sans JP"/>
                        </a:rPr>
                        <a:t>月最大4時間のZoom相談、添削、施策の分析・仮説検証</a:t>
                      </a:r>
                    </a:p>
                  </a:txBody>
                  <a:tcPr anchor="ctr" marL="180000" marR="180000">
                    <a:solidFill>
                      <a:srgbClr val="F7F3EA"/>
                    </a:solidFill>
                  </a:tcPr>
                </a:tc>
                <a:tc>
                  <a:txBody>
                    <a:bodyPr/>
                    <a:lstStyle/>
                    <a:p>
                      <a:pPr algn="r"/>
                      <a:r>
                        <a:rPr sz="1400" b="1">
                          <a:solidFill>
                            <a:srgbClr val="C6A15B"/>
                          </a:solidFill>
                          <a:latin typeface="Noto Sans JP"/>
                          <a:ea typeface="Noto Sans JP"/>
                          <a:cs typeface="Noto Sans JP"/>
                        </a:rPr>
                        <a:t>月額 49,800円〜</a:t>
                      </a:r>
                    </a:p>
                  </a:txBody>
                  <a:tcPr anchor="ctr" marL="180000" marR="180000">
                    <a:solidFill>
                      <a:srgbClr val="F7F3EA"/>
                    </a:solidFill>
                  </a:tcPr>
                </a:tc>
              </a:tr>
              <a:tr h="720000">
                <a:tc>
                  <a:txBody>
                    <a:bodyPr/>
                    <a:lstStyle/>
                    <a:p>
                      <a:pPr algn="l"/>
                      <a:r>
                        <a:rPr sz="1400" b="1">
                          <a:solidFill>
                            <a:srgbClr val="2B2B2B"/>
                          </a:solidFill>
                          <a:latin typeface="Noto Sans JP"/>
                          <a:ea typeface="Noto Sans JP"/>
                          <a:cs typeface="Noto Sans JP"/>
                        </a:rPr>
                        <a:t>集客顧問「ミチスジ」相談プラン</a:t>
                      </a:r>
                    </a:p>
                  </a:txBody>
                  <a:tcPr anchor="ctr" marL="180000" marR="180000">
                    <a:solidFill>
                      <a:srgbClr val="FFFFFF"/>
                    </a:solidFill>
                  </a:tcPr>
                </a:tc>
                <a:tc>
                  <a:txBody>
                    <a:bodyPr/>
                    <a:lstStyle/>
                    <a:p>
                      <a:pPr algn="l"/>
                      <a:r>
                        <a:rPr sz="1200" b="0">
                          <a:solidFill>
                            <a:srgbClr val="2B2B2B"/>
                          </a:solidFill>
                          <a:latin typeface="Noto Sans JP"/>
                          <a:ea typeface="Noto Sans JP"/>
                          <a:cs typeface="Noto Sans JP"/>
                        </a:rPr>
                        <a:t>最大2時間のZoom相談で、添削と対応方針をご提案</a:t>
                      </a:r>
                    </a:p>
                  </a:txBody>
                  <a:tcPr anchor="ctr" marL="180000" marR="180000">
                    <a:solidFill>
                      <a:srgbClr val="FFFFFF"/>
                    </a:solidFill>
                  </a:tcPr>
                </a:tc>
                <a:tc>
                  <a:txBody>
                    <a:bodyPr/>
                    <a:lstStyle/>
                    <a:p>
                      <a:pPr algn="r"/>
                      <a:r>
                        <a:rPr sz="1400" b="1">
                          <a:solidFill>
                            <a:srgbClr val="C6A15B"/>
                          </a:solidFill>
                          <a:latin typeface="Noto Sans JP"/>
                          <a:ea typeface="Noto Sans JP"/>
                          <a:cs typeface="Noto Sans JP"/>
                        </a:rPr>
                        <a:t>1回 14,800円〜</a:t>
                      </a:r>
                    </a:p>
                  </a:txBody>
                  <a:tcPr anchor="ctr" marL="180000" marR="180000">
                    <a:solidFill>
                      <a:srgbClr val="FFFFFF"/>
                    </a:solidFill>
                  </a:tcPr>
                </a:tc>
              </a:tr>
              <a:tr h="720000">
                <a:tc>
                  <a:txBody>
                    <a:bodyPr/>
                    <a:lstStyle/>
                    <a:p>
                      <a:pPr algn="l"/>
                      <a:r>
                        <a:rPr sz="1400" b="1">
                          <a:solidFill>
                            <a:srgbClr val="2B2B2B"/>
                          </a:solidFill>
                          <a:latin typeface="Noto Sans JP"/>
                          <a:ea typeface="Noto Sans JP"/>
                          <a:cs typeface="Noto Sans JP"/>
                        </a:rPr>
                        <a:t>集客顧問「ミチスジ」提案プラン</a:t>
                      </a:r>
                    </a:p>
                  </a:txBody>
                  <a:tcPr anchor="ctr" marL="180000" marR="180000">
                    <a:solidFill>
                      <a:srgbClr val="F7F3EA"/>
                    </a:solidFill>
                  </a:tcPr>
                </a:tc>
                <a:tc>
                  <a:txBody>
                    <a:bodyPr/>
                    <a:lstStyle/>
                    <a:p>
                      <a:pPr algn="l"/>
                      <a:r>
                        <a:rPr sz="1200" b="0">
                          <a:solidFill>
                            <a:srgbClr val="2B2B2B"/>
                          </a:solidFill>
                          <a:latin typeface="Noto Sans JP"/>
                          <a:ea typeface="Noto Sans JP"/>
                          <a:cs typeface="Noto Sans JP"/>
                        </a:rPr>
                        <a:t>現状分析と、必要な施策をまとめた提案書の作成・プレゼン</a:t>
                      </a:r>
                    </a:p>
                  </a:txBody>
                  <a:tcPr anchor="ctr" marL="180000" marR="180000">
                    <a:solidFill>
                      <a:srgbClr val="F7F3EA"/>
                    </a:solidFill>
                  </a:tcPr>
                </a:tc>
                <a:tc>
                  <a:txBody>
                    <a:bodyPr/>
                    <a:lstStyle/>
                    <a:p>
                      <a:pPr algn="r"/>
                      <a:r>
                        <a:rPr sz="1400" b="1">
                          <a:solidFill>
                            <a:srgbClr val="C6A15B"/>
                          </a:solidFill>
                          <a:latin typeface="Noto Sans JP"/>
                          <a:ea typeface="Noto Sans JP"/>
                          <a:cs typeface="Noto Sans JP"/>
                        </a:rPr>
                        <a:t>単発 49,800円〜</a:t>
                      </a:r>
                    </a:p>
                  </a:txBody>
                  <a:tcPr anchor="ctr" marL="180000" marR="180000">
                    <a:solidFill>
                      <a:srgbClr val="F7F3EA"/>
                    </a:solidFill>
                  </a:tcPr>
                </a:tc>
              </a:tr>
            </a:tbl>
          </a:graphicData>
        </a:graphic>
      </p:graphicFrame>
      <p:sp>
        <p:nvSpPr>
          <p:cNvPr id="9" name="Rectangle 8"/>
          <p:cNvSpPr/>
          <p:nvPr/>
        </p:nvSpPr>
        <p:spPr>
          <a:xfrm>
            <a:off x="762000" y="5550000"/>
            <a:ext cx="10668000" cy="6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5550000"/>
            <a:ext cx="10668000" cy="600000"/>
          </a:xfrm>
          <a:prstGeom prst="rect">
            <a:avLst/>
          </a:prstGeom>
          <a:noFill/>
        </p:spPr>
        <p:txBody>
          <a:bodyPr wrap="square" anchor="ctr" lIns="0" rIns="0" tIns="0" bIns="0">
            <a:spAutoFit/>
          </a:bodyPr>
          <a:lstStyle/>
          <a:p>
            <a:pPr algn="ctr">
              <a:lnSpc>
                <a:spcPct val="125000"/>
              </a:lnSpc>
            </a:pPr>
            <a:r>
              <a:rPr sz="1300" b="1">
                <a:solidFill>
                  <a:srgbClr val="2B2B2B"/>
                </a:solidFill>
                <a:latin typeface="Noto Sans JP"/>
                <a:ea typeface="Noto Sans JP"/>
                <a:cs typeface="Noto Sans JP"/>
              </a:rPr>
              <a:t>「ミチスジ」顧問プランの契約中は、制作代行「カワリミ」の費用が 20% OFF になります。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NEXT STEP</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次の一歩</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22</a:t>
            </a:r>
          </a:p>
        </p:txBody>
      </p:sp>
      <p:sp>
        <p:nvSpPr>
          <p:cNvPr id="8" name="TextBox 7"/>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本日のお話をもとに、必要なものだけをご提案します。</a:t>
            </a:r>
          </a:p>
        </p:txBody>
      </p:sp>
      <p:sp>
        <p:nvSpPr>
          <p:cNvPr id="9" name="Rectangle 8"/>
          <p:cNvSpPr/>
          <p:nvPr/>
        </p:nvSpPr>
        <p:spPr>
          <a:xfrm>
            <a:off x="762000" y="2350000"/>
            <a:ext cx="3400000" cy="3600000"/>
          </a:xfrm>
          <a:prstGeom prst="rect">
            <a:avLst/>
          </a:prstGeom>
          <a:solidFill>
            <a:srgbClr val="F7F3EA"/>
          </a:solidFill>
          <a:ln w="254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2000" y="2600000"/>
            <a:ext cx="98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1" name="TextBox 10"/>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01  ご提案・お見積り</a:t>
            </a:r>
          </a:p>
        </p:txBody>
      </p:sp>
      <p:sp>
        <p:nvSpPr>
          <p:cNvPr id="12" name="TextBox 11"/>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無料</a:t>
            </a:r>
          </a:p>
        </p:txBody>
      </p:sp>
      <p:sp>
        <p:nvSpPr>
          <p:cNvPr id="13" name="TextBox 12"/>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今日伺った課題に対して、制作・顧問のご提案と見積りをお送りします。</a:t>
            </a:r>
          </a:p>
        </p:txBody>
      </p:sp>
      <p:sp>
        <p:nvSpPr>
          <p:cNvPr id="14" name="Rectangle 13"/>
          <p:cNvSpPr/>
          <p:nvPr/>
        </p:nvSpPr>
        <p:spPr>
          <a:xfrm>
            <a:off x="4396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46000" y="2600000"/>
            <a:ext cx="16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6" name="TextBox 15"/>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02  相談プラン</a:t>
            </a:r>
          </a:p>
        </p:txBody>
      </p:sp>
      <p:sp>
        <p:nvSpPr>
          <p:cNvPr id="17" name="TextBox 16"/>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14,800円〜</a:t>
            </a:r>
          </a:p>
        </p:txBody>
      </p:sp>
      <p:sp>
        <p:nvSpPr>
          <p:cNvPr id="18" name="TextBox 17"/>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最大2時間のZoom相談で、現状と優先順位を一緒に整理します。</a:t>
            </a:r>
          </a:p>
        </p:txBody>
      </p:sp>
      <p:sp>
        <p:nvSpPr>
          <p:cNvPr id="19" name="Rectangle 18"/>
          <p:cNvSpPr/>
          <p:nvPr/>
        </p:nvSpPr>
        <p:spPr>
          <a:xfrm>
            <a:off x="8030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80000" y="2600000"/>
            <a:ext cx="132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21" name="TextBox 20"/>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03  ご紹介</a:t>
            </a:r>
          </a:p>
        </p:txBody>
      </p:sp>
      <p:sp>
        <p:nvSpPr>
          <p:cNvPr id="22" name="TextBox 21"/>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ご紹介のお願い</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マーケティング迷子を、一緒に減らしてください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REFERRAL KEYWORDS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この5つで悩んでいる方がいたら、思い出してください</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24</a:t>
            </a:r>
          </a:p>
        </p:txBody>
      </p:sp>
      <p:sp>
        <p:nvSpPr>
          <p:cNvPr id="8" name="Rectangle 7"/>
          <p:cNvSpPr/>
          <p:nvPr/>
        </p:nvSpPr>
        <p:spPr>
          <a:xfrm>
            <a:off x="762000" y="160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0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2000" y="170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01</a:t>
            </a:r>
          </a:p>
        </p:txBody>
      </p:sp>
      <p:sp>
        <p:nvSpPr>
          <p:cNvPr id="11" name="TextBox 10"/>
          <p:cNvSpPr txBox="1"/>
          <p:nvPr/>
        </p:nvSpPr>
        <p:spPr>
          <a:xfrm>
            <a:off x="1862000" y="170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「商品の良さは分かってもらえるはずなのに、売れない」</a:t>
            </a:r>
          </a:p>
        </p:txBody>
      </p:sp>
      <p:sp>
        <p:nvSpPr>
          <p:cNvPr id="12" name="Rectangle 11"/>
          <p:cNvSpPr/>
          <p:nvPr/>
        </p:nvSpPr>
        <p:spPr>
          <a:xfrm>
            <a:off x="762000" y="238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2000" y="238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000" y="248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02</a:t>
            </a:r>
          </a:p>
        </p:txBody>
      </p:sp>
      <p:sp>
        <p:nvSpPr>
          <p:cNvPr id="15" name="TextBox 14"/>
          <p:cNvSpPr txBox="1"/>
          <p:nvPr/>
        </p:nvSpPr>
        <p:spPr>
          <a:xfrm>
            <a:off x="1862000" y="248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「同業と何が違うのか、うまく説明できない」</a:t>
            </a:r>
          </a:p>
        </p:txBody>
      </p:sp>
      <p:sp>
        <p:nvSpPr>
          <p:cNvPr id="16" name="Rectangle 15"/>
          <p:cNvSpPr/>
          <p:nvPr/>
        </p:nvSpPr>
        <p:spPr>
          <a:xfrm>
            <a:off x="762000" y="316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316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326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03</a:t>
            </a:r>
          </a:p>
        </p:txBody>
      </p:sp>
      <p:sp>
        <p:nvSpPr>
          <p:cNvPr id="19" name="TextBox 18"/>
          <p:cNvSpPr txBox="1"/>
          <p:nvPr/>
        </p:nvSpPr>
        <p:spPr>
          <a:xfrm>
            <a:off x="1862000" y="326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「おしゃれなHPを作ったのに、問い合わせが来ない」</a:t>
            </a:r>
          </a:p>
        </p:txBody>
      </p:sp>
      <p:sp>
        <p:nvSpPr>
          <p:cNvPr id="20" name="Rectangle 19"/>
          <p:cNvSpPr/>
          <p:nvPr/>
        </p:nvSpPr>
        <p:spPr>
          <a:xfrm>
            <a:off x="762000" y="394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2000" y="394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2000" y="404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04</a:t>
            </a:r>
          </a:p>
        </p:txBody>
      </p:sp>
      <p:sp>
        <p:nvSpPr>
          <p:cNvPr id="23" name="TextBox 22"/>
          <p:cNvSpPr txBox="1"/>
          <p:nvPr/>
        </p:nvSpPr>
        <p:spPr>
          <a:xfrm>
            <a:off x="1862000" y="404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「SNSを頑張っているのに、反応がない」</a:t>
            </a:r>
          </a:p>
        </p:txBody>
      </p:sp>
      <p:sp>
        <p:nvSpPr>
          <p:cNvPr id="24" name="Rectangle 23"/>
          <p:cNvSpPr/>
          <p:nvPr/>
        </p:nvSpPr>
        <p:spPr>
          <a:xfrm>
            <a:off x="762000" y="472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2000" y="472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2000" y="482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05</a:t>
            </a:r>
          </a:p>
        </p:txBody>
      </p:sp>
      <p:sp>
        <p:nvSpPr>
          <p:cNvPr id="27" name="TextBox 26"/>
          <p:cNvSpPr txBox="1"/>
          <p:nvPr/>
        </p:nvSpPr>
        <p:spPr>
          <a:xfrm>
            <a:off x="1862000" y="482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「何をやっても効いているのか分からない」</a:t>
            </a:r>
          </a:p>
        </p:txBody>
      </p:sp>
      <p:sp>
        <p:nvSpPr>
          <p:cNvPr id="28" name="TextBox 27"/>
          <p:cNvSpPr txBox="1"/>
          <p:nvPr/>
        </p:nvSpPr>
        <p:spPr>
          <a:xfrm>
            <a:off x="762000" y="5600000"/>
            <a:ext cx="10668000" cy="500000"/>
          </a:xfrm>
          <a:prstGeom prst="rect">
            <a:avLst/>
          </a:prstGeom>
          <a:noFill/>
        </p:spPr>
        <p:txBody>
          <a:bodyPr wrap="square" anchor="t" lIns="0" rIns="0" tIns="0" bIns="0">
            <a:spAutoFit/>
          </a:bodyPr>
          <a:lstStyle/>
          <a:p>
            <a:pPr algn="ctr">
              <a:lnSpc>
                <a:spcPct val="125000"/>
              </a:lnSpc>
            </a:pPr>
            <a:r>
              <a:rPr sz="2000" b="1">
                <a:solidFill>
                  <a:srgbClr val="C6A15B"/>
                </a:solidFill>
                <a:latin typeface="Noto Sans JP"/>
                <a:ea typeface="Noto Sans JP"/>
                <a:cs typeface="Noto Sans JP"/>
              </a:rPr>
              <a:t>合言葉は「マーケティング迷子」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WHO TO INTRODUCE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ご紹介いただきたい方</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25</a:t>
            </a:r>
          </a:p>
        </p:txBody>
      </p:sp>
      <p:sp>
        <p:nvSpPr>
          <p:cNvPr id="8" name="Rectangle 7"/>
          <p:cNvSpPr/>
          <p:nvPr/>
        </p:nvSpPr>
        <p:spPr>
          <a:xfrm>
            <a:off x="762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お客様として</a:t>
            </a:r>
          </a:p>
        </p:txBody>
      </p:sp>
      <p:sp>
        <p:nvSpPr>
          <p:cNvPr id="11" name="TextBox 10"/>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美容・健康分野で集客に悩む事業者</a:t>
            </a:r>
          </a:p>
        </p:txBody>
      </p:sp>
      <p:sp>
        <p:nvSpPr>
          <p:cNvPr id="12" name="TextBox 11"/>
          <p:cNvSpPr txBox="1"/>
          <p:nvPr/>
        </p:nvSpPr>
        <p:spPr>
          <a:xfrm>
            <a:off x="1112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美容サロン・脱毛サロン</a:t>
            </a:r>
          </a:p>
          <a:p>
            <a:pPr algn="l">
              <a:lnSpc>
                <a:spcPct val="170000"/>
              </a:lnSpc>
            </a:pPr>
            <a:r>
              <a:rPr sz="1400" b="0">
                <a:solidFill>
                  <a:srgbClr val="2B2B2B"/>
                </a:solidFill>
                <a:latin typeface="Noto Sans JP"/>
                <a:ea typeface="Noto Sans JP"/>
                <a:cs typeface="Noto Sans JP"/>
              </a:rPr>
              <a:t>● 整体院・治療院</a:t>
            </a:r>
          </a:p>
          <a:p>
            <a:pPr algn="l">
              <a:lnSpc>
                <a:spcPct val="170000"/>
              </a:lnSpc>
            </a:pPr>
            <a:r>
              <a:rPr sz="1400" b="0">
                <a:solidFill>
                  <a:srgbClr val="2B2B2B"/>
                </a:solidFill>
                <a:latin typeface="Noto Sans JP"/>
                <a:ea typeface="Noto Sans JP"/>
                <a:cs typeface="Noto Sans JP"/>
              </a:rPr>
              <a:t>● 医療クリニック</a:t>
            </a:r>
          </a:p>
          <a:p>
            <a:pPr algn="l">
              <a:lnSpc>
                <a:spcPct val="170000"/>
              </a:lnSpc>
            </a:pPr>
            <a:r>
              <a:rPr sz="1400" b="0">
                <a:solidFill>
                  <a:srgbClr val="2B2B2B"/>
                </a:solidFill>
                <a:latin typeface="Noto Sans JP"/>
                <a:ea typeface="Noto Sans JP"/>
                <a:cs typeface="Noto Sans JP"/>
              </a:rPr>
              <a:t>● 健康食品・化粧品・健康雑貨の販売者</a:t>
            </a:r>
          </a:p>
          <a:p>
            <a:pPr algn="l">
              <a:lnSpc>
                <a:spcPct val="170000"/>
              </a:lnSpc>
            </a:pPr>
            <a:r>
              <a:rPr sz="1400" b="0">
                <a:solidFill>
                  <a:srgbClr val="2B2B2B"/>
                </a:solidFill>
                <a:latin typeface="Noto Sans JP"/>
                <a:ea typeface="Noto Sans JP"/>
                <a:cs typeface="Noto Sans JP"/>
              </a:rPr>
              <a:t>● 講座・スクール・コーチ</a:t>
            </a:r>
          </a:p>
        </p:txBody>
      </p:sp>
      <p:sp>
        <p:nvSpPr>
          <p:cNvPr id="13" name="Rectangle 12"/>
          <p:cNvSpPr/>
          <p:nvPr/>
        </p:nvSpPr>
        <p:spPr>
          <a:xfrm>
            <a:off x="6250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0000" y="1650000"/>
            <a:ext cx="518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協業パートナーとして</a:t>
            </a:r>
          </a:p>
        </p:txBody>
      </p:sp>
      <p:sp>
        <p:nvSpPr>
          <p:cNvPr id="16" name="TextBox 15"/>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ライティング・薬機法対応を任せたい方</a:t>
            </a:r>
          </a:p>
        </p:txBody>
      </p:sp>
      <p:sp>
        <p:nvSpPr>
          <p:cNvPr id="17" name="TextBox 16"/>
          <p:cNvSpPr txBox="1"/>
          <p:nvPr/>
        </p:nvSpPr>
        <p:spPr>
          <a:xfrm>
            <a:off x="6600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Web制作会社・デザイン会社</a:t>
            </a:r>
          </a:p>
          <a:p>
            <a:pPr algn="l">
              <a:lnSpc>
                <a:spcPct val="170000"/>
              </a:lnSpc>
            </a:pPr>
            <a:r>
              <a:rPr sz="1400" b="0">
                <a:solidFill>
                  <a:srgbClr val="2B2B2B"/>
                </a:solidFill>
                <a:latin typeface="Noto Sans JP"/>
                <a:ea typeface="Noto Sans JP"/>
                <a:cs typeface="Noto Sans JP"/>
              </a:rPr>
              <a:t>● 経営・財務コンサルタント</a:t>
            </a:r>
          </a:p>
          <a:p>
            <a:pPr algn="l">
              <a:lnSpc>
                <a:spcPct val="170000"/>
              </a:lnSpc>
            </a:pPr>
            <a:r>
              <a:rPr sz="1400" b="0">
                <a:solidFill>
                  <a:srgbClr val="2B2B2B"/>
                </a:solidFill>
                <a:latin typeface="Noto Sans JP"/>
                <a:ea typeface="Noto Sans JP"/>
                <a:cs typeface="Noto Sans JP"/>
              </a:rPr>
              <a:t>● 医療・美容機器ディーラー</a:t>
            </a:r>
          </a:p>
          <a:p>
            <a:pPr algn="l">
              <a:lnSpc>
                <a:spcPct val="170000"/>
              </a:lnSpc>
            </a:pPr>
            <a:r>
              <a:rPr sz="1400" b="0">
                <a:solidFill>
                  <a:srgbClr val="2B2B2B"/>
                </a:solidFill>
                <a:latin typeface="Noto Sans JP"/>
                <a:ea typeface="Noto Sans JP"/>
                <a:cs typeface="Noto Sans JP"/>
              </a:rPr>
              <a:t>● レンタルスペース・店舗物件の不動産仲介</a:t>
            </a:r>
          </a:p>
          <a:p>
            <a:pPr algn="l">
              <a:lnSpc>
                <a:spcPct val="170000"/>
              </a:lnSpc>
            </a:pPr>
            <a:r>
              <a:rPr sz="1400" b="0">
                <a:solidFill>
                  <a:srgbClr val="2B2B2B"/>
                </a:solidFill>
                <a:latin typeface="Noto Sans JP"/>
                <a:ea typeface="Noto Sans JP"/>
                <a:cs typeface="Noto Sans JP"/>
              </a:rPr>
              <a:t>● 経営者コミュニティ・マッチングサービス運営</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REFERRAL PROGRAM</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紹介パートナー制度</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26</a:t>
            </a:r>
          </a:p>
        </p:txBody>
      </p:sp>
      <p:sp>
        <p:nvSpPr>
          <p:cNvPr id="8" name="Rectangle 7"/>
          <p:cNvSpPr/>
          <p:nvPr/>
        </p:nvSpPr>
        <p:spPr>
          <a:xfrm>
            <a:off x="762000" y="170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集客顧問「ミチスジ」顧問プラン</a:t>
            </a:r>
          </a:p>
        </p:txBody>
      </p:sp>
      <p:sp>
        <p:nvSpPr>
          <p:cNvPr id="10" name="TextBox 9"/>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20%</a:t>
            </a:r>
          </a:p>
        </p:txBody>
      </p:sp>
      <p:sp>
        <p:nvSpPr>
          <p:cNvPr id="11" name="TextBox 10"/>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契約金額の20%を毎月</a:t>
            </a:r>
          </a:p>
        </p:txBody>
      </p:sp>
      <p:sp>
        <p:nvSpPr>
          <p:cNvPr id="12" name="TextBox 11"/>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契約が続く限り、着金確認後にお支払い</a:t>
            </a:r>
          </a:p>
        </p:txBody>
      </p:sp>
      <p:sp>
        <p:nvSpPr>
          <p:cNvPr id="13" name="Rectangle 12"/>
          <p:cNvSpPr/>
          <p:nvPr/>
        </p:nvSpPr>
        <p:spPr>
          <a:xfrm>
            <a:off x="762000" y="335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制作代行「カワリミ」</a:t>
            </a:r>
          </a:p>
        </p:txBody>
      </p:sp>
      <p:sp>
        <p:nvSpPr>
          <p:cNvPr id="15" name="TextBox 14"/>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10%</a:t>
            </a:r>
          </a:p>
        </p:txBody>
      </p:sp>
      <p:sp>
        <p:nvSpPr>
          <p:cNvPr id="16" name="TextBox 15"/>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契約金額の10%</a:t>
            </a:r>
          </a:p>
        </p:txBody>
      </p:sp>
      <p:sp>
        <p:nvSpPr>
          <p:cNvPr id="17" name="TextBox 16"/>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契約金額10万円以上の場合。着金確認後にお支払い</a:t>
            </a:r>
          </a:p>
        </p:txBody>
      </p:sp>
      <p:sp>
        <p:nvSpPr>
          <p:cNvPr id="18" name="Rectangle 17"/>
          <p:cNvSpPr/>
          <p:nvPr/>
        </p:nvSpPr>
        <p:spPr>
          <a:xfrm>
            <a:off x="6462000" y="17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62000" y="18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21" name="TextBox 20"/>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ご紹介・おつなぎ</a:t>
            </a:r>
          </a:p>
        </p:txBody>
      </p:sp>
      <p:sp>
        <p:nvSpPr>
          <p:cNvPr id="22" name="TextBox 21"/>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お困りの方をご紹介ください</a:t>
            </a:r>
          </a:p>
        </p:txBody>
      </p:sp>
      <p:sp>
        <p:nvSpPr>
          <p:cNvPr id="23" name="Rectangle 22"/>
          <p:cNvSpPr/>
          <p:nvPr/>
        </p:nvSpPr>
        <p:spPr>
          <a:xfrm>
            <a:off x="6462000" y="25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62000" y="27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26" name="TextBox 25"/>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商談・ご提案</a:t>
            </a:r>
          </a:p>
        </p:txBody>
      </p:sp>
      <p:sp>
        <p:nvSpPr>
          <p:cNvPr id="27" name="TextBox 26"/>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ヒアリングと提案はすべて私が行います</a:t>
            </a:r>
          </a:p>
        </p:txBody>
      </p:sp>
      <p:sp>
        <p:nvSpPr>
          <p:cNvPr id="28" name="Rectangle 27"/>
          <p:cNvSpPr/>
          <p:nvPr/>
        </p:nvSpPr>
        <p:spPr>
          <a:xfrm>
            <a:off x="6462000" y="34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62000" y="35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31" name="TextBox 30"/>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ご契約・業務開始</a:t>
            </a:r>
          </a:p>
        </p:txBody>
      </p:sp>
      <p:sp>
        <p:nvSpPr>
          <p:cNvPr id="32" name="TextBox 31"/>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お客様と直接契約します</a:t>
            </a:r>
          </a:p>
        </p:txBody>
      </p:sp>
      <p:sp>
        <p:nvSpPr>
          <p:cNvPr id="33" name="Rectangle 32"/>
          <p:cNvSpPr/>
          <p:nvPr/>
        </p:nvSpPr>
        <p:spPr>
          <a:xfrm>
            <a:off x="6462000" y="42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62000" y="44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36" name="TextBox 35"/>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紹介料のお支払い</a:t>
            </a:r>
          </a:p>
        </p:txBody>
      </p:sp>
      <p:sp>
        <p:nvSpPr>
          <p:cNvPr id="37" name="TextBox 36"/>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入金確認後にお支払いします</a:t>
            </a:r>
          </a:p>
        </p:txBody>
      </p:sp>
      <p:sp>
        <p:nvSpPr>
          <p:cNvPr id="38" name="TextBox 37"/>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1500000"/>
            <a:ext cx="10668000" cy="500000"/>
          </a:xfrm>
          <a:prstGeom prst="rect">
            <a:avLst/>
          </a:prstGeom>
          <a:noFill/>
        </p:spPr>
        <p:txBody>
          <a:bodyPr wrap="square" anchor="t" lIns="0" rIns="0" tIns="0" bIns="0">
            <a:spAutoFit/>
          </a:bodyPr>
          <a:lstStyle/>
          <a:p>
            <a:pPr algn="ctr">
              <a:lnSpc>
                <a:spcPct val="125000"/>
              </a:lnSpc>
            </a:pPr>
            <a:r>
              <a:rPr sz="3000" b="1">
                <a:solidFill>
                  <a:srgbClr val="FFFFFF"/>
                </a:solidFill>
                <a:latin typeface="Noto Sans JP"/>
                <a:ea typeface="Noto Sans JP"/>
                <a:cs typeface="Noto Sans JP"/>
              </a:rPr>
              <a:t>本日はありがとうございました</a:t>
            </a:r>
          </a:p>
        </p:txBody>
      </p:sp>
      <p:sp>
        <p:nvSpPr>
          <p:cNvPr id="3" name="TextBox 2"/>
          <p:cNvSpPr txBox="1"/>
          <p:nvPr/>
        </p:nvSpPr>
        <p:spPr>
          <a:xfrm>
            <a:off x="762000" y="2400000"/>
            <a:ext cx="10668000" cy="500000"/>
          </a:xfrm>
          <a:prstGeom prst="rect">
            <a:avLst/>
          </a:prstGeom>
          <a:noFill/>
        </p:spPr>
        <p:txBody>
          <a:bodyPr wrap="square" anchor="t" lIns="0" rIns="0" tIns="0" bIns="0">
            <a:spAutoFit/>
          </a:bodyPr>
          <a:lstStyle/>
          <a:p>
            <a:pPr algn="ctr">
              <a:lnSpc>
                <a:spcPct val="125000"/>
              </a:lnSpc>
            </a:pPr>
            <a:r>
              <a:rPr sz="1400" b="0">
                <a:solidFill>
                  <a:srgbClr val="CFCFCF"/>
                </a:solidFill>
                <a:latin typeface="Noto Sans JP"/>
                <a:ea typeface="Noto Sans JP"/>
                <a:cs typeface="Noto Sans JP"/>
              </a:rPr>
              <a:t>最後に教えてください</a:t>
            </a:r>
          </a:p>
        </p:txBody>
      </p:sp>
      <p:sp>
        <p:nvSpPr>
          <p:cNvPr id="4" name="TextBox 3"/>
          <p:cNvSpPr txBox="1"/>
          <p:nvPr/>
        </p:nvSpPr>
        <p:spPr>
          <a:xfrm>
            <a:off x="762000" y="2850000"/>
            <a:ext cx="10668000" cy="600000"/>
          </a:xfrm>
          <a:prstGeom prst="rect">
            <a:avLst/>
          </a:prstGeom>
          <a:noFill/>
        </p:spPr>
        <p:txBody>
          <a:bodyPr wrap="square" anchor="t" lIns="0" rIns="0" tIns="0" bIns="0">
            <a:spAutoFit/>
          </a:bodyPr>
          <a:lstStyle/>
          <a:p>
            <a:pPr algn="ctr">
              <a:lnSpc>
                <a:spcPct val="125000"/>
              </a:lnSpc>
            </a:pPr>
            <a:r>
              <a:rPr sz="2200" b="1">
                <a:solidFill>
                  <a:srgbClr val="C6A15B"/>
                </a:solidFill>
                <a:latin typeface="Noto Sans JP"/>
                <a:ea typeface="Noto Sans JP"/>
                <a:cs typeface="Noto Sans JP"/>
              </a:rPr>
              <a:t>私から○○様にご紹介できるのは、どんな方ですか？</a:t>
            </a:r>
          </a:p>
        </p:txBody>
      </p:sp>
      <p:sp>
        <p:nvSpPr>
          <p:cNvPr id="5" name="Rectangle 4"/>
          <p:cNvSpPr/>
          <p:nvPr/>
        </p:nvSpPr>
        <p:spPr>
          <a:xfrm>
            <a:off x="3600000" y="4300000"/>
            <a:ext cx="4992000" cy="165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50000" y="4500000"/>
            <a:ext cx="3200000" cy="400000"/>
          </a:xfrm>
          <a:prstGeom prst="rect">
            <a:avLst/>
          </a:prstGeom>
          <a:noFill/>
        </p:spPr>
        <p:txBody>
          <a:bodyPr wrap="square" anchor="t" lIns="0" rIns="0" tIns="0" bIns="0">
            <a:spAutoFit/>
          </a:bodyPr>
          <a:lstStyle/>
          <a:p>
            <a:pPr algn="l">
              <a:lnSpc>
                <a:spcPct val="150000"/>
              </a:lnSpc>
            </a:pPr>
            <a:r>
              <a:rPr sz="1300" b="1">
                <a:solidFill>
                  <a:srgbClr val="2B2B2B"/>
                </a:solidFill>
                <a:latin typeface="Noto Sans JP"/>
                <a:ea typeface="Noto Sans JP"/>
                <a:cs typeface="Noto Sans JP"/>
              </a:rPr>
              <a:t>U-ライティング 上原 龍之介</a:t>
            </a:r>
          </a:p>
          <a:p>
            <a:pPr algn="l">
              <a:lnSpc>
                <a:spcPct val="150000"/>
              </a:lnSpc>
            </a:pPr>
            <a:r>
              <a:rPr sz="1000" b="0">
                <a:solidFill>
                  <a:srgbClr val="5E5E5E"/>
                </a:solidFill>
                <a:latin typeface="Noto Sans JP"/>
                <a:ea typeface="Noto Sans JP"/>
                <a:cs typeface="Noto Sans JP"/>
              </a:rPr>
              <a:t>サービスサイト</a:t>
            </a:r>
          </a:p>
          <a:p>
            <a:pPr algn="l">
              <a:lnSpc>
                <a:spcPct val="150000"/>
              </a:lnSpc>
            </a:pPr>
            <a:r>
              <a:rPr sz="1100" b="1">
                <a:solidFill>
                  <a:srgbClr val="C6A15B"/>
                </a:solidFill>
                <a:latin typeface="Noto Sans JP"/>
                <a:ea typeface="Noto Sans JP"/>
                <a:cs typeface="Noto Sans JP"/>
              </a:rPr>
              <a:t>https://www.u-promotion.com/</a:t>
            </a:r>
          </a:p>
        </p:txBody>
      </p:sp>
      <p:pic>
        <p:nvPicPr>
          <p:cNvPr id="7" name="Picture 6" descr="qr.png"/>
          <p:cNvPicPr>
            <a:picLocks noChangeAspect="1"/>
          </p:cNvPicPr>
          <p:nvPr/>
        </p:nvPicPr>
        <p:blipFill>
          <a:blip r:embed="rId2"/>
          <a:stretch>
            <a:fillRect/>
          </a:stretch>
        </p:blipFill>
        <p:spPr>
          <a:xfrm>
            <a:off x="7300000" y="4450000"/>
            <a:ext cx="1150000" cy="1150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付録</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サービス詳細</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質問されたときだけ開く</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KAWARIMI</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制作代行「カワリミ」― あなたの代わりに、作って運用します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29</a:t>
            </a:r>
          </a:p>
        </p:txBody>
      </p:sp>
      <p:sp>
        <p:nvSpPr>
          <p:cNvPr id="8" name="Rectangle 7"/>
          <p:cNvSpPr/>
          <p:nvPr/>
        </p:nvSpPr>
        <p:spPr>
          <a:xfrm>
            <a:off x="762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2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Webページ制作（LP・HP）</a:t>
            </a:r>
          </a:p>
        </p:txBody>
      </p:sp>
      <p:sp>
        <p:nvSpPr>
          <p:cNvPr id="11" name="TextBox 10"/>
          <p:cNvSpPr txBox="1"/>
          <p:nvPr/>
        </p:nvSpPr>
        <p:spPr>
          <a:xfrm>
            <a:off x="1012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100,000円〜</a:t>
            </a:r>
          </a:p>
        </p:txBody>
      </p:sp>
      <p:sp>
        <p:nvSpPr>
          <p:cNvPr id="12" name="TextBox 11"/>
          <p:cNvSpPr txBox="1"/>
          <p:nvPr/>
        </p:nvSpPr>
        <p:spPr>
          <a:xfrm>
            <a:off x="1012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構成・ライティングから実装まで</a:t>
            </a:r>
          </a:p>
        </p:txBody>
      </p:sp>
      <p:sp>
        <p:nvSpPr>
          <p:cNvPr id="13" name="Rectangle 12"/>
          <p:cNvSpPr/>
          <p:nvPr/>
        </p:nvSpPr>
        <p:spPr>
          <a:xfrm>
            <a:off x="4396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6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LPライティング</a:t>
            </a:r>
          </a:p>
        </p:txBody>
      </p:sp>
      <p:sp>
        <p:nvSpPr>
          <p:cNvPr id="16" name="TextBox 15"/>
          <p:cNvSpPr txBox="1"/>
          <p:nvPr/>
        </p:nvSpPr>
        <p:spPr>
          <a:xfrm>
            <a:off x="4646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80,000円〜</a:t>
            </a:r>
          </a:p>
        </p:txBody>
      </p:sp>
      <p:sp>
        <p:nvSpPr>
          <p:cNvPr id="17" name="TextBox 16"/>
          <p:cNvSpPr txBox="1"/>
          <p:nvPr/>
        </p:nvSpPr>
        <p:spPr>
          <a:xfrm>
            <a:off x="4646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構成・原稿・ワイヤー作成</a:t>
            </a:r>
          </a:p>
        </p:txBody>
      </p:sp>
      <p:sp>
        <p:nvSpPr>
          <p:cNvPr id="18" name="Rectangle 17"/>
          <p:cNvSpPr/>
          <p:nvPr/>
        </p:nvSpPr>
        <p:spPr>
          <a:xfrm>
            <a:off x="8030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0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公式LINE構築・運用</a:t>
            </a:r>
          </a:p>
        </p:txBody>
      </p:sp>
      <p:sp>
        <p:nvSpPr>
          <p:cNvPr id="21" name="TextBox 20"/>
          <p:cNvSpPr txBox="1"/>
          <p:nvPr/>
        </p:nvSpPr>
        <p:spPr>
          <a:xfrm>
            <a:off x="8280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初月50,000円〜</a:t>
            </a:r>
          </a:p>
          <a:p>
            <a:pPr algn="l">
              <a:lnSpc>
                <a:spcPct val="120000"/>
              </a:lnSpc>
            </a:pPr>
            <a:r>
              <a:rPr sz="1500" b="1">
                <a:solidFill>
                  <a:srgbClr val="C6A15B"/>
                </a:solidFill>
                <a:latin typeface="Noto Sans JP"/>
                <a:ea typeface="Noto Sans JP"/>
                <a:cs typeface="Noto Sans JP"/>
              </a:rPr>
              <a:t>月額30,000円〜</a:t>
            </a:r>
          </a:p>
        </p:txBody>
      </p:sp>
      <p:sp>
        <p:nvSpPr>
          <p:cNvPr id="22" name="TextBox 21"/>
          <p:cNvSpPr txBox="1"/>
          <p:nvPr/>
        </p:nvSpPr>
        <p:spPr>
          <a:xfrm>
            <a:off x="8280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配信代行を含む</a:t>
            </a:r>
          </a:p>
        </p:txBody>
      </p:sp>
      <p:sp>
        <p:nvSpPr>
          <p:cNvPr id="23" name="Rectangle 22"/>
          <p:cNvSpPr/>
          <p:nvPr/>
        </p:nvSpPr>
        <p:spPr>
          <a:xfrm>
            <a:off x="762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Meta広告運用</a:t>
            </a:r>
          </a:p>
        </p:txBody>
      </p:sp>
      <p:sp>
        <p:nvSpPr>
          <p:cNvPr id="26" name="TextBox 25"/>
          <p:cNvSpPr txBox="1"/>
          <p:nvPr/>
        </p:nvSpPr>
        <p:spPr>
          <a:xfrm>
            <a:off x="1012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初期30,000円〜</a:t>
            </a:r>
          </a:p>
          <a:p>
            <a:pPr algn="l">
              <a:lnSpc>
                <a:spcPct val="120000"/>
              </a:lnSpc>
            </a:pPr>
            <a:r>
              <a:rPr sz="1500" b="1">
                <a:solidFill>
                  <a:srgbClr val="C6A15B"/>
                </a:solidFill>
                <a:latin typeface="Noto Sans JP"/>
                <a:ea typeface="Noto Sans JP"/>
                <a:cs typeface="Noto Sans JP"/>
              </a:rPr>
              <a:t>月額 広告費の20%</a:t>
            </a:r>
          </a:p>
        </p:txBody>
      </p:sp>
      <p:sp>
        <p:nvSpPr>
          <p:cNvPr id="27" name="TextBox 26"/>
          <p:cNvSpPr txBox="1"/>
          <p:nvPr/>
        </p:nvSpPr>
        <p:spPr>
          <a:xfrm>
            <a:off x="1012000" y="538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Facebook・Instagram</a:t>
            </a:r>
          </a:p>
        </p:txBody>
      </p:sp>
      <p:sp>
        <p:nvSpPr>
          <p:cNvPr id="28" name="Rectangle 27"/>
          <p:cNvSpPr/>
          <p:nvPr/>
        </p:nvSpPr>
        <p:spPr>
          <a:xfrm>
            <a:off x="4396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6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チラシ制作</a:t>
            </a:r>
          </a:p>
        </p:txBody>
      </p:sp>
      <p:sp>
        <p:nvSpPr>
          <p:cNvPr id="31" name="TextBox 30"/>
          <p:cNvSpPr txBox="1"/>
          <p:nvPr/>
        </p:nvSpPr>
        <p:spPr>
          <a:xfrm>
            <a:off x="4646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片面30,000円〜</a:t>
            </a:r>
          </a:p>
          <a:p>
            <a:pPr algn="l">
              <a:lnSpc>
                <a:spcPct val="120000"/>
              </a:lnSpc>
            </a:pPr>
            <a:r>
              <a:rPr sz="1500" b="1">
                <a:solidFill>
                  <a:srgbClr val="C6A15B"/>
                </a:solidFill>
                <a:latin typeface="Noto Sans JP"/>
                <a:ea typeface="Noto Sans JP"/>
                <a:cs typeface="Noto Sans JP"/>
              </a:rPr>
              <a:t>両面50,000円〜</a:t>
            </a:r>
          </a:p>
        </p:txBody>
      </p:sp>
      <p:sp>
        <p:nvSpPr>
          <p:cNvPr id="32" name="Rectangle 31"/>
          <p:cNvSpPr/>
          <p:nvPr/>
        </p:nvSpPr>
        <p:spPr>
          <a:xfrm>
            <a:off x="8030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0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0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スピーチ原稿・営業資料</a:t>
            </a:r>
          </a:p>
        </p:txBody>
      </p:sp>
      <p:sp>
        <p:nvSpPr>
          <p:cNvPr id="35" name="TextBox 34"/>
          <p:cNvSpPr txBox="1"/>
          <p:nvPr/>
        </p:nvSpPr>
        <p:spPr>
          <a:xfrm>
            <a:off x="8280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5,000円〜</a:t>
            </a:r>
          </a:p>
          <a:p>
            <a:pPr algn="l">
              <a:lnSpc>
                <a:spcPct val="120000"/>
              </a:lnSpc>
            </a:pPr>
            <a:r>
              <a:rPr sz="1500" b="1">
                <a:solidFill>
                  <a:srgbClr val="C6A15B"/>
                </a:solidFill>
                <a:latin typeface="Noto Sans JP"/>
                <a:ea typeface="Noto Sans JP"/>
                <a:cs typeface="Noto Sans JP"/>
              </a:rPr>
              <a:t>50,000円〜</a:t>
            </a:r>
          </a:p>
        </p:txBody>
      </p:sp>
      <p:sp>
        <p:nvSpPr>
          <p:cNvPr id="36" name="TextBox 35"/>
          <p:cNvSpPr txBox="1"/>
          <p:nvPr/>
        </p:nvSpPr>
        <p:spPr>
          <a:xfrm>
            <a:off x="8280000" y="538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30秒スピーチ原稿は5,000円</a:t>
            </a:r>
          </a:p>
        </p:txBody>
      </p:sp>
      <p:sp>
        <p:nvSpPr>
          <p:cNvPr id="37" name="TextBox 36"/>
          <p:cNvSpPr txBox="1"/>
          <p:nvPr/>
        </p:nvSpPr>
        <p:spPr>
          <a:xfrm>
            <a:off x="762000" y="6050000"/>
            <a:ext cx="10668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 価格は税込・目安です。内容やボリュームに応じて、事前にお見積りします。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MICHISUJI</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集客顧問「ミチスジ」― 迷子にならない道筋を、一緒に</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30</a:t>
            </a:r>
          </a:p>
        </p:txBody>
      </p:sp>
      <p:sp>
        <p:nvSpPr>
          <p:cNvPr id="8" name="Rectangle 7"/>
          <p:cNvSpPr/>
          <p:nvPr/>
        </p:nvSpPr>
        <p:spPr>
          <a:xfrm>
            <a:off x="762000" y="2300000"/>
            <a:ext cx="3400000" cy="385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1</a:t>
            </a:r>
          </a:p>
        </p:txBody>
      </p:sp>
      <p:sp>
        <p:nvSpPr>
          <p:cNvPr id="10" name="TextBox 9"/>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相談プラン</a:t>
            </a:r>
          </a:p>
        </p:txBody>
      </p:sp>
      <p:sp>
        <p:nvSpPr>
          <p:cNvPr id="11" name="TextBox 10"/>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1回限り  </a:t>
            </a:r>
          </a:p>
        </p:txBody>
      </p:sp>
      <p:sp>
        <p:nvSpPr>
          <p:cNvPr id="12" name="TextBox 11"/>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14,800円〜</a:t>
            </a:r>
          </a:p>
        </p:txBody>
      </p:sp>
      <p:sp>
        <p:nvSpPr>
          <p:cNvPr id="13" name="TextBox 12"/>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・最大2時間のZoom相談</a:t>
            </a:r>
          </a:p>
          <a:p>
            <a:pPr algn="l">
              <a:lnSpc>
                <a:spcPct val="150000"/>
              </a:lnSpc>
            </a:pPr>
            <a:r>
              <a:rPr sz="1200" b="0">
                <a:solidFill>
                  <a:srgbClr val="2B2B2B"/>
                </a:solidFill>
                <a:latin typeface="Noto Sans JP"/>
                <a:ea typeface="Noto Sans JP"/>
                <a:cs typeface="Noto Sans JP"/>
              </a:rPr>
              <a:t>・現状の広告物を添削</a:t>
            </a:r>
          </a:p>
          <a:p>
            <a:pPr algn="l">
              <a:lnSpc>
                <a:spcPct val="150000"/>
              </a:lnSpc>
            </a:pPr>
            <a:r>
              <a:rPr sz="1200" b="0">
                <a:solidFill>
                  <a:srgbClr val="2B2B2B"/>
                </a:solidFill>
                <a:latin typeface="Noto Sans JP"/>
                <a:ea typeface="Noto Sans JP"/>
                <a:cs typeface="Noto Sans JP"/>
              </a:rPr>
              <a:t>・まず何から手をつけるか、優先順位をご提案</a:t>
            </a:r>
          </a:p>
        </p:txBody>
      </p:sp>
      <p:sp>
        <p:nvSpPr>
          <p:cNvPr id="14" name="TextBox 13"/>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まず1回、現状を整理したい方</a:t>
            </a:r>
          </a:p>
        </p:txBody>
      </p:sp>
      <p:sp>
        <p:nvSpPr>
          <p:cNvPr id="15" name="Rectangle 14"/>
          <p:cNvSpPr/>
          <p:nvPr/>
        </p:nvSpPr>
        <p:spPr>
          <a:xfrm>
            <a:off x="4396000" y="2050000"/>
            <a:ext cx="3400000" cy="41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2</a:t>
            </a:r>
          </a:p>
        </p:txBody>
      </p:sp>
      <p:sp>
        <p:nvSpPr>
          <p:cNvPr id="17" name="TextBox 16"/>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提案プラン</a:t>
            </a:r>
          </a:p>
        </p:txBody>
      </p:sp>
      <p:sp>
        <p:nvSpPr>
          <p:cNvPr id="18" name="TextBox 17"/>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単発  </a:t>
            </a:r>
          </a:p>
        </p:txBody>
      </p:sp>
      <p:sp>
        <p:nvSpPr>
          <p:cNvPr id="19" name="TextBox 18"/>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20" name="TextBox 19"/>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・現状分析・競合リサーチ</a:t>
            </a:r>
          </a:p>
          <a:p>
            <a:pPr algn="l">
              <a:lnSpc>
                <a:spcPct val="150000"/>
              </a:lnSpc>
            </a:pPr>
            <a:r>
              <a:rPr sz="1200" b="0">
                <a:solidFill>
                  <a:srgbClr val="2B2B2B"/>
                </a:solidFill>
                <a:latin typeface="Noto Sans JP"/>
                <a:ea typeface="Noto Sans JP"/>
                <a:cs typeface="Noto Sans JP"/>
              </a:rPr>
              <a:t>・具体的な施策の提案書を作成</a:t>
            </a:r>
          </a:p>
          <a:p>
            <a:pPr algn="l">
              <a:lnSpc>
                <a:spcPct val="150000"/>
              </a:lnSpc>
            </a:pPr>
            <a:r>
              <a:rPr sz="1200" b="0">
                <a:solidFill>
                  <a:srgbClr val="2B2B2B"/>
                </a:solidFill>
                <a:latin typeface="Noto Sans JP"/>
                <a:ea typeface="Noto Sans JP"/>
                <a:cs typeface="Noto Sans JP"/>
              </a:rPr>
              <a:t>・提案プレゼン・質疑応答</a:t>
            </a:r>
          </a:p>
        </p:txBody>
      </p:sp>
      <p:sp>
        <p:nvSpPr>
          <p:cNvPr id="21" name="TextBox 20"/>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集客の方向性を資料で欲しい方</a:t>
            </a:r>
          </a:p>
        </p:txBody>
      </p:sp>
      <p:sp>
        <p:nvSpPr>
          <p:cNvPr id="22" name="Rectangle 21"/>
          <p:cNvSpPr/>
          <p:nvPr/>
        </p:nvSpPr>
        <p:spPr>
          <a:xfrm>
            <a:off x="8030000" y="1800000"/>
            <a:ext cx="3400000" cy="435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3</a:t>
            </a:r>
          </a:p>
        </p:txBody>
      </p:sp>
      <p:sp>
        <p:nvSpPr>
          <p:cNvPr id="24" name="TextBox 23"/>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顧問プラン</a:t>
            </a:r>
          </a:p>
        </p:txBody>
      </p:sp>
      <p:sp>
        <p:nvSpPr>
          <p:cNvPr id="25" name="TextBox 24"/>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月額  </a:t>
            </a:r>
          </a:p>
        </p:txBody>
      </p:sp>
      <p:sp>
        <p:nvSpPr>
          <p:cNvPr id="26" name="TextBox 25"/>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27" name="TextBox 26"/>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・月最大4時間のZoom相談</a:t>
            </a:r>
          </a:p>
          <a:p>
            <a:pPr algn="l">
              <a:lnSpc>
                <a:spcPct val="150000"/>
              </a:lnSpc>
            </a:pPr>
            <a:r>
              <a:rPr sz="1200" b="0">
                <a:solidFill>
                  <a:srgbClr val="2B2B2B"/>
                </a:solidFill>
                <a:latin typeface="Noto Sans JP"/>
                <a:ea typeface="Noto Sans JP"/>
                <a:cs typeface="Noto Sans JP"/>
              </a:rPr>
              <a:t>・制作物への添削・アドバイス</a:t>
            </a:r>
          </a:p>
          <a:p>
            <a:pPr algn="l">
              <a:lnSpc>
                <a:spcPct val="150000"/>
              </a:lnSpc>
            </a:pPr>
            <a:r>
              <a:rPr sz="1200" b="0">
                <a:solidFill>
                  <a:srgbClr val="2B2B2B"/>
                </a:solidFill>
                <a:latin typeface="Noto Sans JP"/>
                <a:ea typeface="Noto Sans JP"/>
                <a:cs typeface="Noto Sans JP"/>
              </a:rPr>
              <a:t>・施策の分析・仮説検証</a:t>
            </a:r>
          </a:p>
          <a:p>
            <a:pPr algn="l">
              <a:lnSpc>
                <a:spcPct val="150000"/>
              </a:lnSpc>
            </a:pPr>
            <a:r>
              <a:rPr sz="1200" b="0">
                <a:solidFill>
                  <a:srgbClr val="2B2B2B"/>
                </a:solidFill>
                <a:latin typeface="Noto Sans JP"/>
                <a:ea typeface="Noto Sans JP"/>
                <a:cs typeface="Noto Sans JP"/>
              </a:rPr>
              <a:t>・カワリミ 20%OFF</a:t>
            </a:r>
          </a:p>
        </p:txBody>
      </p:sp>
      <p:sp>
        <p:nvSpPr>
          <p:cNvPr id="28" name="TextBox 27"/>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継続して伴走してほしい方</a:t>
            </a:r>
          </a:p>
        </p:txBody>
      </p:sp>
      <p:sp>
        <p:nvSpPr>
          <p:cNvPr id="29" name="TextBox 28"/>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小さく始めて、必要なら次へ。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