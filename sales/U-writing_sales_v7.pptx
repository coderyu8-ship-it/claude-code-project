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【画面共有はまだしない】①アイスブレイクは顔を見て話す。</a:t>
            </a:r>
          </a:p>
          <a:p/>
          <a:p>
            <a:r>
              <a:t>▼アイスブレイク（1つ選ぶ）</a:t>
            </a:r>
          </a:p>
          <a:p>
            <a:r>
              <a:t>・紹介で会う場合：「○○さんとはどういうご縁なんですか？」（共通の知人の話）</a:t>
            </a:r>
          </a:p>
          <a:p>
            <a:r>
              <a:t>・マッチングサービス経由：「プロフィールで△△を拝見して、気になっていたんです」</a:t>
            </a:r>
          </a:p>
          <a:p>
            <a:r>
              <a:t>・交流会で会った場合：「先日の□□でお話しした件の続きなんですが」</a:t>
            </a:r>
          </a:p>
          <a:p/>
          <a:p>
            <a:r>
              <a:t>▼自分から連絡した場合の理由（必ず具体的に一言）</a:t>
            </a:r>
          </a:p>
          <a:p>
            <a:r>
              <a:t>・人をつなぐ方へ：「○○さんの周りにいる美容・健康系の事業者さんのお役に立てると思って、お会いしたかったんです」</a:t>
            </a:r>
          </a:p>
          <a:p>
            <a:r>
              <a:t>・見込み客へ：「○○さんの（Instagram／LP／チラシ）を拝見して、△△の伝え方がもったいないと感じたんです」</a:t>
            </a:r>
          </a:p>
          <a:p>
            <a:r>
              <a:t>　「もったいない」はOK。「間違っている」はNG。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今日はまず○○さんのお仕事を伺って、そのあと私の話をさせてください。</a:t>
            </a:r>
          </a:p>
          <a:p>
            <a:r>
              <a:t>私は「マーケティング迷子を減らす」をテーマにしているので、その観点でお役に立てることがないか、一緒に探せたら嬉しいです。</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【任意。共有しなくてもよい】ヒアリングの手元メモとして使う。</a:t>
            </a:r>
          </a:p>
          <a:p>
            <a:r>
              <a:t>提案したくなっても我慢。相手の課題は一言でメモしておく。</a:t>
            </a:r>
          </a:p>
          <a:p/>
          <a:p>
            <a:r>
              <a:t>▼見込み客の場合に追加（課題の深さ・お金・時期）</a:t>
            </a:r>
          </a:p>
          <a:p>
            <a:r>
              <a:t>・その課題で、どれくらい損をしていそうですか？</a:t>
            </a:r>
          </a:p>
          <a:p>
            <a:r>
              <a:t>・今、集客にどれくらいかけていますか？</a:t>
            </a:r>
          </a:p>
          <a:p>
            <a:r>
              <a:t>・いつまでに解決したいですか？</a:t>
            </a:r>
          </a:p>
          <a:p/>
          <a:p>
            <a:r>
              <a:t>▼③に移るタイミング（どちらか）</a:t>
            </a:r>
          </a:p>
          <a:p>
            <a:r>
              <a:t>・相手の課題を要約して「そういうことですね」と同意が取れたとき</a:t>
            </a:r>
          </a:p>
          <a:p>
            <a:r>
              <a:t>・開始から20〜25分が経ったとき</a:t>
            </a:r>
          </a:p>
          <a:p>
            <a:r>
              <a:t>「お話を伺って、○○さんは△△のところで少し迷子になっているように感じました。私がなぜこの仕事をしているかも含めて、少しお話しさせてください。」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上原龍之介です。美容・健康分野を中心に、薬機法を守りながら“売れる”広告を作っています。</a:t>
            </a:r>
          </a:p>
          <a:p>
            <a:r>
              <a:t>ライター歴は6年以上で、今は公式LINEやMeta広告の運用まで支援しています。</a:t>
            </a:r>
          </a:p>
          <a:p>
            <a:r>
              <a:t>（30秒で終える。略歴は聞かれたら答える）</a:t>
            </a:r>
          </a:p>
          <a:p/>
          <a:p>
            <a:r>
              <a:t>→ 理念へのつなぎ</a:t>
            </a:r>
          </a:p>
          <a:p>
            <a:r>
              <a:t>私がこの仕事を続けている理由を、少しだけお話しさせてください。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（自己紹介のあと、ここで自分の想いを話す。2分以内）</a:t>
            </a:r>
          </a:p>
          <a:p>
            <a:r>
              <a:t>私がこの仕事を続けている理由を、少しだけお話しさせてください。</a:t>
            </a:r>
          </a:p>
          <a:p>
            <a:r>
              <a:t>いろんな事業者さんとお話しする中で、「何十万円もかけてホームページを作ったけど、問い合わせが来ない」「高い講座やコンサルを受けたけど、成果につながらなかった」という話を本当によく聞くんです。</a:t>
            </a:r>
          </a:p>
          <a:p>
            <a:r>
              <a:t>それでも皆さん諦めずに、自力で頑張ろうとする。でも自力だと時間がかかるし、専門家に頼むとまたお金がかかる。</a:t>
            </a:r>
          </a:p>
          <a:p>
            <a:r>
              <a:t>頑張っているのに、何にお金と時間を使えばいいか分からなくなっている。</a:t>
            </a:r>
          </a:p>
          <a:p>
            <a:r>
              <a:t>私はこれを「マーケティング迷子」と呼んでいます。</a:t>
            </a:r>
          </a:p>
          <a:p>
            <a:r>
              <a:t>（ここで一拍置く）</a:t>
            </a:r>
          </a:p>
          <a:p/>
          <a:p>
            <a:r>
              <a:t>【注意】「支援業者は高すぎる」という言い方は絶対にしない。同席者や紹介先にコンサル・制作会社がいる。</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広告は一種の「投資」です。いきなり大金をつぎ込まず、まずは少額から試すのが大原則。</a:t>
            </a:r>
          </a:p>
          <a:p>
            <a:r>
              <a:t>だから私は、本当に必要なものだけを作ると決めています。</a:t>
            </a:r>
          </a:p>
          <a:p>
            <a:r>
              <a:t>ご相談を受けても、作らなくていいと思ったら正直にそう言いますし、</a:t>
            </a:r>
          </a:p>
          <a:p>
            <a:r>
              <a:t>まずは1回の相談だけ、という使い方もできるようにしています。誇大広告もしません。</a:t>
            </a:r>
          </a:p>
          <a:p>
            <a:r>
              <a:t>マーケティング迷子を一人でも減らしたい。それが、私の仕事の理由です。</a:t>
            </a:r>
          </a:p>
          <a:p/>
          <a:p>
            <a:r>
              <a:t>→ 次は「広告づくりの考え方」へ：</a:t>
            </a:r>
          </a:p>
          <a:p>
            <a:r>
              <a:t>では、実際に私がどう広告を作っているかをお話しします。</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では、実際に私がどう広告を作っているかをお話しします。</a:t>
            </a:r>
          </a:p>
          <a:p>
            <a:r>
              <a:t>広告は投資なので、なんとなくの感覚では作りません。誰に、何を、どこで、どう届けるか。順番に論理を組み立ててから作ります。</a:t>
            </a:r>
          </a:p>
          <a:p>
            <a:r>
              <a:t>私のサイトでは「集客がうまくいかない代表的な理由」として載せているんですが、裏返すと、これが私の広告づくりの5つの原則です。</a:t>
            </a:r>
          </a:p>
          <a:p/>
          <a:p>
            <a:r>
              <a:t>【注意】診断やクイズにはしない。あくまで「私の作り方」として話す。</a:t>
            </a:r>
          </a:p>
          <a:p>
            <a:r>
              <a:t>相手がヒアリングで話したことに近い原則があれば、「先ほどの△△のお話は、まさにここなんですが」と軽く触れる程度に。</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例えば美容サロンだと、「最新の美顔器を導入」と書いてしまいがちです。でもお客様が知りたいのは、機械のすごさより「自分の肌がどう変わるか」なんです。</a:t>
            </a:r>
          </a:p>
          <a:p>
            <a:r>
              <a:t>だから私は、まずターゲットの悩みと、使った後の理想の姿を言葉にするところから始めます。</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「圧倒的スピード」「納得のコスト」「万全のアフターケア」。どの会社にも書けてしまうんですよね。</a:t>
            </a:r>
          </a:p>
          <a:p>
            <a:r>
              <a:t>大事なのは「なぜあなたに頼むのか」。それはたいてい、ご本人の経歴や想いの中に埋まっていて、ご自身では気づいていないことが多いです。私はヒアリングで、そこを掘り起こします。</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雰囲気はすごく素敵なんです。でも見た人が「で、何をすればいいの？」となってしまう。</a:t>
            </a:r>
          </a:p>
          <a:p>
            <a:r>
              <a:t>私は先に「読んだ人に何をしてほしいか」を決めて、そのための言葉を作ります。デザインは、その言葉を届けるための器だと考えています。</a:t>
            </a:r>
          </a:p>
          <a:p/>
          <a:p>
            <a:r>
              <a:t>【注意】相手がジムやサロンでも名指しで否定しない。</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シャッター街で不動産投資のチラシを配っても、反応は出ないですよね。極端な例ですが、同じことがSNSや広告でもよく起きています。</a:t>
            </a:r>
          </a:p>
          <a:p>
            <a:r>
              <a:t>だから私は、作る前に「お客様がどこにいるか」を決めます。LPだけでなく、広告やLINEとのつなぎ方まで考えます。</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SNSもLPも新しいツールも、全部頑張っているのに、どれが効いているのか分からない。まさに「マーケティング迷子」の状態です。</a:t>
            </a:r>
          </a:p>
          <a:p>
            <a:r>
              <a:t>私は始める前に「これで何人来るはず」という仮説を立てます。そうすれば、結果を見て何を直せばいいかが分かります。</a:t>
            </a:r>
          </a:p>
          <a:p/>
          <a:p>
            <a:r>
              <a:t>→ ここから「なので私は、作る（制作）と考える（コンサル）の両方をやっています」とサービスにつなげる。</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この考え方で、2つのサービスを提供しています。</a:t>
            </a:r>
          </a:p>
          <a:p>
            <a:r>
              <a:t>手を動かす時間がない方には、私が代わりに作る「カワリミ」。</a:t>
            </a:r>
          </a:p>
          <a:p>
            <a:r>
              <a:t>自分で動きたいけど方向性に迷っている方には、横で道筋を示す「ミチスジ」です。</a:t>
            </a:r>
          </a:p>
          <a:p>
            <a:r>
              <a:t>○○さんのお話だと、【カワリミ／ミチスジ】が合いそうだと思っています。</a:t>
            </a:r>
          </a:p>
          <a:p/>
          <a:p>
            <a:r>
              <a:t>【サービスは1つに絞って言い切る】</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私の強みは2つです。</a:t>
            </a:r>
          </a:p>
          <a:p>
            <a:r>
              <a:t>1つ目は、制作とコンサルの両方をやっていること。</a:t>
            </a:r>
          </a:p>
          <a:p>
            <a:r>
              <a:t>制作会社だと「作ること」が前提になるし、コンサルだと「作るのは別の会社」になる。私は両方やっているので、○○さんの状況に合わせて「今は作らずに相談だけ」「ここだけ作り直す」といった提案ができます。</a:t>
            </a:r>
          </a:p>
          <a:p>
            <a:r>
              <a:t>2つ目は、差別化まで狙える薬機法対策です。法律を守るだけなら、表現を弱めれば済みます。でもそれだと、他社と同じ言葉になってしまう。私は守りながら、「体験」や「変化」の言葉で他社との違いを作ります。</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実際の例を一つだけお見せしますね。</a:t>
            </a:r>
          </a:p>
          <a:p>
            <a:r>
              <a:t>“快眠”と言えない寝具を、“朝の目覚め”の体験として伝えて、目標の2.8倍になりました。</a:t>
            </a:r>
          </a:p>
          <a:p/>
          <a:p>
            <a:r>
              <a:t>【事例は相手に近いものを1件だけ】</a:t>
            </a:r>
          </a:p>
          <a:p>
            <a:r>
              <a:t>・美容・健康の物販 → CASE 01 / 02</a:t>
            </a:r>
          </a:p>
          <a:p>
            <a:r>
              <a:t>・講座・スクール・コーチ → CASE 03</a:t>
            </a:r>
          </a:p>
          <a:p>
            <a:r>
              <a:t>・採用に悩む会社 → CASE 04</a:t>
            </a:r>
          </a:p>
          <a:p>
            <a:r>
              <a:t>クラファン（01・02）は「ページ企画・ライティング担当」。聞かれたら担当範囲を正直に答える。</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実際の例を一つだけお見せしますね。</a:t>
            </a:r>
          </a:p>
          <a:p>
            <a:r>
              <a:t>公開3日で約50万円、最終的に219万円まで伸びました。</a:t>
            </a:r>
          </a:p>
          <a:p/>
          <a:p>
            <a:r>
              <a:t>【事例は相手に近いものを1件だけ】</a:t>
            </a:r>
          </a:p>
          <a:p>
            <a:r>
              <a:t>・美容・健康の物販 → CASE 01 / 02</a:t>
            </a:r>
          </a:p>
          <a:p>
            <a:r>
              <a:t>・講座・スクール・コーチ → CASE 03</a:t>
            </a:r>
          </a:p>
          <a:p>
            <a:r>
              <a:t>・採用に悩む会社 → CASE 04</a:t>
            </a:r>
          </a:p>
          <a:p>
            <a:r>
              <a:t>クラファン（01・02）は「ページ企画・ライティング担当」。聞かれたら担当範囲を正直に答える。</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実際の例を一つだけお見せしますね。</a:t>
            </a:r>
          </a:p>
          <a:p>
            <a:r>
              <a:t>広告・LP・LINEをつなぎ直して、月平均50万円の売上が、最大で150万円まで伸びました。</a:t>
            </a:r>
          </a:p>
          <a:p/>
          <a:p>
            <a:r>
              <a:t>【事例は相手に近いものを1件だけ】</a:t>
            </a:r>
          </a:p>
          <a:p>
            <a:r>
              <a:t>・美容・健康の物販 → CASE 01 / 02</a:t>
            </a:r>
          </a:p>
          <a:p>
            <a:r>
              <a:t>・講座・スクール・コーチ → CASE 03</a:t>
            </a:r>
          </a:p>
          <a:p>
            <a:r>
              <a:t>・採用に悩む会社 → CASE 04</a:t>
            </a:r>
          </a:p>
          <a:p>
            <a:r>
              <a:t>クラファン（01・02）は「ページ企画・ライティング担当」。聞かれたら担当範囲を正直に答える。</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実際の例を一つだけお見せしますね。</a:t>
            </a:r>
          </a:p>
          <a:p>
            <a:r>
              <a:t>パンフレットのご依頼でしたが、本当に必要なのは別のものだと分かって、記事に切り替えました。公開1週間で内定が出ています。</a:t>
            </a:r>
          </a:p>
          <a:p>
            <a:r>
              <a:t>（「必要なものだけを作る」の具体例として話せる）</a:t>
            </a:r>
          </a:p>
          <a:p/>
          <a:p>
            <a:r>
              <a:t>【事例は相手に近いものを1件だけ】</a:t>
            </a:r>
          </a:p>
          <a:p>
            <a:r>
              <a:t>・美容・健康の物販 → CASE 01 / 02</a:t>
            </a:r>
          </a:p>
          <a:p>
            <a:r>
              <a:t>・講座・スクール・コーチ → CASE 03</a:t>
            </a:r>
          </a:p>
          <a:p>
            <a:r>
              <a:t>・採用に悩む会社 → CASE 04</a:t>
            </a:r>
          </a:p>
          <a:p>
            <a:r>
              <a:t>クラファン（01・02）は「ページ企画・ライティング担当」。聞かれたら担当範囲を正直に答える。</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お客様からは、こんな声をいただいています。</a:t>
            </a:r>
          </a:p>
          <a:p>
            <a:r>
              <a:t>特に多いのが「ヒアリングが丁寧」という声で、今日のように最初にしっかりお話を伺うのは、そのためなんです。</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他にも、こんな実績があります。全部はお話ししませんが、○○さんに近いところだと――</a:t>
            </a:r>
          </a:p>
          <a:p>
            <a:r>
              <a:t>（相手の業種に近いものを1〜2件だけ指差す。読み上げない）</a:t>
            </a:r>
          </a:p>
          <a:p>
            <a:r>
              <a:t>・美容・化粧品・サプリ → 化粧品のLINEシナリオ「257通中44件成約、成約率17.12%」</a:t>
            </a:r>
          </a:p>
          <a:p>
            <a:r>
              <a:t>・講座・セミナー → セミナー文章改修「0人→5人」、Meta広告「1人約14,000円で集客」</a:t>
            </a:r>
          </a:p>
          <a:p>
            <a:r>
              <a:t>・採用 → 採用記事「公開1週間で新卒1人入社」</a:t>
            </a:r>
          </a:p>
          <a:p>
            <a:r>
              <a:t>・物販 → クラファン3件</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料金はこちらです。制作代行は単発で5,000円から、顧問プランは月額49,800円からです。</a:t>
            </a:r>
          </a:p>
          <a:p>
            <a:r>
              <a:t>各種制作の目安は下の表のとおりです。今日のお話だと、【○○】が近いと思います。正式な金額は、伺った内容をもとにお見積りしますね。</a:t>
            </a:r>
          </a:p>
          <a:p>
            <a:r>
              <a:t>顧問プランの契約中は、制作代行が20%引きになります。</a:t>
            </a:r>
          </a:p>
          <a:p>
            <a:r>
              <a:t>（全部説明しない。相手に関係する行だけ指差す）</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【必ず具体的な行動で終える。「またよろしくお願いします」で終わらせない】</a:t>
            </a:r>
          </a:p>
          <a:p/>
          <a:p>
            <a:r>
              <a:t>▼契約を目指す場合：その場で提案・見積もりを送る日を決める（無料）</a:t>
            </a:r>
          </a:p>
          <a:p>
            <a:r>
              <a:t>今日伺った内容で、必要なものだけのご提案とお見積りをお送りします。○日までにお送りしてよいですか？</a:t>
            </a:r>
          </a:p>
          <a:p>
            <a:r>
              <a:t>・まだ迷っている相手には、相談プラン（14,800円〜）を選択肢として出す。</a:t>
            </a:r>
          </a:p>
          <a:p/>
          <a:p>
            <a:r>
              <a:t>▼紹介を目指す場合 → 次のセクション（ご紹介のお願い）へ</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（紹介を目指す場合、または契約の話のあとに）最後に一つ、お願いがあります。</a:t>
            </a:r>
          </a:p>
          <a:p>
            <a:r>
              <a:t>今日お話しした5つのよくある失敗、どれかで悩んでいる方が周りにいたら、私を思い出してください。</a:t>
            </a:r>
          </a:p>
          <a:p>
            <a:r>
              <a:t>「チラシやLPを作ったけど反応がない」「何から手をつければいいか分からない」と言っている方は、たいていこのどれかです。</a:t>
            </a:r>
          </a:p>
          <a:p>
            <a:r>
              <a:t>合言葉は「マーケティング迷子」です。</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特に、美容サロン、整体院、医療クリニック、健康食品を扱っている事業者さんとは相性がいいです。</a:t>
            </a:r>
          </a:p>
          <a:p>
            <a:r>
              <a:t>協業できるパートナーさんも探しています。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ご紹介がご契約につながった場合は、紹介料をお支払いしています。</a:t>
            </a:r>
          </a:p>
          <a:p>
            <a:r>
              <a:t>顧問プランなら契約が続く限り毎月20%、制作代行なら10万円以上のご契約で10%です。</a:t>
            </a:r>
          </a:p>
          <a:p>
            <a:r>
              <a:t>商談やご提案はすべて私が行うので、つないでいただくだけで大丈夫です。</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▼紹介を目指す場合：その場で名前を出してもらう</a:t>
            </a:r>
          </a:p>
          <a:p>
            <a:r>
              <a:t>今日のお話で、思い浮かんだ方はいらっしゃいますか？</a:t>
            </a:r>
          </a:p>
          <a:p>
            <a:r>
              <a:t>・出なければ「1週間後に一度ご連絡してもいいですか？」とフォローの約束を取る。</a:t>
            </a:r>
          </a:p>
          <a:p/>
          <a:p>
            <a:r>
              <a:t>▼最後に必ず</a:t>
            </a:r>
          </a:p>
          <a:p>
            <a:r>
              <a:t>逆に、私から○○さんにご紹介できるのはどんな方ですか？</a:t>
            </a:r>
          </a:p>
          <a:p/>
          <a:p>
            <a:r>
              <a:t>▼打ち合わせ後（当日中）</a:t>
            </a:r>
          </a:p>
          <a:p>
            <a:r>
              <a:t>・お礼の連絡と、決まった次の行動を文字で送る。</a:t>
            </a:r>
          </a:p>
          <a:p>
            <a:r>
              <a:t>・相手から聞いた「紹介してほしい人」を控え、こちらから先に紹介できる人を探す。</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ミチスジは、ご自身で動きたい方の横で、道筋を示し続けるサービスです。</a:t>
            </a:r>
          </a:p>
          <a:p>
            <a:r>
              <a:t>いきなり顧問でなくても大丈夫です。まずは1回の相談から、必要なら提案書、続けるなら顧問、と段階的に使えます。</a:t>
            </a:r>
          </a:p>
          <a:p>
            <a:r>
              <a:t>顧問中は、制作代行が20%引きになります。</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2.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8.png"/><Relationship Id="rId4" Type="http://schemas.openxmlformats.org/officeDocument/2006/relationships/image" Target="../media/image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1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1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1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 Id="rId3" Type="http://schemas.openxmlformats.org/officeDocument/2006/relationships/image" Target="../media/image13.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Rectangle 1"/>
          <p:cNvSpPr/>
          <p:nvPr/>
        </p:nvSpPr>
        <p:spPr>
          <a:xfrm>
            <a:off x="7992000" y="0"/>
            <a:ext cx="4200000" cy="68580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542000" y="1350000"/>
            <a:ext cx="3100000" cy="3100000"/>
          </a:xfrm>
          <a:prstGeom prst="ellipse">
            <a:avLst/>
          </a:prstGeom>
          <a:solidFill>
            <a:srgbClr val="FAF6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profile_circle.png"/>
          <p:cNvPicPr>
            <a:picLocks noChangeAspect="1"/>
          </p:cNvPicPr>
          <p:nvPr/>
        </p:nvPicPr>
        <p:blipFill>
          <a:blip r:embed="rId2"/>
          <a:stretch>
            <a:fillRect/>
          </a:stretch>
        </p:blipFill>
        <p:spPr>
          <a:xfrm>
            <a:off x="8642000" y="1450000"/>
            <a:ext cx="2900000" cy="2900000"/>
          </a:xfrm>
          <a:prstGeom prst="rect">
            <a:avLst/>
          </a:prstGeom>
        </p:spPr>
      </p:pic>
      <p:sp>
        <p:nvSpPr>
          <p:cNvPr id="5" name="TextBox 4"/>
          <p:cNvSpPr txBox="1"/>
          <p:nvPr/>
        </p:nvSpPr>
        <p:spPr>
          <a:xfrm>
            <a:off x="7992000" y="4750000"/>
            <a:ext cx="4200000" cy="700000"/>
          </a:xfrm>
          <a:prstGeom prst="rect">
            <a:avLst/>
          </a:prstGeom>
          <a:noFill/>
        </p:spPr>
        <p:txBody>
          <a:bodyPr wrap="square" anchor="t" lIns="0" rIns="0" tIns="0" bIns="0">
            <a:spAutoFit/>
          </a:bodyPr>
          <a:lstStyle/>
          <a:p>
            <a:pPr algn="ctr">
              <a:lnSpc>
                <a:spcPct val="125000"/>
              </a:lnSpc>
            </a:pPr>
            <a:r>
              <a:rPr sz="1200" b="1">
                <a:solidFill>
                  <a:srgbClr val="FFFFFF"/>
                </a:solidFill>
                <a:latin typeface="Noto Sans JP"/>
                <a:ea typeface="Noto Sans JP"/>
                <a:cs typeface="Noto Sans JP"/>
              </a:rPr>
              <a:t>集客プランナー / ライター</a:t>
            </a:r>
          </a:p>
          <a:p>
            <a:pPr algn="ctr">
              <a:lnSpc>
                <a:spcPct val="125000"/>
              </a:lnSpc>
            </a:pPr>
            <a:r>
              <a:rPr sz="2200" b="1">
                <a:solidFill>
                  <a:srgbClr val="FFFFFF"/>
                </a:solidFill>
                <a:latin typeface="Noto Sans JP"/>
                <a:ea typeface="Noto Sans JP"/>
                <a:cs typeface="Noto Sans JP"/>
              </a:rPr>
              <a:t>上原 龍之介</a:t>
            </a:r>
          </a:p>
        </p:txBody>
      </p:sp>
      <p:sp>
        <p:nvSpPr>
          <p:cNvPr id="6" name="Rectangle 5"/>
          <p:cNvSpPr/>
          <p:nvPr/>
        </p:nvSpPr>
        <p:spPr>
          <a:xfrm>
            <a:off x="0" y="0"/>
            <a:ext cx="7992000" cy="76200"/>
          </a:xfrm>
          <a:prstGeom prst="rect">
            <a:avLst/>
          </a:prstGeom>
          <a:solidFill>
            <a:srgbClr val="D97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2000" y="1450000"/>
            <a:ext cx="6500000" cy="300000"/>
          </a:xfrm>
          <a:prstGeom prst="rect">
            <a:avLst/>
          </a:prstGeom>
          <a:noFill/>
        </p:spPr>
        <p:txBody>
          <a:bodyPr wrap="square" anchor="t" lIns="0" rIns="0" tIns="0" bIns="0">
            <a:spAutoFit/>
          </a:bodyPr>
          <a:lstStyle/>
          <a:p>
            <a:pPr algn="l">
              <a:lnSpc>
                <a:spcPct val="125000"/>
              </a:lnSpc>
            </a:pPr>
            <a:r>
              <a:rPr sz="1300" b="1">
                <a:solidFill>
                  <a:srgbClr val="145F6B"/>
                </a:solidFill>
                <a:latin typeface="Noto Sans JP"/>
                <a:ea typeface="Noto Sans JP"/>
                <a:cs typeface="Noto Sans JP"/>
              </a:rPr>
              <a:t>U-ライティング サービスのご案内</a:t>
            </a:r>
          </a:p>
        </p:txBody>
      </p:sp>
      <p:sp>
        <p:nvSpPr>
          <p:cNvPr id="8" name="Rectangle 7"/>
          <p:cNvSpPr/>
          <p:nvPr/>
        </p:nvSpPr>
        <p:spPr>
          <a:xfrm>
            <a:off x="762000" y="1880000"/>
            <a:ext cx="700000" cy="50800"/>
          </a:xfrm>
          <a:prstGeom prst="rect">
            <a:avLst/>
          </a:prstGeom>
          <a:solidFill>
            <a:srgbClr val="D97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62000" y="2150000"/>
            <a:ext cx="6600000" cy="1800000"/>
          </a:xfrm>
          <a:prstGeom prst="rect">
            <a:avLst/>
          </a:prstGeom>
          <a:noFill/>
        </p:spPr>
        <p:txBody>
          <a:bodyPr wrap="square" anchor="t" lIns="0" rIns="0" tIns="0" bIns="0">
            <a:spAutoFit/>
          </a:bodyPr>
          <a:lstStyle/>
          <a:p>
            <a:pPr algn="l">
              <a:lnSpc>
                <a:spcPct val="120000"/>
              </a:lnSpc>
            </a:pPr>
            <a:r>
              <a:rPr sz="4000" b="1">
                <a:solidFill>
                  <a:srgbClr val="2A2F33"/>
                </a:solidFill>
                <a:latin typeface="Noto Sans JP"/>
                <a:ea typeface="Noto Sans JP"/>
                <a:cs typeface="Noto Sans JP"/>
              </a:rPr>
              <a:t>マーケティング迷子を、</a:t>
            </a:r>
          </a:p>
          <a:p>
            <a:pPr algn="l">
              <a:lnSpc>
                <a:spcPct val="120000"/>
              </a:lnSpc>
            </a:pPr>
            <a:r>
              <a:rPr sz="4000" b="1">
                <a:solidFill>
                  <a:srgbClr val="2A2F33"/>
                </a:solidFill>
                <a:latin typeface="Noto Sans JP"/>
                <a:ea typeface="Noto Sans JP"/>
                <a:cs typeface="Noto Sans JP"/>
              </a:rPr>
              <a:t>減らす。</a:t>
            </a:r>
          </a:p>
        </p:txBody>
      </p:sp>
      <p:sp>
        <p:nvSpPr>
          <p:cNvPr id="10" name="TextBox 9"/>
          <p:cNvSpPr txBox="1"/>
          <p:nvPr/>
        </p:nvSpPr>
        <p:spPr>
          <a:xfrm>
            <a:off x="762000" y="4050000"/>
            <a:ext cx="6600000" cy="400000"/>
          </a:xfrm>
          <a:prstGeom prst="rect">
            <a:avLst/>
          </a:prstGeom>
          <a:noFill/>
        </p:spPr>
        <p:txBody>
          <a:bodyPr wrap="square" anchor="t" lIns="0" rIns="0" tIns="0" bIns="0">
            <a:spAutoFit/>
          </a:bodyPr>
          <a:lstStyle/>
          <a:p>
            <a:pPr algn="l">
              <a:lnSpc>
                <a:spcPct val="125000"/>
              </a:lnSpc>
            </a:pPr>
            <a:r>
              <a:rPr sz="1500" b="0">
                <a:solidFill>
                  <a:srgbClr val="5F666B"/>
                </a:solidFill>
                <a:latin typeface="Noto Sans JP"/>
                <a:ea typeface="Noto Sans JP"/>
                <a:cs typeface="Noto Sans JP"/>
              </a:rPr>
              <a:t>薬機法を守りながら“売れる”広告づくりと集客支援</a:t>
            </a:r>
          </a:p>
        </p:txBody>
      </p:sp>
      <p:sp>
        <p:nvSpPr>
          <p:cNvPr id="11" name="TextBox 10"/>
          <p:cNvSpPr txBox="1"/>
          <p:nvPr/>
        </p:nvSpPr>
        <p:spPr>
          <a:xfrm>
            <a:off x="762000" y="5600000"/>
            <a:ext cx="6600000" cy="300000"/>
          </a:xfrm>
          <a:prstGeom prst="rect">
            <a:avLst/>
          </a:prstGeom>
          <a:noFill/>
        </p:spPr>
        <p:txBody>
          <a:bodyPr wrap="square" anchor="t" lIns="0" rIns="0" tIns="0" bIns="0">
            <a:spAutoFit/>
          </a:bodyPr>
          <a:lstStyle/>
          <a:p>
            <a:pPr algn="l">
              <a:lnSpc>
                <a:spcPct val="125000"/>
              </a:lnSpc>
            </a:pPr>
            <a:r>
              <a:rPr sz="1100" b="1">
                <a:solidFill>
                  <a:srgbClr val="145F6B"/>
                </a:solidFill>
                <a:latin typeface="Noto Sans JP"/>
                <a:ea typeface="Noto Sans JP"/>
                <a:cs typeface="Noto Sans JP"/>
              </a:rPr>
              <a:t>U-Writing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Rectangle 1"/>
          <p:cNvSpPr/>
          <p:nvPr/>
        </p:nvSpPr>
        <p:spPr>
          <a:xfrm>
            <a:off x="0" y="0"/>
            <a:ext cx="12192000" cy="762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62000" y="600000"/>
            <a:ext cx="76200" cy="8200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92000" y="560000"/>
            <a:ext cx="10668000" cy="260000"/>
          </a:xfrm>
          <a:prstGeom prst="rect">
            <a:avLst/>
          </a:prstGeom>
          <a:noFill/>
        </p:spPr>
        <p:txBody>
          <a:bodyPr wrap="square" anchor="t" lIns="0" rIns="0" tIns="0" bIns="0">
            <a:spAutoFit/>
          </a:bodyPr>
          <a:lstStyle/>
          <a:p>
            <a:pPr algn="l">
              <a:lnSpc>
                <a:spcPct val="125000"/>
              </a:lnSpc>
            </a:pPr>
            <a:r>
              <a:rPr sz="1050" b="1">
                <a:solidFill>
                  <a:srgbClr val="145F6B"/>
                </a:solidFill>
                <a:latin typeface="Noto Sans JP"/>
                <a:ea typeface="Noto Sans JP"/>
                <a:cs typeface="Noto Sans JP"/>
              </a:rPr>
              <a:t>AGENDA</a:t>
            </a:r>
          </a:p>
        </p:txBody>
      </p:sp>
      <p:sp>
        <p:nvSpPr>
          <p:cNvPr id="5" name="TextBox 4"/>
          <p:cNvSpPr txBox="1"/>
          <p:nvPr/>
        </p:nvSpPr>
        <p:spPr>
          <a:xfrm>
            <a:off x="992000" y="840000"/>
            <a:ext cx="10438000" cy="600000"/>
          </a:xfrm>
          <a:prstGeom prst="rect">
            <a:avLst/>
          </a:prstGeom>
          <a:noFill/>
        </p:spPr>
        <p:txBody>
          <a:bodyPr wrap="square" anchor="t" lIns="0" rIns="0" tIns="0" bIns="0">
            <a:spAutoFit/>
          </a:bodyPr>
          <a:lstStyle/>
          <a:p>
            <a:pPr algn="l">
              <a:lnSpc>
                <a:spcPct val="125000"/>
              </a:lnSpc>
            </a:pPr>
            <a:r>
              <a:rPr sz="2600" b="1">
                <a:solidFill>
                  <a:srgbClr val="2A2F33"/>
                </a:solidFill>
                <a:latin typeface="Noto Sans JP"/>
                <a:ea typeface="Noto Sans JP"/>
                <a:cs typeface="Noto Sans JP"/>
              </a:rPr>
              <a:t>本日の流れ</a:t>
            </a:r>
          </a:p>
        </p:txBody>
      </p:sp>
      <p:sp>
        <p:nvSpPr>
          <p:cNvPr id="6" name="Rectangle 5"/>
          <p:cNvSpPr/>
          <p:nvPr/>
        </p:nvSpPr>
        <p:spPr>
          <a:xfrm>
            <a:off x="762000" y="6380000"/>
            <a:ext cx="10668000" cy="9525"/>
          </a:xfrm>
          <a:prstGeom prst="rect">
            <a:avLst/>
          </a:prstGeom>
          <a:solidFill>
            <a:srgbClr val="E6DD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2000" y="6480000"/>
            <a:ext cx="4000000" cy="200000"/>
          </a:xfrm>
          <a:prstGeom prst="rect">
            <a:avLst/>
          </a:prstGeom>
          <a:noFill/>
        </p:spPr>
        <p:txBody>
          <a:bodyPr wrap="square" anchor="t" lIns="0" rIns="0" tIns="0" bIns="0">
            <a:spAutoFit/>
          </a:bodyPr>
          <a:lstStyle/>
          <a:p>
            <a:pPr algn="l">
              <a:lnSpc>
                <a:spcPct val="125000"/>
              </a:lnSpc>
            </a:pPr>
            <a:r>
              <a:rPr sz="800" b="0">
                <a:solidFill>
                  <a:srgbClr val="5F666B"/>
                </a:solidFill>
                <a:latin typeface="Noto Sans JP"/>
                <a:ea typeface="Noto Sans JP"/>
                <a:cs typeface="Noto Sans JP"/>
              </a:rPr>
              <a:t>© U-Writing All Rights Reserved.</a:t>
            </a:r>
          </a:p>
        </p:txBody>
      </p:sp>
      <p:sp>
        <p:nvSpPr>
          <p:cNvPr id="8" name="Rounded Rectangle 7"/>
          <p:cNvSpPr/>
          <p:nvPr/>
        </p:nvSpPr>
        <p:spPr>
          <a:xfrm>
            <a:off x="11010000" y="6430000"/>
            <a:ext cx="420000" cy="300000"/>
          </a:xfrm>
          <a:prstGeom prst="round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010000" y="6430000"/>
            <a:ext cx="420000" cy="300000"/>
          </a:xfrm>
          <a:prstGeom prst="rect">
            <a:avLst/>
          </a:prstGeom>
          <a:noFill/>
        </p:spPr>
        <p:txBody>
          <a:bodyPr wrap="square" anchor="ctr" lIns="0" rIns="0" tIns="0" bIns="0">
            <a:spAutoFit/>
          </a:bodyPr>
          <a:lstStyle/>
          <a:p>
            <a:pPr algn="ctr">
              <a:lnSpc>
                <a:spcPct val="125000"/>
              </a:lnSpc>
            </a:pPr>
            <a:r>
              <a:rPr sz="1100" b="1">
                <a:solidFill>
                  <a:srgbClr val="FFFFFF"/>
                </a:solidFill>
                <a:latin typeface="Noto Sans JP"/>
                <a:ea typeface="Noto Sans JP"/>
                <a:cs typeface="Noto Sans JP"/>
              </a:rPr>
              <a:t>2</a:t>
            </a:r>
          </a:p>
        </p:txBody>
      </p:sp>
      <p:sp>
        <p:nvSpPr>
          <p:cNvPr id="10" name="Rectangle 9"/>
          <p:cNvSpPr/>
          <p:nvPr/>
        </p:nvSpPr>
        <p:spPr>
          <a:xfrm>
            <a:off x="762000" y="1900000"/>
            <a:ext cx="2520000" cy="3600000"/>
          </a:xfrm>
          <a:prstGeom prst="rect">
            <a:avLst/>
          </a:prstGeom>
          <a:solidFill>
            <a:srgbClr val="F1E9DC"/>
          </a:solidFill>
          <a:ln w="12700">
            <a:solidFill>
              <a:srgbClr val="E6DD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42000" y="2150000"/>
            <a:ext cx="2520000" cy="700000"/>
          </a:xfrm>
          <a:prstGeom prst="rect">
            <a:avLst/>
          </a:prstGeom>
          <a:noFill/>
        </p:spPr>
        <p:txBody>
          <a:bodyPr wrap="square" anchor="t" lIns="0" rIns="0" tIns="0" bIns="0">
            <a:spAutoFit/>
          </a:bodyPr>
          <a:lstStyle/>
          <a:p>
            <a:pPr algn="l">
              <a:lnSpc>
                <a:spcPct val="125000"/>
              </a:lnSpc>
            </a:pPr>
            <a:r>
              <a:rPr sz="4000" b="1">
                <a:solidFill>
                  <a:srgbClr val="D9764A"/>
                </a:solidFill>
                <a:latin typeface="Noto Sans JP"/>
                <a:ea typeface="Noto Sans JP"/>
                <a:cs typeface="Noto Sans JP"/>
              </a:rPr>
              <a:t>01</a:t>
            </a:r>
          </a:p>
        </p:txBody>
      </p:sp>
      <p:sp>
        <p:nvSpPr>
          <p:cNvPr id="12" name="TextBox 11"/>
          <p:cNvSpPr txBox="1"/>
          <p:nvPr/>
        </p:nvSpPr>
        <p:spPr>
          <a:xfrm>
            <a:off x="1042000" y="3000000"/>
            <a:ext cx="2120000" cy="500000"/>
          </a:xfrm>
          <a:prstGeom prst="rect">
            <a:avLst/>
          </a:prstGeom>
          <a:noFill/>
        </p:spPr>
        <p:txBody>
          <a:bodyPr wrap="square" anchor="t" lIns="0" rIns="0" tIns="0" bIns="0">
            <a:spAutoFit/>
          </a:bodyPr>
          <a:lstStyle/>
          <a:p>
            <a:pPr algn="l">
              <a:lnSpc>
                <a:spcPct val="125000"/>
              </a:lnSpc>
            </a:pPr>
            <a:r>
              <a:rPr sz="1800" b="1">
                <a:solidFill>
                  <a:srgbClr val="2A2F33"/>
                </a:solidFill>
                <a:latin typeface="Noto Sans JP"/>
                <a:ea typeface="Noto Sans JP"/>
                <a:cs typeface="Noto Sans JP"/>
              </a:rPr>
              <a:t>○○様のお仕事</a:t>
            </a:r>
          </a:p>
        </p:txBody>
      </p:sp>
      <p:sp>
        <p:nvSpPr>
          <p:cNvPr id="13" name="TextBox 12"/>
          <p:cNvSpPr txBox="1"/>
          <p:nvPr/>
        </p:nvSpPr>
        <p:spPr>
          <a:xfrm>
            <a:off x="1042000" y="3650000"/>
            <a:ext cx="2120000" cy="1200000"/>
          </a:xfrm>
          <a:prstGeom prst="rect">
            <a:avLst/>
          </a:prstGeom>
          <a:noFill/>
        </p:spPr>
        <p:txBody>
          <a:bodyPr wrap="square" anchor="t" lIns="0" rIns="0" tIns="0" bIns="0">
            <a:spAutoFit/>
          </a:bodyPr>
          <a:lstStyle/>
          <a:p>
            <a:pPr algn="l">
              <a:lnSpc>
                <a:spcPct val="150000"/>
              </a:lnSpc>
            </a:pPr>
            <a:r>
              <a:rPr sz="1200" b="0">
                <a:solidFill>
                  <a:srgbClr val="5F666B"/>
                </a:solidFill>
                <a:latin typeface="Noto Sans JP"/>
                <a:ea typeface="Noto Sans JP"/>
                <a:cs typeface="Noto Sans JP"/>
              </a:rPr>
              <a:t>お仕事の内容や、集客の今を</a:t>
            </a:r>
          </a:p>
          <a:p>
            <a:pPr algn="l">
              <a:lnSpc>
                <a:spcPct val="150000"/>
              </a:lnSpc>
            </a:pPr>
            <a:r>
              <a:rPr sz="1200" b="0">
                <a:solidFill>
                  <a:srgbClr val="5F666B"/>
                </a:solidFill>
                <a:latin typeface="Noto Sans JP"/>
                <a:ea typeface="Noto Sans JP"/>
                <a:cs typeface="Noto Sans JP"/>
              </a:rPr>
              <a:t>伺います</a:t>
            </a:r>
          </a:p>
        </p:txBody>
      </p:sp>
      <p:sp>
        <p:nvSpPr>
          <p:cNvPr id="14" name="Rectangle 13"/>
          <p:cNvSpPr/>
          <p:nvPr/>
        </p:nvSpPr>
        <p:spPr>
          <a:xfrm>
            <a:off x="3478000" y="1900000"/>
            <a:ext cx="2520000" cy="3600000"/>
          </a:xfrm>
          <a:prstGeom prst="rect">
            <a:avLst/>
          </a:prstGeom>
          <a:solidFill>
            <a:srgbClr val="FFFFFF"/>
          </a:solidFill>
          <a:ln w="12700">
            <a:solidFill>
              <a:srgbClr val="E6DD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758000" y="2150000"/>
            <a:ext cx="2520000" cy="700000"/>
          </a:xfrm>
          <a:prstGeom prst="rect">
            <a:avLst/>
          </a:prstGeom>
          <a:noFill/>
        </p:spPr>
        <p:txBody>
          <a:bodyPr wrap="square" anchor="t" lIns="0" rIns="0" tIns="0" bIns="0">
            <a:spAutoFit/>
          </a:bodyPr>
          <a:lstStyle/>
          <a:p>
            <a:pPr algn="l">
              <a:lnSpc>
                <a:spcPct val="125000"/>
              </a:lnSpc>
            </a:pPr>
            <a:r>
              <a:rPr sz="4000" b="1">
                <a:solidFill>
                  <a:srgbClr val="D9764A"/>
                </a:solidFill>
                <a:latin typeface="Noto Sans JP"/>
                <a:ea typeface="Noto Sans JP"/>
                <a:cs typeface="Noto Sans JP"/>
              </a:rPr>
              <a:t>02</a:t>
            </a:r>
          </a:p>
        </p:txBody>
      </p:sp>
      <p:sp>
        <p:nvSpPr>
          <p:cNvPr id="16" name="TextBox 15"/>
          <p:cNvSpPr txBox="1"/>
          <p:nvPr/>
        </p:nvSpPr>
        <p:spPr>
          <a:xfrm>
            <a:off x="3758000" y="3000000"/>
            <a:ext cx="2120000" cy="500000"/>
          </a:xfrm>
          <a:prstGeom prst="rect">
            <a:avLst/>
          </a:prstGeom>
          <a:noFill/>
        </p:spPr>
        <p:txBody>
          <a:bodyPr wrap="square" anchor="t" lIns="0" rIns="0" tIns="0" bIns="0">
            <a:spAutoFit/>
          </a:bodyPr>
          <a:lstStyle/>
          <a:p>
            <a:pPr algn="l">
              <a:lnSpc>
                <a:spcPct val="125000"/>
              </a:lnSpc>
            </a:pPr>
            <a:r>
              <a:rPr sz="1800" b="1">
                <a:solidFill>
                  <a:srgbClr val="2A2F33"/>
                </a:solidFill>
                <a:latin typeface="Noto Sans JP"/>
                <a:ea typeface="Noto Sans JP"/>
                <a:cs typeface="Noto Sans JP"/>
              </a:rPr>
              <a:t>私の仕事と想い</a:t>
            </a:r>
          </a:p>
        </p:txBody>
      </p:sp>
      <p:sp>
        <p:nvSpPr>
          <p:cNvPr id="17" name="TextBox 16"/>
          <p:cNvSpPr txBox="1"/>
          <p:nvPr/>
        </p:nvSpPr>
        <p:spPr>
          <a:xfrm>
            <a:off x="3758000" y="3650000"/>
            <a:ext cx="2120000" cy="1200000"/>
          </a:xfrm>
          <a:prstGeom prst="rect">
            <a:avLst/>
          </a:prstGeom>
          <a:noFill/>
        </p:spPr>
        <p:txBody>
          <a:bodyPr wrap="square" anchor="t" lIns="0" rIns="0" tIns="0" bIns="0">
            <a:spAutoFit/>
          </a:bodyPr>
          <a:lstStyle/>
          <a:p>
            <a:pPr algn="l">
              <a:lnSpc>
                <a:spcPct val="150000"/>
              </a:lnSpc>
            </a:pPr>
            <a:r>
              <a:rPr sz="1200" b="0">
                <a:solidFill>
                  <a:srgbClr val="5F666B"/>
                </a:solidFill>
                <a:latin typeface="Noto Sans JP"/>
                <a:ea typeface="Noto Sans JP"/>
                <a:cs typeface="Noto Sans JP"/>
              </a:rPr>
              <a:t>なぜこの仕事をしているか、</a:t>
            </a:r>
          </a:p>
          <a:p>
            <a:pPr algn="l">
              <a:lnSpc>
                <a:spcPct val="150000"/>
              </a:lnSpc>
            </a:pPr>
            <a:r>
              <a:rPr sz="1200" b="0">
                <a:solidFill>
                  <a:srgbClr val="5F666B"/>
                </a:solidFill>
                <a:latin typeface="Noto Sans JP"/>
                <a:ea typeface="Noto Sans JP"/>
                <a:cs typeface="Noto Sans JP"/>
              </a:rPr>
              <a:t>どう広告を作るかをお話しします</a:t>
            </a:r>
          </a:p>
        </p:txBody>
      </p:sp>
      <p:sp>
        <p:nvSpPr>
          <p:cNvPr id="18" name="Rectangle 17"/>
          <p:cNvSpPr/>
          <p:nvPr/>
        </p:nvSpPr>
        <p:spPr>
          <a:xfrm>
            <a:off x="6194000" y="1900000"/>
            <a:ext cx="2520000" cy="3600000"/>
          </a:xfrm>
          <a:prstGeom prst="rect">
            <a:avLst/>
          </a:prstGeom>
          <a:solidFill>
            <a:srgbClr val="FFFFFF"/>
          </a:solidFill>
          <a:ln w="12700">
            <a:solidFill>
              <a:srgbClr val="E6DD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74000" y="2150000"/>
            <a:ext cx="2520000" cy="700000"/>
          </a:xfrm>
          <a:prstGeom prst="rect">
            <a:avLst/>
          </a:prstGeom>
          <a:noFill/>
        </p:spPr>
        <p:txBody>
          <a:bodyPr wrap="square" anchor="t" lIns="0" rIns="0" tIns="0" bIns="0">
            <a:spAutoFit/>
          </a:bodyPr>
          <a:lstStyle/>
          <a:p>
            <a:pPr algn="l">
              <a:lnSpc>
                <a:spcPct val="125000"/>
              </a:lnSpc>
            </a:pPr>
            <a:r>
              <a:rPr sz="4000" b="1">
                <a:solidFill>
                  <a:srgbClr val="D9764A"/>
                </a:solidFill>
                <a:latin typeface="Noto Sans JP"/>
                <a:ea typeface="Noto Sans JP"/>
                <a:cs typeface="Noto Sans JP"/>
              </a:rPr>
              <a:t>03</a:t>
            </a:r>
          </a:p>
        </p:txBody>
      </p:sp>
      <p:sp>
        <p:nvSpPr>
          <p:cNvPr id="20" name="TextBox 19"/>
          <p:cNvSpPr txBox="1"/>
          <p:nvPr/>
        </p:nvSpPr>
        <p:spPr>
          <a:xfrm>
            <a:off x="6474000" y="3000000"/>
            <a:ext cx="2120000" cy="500000"/>
          </a:xfrm>
          <a:prstGeom prst="rect">
            <a:avLst/>
          </a:prstGeom>
          <a:noFill/>
        </p:spPr>
        <p:txBody>
          <a:bodyPr wrap="square" anchor="t" lIns="0" rIns="0" tIns="0" bIns="0">
            <a:spAutoFit/>
          </a:bodyPr>
          <a:lstStyle/>
          <a:p>
            <a:pPr algn="l">
              <a:lnSpc>
                <a:spcPct val="125000"/>
              </a:lnSpc>
            </a:pPr>
            <a:r>
              <a:rPr sz="1800" b="1">
                <a:solidFill>
                  <a:srgbClr val="2A2F33"/>
                </a:solidFill>
                <a:latin typeface="Noto Sans JP"/>
                <a:ea typeface="Noto Sans JP"/>
                <a:cs typeface="Noto Sans JP"/>
              </a:rPr>
              <a:t>お役に立てること</a:t>
            </a:r>
          </a:p>
        </p:txBody>
      </p:sp>
      <p:sp>
        <p:nvSpPr>
          <p:cNvPr id="21" name="TextBox 20"/>
          <p:cNvSpPr txBox="1"/>
          <p:nvPr/>
        </p:nvSpPr>
        <p:spPr>
          <a:xfrm>
            <a:off x="6474000" y="3650000"/>
            <a:ext cx="2120000" cy="1200000"/>
          </a:xfrm>
          <a:prstGeom prst="rect">
            <a:avLst/>
          </a:prstGeom>
          <a:noFill/>
        </p:spPr>
        <p:txBody>
          <a:bodyPr wrap="square" anchor="t" lIns="0" rIns="0" tIns="0" bIns="0">
            <a:spAutoFit/>
          </a:bodyPr>
          <a:lstStyle/>
          <a:p>
            <a:pPr algn="l">
              <a:lnSpc>
                <a:spcPct val="150000"/>
              </a:lnSpc>
            </a:pPr>
            <a:r>
              <a:rPr sz="1200" b="0">
                <a:solidFill>
                  <a:srgbClr val="5F666B"/>
                </a:solidFill>
                <a:latin typeface="Noto Sans JP"/>
                <a:ea typeface="Noto Sans JP"/>
                <a:cs typeface="Noto Sans JP"/>
              </a:rPr>
              <a:t>サービスと強み、</a:t>
            </a:r>
          </a:p>
          <a:p>
            <a:pPr algn="l">
              <a:lnSpc>
                <a:spcPct val="150000"/>
              </a:lnSpc>
            </a:pPr>
            <a:r>
              <a:rPr sz="1200" b="0">
                <a:solidFill>
                  <a:srgbClr val="5F666B"/>
                </a:solidFill>
                <a:latin typeface="Noto Sans JP"/>
                <a:ea typeface="Noto Sans JP"/>
                <a:cs typeface="Noto Sans JP"/>
              </a:rPr>
              <a:t>実績をご紹介します</a:t>
            </a:r>
          </a:p>
        </p:txBody>
      </p:sp>
      <p:sp>
        <p:nvSpPr>
          <p:cNvPr id="22" name="Rectangle 21"/>
          <p:cNvSpPr/>
          <p:nvPr/>
        </p:nvSpPr>
        <p:spPr>
          <a:xfrm>
            <a:off x="8910000" y="1900000"/>
            <a:ext cx="2520000" cy="3600000"/>
          </a:xfrm>
          <a:prstGeom prst="rect">
            <a:avLst/>
          </a:prstGeom>
          <a:solidFill>
            <a:srgbClr val="FFFFFF"/>
          </a:solidFill>
          <a:ln w="12700">
            <a:solidFill>
              <a:srgbClr val="E6DD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190000" y="2150000"/>
            <a:ext cx="2520000" cy="700000"/>
          </a:xfrm>
          <a:prstGeom prst="rect">
            <a:avLst/>
          </a:prstGeom>
          <a:noFill/>
        </p:spPr>
        <p:txBody>
          <a:bodyPr wrap="square" anchor="t" lIns="0" rIns="0" tIns="0" bIns="0">
            <a:spAutoFit/>
          </a:bodyPr>
          <a:lstStyle/>
          <a:p>
            <a:pPr algn="l">
              <a:lnSpc>
                <a:spcPct val="125000"/>
              </a:lnSpc>
            </a:pPr>
            <a:r>
              <a:rPr sz="4000" b="1">
                <a:solidFill>
                  <a:srgbClr val="D9764A"/>
                </a:solidFill>
                <a:latin typeface="Noto Sans JP"/>
                <a:ea typeface="Noto Sans JP"/>
                <a:cs typeface="Noto Sans JP"/>
              </a:rPr>
              <a:t>04</a:t>
            </a:r>
          </a:p>
        </p:txBody>
      </p:sp>
      <p:sp>
        <p:nvSpPr>
          <p:cNvPr id="24" name="TextBox 23"/>
          <p:cNvSpPr txBox="1"/>
          <p:nvPr/>
        </p:nvSpPr>
        <p:spPr>
          <a:xfrm>
            <a:off x="9190000" y="3000000"/>
            <a:ext cx="2120000" cy="500000"/>
          </a:xfrm>
          <a:prstGeom prst="rect">
            <a:avLst/>
          </a:prstGeom>
          <a:noFill/>
        </p:spPr>
        <p:txBody>
          <a:bodyPr wrap="square" anchor="t" lIns="0" rIns="0" tIns="0" bIns="0">
            <a:spAutoFit/>
          </a:bodyPr>
          <a:lstStyle/>
          <a:p>
            <a:pPr algn="l">
              <a:lnSpc>
                <a:spcPct val="125000"/>
              </a:lnSpc>
            </a:pPr>
            <a:r>
              <a:rPr sz="1800" b="1">
                <a:solidFill>
                  <a:srgbClr val="2A2F33"/>
                </a:solidFill>
                <a:latin typeface="Noto Sans JP"/>
                <a:ea typeface="Noto Sans JP"/>
                <a:cs typeface="Noto Sans JP"/>
              </a:rPr>
              <a:t>次の一歩</a:t>
            </a:r>
          </a:p>
        </p:txBody>
      </p:sp>
      <p:sp>
        <p:nvSpPr>
          <p:cNvPr id="25" name="TextBox 24"/>
          <p:cNvSpPr txBox="1"/>
          <p:nvPr/>
        </p:nvSpPr>
        <p:spPr>
          <a:xfrm>
            <a:off x="9190000" y="3650000"/>
            <a:ext cx="2120000" cy="1200000"/>
          </a:xfrm>
          <a:prstGeom prst="rect">
            <a:avLst/>
          </a:prstGeom>
          <a:noFill/>
        </p:spPr>
        <p:txBody>
          <a:bodyPr wrap="square" anchor="t" lIns="0" rIns="0" tIns="0" bIns="0">
            <a:spAutoFit/>
          </a:bodyPr>
          <a:lstStyle/>
          <a:p>
            <a:pPr algn="l">
              <a:lnSpc>
                <a:spcPct val="150000"/>
              </a:lnSpc>
            </a:pPr>
            <a:r>
              <a:rPr sz="1200" b="0">
                <a:solidFill>
                  <a:srgbClr val="5F666B"/>
                </a:solidFill>
                <a:latin typeface="Noto Sans JP"/>
                <a:ea typeface="Noto Sans JP"/>
                <a:cs typeface="Noto Sans JP"/>
              </a:rPr>
              <a:t>今日のお話をもとに</a:t>
            </a:r>
          </a:p>
          <a:p>
            <a:pPr algn="l">
              <a:lnSpc>
                <a:spcPct val="150000"/>
              </a:lnSpc>
            </a:pPr>
            <a:r>
              <a:rPr sz="1200" b="0">
                <a:solidFill>
                  <a:srgbClr val="5F666B"/>
                </a:solidFill>
                <a:latin typeface="Noto Sans JP"/>
                <a:ea typeface="Noto Sans JP"/>
                <a:cs typeface="Noto Sans JP"/>
              </a:rPr>
              <a:t>進め方を決めます</a:t>
            </a:r>
          </a:p>
        </p:txBody>
      </p:sp>
      <p:sp>
        <p:nvSpPr>
          <p:cNvPr id="26" name="TextBox 25"/>
          <p:cNvSpPr txBox="1"/>
          <p:nvPr/>
        </p:nvSpPr>
        <p:spPr>
          <a:xfrm>
            <a:off x="762000" y="5700000"/>
            <a:ext cx="10668000" cy="400000"/>
          </a:xfrm>
          <a:prstGeom prst="rect">
            <a:avLst/>
          </a:prstGeom>
          <a:noFill/>
        </p:spPr>
        <p:txBody>
          <a:bodyPr wrap="square" anchor="t" lIns="0" rIns="0" tIns="0" bIns="0">
            <a:spAutoFit/>
          </a:bodyPr>
          <a:lstStyle/>
          <a:p>
            <a:pPr algn="l">
              <a:lnSpc>
                <a:spcPct val="125000"/>
              </a:lnSpc>
            </a:pPr>
            <a:r>
              <a:rPr sz="1200" b="0">
                <a:solidFill>
                  <a:srgbClr val="5F666B"/>
                </a:solidFill>
                <a:latin typeface="Noto Sans JP"/>
                <a:ea typeface="Noto Sans JP"/>
                <a:cs typeface="Noto Sans JP"/>
              </a:rPr>
              <a:t>※ 最初は○○様のお話を中心に伺います</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Rectangle 1"/>
          <p:cNvSpPr/>
          <p:nvPr/>
        </p:nvSpPr>
        <p:spPr>
          <a:xfrm>
            <a:off x="0" y="0"/>
            <a:ext cx="12192000" cy="762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62000" y="600000"/>
            <a:ext cx="76200" cy="8200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92000" y="560000"/>
            <a:ext cx="10668000" cy="260000"/>
          </a:xfrm>
          <a:prstGeom prst="rect">
            <a:avLst/>
          </a:prstGeom>
          <a:noFill/>
        </p:spPr>
        <p:txBody>
          <a:bodyPr wrap="square" anchor="t" lIns="0" rIns="0" tIns="0" bIns="0">
            <a:spAutoFit/>
          </a:bodyPr>
          <a:lstStyle/>
          <a:p>
            <a:pPr algn="l">
              <a:lnSpc>
                <a:spcPct val="125000"/>
              </a:lnSpc>
            </a:pPr>
            <a:r>
              <a:rPr sz="1050" b="1">
                <a:solidFill>
                  <a:srgbClr val="145F6B"/>
                </a:solidFill>
                <a:latin typeface="Noto Sans JP"/>
                <a:ea typeface="Noto Sans JP"/>
                <a:cs typeface="Noto Sans JP"/>
              </a:rPr>
              <a:t>HEARING</a:t>
            </a:r>
          </a:p>
        </p:txBody>
      </p:sp>
      <p:sp>
        <p:nvSpPr>
          <p:cNvPr id="5" name="TextBox 4"/>
          <p:cNvSpPr txBox="1"/>
          <p:nvPr/>
        </p:nvSpPr>
        <p:spPr>
          <a:xfrm>
            <a:off x="992000" y="840000"/>
            <a:ext cx="10438000" cy="600000"/>
          </a:xfrm>
          <a:prstGeom prst="rect">
            <a:avLst/>
          </a:prstGeom>
          <a:noFill/>
        </p:spPr>
        <p:txBody>
          <a:bodyPr wrap="square" anchor="t" lIns="0" rIns="0" tIns="0" bIns="0">
            <a:spAutoFit/>
          </a:bodyPr>
          <a:lstStyle/>
          <a:p>
            <a:pPr algn="l">
              <a:lnSpc>
                <a:spcPct val="125000"/>
              </a:lnSpc>
            </a:pPr>
            <a:r>
              <a:rPr sz="2600" b="1">
                <a:solidFill>
                  <a:srgbClr val="2A2F33"/>
                </a:solidFill>
                <a:latin typeface="Noto Sans JP"/>
                <a:ea typeface="Noto Sans JP"/>
                <a:cs typeface="Noto Sans JP"/>
              </a:rPr>
              <a:t>まずは○○様のことを教えてください</a:t>
            </a:r>
          </a:p>
        </p:txBody>
      </p:sp>
      <p:sp>
        <p:nvSpPr>
          <p:cNvPr id="6" name="Rectangle 5"/>
          <p:cNvSpPr/>
          <p:nvPr/>
        </p:nvSpPr>
        <p:spPr>
          <a:xfrm>
            <a:off x="762000" y="6380000"/>
            <a:ext cx="10668000" cy="9525"/>
          </a:xfrm>
          <a:prstGeom prst="rect">
            <a:avLst/>
          </a:prstGeom>
          <a:solidFill>
            <a:srgbClr val="E6DD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2000" y="6480000"/>
            <a:ext cx="4000000" cy="200000"/>
          </a:xfrm>
          <a:prstGeom prst="rect">
            <a:avLst/>
          </a:prstGeom>
          <a:noFill/>
        </p:spPr>
        <p:txBody>
          <a:bodyPr wrap="square" anchor="t" lIns="0" rIns="0" tIns="0" bIns="0">
            <a:spAutoFit/>
          </a:bodyPr>
          <a:lstStyle/>
          <a:p>
            <a:pPr algn="l">
              <a:lnSpc>
                <a:spcPct val="125000"/>
              </a:lnSpc>
            </a:pPr>
            <a:r>
              <a:rPr sz="800" b="0">
                <a:solidFill>
                  <a:srgbClr val="5F666B"/>
                </a:solidFill>
                <a:latin typeface="Noto Sans JP"/>
                <a:ea typeface="Noto Sans JP"/>
                <a:cs typeface="Noto Sans JP"/>
              </a:rPr>
              <a:t>© U-Writing All Rights Reserved.</a:t>
            </a:r>
          </a:p>
        </p:txBody>
      </p:sp>
      <p:sp>
        <p:nvSpPr>
          <p:cNvPr id="8" name="Rounded Rectangle 7"/>
          <p:cNvSpPr/>
          <p:nvPr/>
        </p:nvSpPr>
        <p:spPr>
          <a:xfrm>
            <a:off x="11010000" y="6430000"/>
            <a:ext cx="420000" cy="300000"/>
          </a:xfrm>
          <a:prstGeom prst="round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010000" y="6430000"/>
            <a:ext cx="420000" cy="300000"/>
          </a:xfrm>
          <a:prstGeom prst="rect">
            <a:avLst/>
          </a:prstGeom>
          <a:noFill/>
        </p:spPr>
        <p:txBody>
          <a:bodyPr wrap="square" anchor="ctr" lIns="0" rIns="0" tIns="0" bIns="0">
            <a:spAutoFit/>
          </a:bodyPr>
          <a:lstStyle/>
          <a:p>
            <a:pPr algn="ctr">
              <a:lnSpc>
                <a:spcPct val="125000"/>
              </a:lnSpc>
            </a:pPr>
            <a:r>
              <a:rPr sz="1100" b="1">
                <a:solidFill>
                  <a:srgbClr val="FFFFFF"/>
                </a:solidFill>
                <a:latin typeface="Noto Sans JP"/>
                <a:ea typeface="Noto Sans JP"/>
                <a:cs typeface="Noto Sans JP"/>
              </a:rPr>
              <a:t>3</a:t>
            </a:r>
          </a:p>
        </p:txBody>
      </p:sp>
      <p:sp>
        <p:nvSpPr>
          <p:cNvPr id="10" name="Rectangle 9"/>
          <p:cNvSpPr/>
          <p:nvPr/>
        </p:nvSpPr>
        <p:spPr>
          <a:xfrm>
            <a:off x="762000" y="1800000"/>
            <a:ext cx="3400000" cy="4300000"/>
          </a:xfrm>
          <a:prstGeom prst="rect">
            <a:avLst/>
          </a:prstGeom>
          <a:solidFill>
            <a:srgbClr val="FFFFFF"/>
          </a:solidFill>
          <a:ln w="12700">
            <a:solidFill>
              <a:srgbClr val="E6DD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62000" y="1800000"/>
            <a:ext cx="3400000" cy="508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42000" y="2080000"/>
            <a:ext cx="2840000" cy="300000"/>
          </a:xfrm>
          <a:prstGeom prst="rect">
            <a:avLst/>
          </a:prstGeom>
          <a:noFill/>
        </p:spPr>
        <p:txBody>
          <a:bodyPr wrap="square" anchor="t" lIns="0" rIns="0" tIns="0" bIns="0">
            <a:spAutoFit/>
          </a:bodyPr>
          <a:lstStyle/>
          <a:p>
            <a:pPr algn="l">
              <a:lnSpc>
                <a:spcPct val="125000"/>
              </a:lnSpc>
            </a:pPr>
            <a:r>
              <a:rPr sz="1100" b="1">
                <a:solidFill>
                  <a:srgbClr val="145F6B"/>
                </a:solidFill>
                <a:latin typeface="Noto Sans JP"/>
                <a:ea typeface="Noto Sans JP"/>
                <a:cs typeface="Noto Sans JP"/>
              </a:rPr>
              <a:t>01</a:t>
            </a:r>
          </a:p>
        </p:txBody>
      </p:sp>
      <p:sp>
        <p:nvSpPr>
          <p:cNvPr id="13" name="TextBox 12"/>
          <p:cNvSpPr txBox="1"/>
          <p:nvPr/>
        </p:nvSpPr>
        <p:spPr>
          <a:xfrm>
            <a:off x="1042000" y="2410000"/>
            <a:ext cx="2840000" cy="800000"/>
          </a:xfrm>
          <a:prstGeom prst="rect">
            <a:avLst/>
          </a:prstGeom>
          <a:noFill/>
        </p:spPr>
        <p:txBody>
          <a:bodyPr wrap="square" anchor="t" lIns="0" rIns="0" tIns="0" bIns="0">
            <a:spAutoFit/>
          </a:bodyPr>
          <a:lstStyle/>
          <a:p>
            <a:pPr algn="l">
              <a:lnSpc>
                <a:spcPct val="125000"/>
              </a:lnSpc>
            </a:pPr>
            <a:r>
              <a:rPr sz="1600" b="1">
                <a:solidFill>
                  <a:srgbClr val="2A2F33"/>
                </a:solidFill>
                <a:latin typeface="Noto Sans JP"/>
                <a:ea typeface="Noto Sans JP"/>
                <a:cs typeface="Noto Sans JP"/>
              </a:rPr>
              <a:t>お仕事のこと</a:t>
            </a:r>
          </a:p>
        </p:txBody>
      </p:sp>
      <p:sp>
        <p:nvSpPr>
          <p:cNvPr id="14" name="TextBox 13"/>
          <p:cNvSpPr txBox="1"/>
          <p:nvPr/>
        </p:nvSpPr>
        <p:spPr>
          <a:xfrm>
            <a:off x="1042000" y="2893200"/>
            <a:ext cx="2840000" cy="3290000"/>
          </a:xfrm>
          <a:prstGeom prst="rect">
            <a:avLst/>
          </a:prstGeom>
          <a:noFill/>
        </p:spPr>
        <p:txBody>
          <a:bodyPr wrap="square" anchor="t" lIns="0" rIns="0" tIns="0" bIns="0">
            <a:spAutoFit/>
          </a:bodyPr>
          <a:lstStyle/>
          <a:p>
            <a:pPr algn="l">
              <a:lnSpc>
                <a:spcPct val="145000"/>
              </a:lnSpc>
            </a:pPr>
            <a:r>
              <a:rPr sz="1300" b="0">
                <a:solidFill>
                  <a:srgbClr val="5F666B"/>
                </a:solidFill>
                <a:latin typeface="Noto Sans JP"/>
                <a:ea typeface="Noto Sans JP"/>
                <a:cs typeface="Noto Sans JP"/>
              </a:rPr>
              <a:t>・どんなお客様に、何を提供されていますか？</a:t>
            </a:r>
          </a:p>
          <a:p>
            <a:pPr algn="l">
              <a:lnSpc>
                <a:spcPct val="145000"/>
              </a:lnSpc>
            </a:pPr>
            <a:r>
              <a:rPr sz="1300" b="0">
                <a:solidFill>
                  <a:srgbClr val="5F666B"/>
                </a:solidFill>
                <a:latin typeface="Noto Sans JP"/>
                <a:ea typeface="Noto Sans JP"/>
                <a:cs typeface="Noto Sans JP"/>
              </a:rPr>
              <a:t>・今のお仕事を始めたきっかけは？</a:t>
            </a:r>
          </a:p>
        </p:txBody>
      </p:sp>
      <p:sp>
        <p:nvSpPr>
          <p:cNvPr id="15" name="Rectangle 14"/>
          <p:cNvSpPr/>
          <p:nvPr/>
        </p:nvSpPr>
        <p:spPr>
          <a:xfrm>
            <a:off x="4396000" y="1800000"/>
            <a:ext cx="3400000" cy="4300000"/>
          </a:xfrm>
          <a:prstGeom prst="rect">
            <a:avLst/>
          </a:prstGeom>
          <a:solidFill>
            <a:srgbClr val="FFFFFF"/>
          </a:solidFill>
          <a:ln w="12700">
            <a:solidFill>
              <a:srgbClr val="E6DD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6000" y="1800000"/>
            <a:ext cx="3400000" cy="508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76000" y="2080000"/>
            <a:ext cx="2840000" cy="300000"/>
          </a:xfrm>
          <a:prstGeom prst="rect">
            <a:avLst/>
          </a:prstGeom>
          <a:noFill/>
        </p:spPr>
        <p:txBody>
          <a:bodyPr wrap="square" anchor="t" lIns="0" rIns="0" tIns="0" bIns="0">
            <a:spAutoFit/>
          </a:bodyPr>
          <a:lstStyle/>
          <a:p>
            <a:pPr algn="l">
              <a:lnSpc>
                <a:spcPct val="125000"/>
              </a:lnSpc>
            </a:pPr>
            <a:r>
              <a:rPr sz="1100" b="1">
                <a:solidFill>
                  <a:srgbClr val="145F6B"/>
                </a:solidFill>
                <a:latin typeface="Noto Sans JP"/>
                <a:ea typeface="Noto Sans JP"/>
                <a:cs typeface="Noto Sans JP"/>
              </a:rPr>
              <a:t>02</a:t>
            </a:r>
          </a:p>
        </p:txBody>
      </p:sp>
      <p:sp>
        <p:nvSpPr>
          <p:cNvPr id="18" name="TextBox 17"/>
          <p:cNvSpPr txBox="1"/>
          <p:nvPr/>
        </p:nvSpPr>
        <p:spPr>
          <a:xfrm>
            <a:off x="4676000" y="2410000"/>
            <a:ext cx="2840000" cy="800000"/>
          </a:xfrm>
          <a:prstGeom prst="rect">
            <a:avLst/>
          </a:prstGeom>
          <a:noFill/>
        </p:spPr>
        <p:txBody>
          <a:bodyPr wrap="square" anchor="t" lIns="0" rIns="0" tIns="0" bIns="0">
            <a:spAutoFit/>
          </a:bodyPr>
          <a:lstStyle/>
          <a:p>
            <a:pPr algn="l">
              <a:lnSpc>
                <a:spcPct val="125000"/>
              </a:lnSpc>
            </a:pPr>
            <a:r>
              <a:rPr sz="1600" b="1">
                <a:solidFill>
                  <a:srgbClr val="2A2F33"/>
                </a:solidFill>
                <a:latin typeface="Noto Sans JP"/>
                <a:ea typeface="Noto Sans JP"/>
                <a:cs typeface="Noto Sans JP"/>
              </a:rPr>
              <a:t>集客のこと</a:t>
            </a:r>
          </a:p>
        </p:txBody>
      </p:sp>
      <p:sp>
        <p:nvSpPr>
          <p:cNvPr id="19" name="TextBox 18"/>
          <p:cNvSpPr txBox="1"/>
          <p:nvPr/>
        </p:nvSpPr>
        <p:spPr>
          <a:xfrm>
            <a:off x="4676000" y="2893200"/>
            <a:ext cx="2840000" cy="3290000"/>
          </a:xfrm>
          <a:prstGeom prst="rect">
            <a:avLst/>
          </a:prstGeom>
          <a:noFill/>
        </p:spPr>
        <p:txBody>
          <a:bodyPr wrap="square" anchor="t" lIns="0" rIns="0" tIns="0" bIns="0">
            <a:spAutoFit/>
          </a:bodyPr>
          <a:lstStyle/>
          <a:p>
            <a:pPr algn="l">
              <a:lnSpc>
                <a:spcPct val="145000"/>
              </a:lnSpc>
            </a:pPr>
            <a:r>
              <a:rPr sz="1300" b="0">
                <a:solidFill>
                  <a:srgbClr val="5F666B"/>
                </a:solidFill>
                <a:latin typeface="Noto Sans JP"/>
                <a:ea typeface="Noto Sans JP"/>
                <a:cs typeface="Noto Sans JP"/>
              </a:rPr>
              <a:t>・「これで合ってるのかな」と感じていることは？</a:t>
            </a:r>
          </a:p>
          <a:p>
            <a:pPr algn="l">
              <a:lnSpc>
                <a:spcPct val="145000"/>
              </a:lnSpc>
            </a:pPr>
            <a:r>
              <a:rPr sz="1300" b="0">
                <a:solidFill>
                  <a:srgbClr val="5F666B"/>
                </a:solidFill>
                <a:latin typeface="Noto Sans JP"/>
                <a:ea typeface="Noto Sans JP"/>
                <a:cs typeface="Noto Sans JP"/>
              </a:rPr>
              <a:t>・やってみたけど、効果が分からなかったものは？</a:t>
            </a:r>
          </a:p>
          <a:p>
            <a:pPr algn="l">
              <a:lnSpc>
                <a:spcPct val="145000"/>
              </a:lnSpc>
            </a:pPr>
            <a:r>
              <a:rPr sz="1300" b="0">
                <a:solidFill>
                  <a:srgbClr val="5F666B"/>
                </a:solidFill>
                <a:latin typeface="Noto Sans JP"/>
                <a:ea typeface="Noto Sans JP"/>
                <a:cs typeface="Noto Sans JP"/>
              </a:rPr>
              <a:t>・逆に、うまくいったと感じたのは？</a:t>
            </a:r>
          </a:p>
        </p:txBody>
      </p:sp>
      <p:sp>
        <p:nvSpPr>
          <p:cNvPr id="20" name="Rectangle 19"/>
          <p:cNvSpPr/>
          <p:nvPr/>
        </p:nvSpPr>
        <p:spPr>
          <a:xfrm>
            <a:off x="8030000" y="1800000"/>
            <a:ext cx="3400000" cy="4300000"/>
          </a:xfrm>
          <a:prstGeom prst="rect">
            <a:avLst/>
          </a:prstGeom>
          <a:solidFill>
            <a:srgbClr val="FFFFFF"/>
          </a:solidFill>
          <a:ln w="12700">
            <a:solidFill>
              <a:srgbClr val="E6DD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30000" y="1800000"/>
            <a:ext cx="3400000" cy="508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310000" y="2080000"/>
            <a:ext cx="2840000" cy="300000"/>
          </a:xfrm>
          <a:prstGeom prst="rect">
            <a:avLst/>
          </a:prstGeom>
          <a:noFill/>
        </p:spPr>
        <p:txBody>
          <a:bodyPr wrap="square" anchor="t" lIns="0" rIns="0" tIns="0" bIns="0">
            <a:spAutoFit/>
          </a:bodyPr>
          <a:lstStyle/>
          <a:p>
            <a:pPr algn="l">
              <a:lnSpc>
                <a:spcPct val="125000"/>
              </a:lnSpc>
            </a:pPr>
            <a:r>
              <a:rPr sz="1100" b="1">
                <a:solidFill>
                  <a:srgbClr val="145F6B"/>
                </a:solidFill>
                <a:latin typeface="Noto Sans JP"/>
                <a:ea typeface="Noto Sans JP"/>
                <a:cs typeface="Noto Sans JP"/>
              </a:rPr>
              <a:t>03</a:t>
            </a:r>
          </a:p>
        </p:txBody>
      </p:sp>
      <p:sp>
        <p:nvSpPr>
          <p:cNvPr id="23" name="TextBox 22"/>
          <p:cNvSpPr txBox="1"/>
          <p:nvPr/>
        </p:nvSpPr>
        <p:spPr>
          <a:xfrm>
            <a:off x="8310000" y="2410000"/>
            <a:ext cx="2840000" cy="800000"/>
          </a:xfrm>
          <a:prstGeom prst="rect">
            <a:avLst/>
          </a:prstGeom>
          <a:noFill/>
        </p:spPr>
        <p:txBody>
          <a:bodyPr wrap="square" anchor="t" lIns="0" rIns="0" tIns="0" bIns="0">
            <a:spAutoFit/>
          </a:bodyPr>
          <a:lstStyle/>
          <a:p>
            <a:pPr algn="l">
              <a:lnSpc>
                <a:spcPct val="125000"/>
              </a:lnSpc>
            </a:pPr>
            <a:r>
              <a:rPr sz="1600" b="1">
                <a:solidFill>
                  <a:srgbClr val="2A2F33"/>
                </a:solidFill>
                <a:latin typeface="Noto Sans JP"/>
                <a:ea typeface="Noto Sans JP"/>
                <a:cs typeface="Noto Sans JP"/>
              </a:rPr>
              <a:t>お知り合いのこと</a:t>
            </a:r>
          </a:p>
        </p:txBody>
      </p:sp>
      <p:sp>
        <p:nvSpPr>
          <p:cNvPr id="24" name="TextBox 23"/>
          <p:cNvSpPr txBox="1"/>
          <p:nvPr/>
        </p:nvSpPr>
        <p:spPr>
          <a:xfrm>
            <a:off x="8310000" y="2893200"/>
            <a:ext cx="2840000" cy="3290000"/>
          </a:xfrm>
          <a:prstGeom prst="rect">
            <a:avLst/>
          </a:prstGeom>
          <a:noFill/>
        </p:spPr>
        <p:txBody>
          <a:bodyPr wrap="square" anchor="t" lIns="0" rIns="0" tIns="0" bIns="0">
            <a:spAutoFit/>
          </a:bodyPr>
          <a:lstStyle/>
          <a:p>
            <a:pPr algn="l">
              <a:lnSpc>
                <a:spcPct val="145000"/>
              </a:lnSpc>
            </a:pPr>
            <a:r>
              <a:rPr sz="1300" b="0">
                <a:solidFill>
                  <a:srgbClr val="5F666B"/>
                </a:solidFill>
                <a:latin typeface="Noto Sans JP"/>
                <a:ea typeface="Noto Sans JP"/>
                <a:cs typeface="Noto Sans JP"/>
              </a:rPr>
              <a:t>・普段どんな業種の方とつながっていますか？</a:t>
            </a:r>
          </a:p>
          <a:p>
            <a:pPr algn="l">
              <a:lnSpc>
                <a:spcPct val="145000"/>
              </a:lnSpc>
            </a:pPr>
            <a:r>
              <a:rPr sz="1300" b="0">
                <a:solidFill>
                  <a:srgbClr val="5F666B"/>
                </a:solidFill>
                <a:latin typeface="Noto Sans JP"/>
                <a:ea typeface="Noto Sans JP"/>
                <a:cs typeface="Noto Sans JP"/>
              </a:rPr>
              <a:t>・集客に困っていそうな方はいますか？</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Rectangle 1"/>
          <p:cNvSpPr/>
          <p:nvPr/>
        </p:nvSpPr>
        <p:spPr>
          <a:xfrm>
            <a:off x="0" y="0"/>
            <a:ext cx="12192000" cy="762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62000" y="600000"/>
            <a:ext cx="76200" cy="8200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92000" y="560000"/>
            <a:ext cx="10668000" cy="260000"/>
          </a:xfrm>
          <a:prstGeom prst="rect">
            <a:avLst/>
          </a:prstGeom>
          <a:noFill/>
        </p:spPr>
        <p:txBody>
          <a:bodyPr wrap="square" anchor="t" lIns="0" rIns="0" tIns="0" bIns="0">
            <a:spAutoFit/>
          </a:bodyPr>
          <a:lstStyle/>
          <a:p>
            <a:pPr algn="l">
              <a:lnSpc>
                <a:spcPct val="125000"/>
              </a:lnSpc>
            </a:pPr>
            <a:r>
              <a:rPr sz="1050" b="1">
                <a:solidFill>
                  <a:srgbClr val="145F6B"/>
                </a:solidFill>
                <a:latin typeface="Noto Sans JP"/>
                <a:ea typeface="Noto Sans JP"/>
                <a:cs typeface="Noto Sans JP"/>
              </a:rPr>
              <a:t>PROFILE</a:t>
            </a:r>
          </a:p>
        </p:txBody>
      </p:sp>
      <p:sp>
        <p:nvSpPr>
          <p:cNvPr id="5" name="TextBox 4"/>
          <p:cNvSpPr txBox="1"/>
          <p:nvPr/>
        </p:nvSpPr>
        <p:spPr>
          <a:xfrm>
            <a:off x="992000" y="840000"/>
            <a:ext cx="10438000" cy="600000"/>
          </a:xfrm>
          <a:prstGeom prst="rect">
            <a:avLst/>
          </a:prstGeom>
          <a:noFill/>
        </p:spPr>
        <p:txBody>
          <a:bodyPr wrap="square" anchor="t" lIns="0" rIns="0" tIns="0" bIns="0">
            <a:spAutoFit/>
          </a:bodyPr>
          <a:lstStyle/>
          <a:p>
            <a:pPr algn="l">
              <a:lnSpc>
                <a:spcPct val="125000"/>
              </a:lnSpc>
            </a:pPr>
            <a:r>
              <a:rPr sz="2600" b="1">
                <a:solidFill>
                  <a:srgbClr val="2A2F33"/>
                </a:solidFill>
                <a:latin typeface="Noto Sans JP"/>
                <a:ea typeface="Noto Sans JP"/>
                <a:cs typeface="Noto Sans JP"/>
              </a:rPr>
              <a:t>上原 龍之介</a:t>
            </a:r>
          </a:p>
        </p:txBody>
      </p:sp>
      <p:sp>
        <p:nvSpPr>
          <p:cNvPr id="6" name="Rectangle 5"/>
          <p:cNvSpPr/>
          <p:nvPr/>
        </p:nvSpPr>
        <p:spPr>
          <a:xfrm>
            <a:off x="762000" y="6380000"/>
            <a:ext cx="10668000" cy="9525"/>
          </a:xfrm>
          <a:prstGeom prst="rect">
            <a:avLst/>
          </a:prstGeom>
          <a:solidFill>
            <a:srgbClr val="E6DD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2000" y="6480000"/>
            <a:ext cx="4000000" cy="200000"/>
          </a:xfrm>
          <a:prstGeom prst="rect">
            <a:avLst/>
          </a:prstGeom>
          <a:noFill/>
        </p:spPr>
        <p:txBody>
          <a:bodyPr wrap="square" anchor="t" lIns="0" rIns="0" tIns="0" bIns="0">
            <a:spAutoFit/>
          </a:bodyPr>
          <a:lstStyle/>
          <a:p>
            <a:pPr algn="l">
              <a:lnSpc>
                <a:spcPct val="125000"/>
              </a:lnSpc>
            </a:pPr>
            <a:r>
              <a:rPr sz="800" b="0">
                <a:solidFill>
                  <a:srgbClr val="5F666B"/>
                </a:solidFill>
                <a:latin typeface="Noto Sans JP"/>
                <a:ea typeface="Noto Sans JP"/>
                <a:cs typeface="Noto Sans JP"/>
              </a:rPr>
              <a:t>© U-Writing All Rights Reserved.</a:t>
            </a:r>
          </a:p>
        </p:txBody>
      </p:sp>
      <p:sp>
        <p:nvSpPr>
          <p:cNvPr id="8" name="Rounded Rectangle 7"/>
          <p:cNvSpPr/>
          <p:nvPr/>
        </p:nvSpPr>
        <p:spPr>
          <a:xfrm>
            <a:off x="11010000" y="6430000"/>
            <a:ext cx="420000" cy="300000"/>
          </a:xfrm>
          <a:prstGeom prst="round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010000" y="6430000"/>
            <a:ext cx="420000" cy="300000"/>
          </a:xfrm>
          <a:prstGeom prst="rect">
            <a:avLst/>
          </a:prstGeom>
          <a:noFill/>
        </p:spPr>
        <p:txBody>
          <a:bodyPr wrap="square" anchor="ctr" lIns="0" rIns="0" tIns="0" bIns="0">
            <a:spAutoFit/>
          </a:bodyPr>
          <a:lstStyle/>
          <a:p>
            <a:pPr algn="ctr">
              <a:lnSpc>
                <a:spcPct val="125000"/>
              </a:lnSpc>
            </a:pPr>
            <a:r>
              <a:rPr sz="1100" b="1">
                <a:solidFill>
                  <a:srgbClr val="FFFFFF"/>
                </a:solidFill>
                <a:latin typeface="Noto Sans JP"/>
                <a:ea typeface="Noto Sans JP"/>
                <a:cs typeface="Noto Sans JP"/>
              </a:rPr>
              <a:t>4</a:t>
            </a:r>
          </a:p>
        </p:txBody>
      </p:sp>
      <p:pic>
        <p:nvPicPr>
          <p:cNvPr id="10" name="Picture 9" descr="profile.jpg"/>
          <p:cNvPicPr>
            <a:picLocks noChangeAspect="1"/>
          </p:cNvPicPr>
          <p:nvPr/>
        </p:nvPicPr>
        <p:blipFill>
          <a:blip r:embed="rId3"/>
          <a:stretch>
            <a:fillRect/>
          </a:stretch>
        </p:blipFill>
        <p:spPr>
          <a:xfrm>
            <a:off x="762000" y="1650000"/>
            <a:ext cx="3900000" cy="3900000"/>
          </a:xfrm>
          <a:prstGeom prst="rect">
            <a:avLst/>
          </a:prstGeom>
        </p:spPr>
      </p:pic>
      <p:sp>
        <p:nvSpPr>
          <p:cNvPr id="11" name="TextBox 10"/>
          <p:cNvSpPr txBox="1"/>
          <p:nvPr/>
        </p:nvSpPr>
        <p:spPr>
          <a:xfrm>
            <a:off x="5162000" y="1700000"/>
            <a:ext cx="6000000" cy="300000"/>
          </a:xfrm>
          <a:prstGeom prst="rect">
            <a:avLst/>
          </a:prstGeom>
          <a:noFill/>
        </p:spPr>
        <p:txBody>
          <a:bodyPr wrap="square" anchor="t" lIns="0" rIns="0" tIns="0" bIns="0">
            <a:spAutoFit/>
          </a:bodyPr>
          <a:lstStyle/>
          <a:p>
            <a:pPr algn="l">
              <a:lnSpc>
                <a:spcPct val="125000"/>
              </a:lnSpc>
            </a:pPr>
            <a:r>
              <a:rPr sz="1300" b="1">
                <a:solidFill>
                  <a:srgbClr val="145F6B"/>
                </a:solidFill>
                <a:latin typeface="Noto Sans JP"/>
                <a:ea typeface="Noto Sans JP"/>
                <a:cs typeface="Noto Sans JP"/>
              </a:rPr>
              <a:t>集客プランナー / ライター</a:t>
            </a:r>
          </a:p>
        </p:txBody>
      </p:sp>
      <p:sp>
        <p:nvSpPr>
          <p:cNvPr id="12" name="TextBox 11"/>
          <p:cNvSpPr txBox="1"/>
          <p:nvPr/>
        </p:nvSpPr>
        <p:spPr>
          <a:xfrm>
            <a:off x="5162000" y="2050000"/>
            <a:ext cx="6300000" cy="1100000"/>
          </a:xfrm>
          <a:prstGeom prst="rect">
            <a:avLst/>
          </a:prstGeom>
          <a:noFill/>
        </p:spPr>
        <p:txBody>
          <a:bodyPr wrap="square" anchor="t" lIns="0" rIns="0" tIns="0" bIns="0">
            <a:spAutoFit/>
          </a:bodyPr>
          <a:lstStyle/>
          <a:p>
            <a:pPr algn="l">
              <a:lnSpc>
                <a:spcPct val="135000"/>
              </a:lnSpc>
            </a:pPr>
            <a:r>
              <a:rPr sz="2000" b="1">
                <a:solidFill>
                  <a:srgbClr val="2A2F33"/>
                </a:solidFill>
                <a:latin typeface="Noto Sans JP"/>
                <a:ea typeface="Noto Sans JP"/>
                <a:cs typeface="Noto Sans JP"/>
              </a:rPr>
              <a:t>美容・健康分野で、</a:t>
            </a:r>
          </a:p>
          <a:p>
            <a:pPr algn="l">
              <a:lnSpc>
                <a:spcPct val="135000"/>
              </a:lnSpc>
            </a:pPr>
            <a:r>
              <a:rPr sz="2000" b="1">
                <a:solidFill>
                  <a:srgbClr val="2A2F33"/>
                </a:solidFill>
                <a:latin typeface="Noto Sans JP"/>
                <a:ea typeface="Noto Sans JP"/>
                <a:cs typeface="Noto Sans JP"/>
              </a:rPr>
              <a:t>薬機法を守りながら“売れる”広告を作っています。</a:t>
            </a:r>
          </a:p>
        </p:txBody>
      </p:sp>
      <p:sp>
        <p:nvSpPr>
          <p:cNvPr id="13" name="Rectangle 12"/>
          <p:cNvSpPr/>
          <p:nvPr/>
        </p:nvSpPr>
        <p:spPr>
          <a:xfrm>
            <a:off x="5162000" y="3450000"/>
            <a:ext cx="2000000" cy="1050000"/>
          </a:xfrm>
          <a:prstGeom prst="rect">
            <a:avLst/>
          </a:prstGeom>
          <a:solidFill>
            <a:srgbClr val="F1E9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162000" y="3600000"/>
            <a:ext cx="2000000" cy="450000"/>
          </a:xfrm>
          <a:prstGeom prst="rect">
            <a:avLst/>
          </a:prstGeom>
          <a:noFill/>
        </p:spPr>
        <p:txBody>
          <a:bodyPr wrap="square" anchor="t" lIns="0" rIns="0" tIns="0" bIns="0">
            <a:spAutoFit/>
          </a:bodyPr>
          <a:lstStyle/>
          <a:p>
            <a:pPr algn="ctr">
              <a:lnSpc>
                <a:spcPct val="125000"/>
              </a:lnSpc>
            </a:pPr>
            <a:r>
              <a:rPr sz="1600" b="1">
                <a:solidFill>
                  <a:srgbClr val="2A2F33"/>
                </a:solidFill>
                <a:latin typeface="Noto Sans JP"/>
                <a:ea typeface="Noto Sans JP"/>
                <a:cs typeface="Noto Sans JP"/>
              </a:rPr>
              <a:t>6年以上</a:t>
            </a:r>
          </a:p>
        </p:txBody>
      </p:sp>
      <p:sp>
        <p:nvSpPr>
          <p:cNvPr id="15" name="TextBox 14"/>
          <p:cNvSpPr txBox="1"/>
          <p:nvPr/>
        </p:nvSpPr>
        <p:spPr>
          <a:xfrm>
            <a:off x="5162000" y="4080000"/>
            <a:ext cx="2000000" cy="300000"/>
          </a:xfrm>
          <a:prstGeom prst="rect">
            <a:avLst/>
          </a:prstGeom>
          <a:noFill/>
        </p:spPr>
        <p:txBody>
          <a:bodyPr wrap="square" anchor="t" lIns="0" rIns="0" tIns="0" bIns="0">
            <a:spAutoFit/>
          </a:bodyPr>
          <a:lstStyle/>
          <a:p>
            <a:pPr algn="ctr">
              <a:lnSpc>
                <a:spcPct val="125000"/>
              </a:lnSpc>
            </a:pPr>
            <a:r>
              <a:rPr sz="1100" b="0">
                <a:solidFill>
                  <a:srgbClr val="5F666B"/>
                </a:solidFill>
                <a:latin typeface="Noto Sans JP"/>
                <a:ea typeface="Noto Sans JP"/>
                <a:cs typeface="Noto Sans JP"/>
              </a:rPr>
              <a:t>ライター歴</a:t>
            </a:r>
          </a:p>
        </p:txBody>
      </p:sp>
      <p:sp>
        <p:nvSpPr>
          <p:cNvPr id="16" name="Rectangle 15"/>
          <p:cNvSpPr/>
          <p:nvPr/>
        </p:nvSpPr>
        <p:spPr>
          <a:xfrm>
            <a:off x="7312000" y="3450000"/>
            <a:ext cx="2000000" cy="1050000"/>
          </a:xfrm>
          <a:prstGeom prst="rect">
            <a:avLst/>
          </a:prstGeom>
          <a:solidFill>
            <a:srgbClr val="F1E9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2000" y="3600000"/>
            <a:ext cx="2000000" cy="450000"/>
          </a:xfrm>
          <a:prstGeom prst="rect">
            <a:avLst/>
          </a:prstGeom>
          <a:noFill/>
        </p:spPr>
        <p:txBody>
          <a:bodyPr wrap="square" anchor="t" lIns="0" rIns="0" tIns="0" bIns="0">
            <a:spAutoFit/>
          </a:bodyPr>
          <a:lstStyle/>
          <a:p>
            <a:pPr algn="ctr">
              <a:lnSpc>
                <a:spcPct val="125000"/>
              </a:lnSpc>
            </a:pPr>
            <a:r>
              <a:rPr sz="1600" b="1">
                <a:solidFill>
                  <a:srgbClr val="2A2F33"/>
                </a:solidFill>
                <a:latin typeface="Noto Sans JP"/>
                <a:ea typeface="Noto Sans JP"/>
                <a:cs typeface="Noto Sans JP"/>
              </a:rPr>
              <a:t>LP・LINE・広告</a:t>
            </a:r>
          </a:p>
        </p:txBody>
      </p:sp>
      <p:sp>
        <p:nvSpPr>
          <p:cNvPr id="18" name="TextBox 17"/>
          <p:cNvSpPr txBox="1"/>
          <p:nvPr/>
        </p:nvSpPr>
        <p:spPr>
          <a:xfrm>
            <a:off x="7312000" y="4080000"/>
            <a:ext cx="2000000" cy="300000"/>
          </a:xfrm>
          <a:prstGeom prst="rect">
            <a:avLst/>
          </a:prstGeom>
          <a:noFill/>
        </p:spPr>
        <p:txBody>
          <a:bodyPr wrap="square" anchor="t" lIns="0" rIns="0" tIns="0" bIns="0">
            <a:spAutoFit/>
          </a:bodyPr>
          <a:lstStyle/>
          <a:p>
            <a:pPr algn="ctr">
              <a:lnSpc>
                <a:spcPct val="125000"/>
              </a:lnSpc>
            </a:pPr>
            <a:r>
              <a:rPr sz="1100" b="0">
                <a:solidFill>
                  <a:srgbClr val="5F666B"/>
                </a:solidFill>
                <a:latin typeface="Noto Sans JP"/>
                <a:ea typeface="Noto Sans JP"/>
                <a:cs typeface="Noto Sans JP"/>
              </a:rPr>
              <a:t>企画から運用まで</a:t>
            </a:r>
          </a:p>
        </p:txBody>
      </p:sp>
      <p:sp>
        <p:nvSpPr>
          <p:cNvPr id="19" name="Rectangle 18"/>
          <p:cNvSpPr/>
          <p:nvPr/>
        </p:nvSpPr>
        <p:spPr>
          <a:xfrm>
            <a:off x="9462000" y="3450000"/>
            <a:ext cx="2000000" cy="1050000"/>
          </a:xfrm>
          <a:prstGeom prst="rect">
            <a:avLst/>
          </a:prstGeom>
          <a:solidFill>
            <a:srgbClr val="F1E9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462000" y="3600000"/>
            <a:ext cx="2000000" cy="450000"/>
          </a:xfrm>
          <a:prstGeom prst="rect">
            <a:avLst/>
          </a:prstGeom>
          <a:noFill/>
        </p:spPr>
        <p:txBody>
          <a:bodyPr wrap="square" anchor="t" lIns="0" rIns="0" tIns="0" bIns="0">
            <a:spAutoFit/>
          </a:bodyPr>
          <a:lstStyle/>
          <a:p>
            <a:pPr algn="ctr">
              <a:lnSpc>
                <a:spcPct val="125000"/>
              </a:lnSpc>
            </a:pPr>
            <a:r>
              <a:rPr sz="1600" b="1">
                <a:solidFill>
                  <a:srgbClr val="2A2F33"/>
                </a:solidFill>
                <a:latin typeface="Noto Sans JP"/>
                <a:ea typeface="Noto Sans JP"/>
                <a:cs typeface="Noto Sans JP"/>
              </a:rPr>
              <a:t>薬機法・景表法</a:t>
            </a:r>
          </a:p>
        </p:txBody>
      </p:sp>
      <p:sp>
        <p:nvSpPr>
          <p:cNvPr id="21" name="TextBox 20"/>
          <p:cNvSpPr txBox="1"/>
          <p:nvPr/>
        </p:nvSpPr>
        <p:spPr>
          <a:xfrm>
            <a:off x="9462000" y="4080000"/>
            <a:ext cx="2000000" cy="300000"/>
          </a:xfrm>
          <a:prstGeom prst="rect">
            <a:avLst/>
          </a:prstGeom>
          <a:noFill/>
        </p:spPr>
        <p:txBody>
          <a:bodyPr wrap="square" anchor="t" lIns="0" rIns="0" tIns="0" bIns="0">
            <a:spAutoFit/>
          </a:bodyPr>
          <a:lstStyle/>
          <a:p>
            <a:pPr algn="ctr">
              <a:lnSpc>
                <a:spcPct val="125000"/>
              </a:lnSpc>
            </a:pPr>
            <a:r>
              <a:rPr sz="1100" b="0">
                <a:solidFill>
                  <a:srgbClr val="5F666B"/>
                </a:solidFill>
                <a:latin typeface="Noto Sans JP"/>
                <a:ea typeface="Noto Sans JP"/>
                <a:cs typeface="Noto Sans JP"/>
              </a:rPr>
              <a:t>配慮した表現設計</a:t>
            </a:r>
          </a:p>
        </p:txBody>
      </p:sp>
      <p:sp>
        <p:nvSpPr>
          <p:cNvPr id="22" name="TextBox 21"/>
          <p:cNvSpPr txBox="1"/>
          <p:nvPr/>
        </p:nvSpPr>
        <p:spPr>
          <a:xfrm>
            <a:off x="5162000" y="4800000"/>
            <a:ext cx="6300000" cy="1300000"/>
          </a:xfrm>
          <a:prstGeom prst="rect">
            <a:avLst/>
          </a:prstGeom>
          <a:noFill/>
        </p:spPr>
        <p:txBody>
          <a:bodyPr wrap="square" anchor="t" lIns="0" rIns="0" tIns="0" bIns="0">
            <a:spAutoFit/>
          </a:bodyPr>
          <a:lstStyle/>
          <a:p>
            <a:pPr algn="l">
              <a:lnSpc>
                <a:spcPct val="150000"/>
              </a:lnSpc>
            </a:pPr>
            <a:r>
              <a:rPr sz="1100" b="1">
                <a:solidFill>
                  <a:srgbClr val="145F6B"/>
                </a:solidFill>
                <a:latin typeface="Noto Sans JP"/>
                <a:ea typeface="Noto Sans JP"/>
                <a:cs typeface="Noto Sans JP"/>
              </a:rPr>
              <a:t>略歴</a:t>
            </a:r>
          </a:p>
          <a:p>
            <a:pPr algn="l">
              <a:lnSpc>
                <a:spcPct val="150000"/>
              </a:lnSpc>
            </a:pPr>
            <a:r>
              <a:rPr sz="1100" b="0">
                <a:solidFill>
                  <a:srgbClr val="5F666B"/>
                </a:solidFill>
                <a:latin typeface="Noto Sans JP"/>
                <a:ea typeface="Noto Sans JP"/>
                <a:cs typeface="Noto Sans JP"/>
              </a:rPr>
              <a:t>ゲーム制作の専門学校を卒業 → ゲームアプリのメールサポート（2年）</a:t>
            </a:r>
          </a:p>
          <a:p>
            <a:pPr algn="l">
              <a:lnSpc>
                <a:spcPct val="150000"/>
              </a:lnSpc>
            </a:pPr>
            <a:r>
              <a:rPr sz="1100" b="0">
                <a:solidFill>
                  <a:srgbClr val="5F666B"/>
                </a:solidFill>
                <a:latin typeface="Noto Sans JP"/>
                <a:ea typeface="Noto Sans JP"/>
                <a:cs typeface="Noto Sans JP"/>
              </a:rPr>
              <a:t>→ 建築積算（3.5年） → フリーランスライターとして独立</a:t>
            </a:r>
          </a:p>
          <a:p>
            <a:pPr algn="l">
              <a:lnSpc>
                <a:spcPct val="150000"/>
              </a:lnSpc>
            </a:pPr>
            <a:r>
              <a:rPr sz="1100" b="0">
                <a:solidFill>
                  <a:srgbClr val="5F666B"/>
                </a:solidFill>
                <a:latin typeface="Noto Sans JP"/>
                <a:ea typeface="Noto Sans JP"/>
                <a:cs typeface="Noto Sans JP"/>
              </a:rPr>
              <a:t>→ 現在：ライター兼集客プランナー</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Rectangle 1"/>
          <p:cNvSpPr/>
          <p:nvPr/>
        </p:nvSpPr>
        <p:spPr>
          <a:xfrm>
            <a:off x="0" y="0"/>
            <a:ext cx="12192000" cy="762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62000" y="600000"/>
            <a:ext cx="76200" cy="8200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92000" y="560000"/>
            <a:ext cx="10668000" cy="260000"/>
          </a:xfrm>
          <a:prstGeom prst="rect">
            <a:avLst/>
          </a:prstGeom>
          <a:noFill/>
        </p:spPr>
        <p:txBody>
          <a:bodyPr wrap="square" anchor="t" lIns="0" rIns="0" tIns="0" bIns="0">
            <a:spAutoFit/>
          </a:bodyPr>
          <a:lstStyle/>
          <a:p>
            <a:pPr algn="l">
              <a:lnSpc>
                <a:spcPct val="125000"/>
              </a:lnSpc>
            </a:pPr>
            <a:r>
              <a:rPr sz="1050" b="1">
                <a:solidFill>
                  <a:srgbClr val="145F6B"/>
                </a:solidFill>
                <a:latin typeface="Noto Sans JP"/>
                <a:ea typeface="Noto Sans JP"/>
                <a:cs typeface="Noto Sans JP"/>
              </a:rPr>
              <a:t>MY PHILOSOPHY</a:t>
            </a:r>
          </a:p>
        </p:txBody>
      </p:sp>
      <p:sp>
        <p:nvSpPr>
          <p:cNvPr id="5" name="TextBox 4"/>
          <p:cNvSpPr txBox="1"/>
          <p:nvPr/>
        </p:nvSpPr>
        <p:spPr>
          <a:xfrm>
            <a:off x="992000" y="840000"/>
            <a:ext cx="10438000" cy="600000"/>
          </a:xfrm>
          <a:prstGeom prst="rect">
            <a:avLst/>
          </a:prstGeom>
          <a:noFill/>
        </p:spPr>
        <p:txBody>
          <a:bodyPr wrap="square" anchor="t" lIns="0" rIns="0" tIns="0" bIns="0">
            <a:spAutoFit/>
          </a:bodyPr>
          <a:lstStyle/>
          <a:p>
            <a:pPr algn="l">
              <a:lnSpc>
                <a:spcPct val="125000"/>
              </a:lnSpc>
            </a:pPr>
            <a:r>
              <a:rPr sz="2600" b="1">
                <a:solidFill>
                  <a:srgbClr val="2A2F33"/>
                </a:solidFill>
                <a:latin typeface="Noto Sans JP"/>
                <a:ea typeface="Noto Sans JP"/>
                <a:cs typeface="Noto Sans JP"/>
              </a:rPr>
              <a:t>仕事の理念：マーケティング迷子を減らす</a:t>
            </a:r>
          </a:p>
        </p:txBody>
      </p:sp>
      <p:sp>
        <p:nvSpPr>
          <p:cNvPr id="6" name="Rectangle 5"/>
          <p:cNvSpPr/>
          <p:nvPr/>
        </p:nvSpPr>
        <p:spPr>
          <a:xfrm>
            <a:off x="762000" y="6380000"/>
            <a:ext cx="10668000" cy="9525"/>
          </a:xfrm>
          <a:prstGeom prst="rect">
            <a:avLst/>
          </a:prstGeom>
          <a:solidFill>
            <a:srgbClr val="E6DD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2000" y="6480000"/>
            <a:ext cx="4000000" cy="200000"/>
          </a:xfrm>
          <a:prstGeom prst="rect">
            <a:avLst/>
          </a:prstGeom>
          <a:noFill/>
        </p:spPr>
        <p:txBody>
          <a:bodyPr wrap="square" anchor="t" lIns="0" rIns="0" tIns="0" bIns="0">
            <a:spAutoFit/>
          </a:bodyPr>
          <a:lstStyle/>
          <a:p>
            <a:pPr algn="l">
              <a:lnSpc>
                <a:spcPct val="125000"/>
              </a:lnSpc>
            </a:pPr>
            <a:r>
              <a:rPr sz="800" b="0">
                <a:solidFill>
                  <a:srgbClr val="5F666B"/>
                </a:solidFill>
                <a:latin typeface="Noto Sans JP"/>
                <a:ea typeface="Noto Sans JP"/>
                <a:cs typeface="Noto Sans JP"/>
              </a:rPr>
              <a:t>© U-Writing All Rights Reserved.</a:t>
            </a:r>
          </a:p>
        </p:txBody>
      </p:sp>
      <p:sp>
        <p:nvSpPr>
          <p:cNvPr id="8" name="Rounded Rectangle 7"/>
          <p:cNvSpPr/>
          <p:nvPr/>
        </p:nvSpPr>
        <p:spPr>
          <a:xfrm>
            <a:off x="11010000" y="6430000"/>
            <a:ext cx="420000" cy="300000"/>
          </a:xfrm>
          <a:prstGeom prst="round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010000" y="6430000"/>
            <a:ext cx="420000" cy="300000"/>
          </a:xfrm>
          <a:prstGeom prst="rect">
            <a:avLst/>
          </a:prstGeom>
          <a:noFill/>
        </p:spPr>
        <p:txBody>
          <a:bodyPr wrap="square" anchor="ctr" lIns="0" rIns="0" tIns="0" bIns="0">
            <a:spAutoFit/>
          </a:bodyPr>
          <a:lstStyle/>
          <a:p>
            <a:pPr algn="ctr">
              <a:lnSpc>
                <a:spcPct val="125000"/>
              </a:lnSpc>
            </a:pPr>
            <a:r>
              <a:rPr sz="1100" b="1">
                <a:solidFill>
                  <a:srgbClr val="FFFFFF"/>
                </a:solidFill>
                <a:latin typeface="Noto Sans JP"/>
                <a:ea typeface="Noto Sans JP"/>
                <a:cs typeface="Noto Sans JP"/>
              </a:rPr>
              <a:t>5</a:t>
            </a:r>
          </a:p>
        </p:txBody>
      </p:sp>
      <p:sp>
        <p:nvSpPr>
          <p:cNvPr id="10" name="Rectangle 9"/>
          <p:cNvSpPr/>
          <p:nvPr/>
        </p:nvSpPr>
        <p:spPr>
          <a:xfrm>
            <a:off x="762000" y="1700000"/>
            <a:ext cx="3400000" cy="2350000"/>
          </a:xfrm>
          <a:prstGeom prst="rect">
            <a:avLst/>
          </a:prstGeom>
          <a:solidFill>
            <a:srgbClr val="FFFFFF"/>
          </a:solidFill>
          <a:ln w="12700">
            <a:solidFill>
              <a:srgbClr val="E6DD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62000" y="1700000"/>
            <a:ext cx="3400000" cy="508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42000" y="1980000"/>
            <a:ext cx="2840000" cy="300000"/>
          </a:xfrm>
          <a:prstGeom prst="rect">
            <a:avLst/>
          </a:prstGeom>
          <a:noFill/>
        </p:spPr>
        <p:txBody>
          <a:bodyPr wrap="square" anchor="t" lIns="0" rIns="0" tIns="0" bIns="0">
            <a:spAutoFit/>
          </a:bodyPr>
          <a:lstStyle/>
          <a:p>
            <a:pPr algn="l">
              <a:lnSpc>
                <a:spcPct val="125000"/>
              </a:lnSpc>
            </a:pPr>
            <a:r>
              <a:rPr sz="1100" b="1">
                <a:solidFill>
                  <a:srgbClr val="145F6B"/>
                </a:solidFill>
                <a:latin typeface="Noto Sans JP"/>
                <a:ea typeface="Noto Sans JP"/>
                <a:cs typeface="Noto Sans JP"/>
              </a:rPr>
              <a:t>よく聞く声 01</a:t>
            </a:r>
          </a:p>
        </p:txBody>
      </p:sp>
      <p:sp>
        <p:nvSpPr>
          <p:cNvPr id="13" name="TextBox 12"/>
          <p:cNvSpPr txBox="1"/>
          <p:nvPr/>
        </p:nvSpPr>
        <p:spPr>
          <a:xfrm>
            <a:off x="1042000" y="2310000"/>
            <a:ext cx="2840000" cy="800000"/>
          </a:xfrm>
          <a:prstGeom prst="rect">
            <a:avLst/>
          </a:prstGeom>
          <a:noFill/>
        </p:spPr>
        <p:txBody>
          <a:bodyPr wrap="square" anchor="t" lIns="0" rIns="0" tIns="0" bIns="0">
            <a:spAutoFit/>
          </a:bodyPr>
          <a:lstStyle/>
          <a:p>
            <a:pPr algn="l">
              <a:lnSpc>
                <a:spcPct val="125000"/>
              </a:lnSpc>
            </a:pPr>
            <a:r>
              <a:rPr sz="1500" b="1">
                <a:solidFill>
                  <a:srgbClr val="2A2F33"/>
                </a:solidFill>
                <a:latin typeface="Noto Sans JP"/>
                <a:ea typeface="Noto Sans JP"/>
                <a:cs typeface="Noto Sans JP"/>
              </a:rPr>
              <a:t>高いお金をかけたのに、
成果が出ない</a:t>
            </a:r>
          </a:p>
        </p:txBody>
      </p:sp>
      <p:sp>
        <p:nvSpPr>
          <p:cNvPr id="14" name="TextBox 13"/>
          <p:cNvSpPr txBox="1"/>
          <p:nvPr/>
        </p:nvSpPr>
        <p:spPr>
          <a:xfrm>
            <a:off x="1042000" y="2941000"/>
            <a:ext cx="2840000" cy="1340000"/>
          </a:xfrm>
          <a:prstGeom prst="rect">
            <a:avLst/>
          </a:prstGeom>
          <a:noFill/>
        </p:spPr>
        <p:txBody>
          <a:bodyPr wrap="square" anchor="t" lIns="0" rIns="0" tIns="0" bIns="0">
            <a:spAutoFit/>
          </a:bodyPr>
          <a:lstStyle/>
          <a:p>
            <a:pPr algn="l">
              <a:lnSpc>
                <a:spcPct val="145000"/>
              </a:lnSpc>
            </a:pPr>
            <a:r>
              <a:rPr sz="1200" b="0">
                <a:solidFill>
                  <a:srgbClr val="5F666B"/>
                </a:solidFill>
                <a:latin typeface="Noto Sans JP"/>
                <a:ea typeface="Noto Sans JP"/>
                <a:cs typeface="Noto Sans JP"/>
              </a:rPr>
              <a:t>数十万円かけてHP・LPを作った、講座やコンサルを受けた。それでも問い合わせが増えない。</a:t>
            </a:r>
          </a:p>
        </p:txBody>
      </p:sp>
      <p:sp>
        <p:nvSpPr>
          <p:cNvPr id="15" name="Rectangle 14"/>
          <p:cNvSpPr/>
          <p:nvPr/>
        </p:nvSpPr>
        <p:spPr>
          <a:xfrm>
            <a:off x="4396000" y="1700000"/>
            <a:ext cx="3400000" cy="2350000"/>
          </a:xfrm>
          <a:prstGeom prst="rect">
            <a:avLst/>
          </a:prstGeom>
          <a:solidFill>
            <a:srgbClr val="FFFFFF"/>
          </a:solidFill>
          <a:ln w="12700">
            <a:solidFill>
              <a:srgbClr val="E6DD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6000" y="1700000"/>
            <a:ext cx="3400000" cy="508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76000" y="1980000"/>
            <a:ext cx="2840000" cy="300000"/>
          </a:xfrm>
          <a:prstGeom prst="rect">
            <a:avLst/>
          </a:prstGeom>
          <a:noFill/>
        </p:spPr>
        <p:txBody>
          <a:bodyPr wrap="square" anchor="t" lIns="0" rIns="0" tIns="0" bIns="0">
            <a:spAutoFit/>
          </a:bodyPr>
          <a:lstStyle/>
          <a:p>
            <a:pPr algn="l">
              <a:lnSpc>
                <a:spcPct val="125000"/>
              </a:lnSpc>
            </a:pPr>
            <a:r>
              <a:rPr sz="1100" b="1">
                <a:solidFill>
                  <a:srgbClr val="145F6B"/>
                </a:solidFill>
                <a:latin typeface="Noto Sans JP"/>
                <a:ea typeface="Noto Sans JP"/>
                <a:cs typeface="Noto Sans JP"/>
              </a:rPr>
              <a:t>よく聞く声 02</a:t>
            </a:r>
          </a:p>
        </p:txBody>
      </p:sp>
      <p:sp>
        <p:nvSpPr>
          <p:cNvPr id="18" name="TextBox 17"/>
          <p:cNvSpPr txBox="1"/>
          <p:nvPr/>
        </p:nvSpPr>
        <p:spPr>
          <a:xfrm>
            <a:off x="4676000" y="2310000"/>
            <a:ext cx="2840000" cy="800000"/>
          </a:xfrm>
          <a:prstGeom prst="rect">
            <a:avLst/>
          </a:prstGeom>
          <a:noFill/>
        </p:spPr>
        <p:txBody>
          <a:bodyPr wrap="square" anchor="t" lIns="0" rIns="0" tIns="0" bIns="0">
            <a:spAutoFit/>
          </a:bodyPr>
          <a:lstStyle/>
          <a:p>
            <a:pPr algn="l">
              <a:lnSpc>
                <a:spcPct val="125000"/>
              </a:lnSpc>
            </a:pPr>
            <a:r>
              <a:rPr sz="1500" b="1">
                <a:solidFill>
                  <a:srgbClr val="2A2F33"/>
                </a:solidFill>
                <a:latin typeface="Noto Sans JP"/>
                <a:ea typeface="Noto Sans JP"/>
                <a:cs typeface="Noto Sans JP"/>
              </a:rPr>
              <a:t>自力で頑張るが、
結果まで遠回りに</a:t>
            </a:r>
          </a:p>
        </p:txBody>
      </p:sp>
      <p:sp>
        <p:nvSpPr>
          <p:cNvPr id="19" name="TextBox 18"/>
          <p:cNvSpPr txBox="1"/>
          <p:nvPr/>
        </p:nvSpPr>
        <p:spPr>
          <a:xfrm>
            <a:off x="4676000" y="2941000"/>
            <a:ext cx="2840000" cy="1340000"/>
          </a:xfrm>
          <a:prstGeom prst="rect">
            <a:avLst/>
          </a:prstGeom>
          <a:noFill/>
        </p:spPr>
        <p:txBody>
          <a:bodyPr wrap="square" anchor="t" lIns="0" rIns="0" tIns="0" bIns="0">
            <a:spAutoFit/>
          </a:bodyPr>
          <a:lstStyle/>
          <a:p>
            <a:pPr algn="l">
              <a:lnSpc>
                <a:spcPct val="145000"/>
              </a:lnSpc>
            </a:pPr>
            <a:r>
              <a:rPr sz="1200" b="0">
                <a:solidFill>
                  <a:srgbClr val="5F666B"/>
                </a:solidFill>
                <a:latin typeface="Noto Sans JP"/>
                <a:ea typeface="Noto Sans JP"/>
                <a:cs typeface="Noto Sans JP"/>
              </a:rPr>
              <a:t>もう一度自分で集客に取り組むものの、手探りのため結果が出るまで時間がかかる。</a:t>
            </a:r>
          </a:p>
        </p:txBody>
      </p:sp>
      <p:sp>
        <p:nvSpPr>
          <p:cNvPr id="20" name="Rectangle 19"/>
          <p:cNvSpPr/>
          <p:nvPr/>
        </p:nvSpPr>
        <p:spPr>
          <a:xfrm>
            <a:off x="8030000" y="1700000"/>
            <a:ext cx="3400000" cy="2350000"/>
          </a:xfrm>
          <a:prstGeom prst="rect">
            <a:avLst/>
          </a:prstGeom>
          <a:solidFill>
            <a:srgbClr val="FFFFFF"/>
          </a:solidFill>
          <a:ln w="12700">
            <a:solidFill>
              <a:srgbClr val="E6DD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30000" y="1700000"/>
            <a:ext cx="3400000" cy="508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310000" y="1980000"/>
            <a:ext cx="2840000" cy="300000"/>
          </a:xfrm>
          <a:prstGeom prst="rect">
            <a:avLst/>
          </a:prstGeom>
          <a:noFill/>
        </p:spPr>
        <p:txBody>
          <a:bodyPr wrap="square" anchor="t" lIns="0" rIns="0" tIns="0" bIns="0">
            <a:spAutoFit/>
          </a:bodyPr>
          <a:lstStyle/>
          <a:p>
            <a:pPr algn="l">
              <a:lnSpc>
                <a:spcPct val="125000"/>
              </a:lnSpc>
            </a:pPr>
            <a:r>
              <a:rPr sz="1100" b="1">
                <a:solidFill>
                  <a:srgbClr val="145F6B"/>
                </a:solidFill>
                <a:latin typeface="Noto Sans JP"/>
                <a:ea typeface="Noto Sans JP"/>
                <a:cs typeface="Noto Sans JP"/>
              </a:rPr>
              <a:t>よく聞く声 03</a:t>
            </a:r>
          </a:p>
        </p:txBody>
      </p:sp>
      <p:sp>
        <p:nvSpPr>
          <p:cNvPr id="23" name="TextBox 22"/>
          <p:cNvSpPr txBox="1"/>
          <p:nvPr/>
        </p:nvSpPr>
        <p:spPr>
          <a:xfrm>
            <a:off x="8310000" y="2310000"/>
            <a:ext cx="2840000" cy="800000"/>
          </a:xfrm>
          <a:prstGeom prst="rect">
            <a:avLst/>
          </a:prstGeom>
          <a:noFill/>
        </p:spPr>
        <p:txBody>
          <a:bodyPr wrap="square" anchor="t" lIns="0" rIns="0" tIns="0" bIns="0">
            <a:spAutoFit/>
          </a:bodyPr>
          <a:lstStyle/>
          <a:p>
            <a:pPr algn="l">
              <a:lnSpc>
                <a:spcPct val="125000"/>
              </a:lnSpc>
            </a:pPr>
            <a:r>
              <a:rPr sz="1500" b="1">
                <a:solidFill>
                  <a:srgbClr val="2A2F33"/>
                </a:solidFill>
                <a:latin typeface="Noto Sans JP"/>
                <a:ea typeface="Noto Sans JP"/>
                <a:cs typeface="Noto Sans JP"/>
              </a:rPr>
              <a:t>専門家に頼みたいが、
費用が重い</a:t>
            </a:r>
          </a:p>
        </p:txBody>
      </p:sp>
      <p:sp>
        <p:nvSpPr>
          <p:cNvPr id="24" name="TextBox 23"/>
          <p:cNvSpPr txBox="1"/>
          <p:nvPr/>
        </p:nvSpPr>
        <p:spPr>
          <a:xfrm>
            <a:off x="8310000" y="2941000"/>
            <a:ext cx="2840000" cy="1340000"/>
          </a:xfrm>
          <a:prstGeom prst="rect">
            <a:avLst/>
          </a:prstGeom>
          <a:noFill/>
        </p:spPr>
        <p:txBody>
          <a:bodyPr wrap="square" anchor="t" lIns="0" rIns="0" tIns="0" bIns="0">
            <a:spAutoFit/>
          </a:bodyPr>
          <a:lstStyle/>
          <a:p>
            <a:pPr algn="l">
              <a:lnSpc>
                <a:spcPct val="145000"/>
              </a:lnSpc>
            </a:pPr>
            <a:r>
              <a:rPr sz="1200" b="0">
                <a:solidFill>
                  <a:srgbClr val="5F666B"/>
                </a:solidFill>
                <a:latin typeface="Noto Sans JP"/>
                <a:ea typeface="Noto Sans JP"/>
                <a:cs typeface="Noto Sans JP"/>
              </a:rPr>
              <a:t>早く結果を出すには専門家の力が必要。でも、また大きなお金がかかってしまう。</a:t>
            </a:r>
          </a:p>
        </p:txBody>
      </p:sp>
      <p:sp>
        <p:nvSpPr>
          <p:cNvPr id="25" name="Rectangle 24"/>
          <p:cNvSpPr/>
          <p:nvPr/>
        </p:nvSpPr>
        <p:spPr>
          <a:xfrm>
            <a:off x="762000" y="4300000"/>
            <a:ext cx="10668000" cy="17500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62000" y="4450000"/>
            <a:ext cx="10668000" cy="400000"/>
          </a:xfrm>
          <a:prstGeom prst="rect">
            <a:avLst/>
          </a:prstGeom>
          <a:noFill/>
        </p:spPr>
        <p:txBody>
          <a:bodyPr wrap="square" anchor="t" lIns="0" rIns="0" tIns="0" bIns="0">
            <a:spAutoFit/>
          </a:bodyPr>
          <a:lstStyle/>
          <a:p>
            <a:pPr algn="ctr">
              <a:lnSpc>
                <a:spcPct val="125000"/>
              </a:lnSpc>
            </a:pPr>
            <a:r>
              <a:rPr sz="1500" b="0">
                <a:solidFill>
                  <a:srgbClr val="FFFFFF"/>
                </a:solidFill>
                <a:latin typeface="Noto Sans JP"/>
                <a:ea typeface="Noto Sans JP"/>
                <a:cs typeface="Noto Sans JP"/>
              </a:rPr>
              <a:t>頑張っているのに、何にお金と時間を使えばいいか分からない。私はこれを</a:t>
            </a:r>
          </a:p>
        </p:txBody>
      </p:sp>
      <p:sp>
        <p:nvSpPr>
          <p:cNvPr id="27" name="TextBox 26"/>
          <p:cNvSpPr txBox="1"/>
          <p:nvPr/>
        </p:nvSpPr>
        <p:spPr>
          <a:xfrm>
            <a:off x="762000" y="4900000"/>
            <a:ext cx="10668000" cy="700000"/>
          </a:xfrm>
          <a:prstGeom prst="rect">
            <a:avLst/>
          </a:prstGeom>
          <a:noFill/>
        </p:spPr>
        <p:txBody>
          <a:bodyPr wrap="square" anchor="t" lIns="0" rIns="0" tIns="0" bIns="0">
            <a:spAutoFit/>
          </a:bodyPr>
          <a:lstStyle/>
          <a:p>
            <a:pPr algn="ctr">
              <a:lnSpc>
                <a:spcPct val="125000"/>
              </a:lnSpc>
            </a:pPr>
            <a:r>
              <a:rPr sz="3400" b="1">
                <a:solidFill>
                  <a:srgbClr val="D9764A"/>
                </a:solidFill>
                <a:latin typeface="Noto Sans JP"/>
                <a:ea typeface="Noto Sans JP"/>
                <a:cs typeface="Noto Sans JP"/>
              </a:rPr>
              <a:t>「マーケティング迷子」</a:t>
            </a:r>
          </a:p>
        </p:txBody>
      </p:sp>
      <p:sp>
        <p:nvSpPr>
          <p:cNvPr id="28" name="TextBox 27"/>
          <p:cNvSpPr txBox="1"/>
          <p:nvPr/>
        </p:nvSpPr>
        <p:spPr>
          <a:xfrm>
            <a:off x="762000" y="5550000"/>
            <a:ext cx="10668000" cy="400000"/>
          </a:xfrm>
          <a:prstGeom prst="rect">
            <a:avLst/>
          </a:prstGeom>
          <a:noFill/>
        </p:spPr>
        <p:txBody>
          <a:bodyPr wrap="square" anchor="t" lIns="0" rIns="0" tIns="0" bIns="0">
            <a:spAutoFit/>
          </a:bodyPr>
          <a:lstStyle/>
          <a:p>
            <a:pPr algn="ctr">
              <a:lnSpc>
                <a:spcPct val="125000"/>
              </a:lnSpc>
            </a:pPr>
            <a:r>
              <a:rPr sz="1500" b="0">
                <a:solidFill>
                  <a:srgbClr val="FFFFFF"/>
                </a:solidFill>
                <a:latin typeface="Noto Sans JP"/>
                <a:ea typeface="Noto Sans JP"/>
                <a:cs typeface="Noto Sans JP"/>
              </a:rPr>
              <a:t>と呼んでいます。一人でも減らしたい。それが私の仕事の理由です。</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Rectangle 1"/>
          <p:cNvSpPr/>
          <p:nvPr/>
        </p:nvSpPr>
        <p:spPr>
          <a:xfrm>
            <a:off x="0" y="0"/>
            <a:ext cx="12192000" cy="762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62000" y="600000"/>
            <a:ext cx="76200" cy="8200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92000" y="560000"/>
            <a:ext cx="10668000" cy="260000"/>
          </a:xfrm>
          <a:prstGeom prst="rect">
            <a:avLst/>
          </a:prstGeom>
          <a:noFill/>
        </p:spPr>
        <p:txBody>
          <a:bodyPr wrap="square" anchor="t" lIns="0" rIns="0" tIns="0" bIns="0">
            <a:spAutoFit/>
          </a:bodyPr>
          <a:lstStyle/>
          <a:p>
            <a:pPr algn="l">
              <a:lnSpc>
                <a:spcPct val="125000"/>
              </a:lnSpc>
            </a:pPr>
            <a:r>
              <a:rPr sz="1050" b="1">
                <a:solidFill>
                  <a:srgbClr val="145F6B"/>
                </a:solidFill>
                <a:latin typeface="Noto Sans JP"/>
                <a:ea typeface="Noto Sans JP"/>
                <a:cs typeface="Noto Sans JP"/>
              </a:rPr>
              <a:t>MY PROMISE</a:t>
            </a:r>
          </a:p>
        </p:txBody>
      </p:sp>
      <p:sp>
        <p:nvSpPr>
          <p:cNvPr id="5" name="TextBox 4"/>
          <p:cNvSpPr txBox="1"/>
          <p:nvPr/>
        </p:nvSpPr>
        <p:spPr>
          <a:xfrm>
            <a:off x="992000" y="840000"/>
            <a:ext cx="10438000" cy="600000"/>
          </a:xfrm>
          <a:prstGeom prst="rect">
            <a:avLst/>
          </a:prstGeom>
          <a:noFill/>
        </p:spPr>
        <p:txBody>
          <a:bodyPr wrap="square" anchor="t" lIns="0" rIns="0" tIns="0" bIns="0">
            <a:spAutoFit/>
          </a:bodyPr>
          <a:lstStyle/>
          <a:p>
            <a:pPr algn="l">
              <a:lnSpc>
                <a:spcPct val="125000"/>
              </a:lnSpc>
            </a:pPr>
            <a:r>
              <a:rPr sz="2600" b="1">
                <a:solidFill>
                  <a:srgbClr val="2A2F33"/>
                </a:solidFill>
                <a:latin typeface="Noto Sans JP"/>
                <a:ea typeface="Noto Sans JP"/>
                <a:cs typeface="Noto Sans JP"/>
              </a:rPr>
              <a:t>だから私は、こう決めています</a:t>
            </a:r>
          </a:p>
        </p:txBody>
      </p:sp>
      <p:sp>
        <p:nvSpPr>
          <p:cNvPr id="6" name="Rectangle 5"/>
          <p:cNvSpPr/>
          <p:nvPr/>
        </p:nvSpPr>
        <p:spPr>
          <a:xfrm>
            <a:off x="762000" y="6380000"/>
            <a:ext cx="10668000" cy="9525"/>
          </a:xfrm>
          <a:prstGeom prst="rect">
            <a:avLst/>
          </a:prstGeom>
          <a:solidFill>
            <a:srgbClr val="E6DD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2000" y="6480000"/>
            <a:ext cx="4000000" cy="200000"/>
          </a:xfrm>
          <a:prstGeom prst="rect">
            <a:avLst/>
          </a:prstGeom>
          <a:noFill/>
        </p:spPr>
        <p:txBody>
          <a:bodyPr wrap="square" anchor="t" lIns="0" rIns="0" tIns="0" bIns="0">
            <a:spAutoFit/>
          </a:bodyPr>
          <a:lstStyle/>
          <a:p>
            <a:pPr algn="l">
              <a:lnSpc>
                <a:spcPct val="125000"/>
              </a:lnSpc>
            </a:pPr>
            <a:r>
              <a:rPr sz="800" b="0">
                <a:solidFill>
                  <a:srgbClr val="5F666B"/>
                </a:solidFill>
                <a:latin typeface="Noto Sans JP"/>
                <a:ea typeface="Noto Sans JP"/>
                <a:cs typeface="Noto Sans JP"/>
              </a:rPr>
              <a:t>© U-Writing All Rights Reserved.</a:t>
            </a:r>
          </a:p>
        </p:txBody>
      </p:sp>
      <p:sp>
        <p:nvSpPr>
          <p:cNvPr id="8" name="Rounded Rectangle 7"/>
          <p:cNvSpPr/>
          <p:nvPr/>
        </p:nvSpPr>
        <p:spPr>
          <a:xfrm>
            <a:off x="11010000" y="6430000"/>
            <a:ext cx="420000" cy="300000"/>
          </a:xfrm>
          <a:prstGeom prst="round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010000" y="6430000"/>
            <a:ext cx="420000" cy="300000"/>
          </a:xfrm>
          <a:prstGeom prst="rect">
            <a:avLst/>
          </a:prstGeom>
          <a:noFill/>
        </p:spPr>
        <p:txBody>
          <a:bodyPr wrap="square" anchor="ctr" lIns="0" rIns="0" tIns="0" bIns="0">
            <a:spAutoFit/>
          </a:bodyPr>
          <a:lstStyle/>
          <a:p>
            <a:pPr algn="ctr">
              <a:lnSpc>
                <a:spcPct val="125000"/>
              </a:lnSpc>
            </a:pPr>
            <a:r>
              <a:rPr sz="1100" b="1">
                <a:solidFill>
                  <a:srgbClr val="FFFFFF"/>
                </a:solidFill>
                <a:latin typeface="Noto Sans JP"/>
                <a:ea typeface="Noto Sans JP"/>
                <a:cs typeface="Noto Sans JP"/>
              </a:rPr>
              <a:t>6</a:t>
            </a:r>
          </a:p>
        </p:txBody>
      </p:sp>
      <p:sp>
        <p:nvSpPr>
          <p:cNvPr id="10" name="Rectangle 9"/>
          <p:cNvSpPr/>
          <p:nvPr/>
        </p:nvSpPr>
        <p:spPr>
          <a:xfrm>
            <a:off x="762000" y="1750000"/>
            <a:ext cx="5180000" cy="1850000"/>
          </a:xfrm>
          <a:prstGeom prst="rect">
            <a:avLst/>
          </a:prstGeom>
          <a:solidFill>
            <a:srgbClr val="FFFFFF"/>
          </a:solidFill>
          <a:ln w="12700">
            <a:solidFill>
              <a:srgbClr val="E6DD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62000" y="1750000"/>
            <a:ext cx="76200" cy="18500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112000" y="2050000"/>
            <a:ext cx="800000" cy="500000"/>
          </a:xfrm>
          <a:prstGeom prst="rect">
            <a:avLst/>
          </a:prstGeom>
          <a:noFill/>
        </p:spPr>
        <p:txBody>
          <a:bodyPr wrap="square" anchor="t" lIns="0" rIns="0" tIns="0" bIns="0">
            <a:spAutoFit/>
          </a:bodyPr>
          <a:lstStyle/>
          <a:p>
            <a:pPr algn="l">
              <a:lnSpc>
                <a:spcPct val="125000"/>
              </a:lnSpc>
            </a:pPr>
            <a:r>
              <a:rPr sz="2400" b="1">
                <a:solidFill>
                  <a:srgbClr val="D9764A"/>
                </a:solidFill>
                <a:latin typeface="Noto Sans JP"/>
                <a:ea typeface="Noto Sans JP"/>
                <a:cs typeface="Noto Sans JP"/>
              </a:rPr>
              <a:t>01</a:t>
            </a:r>
          </a:p>
        </p:txBody>
      </p:sp>
      <p:sp>
        <p:nvSpPr>
          <p:cNvPr id="13" name="TextBox 12"/>
          <p:cNvSpPr txBox="1"/>
          <p:nvPr/>
        </p:nvSpPr>
        <p:spPr>
          <a:xfrm>
            <a:off x="1862000" y="2080000"/>
            <a:ext cx="3830000" cy="500000"/>
          </a:xfrm>
          <a:prstGeom prst="rect">
            <a:avLst/>
          </a:prstGeom>
          <a:noFill/>
        </p:spPr>
        <p:txBody>
          <a:bodyPr wrap="square" anchor="t" lIns="0" rIns="0" tIns="0" bIns="0">
            <a:spAutoFit/>
          </a:bodyPr>
          <a:lstStyle/>
          <a:p>
            <a:pPr algn="l">
              <a:lnSpc>
                <a:spcPct val="125000"/>
              </a:lnSpc>
            </a:pPr>
            <a:r>
              <a:rPr sz="1700" b="1">
                <a:solidFill>
                  <a:srgbClr val="2A2F33"/>
                </a:solidFill>
                <a:latin typeface="Noto Sans JP"/>
                <a:ea typeface="Noto Sans JP"/>
                <a:cs typeface="Noto Sans JP"/>
              </a:rPr>
              <a:t>本当に必要なものだけを作る</a:t>
            </a:r>
          </a:p>
        </p:txBody>
      </p:sp>
      <p:sp>
        <p:nvSpPr>
          <p:cNvPr id="14" name="TextBox 13"/>
          <p:cNvSpPr txBox="1"/>
          <p:nvPr/>
        </p:nvSpPr>
        <p:spPr>
          <a:xfrm>
            <a:off x="1862000" y="2650000"/>
            <a:ext cx="3830000" cy="800000"/>
          </a:xfrm>
          <a:prstGeom prst="rect">
            <a:avLst/>
          </a:prstGeom>
          <a:noFill/>
        </p:spPr>
        <p:txBody>
          <a:bodyPr wrap="square" anchor="t" lIns="0" rIns="0" tIns="0" bIns="0">
            <a:spAutoFit/>
          </a:bodyPr>
          <a:lstStyle/>
          <a:p>
            <a:pPr algn="l">
              <a:lnSpc>
                <a:spcPct val="150000"/>
              </a:lnSpc>
            </a:pPr>
            <a:r>
              <a:rPr sz="1200" b="0">
                <a:solidFill>
                  <a:srgbClr val="5F666B"/>
                </a:solidFill>
                <a:latin typeface="Noto Sans JP"/>
                <a:ea typeface="Noto Sans JP"/>
                <a:cs typeface="Noto Sans JP"/>
              </a:rPr>
              <a:t>ご依頼の前に、それが本当に必要かを一緒に考えます。</a:t>
            </a:r>
          </a:p>
        </p:txBody>
      </p:sp>
      <p:sp>
        <p:nvSpPr>
          <p:cNvPr id="15" name="Rectangle 14"/>
          <p:cNvSpPr/>
          <p:nvPr/>
        </p:nvSpPr>
        <p:spPr>
          <a:xfrm>
            <a:off x="6250000" y="1750000"/>
            <a:ext cx="5180000" cy="1850000"/>
          </a:xfrm>
          <a:prstGeom prst="rect">
            <a:avLst/>
          </a:prstGeom>
          <a:solidFill>
            <a:srgbClr val="FFFFFF"/>
          </a:solidFill>
          <a:ln w="12700">
            <a:solidFill>
              <a:srgbClr val="E6DD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50000" y="1750000"/>
            <a:ext cx="76200" cy="18500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600000" y="2050000"/>
            <a:ext cx="800000" cy="500000"/>
          </a:xfrm>
          <a:prstGeom prst="rect">
            <a:avLst/>
          </a:prstGeom>
          <a:noFill/>
        </p:spPr>
        <p:txBody>
          <a:bodyPr wrap="square" anchor="t" lIns="0" rIns="0" tIns="0" bIns="0">
            <a:spAutoFit/>
          </a:bodyPr>
          <a:lstStyle/>
          <a:p>
            <a:pPr algn="l">
              <a:lnSpc>
                <a:spcPct val="125000"/>
              </a:lnSpc>
            </a:pPr>
            <a:r>
              <a:rPr sz="2400" b="1">
                <a:solidFill>
                  <a:srgbClr val="D9764A"/>
                </a:solidFill>
                <a:latin typeface="Noto Sans JP"/>
                <a:ea typeface="Noto Sans JP"/>
                <a:cs typeface="Noto Sans JP"/>
              </a:rPr>
              <a:t>02</a:t>
            </a:r>
          </a:p>
        </p:txBody>
      </p:sp>
      <p:sp>
        <p:nvSpPr>
          <p:cNvPr id="18" name="TextBox 17"/>
          <p:cNvSpPr txBox="1"/>
          <p:nvPr/>
        </p:nvSpPr>
        <p:spPr>
          <a:xfrm>
            <a:off x="7350000" y="2080000"/>
            <a:ext cx="3830000" cy="500000"/>
          </a:xfrm>
          <a:prstGeom prst="rect">
            <a:avLst/>
          </a:prstGeom>
          <a:noFill/>
        </p:spPr>
        <p:txBody>
          <a:bodyPr wrap="square" anchor="t" lIns="0" rIns="0" tIns="0" bIns="0">
            <a:spAutoFit/>
          </a:bodyPr>
          <a:lstStyle/>
          <a:p>
            <a:pPr algn="l">
              <a:lnSpc>
                <a:spcPct val="125000"/>
              </a:lnSpc>
            </a:pPr>
            <a:r>
              <a:rPr sz="1700" b="1">
                <a:solidFill>
                  <a:srgbClr val="2A2F33"/>
                </a:solidFill>
                <a:latin typeface="Noto Sans JP"/>
                <a:ea typeface="Noto Sans JP"/>
                <a:cs typeface="Noto Sans JP"/>
              </a:rPr>
              <a:t>作らなくていいなら、正直に言う</a:t>
            </a:r>
          </a:p>
        </p:txBody>
      </p:sp>
      <p:sp>
        <p:nvSpPr>
          <p:cNvPr id="19" name="TextBox 18"/>
          <p:cNvSpPr txBox="1"/>
          <p:nvPr/>
        </p:nvSpPr>
        <p:spPr>
          <a:xfrm>
            <a:off x="7350000" y="2650000"/>
            <a:ext cx="3830000" cy="800000"/>
          </a:xfrm>
          <a:prstGeom prst="rect">
            <a:avLst/>
          </a:prstGeom>
          <a:noFill/>
        </p:spPr>
        <p:txBody>
          <a:bodyPr wrap="square" anchor="t" lIns="0" rIns="0" tIns="0" bIns="0">
            <a:spAutoFit/>
          </a:bodyPr>
          <a:lstStyle/>
          <a:p>
            <a:pPr algn="l">
              <a:lnSpc>
                <a:spcPct val="150000"/>
              </a:lnSpc>
            </a:pPr>
            <a:r>
              <a:rPr sz="1200" b="0">
                <a:solidFill>
                  <a:srgbClr val="5F666B"/>
                </a:solidFill>
                <a:latin typeface="Noto Sans JP"/>
                <a:ea typeface="Noto Sans JP"/>
                <a:cs typeface="Noto Sans JP"/>
              </a:rPr>
              <a:t>不要だと判断したものは、おすすめしません。</a:t>
            </a:r>
          </a:p>
        </p:txBody>
      </p:sp>
      <p:sp>
        <p:nvSpPr>
          <p:cNvPr id="20" name="Rectangle 19"/>
          <p:cNvSpPr/>
          <p:nvPr/>
        </p:nvSpPr>
        <p:spPr>
          <a:xfrm>
            <a:off x="762000" y="3800000"/>
            <a:ext cx="5180000" cy="1850000"/>
          </a:xfrm>
          <a:prstGeom prst="rect">
            <a:avLst/>
          </a:prstGeom>
          <a:solidFill>
            <a:srgbClr val="FFFFFF"/>
          </a:solidFill>
          <a:ln w="12700">
            <a:solidFill>
              <a:srgbClr val="E6DD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62000" y="3800000"/>
            <a:ext cx="76200" cy="18500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112000" y="4100000"/>
            <a:ext cx="800000" cy="500000"/>
          </a:xfrm>
          <a:prstGeom prst="rect">
            <a:avLst/>
          </a:prstGeom>
          <a:noFill/>
        </p:spPr>
        <p:txBody>
          <a:bodyPr wrap="square" anchor="t" lIns="0" rIns="0" tIns="0" bIns="0">
            <a:spAutoFit/>
          </a:bodyPr>
          <a:lstStyle/>
          <a:p>
            <a:pPr algn="l">
              <a:lnSpc>
                <a:spcPct val="125000"/>
              </a:lnSpc>
            </a:pPr>
            <a:r>
              <a:rPr sz="2400" b="1">
                <a:solidFill>
                  <a:srgbClr val="D9764A"/>
                </a:solidFill>
                <a:latin typeface="Noto Sans JP"/>
                <a:ea typeface="Noto Sans JP"/>
                <a:cs typeface="Noto Sans JP"/>
              </a:rPr>
              <a:t>03</a:t>
            </a:r>
          </a:p>
        </p:txBody>
      </p:sp>
      <p:sp>
        <p:nvSpPr>
          <p:cNvPr id="23" name="TextBox 22"/>
          <p:cNvSpPr txBox="1"/>
          <p:nvPr/>
        </p:nvSpPr>
        <p:spPr>
          <a:xfrm>
            <a:off x="1862000" y="4130000"/>
            <a:ext cx="3830000" cy="500000"/>
          </a:xfrm>
          <a:prstGeom prst="rect">
            <a:avLst/>
          </a:prstGeom>
          <a:noFill/>
        </p:spPr>
        <p:txBody>
          <a:bodyPr wrap="square" anchor="t" lIns="0" rIns="0" tIns="0" bIns="0">
            <a:spAutoFit/>
          </a:bodyPr>
          <a:lstStyle/>
          <a:p>
            <a:pPr algn="l">
              <a:lnSpc>
                <a:spcPct val="125000"/>
              </a:lnSpc>
            </a:pPr>
            <a:r>
              <a:rPr sz="1700" b="1">
                <a:solidFill>
                  <a:srgbClr val="2A2F33"/>
                </a:solidFill>
                <a:latin typeface="Noto Sans JP"/>
                <a:ea typeface="Noto Sans JP"/>
                <a:cs typeface="Noto Sans JP"/>
              </a:rPr>
              <a:t>1回の相談から使える</a:t>
            </a:r>
          </a:p>
        </p:txBody>
      </p:sp>
      <p:sp>
        <p:nvSpPr>
          <p:cNvPr id="24" name="TextBox 23"/>
          <p:cNvSpPr txBox="1"/>
          <p:nvPr/>
        </p:nvSpPr>
        <p:spPr>
          <a:xfrm>
            <a:off x="1862000" y="4700000"/>
            <a:ext cx="3830000" cy="800000"/>
          </a:xfrm>
          <a:prstGeom prst="rect">
            <a:avLst/>
          </a:prstGeom>
          <a:noFill/>
        </p:spPr>
        <p:txBody>
          <a:bodyPr wrap="square" anchor="t" lIns="0" rIns="0" tIns="0" bIns="0">
            <a:spAutoFit/>
          </a:bodyPr>
          <a:lstStyle/>
          <a:p>
            <a:pPr algn="l">
              <a:lnSpc>
                <a:spcPct val="150000"/>
              </a:lnSpc>
            </a:pPr>
            <a:r>
              <a:rPr sz="1200" b="0">
                <a:solidFill>
                  <a:srgbClr val="5F666B"/>
                </a:solidFill>
                <a:latin typeface="Noto Sans JP"/>
                <a:ea typeface="Noto Sans JP"/>
                <a:cs typeface="Noto Sans JP"/>
              </a:rPr>
              <a:t>契約の縛りはなく、必要なときだけご利用いただけます。</a:t>
            </a:r>
          </a:p>
        </p:txBody>
      </p:sp>
      <p:sp>
        <p:nvSpPr>
          <p:cNvPr id="25" name="Rectangle 24"/>
          <p:cNvSpPr/>
          <p:nvPr/>
        </p:nvSpPr>
        <p:spPr>
          <a:xfrm>
            <a:off x="6250000" y="3800000"/>
            <a:ext cx="5180000" cy="1850000"/>
          </a:xfrm>
          <a:prstGeom prst="rect">
            <a:avLst/>
          </a:prstGeom>
          <a:solidFill>
            <a:srgbClr val="FFFFFF"/>
          </a:solidFill>
          <a:ln w="12700">
            <a:solidFill>
              <a:srgbClr val="E6DD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50000" y="3800000"/>
            <a:ext cx="76200" cy="18500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600000" y="4100000"/>
            <a:ext cx="800000" cy="500000"/>
          </a:xfrm>
          <a:prstGeom prst="rect">
            <a:avLst/>
          </a:prstGeom>
          <a:noFill/>
        </p:spPr>
        <p:txBody>
          <a:bodyPr wrap="square" anchor="t" lIns="0" rIns="0" tIns="0" bIns="0">
            <a:spAutoFit/>
          </a:bodyPr>
          <a:lstStyle/>
          <a:p>
            <a:pPr algn="l">
              <a:lnSpc>
                <a:spcPct val="125000"/>
              </a:lnSpc>
            </a:pPr>
            <a:r>
              <a:rPr sz="2400" b="1">
                <a:solidFill>
                  <a:srgbClr val="D9764A"/>
                </a:solidFill>
                <a:latin typeface="Noto Sans JP"/>
                <a:ea typeface="Noto Sans JP"/>
                <a:cs typeface="Noto Sans JP"/>
              </a:rPr>
              <a:t>04</a:t>
            </a:r>
          </a:p>
        </p:txBody>
      </p:sp>
      <p:sp>
        <p:nvSpPr>
          <p:cNvPr id="28" name="TextBox 27"/>
          <p:cNvSpPr txBox="1"/>
          <p:nvPr/>
        </p:nvSpPr>
        <p:spPr>
          <a:xfrm>
            <a:off x="7350000" y="4130000"/>
            <a:ext cx="3830000" cy="500000"/>
          </a:xfrm>
          <a:prstGeom prst="rect">
            <a:avLst/>
          </a:prstGeom>
          <a:noFill/>
        </p:spPr>
        <p:txBody>
          <a:bodyPr wrap="square" anchor="t" lIns="0" rIns="0" tIns="0" bIns="0">
            <a:spAutoFit/>
          </a:bodyPr>
          <a:lstStyle/>
          <a:p>
            <a:pPr algn="l">
              <a:lnSpc>
                <a:spcPct val="125000"/>
              </a:lnSpc>
            </a:pPr>
            <a:r>
              <a:rPr sz="1700" b="1">
                <a:solidFill>
                  <a:srgbClr val="2A2F33"/>
                </a:solidFill>
                <a:latin typeface="Noto Sans JP"/>
                <a:ea typeface="Noto Sans JP"/>
                <a:cs typeface="Noto Sans JP"/>
              </a:rPr>
              <a:t>誇大広告はしない</a:t>
            </a:r>
          </a:p>
        </p:txBody>
      </p:sp>
      <p:sp>
        <p:nvSpPr>
          <p:cNvPr id="29" name="TextBox 28"/>
          <p:cNvSpPr txBox="1"/>
          <p:nvPr/>
        </p:nvSpPr>
        <p:spPr>
          <a:xfrm>
            <a:off x="7350000" y="4700000"/>
            <a:ext cx="3830000" cy="800000"/>
          </a:xfrm>
          <a:prstGeom prst="rect">
            <a:avLst/>
          </a:prstGeom>
          <a:noFill/>
        </p:spPr>
        <p:txBody>
          <a:bodyPr wrap="square" anchor="t" lIns="0" rIns="0" tIns="0" bIns="0">
            <a:spAutoFit/>
          </a:bodyPr>
          <a:lstStyle/>
          <a:p>
            <a:pPr algn="l">
              <a:lnSpc>
                <a:spcPct val="150000"/>
              </a:lnSpc>
            </a:pPr>
            <a:r>
              <a:rPr sz="1200" b="0">
                <a:solidFill>
                  <a:srgbClr val="5F666B"/>
                </a:solidFill>
                <a:latin typeface="Noto Sans JP"/>
                <a:ea typeface="Noto Sans JP"/>
                <a:cs typeface="Noto Sans JP"/>
              </a:rPr>
              <a:t>薬機法・景表法を守り、消費者とお客様が笑顔でつながる広告を作ります。</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Rectangle 1"/>
          <p:cNvSpPr/>
          <p:nvPr/>
        </p:nvSpPr>
        <p:spPr>
          <a:xfrm>
            <a:off x="0" y="0"/>
            <a:ext cx="12192000" cy="762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62000" y="600000"/>
            <a:ext cx="76200" cy="8200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92000" y="560000"/>
            <a:ext cx="10668000" cy="260000"/>
          </a:xfrm>
          <a:prstGeom prst="rect">
            <a:avLst/>
          </a:prstGeom>
          <a:noFill/>
        </p:spPr>
        <p:txBody>
          <a:bodyPr wrap="square" anchor="t" lIns="0" rIns="0" tIns="0" bIns="0">
            <a:spAutoFit/>
          </a:bodyPr>
          <a:lstStyle/>
          <a:p>
            <a:pPr algn="l">
              <a:lnSpc>
                <a:spcPct val="125000"/>
              </a:lnSpc>
            </a:pPr>
            <a:r>
              <a:rPr sz="1050" b="1">
                <a:solidFill>
                  <a:srgbClr val="145F6B"/>
                </a:solidFill>
                <a:latin typeface="Noto Sans JP"/>
                <a:ea typeface="Noto Sans JP"/>
                <a:cs typeface="Noto Sans JP"/>
              </a:rPr>
              <a:t>MY METHOD</a:t>
            </a:r>
          </a:p>
        </p:txBody>
      </p:sp>
      <p:sp>
        <p:nvSpPr>
          <p:cNvPr id="5" name="TextBox 4"/>
          <p:cNvSpPr txBox="1"/>
          <p:nvPr/>
        </p:nvSpPr>
        <p:spPr>
          <a:xfrm>
            <a:off x="992000" y="840000"/>
            <a:ext cx="10438000" cy="600000"/>
          </a:xfrm>
          <a:prstGeom prst="rect">
            <a:avLst/>
          </a:prstGeom>
          <a:noFill/>
        </p:spPr>
        <p:txBody>
          <a:bodyPr wrap="square" anchor="t" lIns="0" rIns="0" tIns="0" bIns="0">
            <a:spAutoFit/>
          </a:bodyPr>
          <a:lstStyle/>
          <a:p>
            <a:pPr algn="l">
              <a:lnSpc>
                <a:spcPct val="125000"/>
              </a:lnSpc>
            </a:pPr>
            <a:r>
              <a:rPr sz="2600" b="1">
                <a:solidFill>
                  <a:srgbClr val="2A2F33"/>
                </a:solidFill>
                <a:latin typeface="Noto Sans JP"/>
                <a:ea typeface="Noto Sans JP"/>
                <a:cs typeface="Noto Sans JP"/>
              </a:rPr>
              <a:t>売れる広告は、センスではなく「論理」で作る</a:t>
            </a:r>
          </a:p>
        </p:txBody>
      </p:sp>
      <p:sp>
        <p:nvSpPr>
          <p:cNvPr id="6" name="Rectangle 5"/>
          <p:cNvSpPr/>
          <p:nvPr/>
        </p:nvSpPr>
        <p:spPr>
          <a:xfrm>
            <a:off x="762000" y="6380000"/>
            <a:ext cx="10668000" cy="9525"/>
          </a:xfrm>
          <a:prstGeom prst="rect">
            <a:avLst/>
          </a:prstGeom>
          <a:solidFill>
            <a:srgbClr val="E6DD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2000" y="6480000"/>
            <a:ext cx="4000000" cy="200000"/>
          </a:xfrm>
          <a:prstGeom prst="rect">
            <a:avLst/>
          </a:prstGeom>
          <a:noFill/>
        </p:spPr>
        <p:txBody>
          <a:bodyPr wrap="square" anchor="t" lIns="0" rIns="0" tIns="0" bIns="0">
            <a:spAutoFit/>
          </a:bodyPr>
          <a:lstStyle/>
          <a:p>
            <a:pPr algn="l">
              <a:lnSpc>
                <a:spcPct val="125000"/>
              </a:lnSpc>
            </a:pPr>
            <a:r>
              <a:rPr sz="800" b="0">
                <a:solidFill>
                  <a:srgbClr val="5F666B"/>
                </a:solidFill>
                <a:latin typeface="Noto Sans JP"/>
                <a:ea typeface="Noto Sans JP"/>
                <a:cs typeface="Noto Sans JP"/>
              </a:rPr>
              <a:t>© U-Writing All Rights Reserved.</a:t>
            </a:r>
          </a:p>
        </p:txBody>
      </p:sp>
      <p:sp>
        <p:nvSpPr>
          <p:cNvPr id="8" name="Rounded Rectangle 7"/>
          <p:cNvSpPr/>
          <p:nvPr/>
        </p:nvSpPr>
        <p:spPr>
          <a:xfrm>
            <a:off x="11010000" y="6430000"/>
            <a:ext cx="420000" cy="300000"/>
          </a:xfrm>
          <a:prstGeom prst="round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010000" y="6430000"/>
            <a:ext cx="420000" cy="300000"/>
          </a:xfrm>
          <a:prstGeom prst="rect">
            <a:avLst/>
          </a:prstGeom>
          <a:noFill/>
        </p:spPr>
        <p:txBody>
          <a:bodyPr wrap="square" anchor="ctr" lIns="0" rIns="0" tIns="0" bIns="0">
            <a:spAutoFit/>
          </a:bodyPr>
          <a:lstStyle/>
          <a:p>
            <a:pPr algn="ctr">
              <a:lnSpc>
                <a:spcPct val="125000"/>
              </a:lnSpc>
            </a:pPr>
            <a:r>
              <a:rPr sz="1100" b="1">
                <a:solidFill>
                  <a:srgbClr val="FFFFFF"/>
                </a:solidFill>
                <a:latin typeface="Noto Sans JP"/>
                <a:ea typeface="Noto Sans JP"/>
                <a:cs typeface="Noto Sans JP"/>
              </a:rPr>
              <a:t>7</a:t>
            </a:r>
          </a:p>
        </p:txBody>
      </p:sp>
      <p:sp>
        <p:nvSpPr>
          <p:cNvPr id="10" name="Rectangle 9"/>
          <p:cNvSpPr/>
          <p:nvPr/>
        </p:nvSpPr>
        <p:spPr>
          <a:xfrm>
            <a:off x="762000" y="1650000"/>
            <a:ext cx="10668000" cy="760000"/>
          </a:xfrm>
          <a:prstGeom prst="rect">
            <a:avLst/>
          </a:prstGeom>
          <a:solidFill>
            <a:srgbClr val="FFFFFF"/>
          </a:solidFill>
          <a:ln w="12700">
            <a:solidFill>
              <a:srgbClr val="E6DD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62000" y="1650000"/>
            <a:ext cx="76200" cy="7600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62000" y="1760000"/>
            <a:ext cx="900000" cy="540000"/>
          </a:xfrm>
          <a:prstGeom prst="rect">
            <a:avLst/>
          </a:prstGeom>
          <a:noFill/>
        </p:spPr>
        <p:txBody>
          <a:bodyPr wrap="square" anchor="ctr" lIns="0" rIns="0" tIns="0" bIns="0">
            <a:spAutoFit/>
          </a:bodyPr>
          <a:lstStyle/>
          <a:p>
            <a:pPr algn="l">
              <a:lnSpc>
                <a:spcPct val="125000"/>
              </a:lnSpc>
            </a:pPr>
            <a:r>
              <a:rPr sz="2200" b="1">
                <a:solidFill>
                  <a:srgbClr val="D9764A"/>
                </a:solidFill>
                <a:latin typeface="Noto Sans JP"/>
                <a:ea typeface="Noto Sans JP"/>
                <a:cs typeface="Noto Sans JP"/>
              </a:rPr>
              <a:t>01</a:t>
            </a:r>
          </a:p>
        </p:txBody>
      </p:sp>
      <p:sp>
        <p:nvSpPr>
          <p:cNvPr id="13" name="Rectangle 12"/>
          <p:cNvSpPr/>
          <p:nvPr/>
        </p:nvSpPr>
        <p:spPr>
          <a:xfrm>
            <a:off x="1912000" y="1880000"/>
            <a:ext cx="1300000" cy="3000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Noto Sans JP"/>
                <a:ea typeface="Noto Sans JP"/>
                <a:cs typeface="Noto Sans JP"/>
              </a:rPr>
              <a:t>誰に</a:t>
            </a:r>
          </a:p>
        </p:txBody>
      </p:sp>
      <p:sp>
        <p:nvSpPr>
          <p:cNvPr id="14" name="TextBox 13"/>
          <p:cNvSpPr txBox="1"/>
          <p:nvPr/>
        </p:nvSpPr>
        <p:spPr>
          <a:xfrm>
            <a:off x="3512000" y="1760000"/>
            <a:ext cx="7668000" cy="540000"/>
          </a:xfrm>
          <a:prstGeom prst="rect">
            <a:avLst/>
          </a:prstGeom>
          <a:noFill/>
        </p:spPr>
        <p:txBody>
          <a:bodyPr wrap="square" anchor="ctr" lIns="0" rIns="0" tIns="0" bIns="0">
            <a:spAutoFit/>
          </a:bodyPr>
          <a:lstStyle/>
          <a:p>
            <a:pPr algn="l">
              <a:lnSpc>
                <a:spcPct val="125000"/>
              </a:lnSpc>
            </a:pPr>
            <a:r>
              <a:rPr sz="1700" b="1">
                <a:solidFill>
                  <a:srgbClr val="2A2F33"/>
                </a:solidFill>
                <a:latin typeface="Noto Sans JP"/>
                <a:ea typeface="Noto Sans JP"/>
                <a:cs typeface="Noto Sans JP"/>
              </a:rPr>
              <a:t>「商品のすごさ」ではなく、「使った後の変化」を伝える</a:t>
            </a:r>
          </a:p>
        </p:txBody>
      </p:sp>
      <p:sp>
        <p:nvSpPr>
          <p:cNvPr id="15" name="Rectangle 14"/>
          <p:cNvSpPr/>
          <p:nvPr/>
        </p:nvSpPr>
        <p:spPr>
          <a:xfrm>
            <a:off x="762000" y="2530000"/>
            <a:ext cx="10668000" cy="760000"/>
          </a:xfrm>
          <a:prstGeom prst="rect">
            <a:avLst/>
          </a:prstGeom>
          <a:solidFill>
            <a:srgbClr val="FFFFFF"/>
          </a:solidFill>
          <a:ln w="12700">
            <a:solidFill>
              <a:srgbClr val="E6DD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62000" y="2530000"/>
            <a:ext cx="76200" cy="7600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62000" y="2640000"/>
            <a:ext cx="900000" cy="540000"/>
          </a:xfrm>
          <a:prstGeom prst="rect">
            <a:avLst/>
          </a:prstGeom>
          <a:noFill/>
        </p:spPr>
        <p:txBody>
          <a:bodyPr wrap="square" anchor="ctr" lIns="0" rIns="0" tIns="0" bIns="0">
            <a:spAutoFit/>
          </a:bodyPr>
          <a:lstStyle/>
          <a:p>
            <a:pPr algn="l">
              <a:lnSpc>
                <a:spcPct val="125000"/>
              </a:lnSpc>
            </a:pPr>
            <a:r>
              <a:rPr sz="2200" b="1">
                <a:solidFill>
                  <a:srgbClr val="D9764A"/>
                </a:solidFill>
                <a:latin typeface="Noto Sans JP"/>
                <a:ea typeface="Noto Sans JP"/>
                <a:cs typeface="Noto Sans JP"/>
              </a:rPr>
              <a:t>02</a:t>
            </a:r>
          </a:p>
        </p:txBody>
      </p:sp>
      <p:sp>
        <p:nvSpPr>
          <p:cNvPr id="18" name="Rectangle 17"/>
          <p:cNvSpPr/>
          <p:nvPr/>
        </p:nvSpPr>
        <p:spPr>
          <a:xfrm>
            <a:off x="1912000" y="2760000"/>
            <a:ext cx="1300000" cy="3000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Noto Sans JP"/>
                <a:ea typeface="Noto Sans JP"/>
                <a:cs typeface="Noto Sans JP"/>
              </a:rPr>
              <a:t>何を</a:t>
            </a:r>
          </a:p>
        </p:txBody>
      </p:sp>
      <p:sp>
        <p:nvSpPr>
          <p:cNvPr id="19" name="TextBox 18"/>
          <p:cNvSpPr txBox="1"/>
          <p:nvPr/>
        </p:nvSpPr>
        <p:spPr>
          <a:xfrm>
            <a:off x="3512000" y="2640000"/>
            <a:ext cx="7668000" cy="540000"/>
          </a:xfrm>
          <a:prstGeom prst="rect">
            <a:avLst/>
          </a:prstGeom>
          <a:noFill/>
        </p:spPr>
        <p:txBody>
          <a:bodyPr wrap="square" anchor="ctr" lIns="0" rIns="0" tIns="0" bIns="0">
            <a:spAutoFit/>
          </a:bodyPr>
          <a:lstStyle/>
          <a:p>
            <a:pPr algn="l">
              <a:lnSpc>
                <a:spcPct val="125000"/>
              </a:lnSpc>
            </a:pPr>
            <a:r>
              <a:rPr sz="1700" b="1">
                <a:solidFill>
                  <a:srgbClr val="2A2F33"/>
                </a:solidFill>
                <a:latin typeface="Noto Sans JP"/>
                <a:ea typeface="Noto Sans JP"/>
                <a:cs typeface="Noto Sans JP"/>
              </a:rPr>
              <a:t>「どこでも言える魅力」ではなく、「あなたに頼む理由」を伝える</a:t>
            </a:r>
          </a:p>
        </p:txBody>
      </p:sp>
      <p:sp>
        <p:nvSpPr>
          <p:cNvPr id="20" name="Rectangle 19"/>
          <p:cNvSpPr/>
          <p:nvPr/>
        </p:nvSpPr>
        <p:spPr>
          <a:xfrm>
            <a:off x="762000" y="3410000"/>
            <a:ext cx="10668000" cy="760000"/>
          </a:xfrm>
          <a:prstGeom prst="rect">
            <a:avLst/>
          </a:prstGeom>
          <a:solidFill>
            <a:srgbClr val="FFFFFF"/>
          </a:solidFill>
          <a:ln w="12700">
            <a:solidFill>
              <a:srgbClr val="E6DD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62000" y="3410000"/>
            <a:ext cx="76200" cy="7600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62000" y="3520000"/>
            <a:ext cx="900000" cy="540000"/>
          </a:xfrm>
          <a:prstGeom prst="rect">
            <a:avLst/>
          </a:prstGeom>
          <a:noFill/>
        </p:spPr>
        <p:txBody>
          <a:bodyPr wrap="square" anchor="ctr" lIns="0" rIns="0" tIns="0" bIns="0">
            <a:spAutoFit/>
          </a:bodyPr>
          <a:lstStyle/>
          <a:p>
            <a:pPr algn="l">
              <a:lnSpc>
                <a:spcPct val="125000"/>
              </a:lnSpc>
            </a:pPr>
            <a:r>
              <a:rPr sz="2200" b="1">
                <a:solidFill>
                  <a:srgbClr val="D9764A"/>
                </a:solidFill>
                <a:latin typeface="Noto Sans JP"/>
                <a:ea typeface="Noto Sans JP"/>
                <a:cs typeface="Noto Sans JP"/>
              </a:rPr>
              <a:t>03</a:t>
            </a:r>
          </a:p>
        </p:txBody>
      </p:sp>
      <p:sp>
        <p:nvSpPr>
          <p:cNvPr id="23" name="Rectangle 22"/>
          <p:cNvSpPr/>
          <p:nvPr/>
        </p:nvSpPr>
        <p:spPr>
          <a:xfrm>
            <a:off x="1912000" y="3640000"/>
            <a:ext cx="1300000" cy="3000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Noto Sans JP"/>
                <a:ea typeface="Noto Sans JP"/>
                <a:cs typeface="Noto Sans JP"/>
              </a:rPr>
              <a:t>どう</a:t>
            </a:r>
          </a:p>
        </p:txBody>
      </p:sp>
      <p:sp>
        <p:nvSpPr>
          <p:cNvPr id="24" name="TextBox 23"/>
          <p:cNvSpPr txBox="1"/>
          <p:nvPr/>
        </p:nvSpPr>
        <p:spPr>
          <a:xfrm>
            <a:off x="3512000" y="3520000"/>
            <a:ext cx="7668000" cy="540000"/>
          </a:xfrm>
          <a:prstGeom prst="rect">
            <a:avLst/>
          </a:prstGeom>
          <a:noFill/>
        </p:spPr>
        <p:txBody>
          <a:bodyPr wrap="square" anchor="ctr" lIns="0" rIns="0" tIns="0" bIns="0">
            <a:spAutoFit/>
          </a:bodyPr>
          <a:lstStyle/>
          <a:p>
            <a:pPr algn="l">
              <a:lnSpc>
                <a:spcPct val="125000"/>
              </a:lnSpc>
            </a:pPr>
            <a:r>
              <a:rPr sz="1700" b="1">
                <a:solidFill>
                  <a:srgbClr val="2A2F33"/>
                </a:solidFill>
                <a:latin typeface="Noto Sans JP"/>
                <a:ea typeface="Noto Sans JP"/>
                <a:cs typeface="Noto Sans JP"/>
              </a:rPr>
              <a:t>「雰囲気」ではなく、「行動したくなる言葉」で伝える</a:t>
            </a:r>
          </a:p>
        </p:txBody>
      </p:sp>
      <p:sp>
        <p:nvSpPr>
          <p:cNvPr id="25" name="Rectangle 24"/>
          <p:cNvSpPr/>
          <p:nvPr/>
        </p:nvSpPr>
        <p:spPr>
          <a:xfrm>
            <a:off x="762000" y="4290000"/>
            <a:ext cx="10668000" cy="760000"/>
          </a:xfrm>
          <a:prstGeom prst="rect">
            <a:avLst/>
          </a:prstGeom>
          <a:solidFill>
            <a:srgbClr val="FFFFFF"/>
          </a:solidFill>
          <a:ln w="12700">
            <a:solidFill>
              <a:srgbClr val="E6DD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62000" y="4290000"/>
            <a:ext cx="76200" cy="7600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62000" y="4400000"/>
            <a:ext cx="900000" cy="540000"/>
          </a:xfrm>
          <a:prstGeom prst="rect">
            <a:avLst/>
          </a:prstGeom>
          <a:noFill/>
        </p:spPr>
        <p:txBody>
          <a:bodyPr wrap="square" anchor="ctr" lIns="0" rIns="0" tIns="0" bIns="0">
            <a:spAutoFit/>
          </a:bodyPr>
          <a:lstStyle/>
          <a:p>
            <a:pPr algn="l">
              <a:lnSpc>
                <a:spcPct val="125000"/>
              </a:lnSpc>
            </a:pPr>
            <a:r>
              <a:rPr sz="2200" b="1">
                <a:solidFill>
                  <a:srgbClr val="D9764A"/>
                </a:solidFill>
                <a:latin typeface="Noto Sans JP"/>
                <a:ea typeface="Noto Sans JP"/>
                <a:cs typeface="Noto Sans JP"/>
              </a:rPr>
              <a:t>04</a:t>
            </a:r>
          </a:p>
        </p:txBody>
      </p:sp>
      <p:sp>
        <p:nvSpPr>
          <p:cNvPr id="28" name="Rectangle 27"/>
          <p:cNvSpPr/>
          <p:nvPr/>
        </p:nvSpPr>
        <p:spPr>
          <a:xfrm>
            <a:off x="1912000" y="4520000"/>
            <a:ext cx="1300000" cy="3000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Noto Sans JP"/>
                <a:ea typeface="Noto Sans JP"/>
                <a:cs typeface="Noto Sans JP"/>
              </a:rPr>
              <a:t>どこで</a:t>
            </a:r>
          </a:p>
        </p:txBody>
      </p:sp>
      <p:sp>
        <p:nvSpPr>
          <p:cNvPr id="29" name="TextBox 28"/>
          <p:cNvSpPr txBox="1"/>
          <p:nvPr/>
        </p:nvSpPr>
        <p:spPr>
          <a:xfrm>
            <a:off x="3512000" y="4400000"/>
            <a:ext cx="7668000" cy="540000"/>
          </a:xfrm>
          <a:prstGeom prst="rect">
            <a:avLst/>
          </a:prstGeom>
          <a:noFill/>
        </p:spPr>
        <p:txBody>
          <a:bodyPr wrap="square" anchor="ctr" lIns="0" rIns="0" tIns="0" bIns="0">
            <a:spAutoFit/>
          </a:bodyPr>
          <a:lstStyle/>
          <a:p>
            <a:pPr algn="l">
              <a:lnSpc>
                <a:spcPct val="125000"/>
              </a:lnSpc>
            </a:pPr>
            <a:r>
              <a:rPr sz="1700" b="1">
                <a:solidFill>
                  <a:srgbClr val="2A2F33"/>
                </a:solidFill>
                <a:latin typeface="Noto Sans JP"/>
                <a:ea typeface="Noto Sans JP"/>
                <a:cs typeface="Noto Sans JP"/>
              </a:rPr>
              <a:t>「なんとなくの場所」ではなく、「お客様がいる場所」で伝える</a:t>
            </a:r>
          </a:p>
        </p:txBody>
      </p:sp>
      <p:sp>
        <p:nvSpPr>
          <p:cNvPr id="30" name="Rectangle 29"/>
          <p:cNvSpPr/>
          <p:nvPr/>
        </p:nvSpPr>
        <p:spPr>
          <a:xfrm>
            <a:off x="762000" y="5170000"/>
            <a:ext cx="10668000" cy="760000"/>
          </a:xfrm>
          <a:prstGeom prst="rect">
            <a:avLst/>
          </a:prstGeom>
          <a:solidFill>
            <a:srgbClr val="FFFFFF"/>
          </a:solidFill>
          <a:ln w="12700">
            <a:solidFill>
              <a:srgbClr val="E6DD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62000" y="5170000"/>
            <a:ext cx="76200" cy="7600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062000" y="5280000"/>
            <a:ext cx="900000" cy="540000"/>
          </a:xfrm>
          <a:prstGeom prst="rect">
            <a:avLst/>
          </a:prstGeom>
          <a:noFill/>
        </p:spPr>
        <p:txBody>
          <a:bodyPr wrap="square" anchor="ctr" lIns="0" rIns="0" tIns="0" bIns="0">
            <a:spAutoFit/>
          </a:bodyPr>
          <a:lstStyle/>
          <a:p>
            <a:pPr algn="l">
              <a:lnSpc>
                <a:spcPct val="125000"/>
              </a:lnSpc>
            </a:pPr>
            <a:r>
              <a:rPr sz="2200" b="1">
                <a:solidFill>
                  <a:srgbClr val="D9764A"/>
                </a:solidFill>
                <a:latin typeface="Noto Sans JP"/>
                <a:ea typeface="Noto Sans JP"/>
                <a:cs typeface="Noto Sans JP"/>
              </a:rPr>
              <a:t>05</a:t>
            </a:r>
          </a:p>
        </p:txBody>
      </p:sp>
      <p:sp>
        <p:nvSpPr>
          <p:cNvPr id="33" name="Rectangle 32"/>
          <p:cNvSpPr/>
          <p:nvPr/>
        </p:nvSpPr>
        <p:spPr>
          <a:xfrm>
            <a:off x="1912000" y="5400000"/>
            <a:ext cx="1300000" cy="3000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Noto Sans JP"/>
                <a:ea typeface="Noto Sans JP"/>
                <a:cs typeface="Noto Sans JP"/>
              </a:rPr>
              <a:t>どう直す</a:t>
            </a:r>
          </a:p>
        </p:txBody>
      </p:sp>
      <p:sp>
        <p:nvSpPr>
          <p:cNvPr id="34" name="TextBox 33"/>
          <p:cNvSpPr txBox="1"/>
          <p:nvPr/>
        </p:nvSpPr>
        <p:spPr>
          <a:xfrm>
            <a:off x="3512000" y="5280000"/>
            <a:ext cx="7668000" cy="540000"/>
          </a:xfrm>
          <a:prstGeom prst="rect">
            <a:avLst/>
          </a:prstGeom>
          <a:noFill/>
        </p:spPr>
        <p:txBody>
          <a:bodyPr wrap="square" anchor="ctr" lIns="0" rIns="0" tIns="0" bIns="0">
            <a:spAutoFit/>
          </a:bodyPr>
          <a:lstStyle/>
          <a:p>
            <a:pPr algn="l">
              <a:lnSpc>
                <a:spcPct val="125000"/>
              </a:lnSpc>
            </a:pPr>
            <a:r>
              <a:rPr sz="1700" b="1">
                <a:solidFill>
                  <a:srgbClr val="2A2F33"/>
                </a:solidFill>
                <a:latin typeface="Noto Sans JP"/>
                <a:ea typeface="Noto Sans JP"/>
                <a:cs typeface="Noto Sans JP"/>
              </a:rPr>
              <a:t>「流行り」ではなく、「仮説と数字」で方針を決める</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Rectangle 1"/>
          <p:cNvSpPr/>
          <p:nvPr/>
        </p:nvSpPr>
        <p:spPr>
          <a:xfrm>
            <a:off x="0" y="0"/>
            <a:ext cx="12192000" cy="762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62000" y="600000"/>
            <a:ext cx="76200" cy="8200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92000" y="560000"/>
            <a:ext cx="10668000" cy="260000"/>
          </a:xfrm>
          <a:prstGeom prst="rect">
            <a:avLst/>
          </a:prstGeom>
          <a:noFill/>
        </p:spPr>
        <p:txBody>
          <a:bodyPr wrap="square" anchor="t" lIns="0" rIns="0" tIns="0" bIns="0">
            <a:spAutoFit/>
          </a:bodyPr>
          <a:lstStyle/>
          <a:p>
            <a:pPr algn="l">
              <a:lnSpc>
                <a:spcPct val="125000"/>
              </a:lnSpc>
            </a:pPr>
            <a:r>
              <a:rPr sz="1050" b="1">
                <a:solidFill>
                  <a:srgbClr val="145F6B"/>
                </a:solidFill>
                <a:latin typeface="Noto Sans JP"/>
                <a:ea typeface="Noto Sans JP"/>
                <a:cs typeface="Noto Sans JP"/>
              </a:rPr>
              <a:t>MY METHOD  原則 01</a:t>
            </a:r>
          </a:p>
        </p:txBody>
      </p:sp>
      <p:sp>
        <p:nvSpPr>
          <p:cNvPr id="5" name="TextBox 4"/>
          <p:cNvSpPr txBox="1"/>
          <p:nvPr/>
        </p:nvSpPr>
        <p:spPr>
          <a:xfrm>
            <a:off x="992000" y="840000"/>
            <a:ext cx="10438000" cy="600000"/>
          </a:xfrm>
          <a:prstGeom prst="rect">
            <a:avLst/>
          </a:prstGeom>
          <a:noFill/>
        </p:spPr>
        <p:txBody>
          <a:bodyPr wrap="square" anchor="t" lIns="0" rIns="0" tIns="0" bIns="0">
            <a:spAutoFit/>
          </a:bodyPr>
          <a:lstStyle/>
          <a:p>
            <a:pPr algn="l">
              <a:lnSpc>
                <a:spcPct val="125000"/>
              </a:lnSpc>
            </a:pPr>
            <a:r>
              <a:rPr sz="2600" b="1">
                <a:solidFill>
                  <a:srgbClr val="2A2F33"/>
                </a:solidFill>
                <a:latin typeface="Noto Sans JP"/>
                <a:ea typeface="Noto Sans JP"/>
                <a:cs typeface="Noto Sans JP"/>
              </a:rPr>
              <a:t>「商品のすごさ」ではなく「使った後の変化」を伝える</a:t>
            </a:r>
          </a:p>
        </p:txBody>
      </p:sp>
      <p:sp>
        <p:nvSpPr>
          <p:cNvPr id="6" name="Rectangle 5"/>
          <p:cNvSpPr/>
          <p:nvPr/>
        </p:nvSpPr>
        <p:spPr>
          <a:xfrm>
            <a:off x="762000" y="6380000"/>
            <a:ext cx="10668000" cy="9525"/>
          </a:xfrm>
          <a:prstGeom prst="rect">
            <a:avLst/>
          </a:prstGeom>
          <a:solidFill>
            <a:srgbClr val="E6DD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2000" y="6480000"/>
            <a:ext cx="4000000" cy="200000"/>
          </a:xfrm>
          <a:prstGeom prst="rect">
            <a:avLst/>
          </a:prstGeom>
          <a:noFill/>
        </p:spPr>
        <p:txBody>
          <a:bodyPr wrap="square" anchor="t" lIns="0" rIns="0" tIns="0" bIns="0">
            <a:spAutoFit/>
          </a:bodyPr>
          <a:lstStyle/>
          <a:p>
            <a:pPr algn="l">
              <a:lnSpc>
                <a:spcPct val="125000"/>
              </a:lnSpc>
            </a:pPr>
            <a:r>
              <a:rPr sz="800" b="0">
                <a:solidFill>
                  <a:srgbClr val="5F666B"/>
                </a:solidFill>
                <a:latin typeface="Noto Sans JP"/>
                <a:ea typeface="Noto Sans JP"/>
                <a:cs typeface="Noto Sans JP"/>
              </a:rPr>
              <a:t>© U-Writing All Rights Reserved.</a:t>
            </a:r>
          </a:p>
        </p:txBody>
      </p:sp>
      <p:sp>
        <p:nvSpPr>
          <p:cNvPr id="8" name="Rounded Rectangle 7"/>
          <p:cNvSpPr/>
          <p:nvPr/>
        </p:nvSpPr>
        <p:spPr>
          <a:xfrm>
            <a:off x="11010000" y="6430000"/>
            <a:ext cx="420000" cy="300000"/>
          </a:xfrm>
          <a:prstGeom prst="round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010000" y="6430000"/>
            <a:ext cx="420000" cy="300000"/>
          </a:xfrm>
          <a:prstGeom prst="rect">
            <a:avLst/>
          </a:prstGeom>
          <a:noFill/>
        </p:spPr>
        <p:txBody>
          <a:bodyPr wrap="square" anchor="ctr" lIns="0" rIns="0" tIns="0" bIns="0">
            <a:spAutoFit/>
          </a:bodyPr>
          <a:lstStyle/>
          <a:p>
            <a:pPr algn="ctr">
              <a:lnSpc>
                <a:spcPct val="125000"/>
              </a:lnSpc>
            </a:pPr>
            <a:r>
              <a:rPr sz="1100" b="1">
                <a:solidFill>
                  <a:srgbClr val="FFFFFF"/>
                </a:solidFill>
                <a:latin typeface="Noto Sans JP"/>
                <a:ea typeface="Noto Sans JP"/>
                <a:cs typeface="Noto Sans JP"/>
              </a:rPr>
              <a:t>8</a:t>
            </a:r>
          </a:p>
        </p:txBody>
      </p:sp>
      <p:pic>
        <p:nvPicPr>
          <p:cNvPr id="10" name="Picture 9" descr="lp_r1.png"/>
          <p:cNvPicPr>
            <a:picLocks noChangeAspect="1"/>
          </p:cNvPicPr>
          <p:nvPr/>
        </p:nvPicPr>
        <p:blipFill>
          <a:blip r:embed="rId3"/>
          <a:stretch>
            <a:fillRect/>
          </a:stretch>
        </p:blipFill>
        <p:spPr>
          <a:xfrm>
            <a:off x="762000" y="2049078"/>
            <a:ext cx="5400000" cy="3601844"/>
          </a:xfrm>
          <a:prstGeom prst="rect">
            <a:avLst/>
          </a:prstGeom>
          <a:ln w="12700">
            <a:solidFill>
              <a:srgbClr val="E6DDCF"/>
            </a:solidFill>
          </a:ln>
        </p:spPr>
      </p:pic>
      <p:sp>
        <p:nvSpPr>
          <p:cNvPr id="11" name="TextBox 10"/>
          <p:cNvSpPr txBox="1"/>
          <p:nvPr/>
        </p:nvSpPr>
        <p:spPr>
          <a:xfrm>
            <a:off x="6512000" y="1650000"/>
            <a:ext cx="4918000" cy="300000"/>
          </a:xfrm>
          <a:prstGeom prst="rect">
            <a:avLst/>
          </a:prstGeom>
          <a:noFill/>
        </p:spPr>
        <p:txBody>
          <a:bodyPr wrap="square" anchor="t" lIns="0" rIns="0" tIns="0" bIns="0">
            <a:spAutoFit/>
          </a:bodyPr>
          <a:lstStyle/>
          <a:p>
            <a:pPr algn="l">
              <a:lnSpc>
                <a:spcPct val="125000"/>
              </a:lnSpc>
            </a:pPr>
            <a:r>
              <a:rPr sz="1100" b="1">
                <a:solidFill>
                  <a:srgbClr val="5F666B"/>
                </a:solidFill>
                <a:latin typeface="Noto Sans JP"/>
                <a:ea typeface="Noto Sans JP"/>
                <a:cs typeface="Noto Sans JP"/>
              </a:rPr>
              <a:t>よくある失敗</a:t>
            </a:r>
          </a:p>
        </p:txBody>
      </p:sp>
      <p:sp>
        <p:nvSpPr>
          <p:cNvPr id="12" name="TextBox 11"/>
          <p:cNvSpPr txBox="1"/>
          <p:nvPr/>
        </p:nvSpPr>
        <p:spPr>
          <a:xfrm>
            <a:off x="6512000" y="1950000"/>
            <a:ext cx="4918000" cy="500000"/>
          </a:xfrm>
          <a:prstGeom prst="rect">
            <a:avLst/>
          </a:prstGeom>
          <a:noFill/>
        </p:spPr>
        <p:txBody>
          <a:bodyPr wrap="square" anchor="t" lIns="0" rIns="0" tIns="0" bIns="0">
            <a:spAutoFit/>
          </a:bodyPr>
          <a:lstStyle/>
          <a:p>
            <a:pPr algn="l">
              <a:lnSpc>
                <a:spcPct val="135000"/>
              </a:lnSpc>
            </a:pPr>
            <a:r>
              <a:rPr sz="1400" b="1">
                <a:solidFill>
                  <a:srgbClr val="5F666B"/>
                </a:solidFill>
                <a:latin typeface="Noto Sans JP"/>
                <a:ea typeface="Noto Sans JP"/>
                <a:cs typeface="Noto Sans JP"/>
              </a:rPr>
              <a:t>商品の内容や素晴らしさばかりを伝えてしまう</a:t>
            </a:r>
          </a:p>
        </p:txBody>
      </p:sp>
      <p:sp>
        <p:nvSpPr>
          <p:cNvPr id="13" name="Rectangle 12"/>
          <p:cNvSpPr/>
          <p:nvPr/>
        </p:nvSpPr>
        <p:spPr>
          <a:xfrm>
            <a:off x="6512000" y="2700000"/>
            <a:ext cx="4918000" cy="2300000"/>
          </a:xfrm>
          <a:prstGeom prst="rect">
            <a:avLst/>
          </a:prstGeom>
          <a:solidFill>
            <a:srgbClr val="F1E9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512000" y="2700000"/>
            <a:ext cx="76200" cy="23000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762000" y="2830000"/>
            <a:ext cx="4518000" cy="300000"/>
          </a:xfrm>
          <a:prstGeom prst="rect">
            <a:avLst/>
          </a:prstGeom>
          <a:noFill/>
        </p:spPr>
        <p:txBody>
          <a:bodyPr wrap="square" anchor="t" lIns="0" rIns="0" tIns="0" bIns="0">
            <a:spAutoFit/>
          </a:bodyPr>
          <a:lstStyle/>
          <a:p>
            <a:pPr algn="l">
              <a:lnSpc>
                <a:spcPct val="125000"/>
              </a:lnSpc>
            </a:pPr>
            <a:r>
              <a:rPr sz="1100" b="1">
                <a:solidFill>
                  <a:srgbClr val="145F6B"/>
                </a:solidFill>
                <a:latin typeface="Noto Sans JP"/>
                <a:ea typeface="Noto Sans JP"/>
                <a:cs typeface="Noto Sans JP"/>
              </a:rPr>
              <a:t>私はこう作る</a:t>
            </a:r>
          </a:p>
        </p:txBody>
      </p:sp>
      <p:sp>
        <p:nvSpPr>
          <p:cNvPr id="16" name="TextBox 15"/>
          <p:cNvSpPr txBox="1"/>
          <p:nvPr/>
        </p:nvSpPr>
        <p:spPr>
          <a:xfrm>
            <a:off x="6762000" y="3150000"/>
            <a:ext cx="4518000" cy="1800000"/>
          </a:xfrm>
          <a:prstGeom prst="rect">
            <a:avLst/>
          </a:prstGeom>
          <a:noFill/>
        </p:spPr>
        <p:txBody>
          <a:bodyPr wrap="square" anchor="t" lIns="0" rIns="0" tIns="0" bIns="0">
            <a:spAutoFit/>
          </a:bodyPr>
          <a:lstStyle/>
          <a:p>
            <a:pPr algn="l">
              <a:lnSpc>
                <a:spcPct val="155000"/>
              </a:lnSpc>
            </a:pPr>
            <a:r>
              <a:rPr sz="1300" b="0">
                <a:solidFill>
                  <a:srgbClr val="2A2F33"/>
                </a:solidFill>
                <a:latin typeface="Noto Sans JP"/>
                <a:ea typeface="Noto Sans JP"/>
                <a:cs typeface="Noto Sans JP"/>
              </a:rPr>
              <a:t>見込み客が知りたいのは、商品そのものより「使った自分がどう変わるか」。まずターゲットの悩みと、使った後の理想の姿を言葉にします。</a:t>
            </a:r>
          </a:p>
        </p:txBody>
      </p:sp>
      <p:sp>
        <p:nvSpPr>
          <p:cNvPr id="17" name="TextBox 16"/>
          <p:cNvSpPr txBox="1"/>
          <p:nvPr/>
        </p:nvSpPr>
        <p:spPr>
          <a:xfrm>
            <a:off x="6512000" y="5150000"/>
            <a:ext cx="4918000" cy="450000"/>
          </a:xfrm>
          <a:prstGeom prst="rect">
            <a:avLst/>
          </a:prstGeom>
          <a:noFill/>
        </p:spPr>
        <p:txBody>
          <a:bodyPr wrap="square" anchor="t" lIns="0" rIns="0" tIns="0" bIns="0">
            <a:spAutoFit/>
          </a:bodyPr>
          <a:lstStyle/>
          <a:p>
            <a:pPr algn="l">
              <a:lnSpc>
                <a:spcPct val="135000"/>
              </a:lnSpc>
            </a:pPr>
            <a:r>
              <a:rPr sz="1200" b="1">
                <a:solidFill>
                  <a:srgbClr val="2A2F33"/>
                </a:solidFill>
                <a:latin typeface="Noto Sans JP"/>
                <a:ea typeface="Noto Sans JP"/>
                <a:cs typeface="Noto Sans JP"/>
              </a:rPr>
              <a:t>薬機法で効果を言えない商品でも、「体験」や「変化」なら伝えられる。</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Rectangle 1"/>
          <p:cNvSpPr/>
          <p:nvPr/>
        </p:nvSpPr>
        <p:spPr>
          <a:xfrm>
            <a:off x="0" y="0"/>
            <a:ext cx="12192000" cy="762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62000" y="600000"/>
            <a:ext cx="76200" cy="8200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92000" y="560000"/>
            <a:ext cx="10668000" cy="260000"/>
          </a:xfrm>
          <a:prstGeom prst="rect">
            <a:avLst/>
          </a:prstGeom>
          <a:noFill/>
        </p:spPr>
        <p:txBody>
          <a:bodyPr wrap="square" anchor="t" lIns="0" rIns="0" tIns="0" bIns="0">
            <a:spAutoFit/>
          </a:bodyPr>
          <a:lstStyle/>
          <a:p>
            <a:pPr algn="l">
              <a:lnSpc>
                <a:spcPct val="125000"/>
              </a:lnSpc>
            </a:pPr>
            <a:r>
              <a:rPr sz="1050" b="1">
                <a:solidFill>
                  <a:srgbClr val="145F6B"/>
                </a:solidFill>
                <a:latin typeface="Noto Sans JP"/>
                <a:ea typeface="Noto Sans JP"/>
                <a:cs typeface="Noto Sans JP"/>
              </a:rPr>
              <a:t>MY METHOD  原則 02</a:t>
            </a:r>
          </a:p>
        </p:txBody>
      </p:sp>
      <p:sp>
        <p:nvSpPr>
          <p:cNvPr id="5" name="TextBox 4"/>
          <p:cNvSpPr txBox="1"/>
          <p:nvPr/>
        </p:nvSpPr>
        <p:spPr>
          <a:xfrm>
            <a:off x="992000" y="840000"/>
            <a:ext cx="10438000" cy="600000"/>
          </a:xfrm>
          <a:prstGeom prst="rect">
            <a:avLst/>
          </a:prstGeom>
          <a:noFill/>
        </p:spPr>
        <p:txBody>
          <a:bodyPr wrap="square" anchor="t" lIns="0" rIns="0" tIns="0" bIns="0">
            <a:spAutoFit/>
          </a:bodyPr>
          <a:lstStyle/>
          <a:p>
            <a:pPr algn="l">
              <a:lnSpc>
                <a:spcPct val="125000"/>
              </a:lnSpc>
            </a:pPr>
            <a:r>
              <a:rPr sz="2600" b="1">
                <a:solidFill>
                  <a:srgbClr val="2A2F33"/>
                </a:solidFill>
                <a:latin typeface="Noto Sans JP"/>
                <a:ea typeface="Noto Sans JP"/>
                <a:cs typeface="Noto Sans JP"/>
              </a:rPr>
              <a:t>「どこでも言える魅力」ではなく「あなたに頼む理由」を伝える</a:t>
            </a:r>
          </a:p>
        </p:txBody>
      </p:sp>
      <p:sp>
        <p:nvSpPr>
          <p:cNvPr id="6" name="Rectangle 5"/>
          <p:cNvSpPr/>
          <p:nvPr/>
        </p:nvSpPr>
        <p:spPr>
          <a:xfrm>
            <a:off x="762000" y="6380000"/>
            <a:ext cx="10668000" cy="9525"/>
          </a:xfrm>
          <a:prstGeom prst="rect">
            <a:avLst/>
          </a:prstGeom>
          <a:solidFill>
            <a:srgbClr val="E6DD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2000" y="6480000"/>
            <a:ext cx="4000000" cy="200000"/>
          </a:xfrm>
          <a:prstGeom prst="rect">
            <a:avLst/>
          </a:prstGeom>
          <a:noFill/>
        </p:spPr>
        <p:txBody>
          <a:bodyPr wrap="square" anchor="t" lIns="0" rIns="0" tIns="0" bIns="0">
            <a:spAutoFit/>
          </a:bodyPr>
          <a:lstStyle/>
          <a:p>
            <a:pPr algn="l">
              <a:lnSpc>
                <a:spcPct val="125000"/>
              </a:lnSpc>
            </a:pPr>
            <a:r>
              <a:rPr sz="800" b="0">
                <a:solidFill>
                  <a:srgbClr val="5F666B"/>
                </a:solidFill>
                <a:latin typeface="Noto Sans JP"/>
                <a:ea typeface="Noto Sans JP"/>
                <a:cs typeface="Noto Sans JP"/>
              </a:rPr>
              <a:t>© U-Writing All Rights Reserved.</a:t>
            </a:r>
          </a:p>
        </p:txBody>
      </p:sp>
      <p:sp>
        <p:nvSpPr>
          <p:cNvPr id="8" name="Rounded Rectangle 7"/>
          <p:cNvSpPr/>
          <p:nvPr/>
        </p:nvSpPr>
        <p:spPr>
          <a:xfrm>
            <a:off x="11010000" y="6430000"/>
            <a:ext cx="420000" cy="300000"/>
          </a:xfrm>
          <a:prstGeom prst="round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010000" y="6430000"/>
            <a:ext cx="420000" cy="300000"/>
          </a:xfrm>
          <a:prstGeom prst="rect">
            <a:avLst/>
          </a:prstGeom>
          <a:noFill/>
        </p:spPr>
        <p:txBody>
          <a:bodyPr wrap="square" anchor="ctr" lIns="0" rIns="0" tIns="0" bIns="0">
            <a:spAutoFit/>
          </a:bodyPr>
          <a:lstStyle/>
          <a:p>
            <a:pPr algn="ctr">
              <a:lnSpc>
                <a:spcPct val="125000"/>
              </a:lnSpc>
            </a:pPr>
            <a:r>
              <a:rPr sz="1100" b="1">
                <a:solidFill>
                  <a:srgbClr val="FFFFFF"/>
                </a:solidFill>
                <a:latin typeface="Noto Sans JP"/>
                <a:ea typeface="Noto Sans JP"/>
                <a:cs typeface="Noto Sans JP"/>
              </a:rPr>
              <a:t>9</a:t>
            </a:r>
          </a:p>
        </p:txBody>
      </p:sp>
      <p:pic>
        <p:nvPicPr>
          <p:cNvPr id="10" name="Picture 9" descr="lp_r2.png"/>
          <p:cNvPicPr>
            <a:picLocks noChangeAspect="1"/>
          </p:cNvPicPr>
          <p:nvPr/>
        </p:nvPicPr>
        <p:blipFill>
          <a:blip r:embed="rId3"/>
          <a:stretch>
            <a:fillRect/>
          </a:stretch>
        </p:blipFill>
        <p:spPr>
          <a:xfrm>
            <a:off x="762000" y="1641914"/>
            <a:ext cx="5400000" cy="4416171"/>
          </a:xfrm>
          <a:prstGeom prst="rect">
            <a:avLst/>
          </a:prstGeom>
          <a:ln w="12700">
            <a:solidFill>
              <a:srgbClr val="E6DDCF"/>
            </a:solidFill>
          </a:ln>
        </p:spPr>
      </p:pic>
      <p:sp>
        <p:nvSpPr>
          <p:cNvPr id="11" name="TextBox 10"/>
          <p:cNvSpPr txBox="1"/>
          <p:nvPr/>
        </p:nvSpPr>
        <p:spPr>
          <a:xfrm>
            <a:off x="6512000" y="1650000"/>
            <a:ext cx="4918000" cy="300000"/>
          </a:xfrm>
          <a:prstGeom prst="rect">
            <a:avLst/>
          </a:prstGeom>
          <a:noFill/>
        </p:spPr>
        <p:txBody>
          <a:bodyPr wrap="square" anchor="t" lIns="0" rIns="0" tIns="0" bIns="0">
            <a:spAutoFit/>
          </a:bodyPr>
          <a:lstStyle/>
          <a:p>
            <a:pPr algn="l">
              <a:lnSpc>
                <a:spcPct val="125000"/>
              </a:lnSpc>
            </a:pPr>
            <a:r>
              <a:rPr sz="1100" b="1">
                <a:solidFill>
                  <a:srgbClr val="5F666B"/>
                </a:solidFill>
                <a:latin typeface="Noto Sans JP"/>
                <a:ea typeface="Noto Sans JP"/>
                <a:cs typeface="Noto Sans JP"/>
              </a:rPr>
              <a:t>よくある失敗</a:t>
            </a:r>
          </a:p>
        </p:txBody>
      </p:sp>
      <p:sp>
        <p:nvSpPr>
          <p:cNvPr id="12" name="TextBox 11"/>
          <p:cNvSpPr txBox="1"/>
          <p:nvPr/>
        </p:nvSpPr>
        <p:spPr>
          <a:xfrm>
            <a:off x="6512000" y="1950000"/>
            <a:ext cx="4918000" cy="500000"/>
          </a:xfrm>
          <a:prstGeom prst="rect">
            <a:avLst/>
          </a:prstGeom>
          <a:noFill/>
        </p:spPr>
        <p:txBody>
          <a:bodyPr wrap="square" anchor="t" lIns="0" rIns="0" tIns="0" bIns="0">
            <a:spAutoFit/>
          </a:bodyPr>
          <a:lstStyle/>
          <a:p>
            <a:pPr algn="l">
              <a:lnSpc>
                <a:spcPct val="135000"/>
              </a:lnSpc>
            </a:pPr>
            <a:r>
              <a:rPr sz="1400" b="1">
                <a:solidFill>
                  <a:srgbClr val="5F666B"/>
                </a:solidFill>
                <a:latin typeface="Noto Sans JP"/>
                <a:ea typeface="Noto Sans JP"/>
                <a:cs typeface="Noto Sans JP"/>
              </a:rPr>
              <a:t>類似サービスと変わらない魅力を伝えてしまう</a:t>
            </a:r>
          </a:p>
        </p:txBody>
      </p:sp>
      <p:sp>
        <p:nvSpPr>
          <p:cNvPr id="13" name="Rectangle 12"/>
          <p:cNvSpPr/>
          <p:nvPr/>
        </p:nvSpPr>
        <p:spPr>
          <a:xfrm>
            <a:off x="6512000" y="2700000"/>
            <a:ext cx="4918000" cy="2300000"/>
          </a:xfrm>
          <a:prstGeom prst="rect">
            <a:avLst/>
          </a:prstGeom>
          <a:solidFill>
            <a:srgbClr val="F1E9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512000" y="2700000"/>
            <a:ext cx="76200" cy="23000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762000" y="2830000"/>
            <a:ext cx="4518000" cy="300000"/>
          </a:xfrm>
          <a:prstGeom prst="rect">
            <a:avLst/>
          </a:prstGeom>
          <a:noFill/>
        </p:spPr>
        <p:txBody>
          <a:bodyPr wrap="square" anchor="t" lIns="0" rIns="0" tIns="0" bIns="0">
            <a:spAutoFit/>
          </a:bodyPr>
          <a:lstStyle/>
          <a:p>
            <a:pPr algn="l">
              <a:lnSpc>
                <a:spcPct val="125000"/>
              </a:lnSpc>
            </a:pPr>
            <a:r>
              <a:rPr sz="1100" b="1">
                <a:solidFill>
                  <a:srgbClr val="145F6B"/>
                </a:solidFill>
                <a:latin typeface="Noto Sans JP"/>
                <a:ea typeface="Noto Sans JP"/>
                <a:cs typeface="Noto Sans JP"/>
              </a:rPr>
              <a:t>私はこう作る</a:t>
            </a:r>
          </a:p>
        </p:txBody>
      </p:sp>
      <p:sp>
        <p:nvSpPr>
          <p:cNvPr id="16" name="TextBox 15"/>
          <p:cNvSpPr txBox="1"/>
          <p:nvPr/>
        </p:nvSpPr>
        <p:spPr>
          <a:xfrm>
            <a:off x="6762000" y="3150000"/>
            <a:ext cx="4518000" cy="1800000"/>
          </a:xfrm>
          <a:prstGeom prst="rect">
            <a:avLst/>
          </a:prstGeom>
          <a:noFill/>
        </p:spPr>
        <p:txBody>
          <a:bodyPr wrap="square" anchor="t" lIns="0" rIns="0" tIns="0" bIns="0">
            <a:spAutoFit/>
          </a:bodyPr>
          <a:lstStyle/>
          <a:p>
            <a:pPr algn="l">
              <a:lnSpc>
                <a:spcPct val="155000"/>
              </a:lnSpc>
            </a:pPr>
            <a:r>
              <a:rPr sz="1300" b="0">
                <a:solidFill>
                  <a:srgbClr val="2A2F33"/>
                </a:solidFill>
                <a:latin typeface="Noto Sans JP"/>
                <a:ea typeface="Noto Sans JP"/>
                <a:cs typeface="Noto Sans JP"/>
              </a:rPr>
              <a:t>「スピード」「安心」「丁寧」はどこでも言える。経歴・実績・想いを掘り起こして、「あなただけの理由」を言葉にします。</a:t>
            </a:r>
          </a:p>
        </p:txBody>
      </p:sp>
      <p:sp>
        <p:nvSpPr>
          <p:cNvPr id="17" name="TextBox 16"/>
          <p:cNvSpPr txBox="1"/>
          <p:nvPr/>
        </p:nvSpPr>
        <p:spPr>
          <a:xfrm>
            <a:off x="6512000" y="5150000"/>
            <a:ext cx="4918000" cy="450000"/>
          </a:xfrm>
          <a:prstGeom prst="rect">
            <a:avLst/>
          </a:prstGeom>
          <a:noFill/>
        </p:spPr>
        <p:txBody>
          <a:bodyPr wrap="square" anchor="t" lIns="0" rIns="0" tIns="0" bIns="0">
            <a:spAutoFit/>
          </a:bodyPr>
          <a:lstStyle/>
          <a:p>
            <a:pPr algn="l">
              <a:lnSpc>
                <a:spcPct val="135000"/>
              </a:lnSpc>
            </a:pPr>
            <a:r>
              <a:rPr sz="1200" b="1">
                <a:solidFill>
                  <a:srgbClr val="2A2F33"/>
                </a:solidFill>
                <a:latin typeface="Noto Sans JP"/>
                <a:ea typeface="Noto Sans JP"/>
                <a:cs typeface="Noto Sans JP"/>
              </a:rPr>
              <a:t>ご本人が当たり前だと思っていることほど、強みになる。</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Rectangle 1"/>
          <p:cNvSpPr/>
          <p:nvPr/>
        </p:nvSpPr>
        <p:spPr>
          <a:xfrm>
            <a:off x="0" y="0"/>
            <a:ext cx="12192000" cy="762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62000" y="600000"/>
            <a:ext cx="76200" cy="8200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92000" y="560000"/>
            <a:ext cx="10668000" cy="260000"/>
          </a:xfrm>
          <a:prstGeom prst="rect">
            <a:avLst/>
          </a:prstGeom>
          <a:noFill/>
        </p:spPr>
        <p:txBody>
          <a:bodyPr wrap="square" anchor="t" lIns="0" rIns="0" tIns="0" bIns="0">
            <a:spAutoFit/>
          </a:bodyPr>
          <a:lstStyle/>
          <a:p>
            <a:pPr algn="l">
              <a:lnSpc>
                <a:spcPct val="125000"/>
              </a:lnSpc>
            </a:pPr>
            <a:r>
              <a:rPr sz="1050" b="1">
                <a:solidFill>
                  <a:srgbClr val="145F6B"/>
                </a:solidFill>
                <a:latin typeface="Noto Sans JP"/>
                <a:ea typeface="Noto Sans JP"/>
                <a:cs typeface="Noto Sans JP"/>
              </a:rPr>
              <a:t>MY METHOD  原則 03</a:t>
            </a:r>
          </a:p>
        </p:txBody>
      </p:sp>
      <p:sp>
        <p:nvSpPr>
          <p:cNvPr id="5" name="TextBox 4"/>
          <p:cNvSpPr txBox="1"/>
          <p:nvPr/>
        </p:nvSpPr>
        <p:spPr>
          <a:xfrm>
            <a:off x="992000" y="840000"/>
            <a:ext cx="10438000" cy="600000"/>
          </a:xfrm>
          <a:prstGeom prst="rect">
            <a:avLst/>
          </a:prstGeom>
          <a:noFill/>
        </p:spPr>
        <p:txBody>
          <a:bodyPr wrap="square" anchor="t" lIns="0" rIns="0" tIns="0" bIns="0">
            <a:spAutoFit/>
          </a:bodyPr>
          <a:lstStyle/>
          <a:p>
            <a:pPr algn="l">
              <a:lnSpc>
                <a:spcPct val="125000"/>
              </a:lnSpc>
            </a:pPr>
            <a:r>
              <a:rPr sz="2600" b="1">
                <a:solidFill>
                  <a:srgbClr val="2A2F33"/>
                </a:solidFill>
                <a:latin typeface="Noto Sans JP"/>
                <a:ea typeface="Noto Sans JP"/>
                <a:cs typeface="Noto Sans JP"/>
              </a:rPr>
              <a:t>「雰囲気」ではなく「行動したくなる言葉」で伝える</a:t>
            </a:r>
          </a:p>
        </p:txBody>
      </p:sp>
      <p:sp>
        <p:nvSpPr>
          <p:cNvPr id="6" name="Rectangle 5"/>
          <p:cNvSpPr/>
          <p:nvPr/>
        </p:nvSpPr>
        <p:spPr>
          <a:xfrm>
            <a:off x="762000" y="6380000"/>
            <a:ext cx="10668000" cy="9525"/>
          </a:xfrm>
          <a:prstGeom prst="rect">
            <a:avLst/>
          </a:prstGeom>
          <a:solidFill>
            <a:srgbClr val="E6DD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2000" y="6480000"/>
            <a:ext cx="4000000" cy="200000"/>
          </a:xfrm>
          <a:prstGeom prst="rect">
            <a:avLst/>
          </a:prstGeom>
          <a:noFill/>
        </p:spPr>
        <p:txBody>
          <a:bodyPr wrap="square" anchor="t" lIns="0" rIns="0" tIns="0" bIns="0">
            <a:spAutoFit/>
          </a:bodyPr>
          <a:lstStyle/>
          <a:p>
            <a:pPr algn="l">
              <a:lnSpc>
                <a:spcPct val="125000"/>
              </a:lnSpc>
            </a:pPr>
            <a:r>
              <a:rPr sz="800" b="0">
                <a:solidFill>
                  <a:srgbClr val="5F666B"/>
                </a:solidFill>
                <a:latin typeface="Noto Sans JP"/>
                <a:ea typeface="Noto Sans JP"/>
                <a:cs typeface="Noto Sans JP"/>
              </a:rPr>
              <a:t>© U-Writing All Rights Reserved.</a:t>
            </a:r>
          </a:p>
        </p:txBody>
      </p:sp>
      <p:sp>
        <p:nvSpPr>
          <p:cNvPr id="8" name="Rounded Rectangle 7"/>
          <p:cNvSpPr/>
          <p:nvPr/>
        </p:nvSpPr>
        <p:spPr>
          <a:xfrm>
            <a:off x="11010000" y="6430000"/>
            <a:ext cx="420000" cy="300000"/>
          </a:xfrm>
          <a:prstGeom prst="round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010000" y="6430000"/>
            <a:ext cx="420000" cy="300000"/>
          </a:xfrm>
          <a:prstGeom prst="rect">
            <a:avLst/>
          </a:prstGeom>
          <a:noFill/>
        </p:spPr>
        <p:txBody>
          <a:bodyPr wrap="square" anchor="ctr" lIns="0" rIns="0" tIns="0" bIns="0">
            <a:spAutoFit/>
          </a:bodyPr>
          <a:lstStyle/>
          <a:p>
            <a:pPr algn="ctr">
              <a:lnSpc>
                <a:spcPct val="125000"/>
              </a:lnSpc>
            </a:pPr>
            <a:r>
              <a:rPr sz="1100" b="1">
                <a:solidFill>
                  <a:srgbClr val="FFFFFF"/>
                </a:solidFill>
                <a:latin typeface="Noto Sans JP"/>
                <a:ea typeface="Noto Sans JP"/>
                <a:cs typeface="Noto Sans JP"/>
              </a:rPr>
              <a:t>10</a:t>
            </a:r>
          </a:p>
        </p:txBody>
      </p:sp>
      <p:pic>
        <p:nvPicPr>
          <p:cNvPr id="10" name="Picture 9" descr="lp_r3.png"/>
          <p:cNvPicPr>
            <a:picLocks noChangeAspect="1"/>
          </p:cNvPicPr>
          <p:nvPr/>
        </p:nvPicPr>
        <p:blipFill>
          <a:blip r:embed="rId3"/>
          <a:stretch>
            <a:fillRect/>
          </a:stretch>
        </p:blipFill>
        <p:spPr>
          <a:xfrm>
            <a:off x="762000" y="1600000"/>
            <a:ext cx="5166274" cy="4499999"/>
          </a:xfrm>
          <a:prstGeom prst="rect">
            <a:avLst/>
          </a:prstGeom>
          <a:ln w="12700">
            <a:solidFill>
              <a:srgbClr val="E6DDCF"/>
            </a:solidFill>
          </a:ln>
        </p:spPr>
      </p:pic>
      <p:sp>
        <p:nvSpPr>
          <p:cNvPr id="11" name="TextBox 10"/>
          <p:cNvSpPr txBox="1"/>
          <p:nvPr/>
        </p:nvSpPr>
        <p:spPr>
          <a:xfrm>
            <a:off x="6278274" y="1650000"/>
            <a:ext cx="5151726" cy="300000"/>
          </a:xfrm>
          <a:prstGeom prst="rect">
            <a:avLst/>
          </a:prstGeom>
          <a:noFill/>
        </p:spPr>
        <p:txBody>
          <a:bodyPr wrap="square" anchor="t" lIns="0" rIns="0" tIns="0" bIns="0">
            <a:spAutoFit/>
          </a:bodyPr>
          <a:lstStyle/>
          <a:p>
            <a:pPr algn="l">
              <a:lnSpc>
                <a:spcPct val="125000"/>
              </a:lnSpc>
            </a:pPr>
            <a:r>
              <a:rPr sz="1100" b="1">
                <a:solidFill>
                  <a:srgbClr val="5F666B"/>
                </a:solidFill>
                <a:latin typeface="Noto Sans JP"/>
                <a:ea typeface="Noto Sans JP"/>
                <a:cs typeface="Noto Sans JP"/>
              </a:rPr>
              <a:t>よくある失敗</a:t>
            </a:r>
          </a:p>
        </p:txBody>
      </p:sp>
      <p:sp>
        <p:nvSpPr>
          <p:cNvPr id="12" name="TextBox 11"/>
          <p:cNvSpPr txBox="1"/>
          <p:nvPr/>
        </p:nvSpPr>
        <p:spPr>
          <a:xfrm>
            <a:off x="6278274" y="1950000"/>
            <a:ext cx="5151726" cy="500000"/>
          </a:xfrm>
          <a:prstGeom prst="rect">
            <a:avLst/>
          </a:prstGeom>
          <a:noFill/>
        </p:spPr>
        <p:txBody>
          <a:bodyPr wrap="square" anchor="t" lIns="0" rIns="0" tIns="0" bIns="0">
            <a:spAutoFit/>
          </a:bodyPr>
          <a:lstStyle/>
          <a:p>
            <a:pPr algn="l">
              <a:lnSpc>
                <a:spcPct val="135000"/>
              </a:lnSpc>
            </a:pPr>
            <a:r>
              <a:rPr sz="1400" b="1">
                <a:solidFill>
                  <a:srgbClr val="5F666B"/>
                </a:solidFill>
                <a:latin typeface="Noto Sans JP"/>
                <a:ea typeface="Noto Sans JP"/>
                <a:cs typeface="Noto Sans JP"/>
              </a:rPr>
              <a:t>デザインや雰囲気を重視して広告を作ってしまう</a:t>
            </a:r>
          </a:p>
        </p:txBody>
      </p:sp>
      <p:sp>
        <p:nvSpPr>
          <p:cNvPr id="13" name="Rectangle 12"/>
          <p:cNvSpPr/>
          <p:nvPr/>
        </p:nvSpPr>
        <p:spPr>
          <a:xfrm>
            <a:off x="6278274" y="2700000"/>
            <a:ext cx="5151726" cy="2300000"/>
          </a:xfrm>
          <a:prstGeom prst="rect">
            <a:avLst/>
          </a:prstGeom>
          <a:solidFill>
            <a:srgbClr val="F1E9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78274" y="2700000"/>
            <a:ext cx="76200" cy="23000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28274" y="2830000"/>
            <a:ext cx="4751726" cy="300000"/>
          </a:xfrm>
          <a:prstGeom prst="rect">
            <a:avLst/>
          </a:prstGeom>
          <a:noFill/>
        </p:spPr>
        <p:txBody>
          <a:bodyPr wrap="square" anchor="t" lIns="0" rIns="0" tIns="0" bIns="0">
            <a:spAutoFit/>
          </a:bodyPr>
          <a:lstStyle/>
          <a:p>
            <a:pPr algn="l">
              <a:lnSpc>
                <a:spcPct val="125000"/>
              </a:lnSpc>
            </a:pPr>
            <a:r>
              <a:rPr sz="1100" b="1">
                <a:solidFill>
                  <a:srgbClr val="145F6B"/>
                </a:solidFill>
                <a:latin typeface="Noto Sans JP"/>
                <a:ea typeface="Noto Sans JP"/>
                <a:cs typeface="Noto Sans JP"/>
              </a:rPr>
              <a:t>私はこう作る</a:t>
            </a:r>
          </a:p>
        </p:txBody>
      </p:sp>
      <p:sp>
        <p:nvSpPr>
          <p:cNvPr id="16" name="TextBox 15"/>
          <p:cNvSpPr txBox="1"/>
          <p:nvPr/>
        </p:nvSpPr>
        <p:spPr>
          <a:xfrm>
            <a:off x="6528274" y="3150000"/>
            <a:ext cx="4751726" cy="1800000"/>
          </a:xfrm>
          <a:prstGeom prst="rect">
            <a:avLst/>
          </a:prstGeom>
          <a:noFill/>
        </p:spPr>
        <p:txBody>
          <a:bodyPr wrap="square" anchor="t" lIns="0" rIns="0" tIns="0" bIns="0">
            <a:spAutoFit/>
          </a:bodyPr>
          <a:lstStyle/>
          <a:p>
            <a:pPr algn="l">
              <a:lnSpc>
                <a:spcPct val="155000"/>
              </a:lnSpc>
            </a:pPr>
            <a:r>
              <a:rPr sz="1300" b="0">
                <a:solidFill>
                  <a:srgbClr val="2A2F33"/>
                </a:solidFill>
                <a:latin typeface="Noto Sans JP"/>
                <a:ea typeface="Noto Sans JP"/>
                <a:cs typeface="Noto Sans JP"/>
              </a:rPr>
              <a:t>おしゃれでも、言葉が弱ければ人は動かない。先に「読んだ人に何をしてほしいか」と、そのための言葉を決め、デザインはそれを届ける器にします。</a:t>
            </a:r>
          </a:p>
        </p:txBody>
      </p:sp>
      <p:sp>
        <p:nvSpPr>
          <p:cNvPr id="17" name="TextBox 16"/>
          <p:cNvSpPr txBox="1"/>
          <p:nvPr/>
        </p:nvSpPr>
        <p:spPr>
          <a:xfrm>
            <a:off x="6278274" y="5150000"/>
            <a:ext cx="5151726" cy="450000"/>
          </a:xfrm>
          <a:prstGeom prst="rect">
            <a:avLst/>
          </a:prstGeom>
          <a:noFill/>
        </p:spPr>
        <p:txBody>
          <a:bodyPr wrap="square" anchor="t" lIns="0" rIns="0" tIns="0" bIns="0">
            <a:spAutoFit/>
          </a:bodyPr>
          <a:lstStyle/>
          <a:p>
            <a:pPr algn="l">
              <a:lnSpc>
                <a:spcPct val="135000"/>
              </a:lnSpc>
            </a:pPr>
            <a:r>
              <a:rPr sz="1200" b="1">
                <a:solidFill>
                  <a:srgbClr val="2A2F33"/>
                </a:solidFill>
                <a:latin typeface="Noto Sans JP"/>
                <a:ea typeface="Noto Sans JP"/>
                <a:cs typeface="Noto Sans JP"/>
              </a:rPr>
              <a:t>※商品によっては、デザイン重視が正解の場合もあります。</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Rectangle 1"/>
          <p:cNvSpPr/>
          <p:nvPr/>
        </p:nvSpPr>
        <p:spPr>
          <a:xfrm>
            <a:off x="0" y="0"/>
            <a:ext cx="12192000" cy="762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62000" y="600000"/>
            <a:ext cx="76200" cy="8200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92000" y="560000"/>
            <a:ext cx="10668000" cy="260000"/>
          </a:xfrm>
          <a:prstGeom prst="rect">
            <a:avLst/>
          </a:prstGeom>
          <a:noFill/>
        </p:spPr>
        <p:txBody>
          <a:bodyPr wrap="square" anchor="t" lIns="0" rIns="0" tIns="0" bIns="0">
            <a:spAutoFit/>
          </a:bodyPr>
          <a:lstStyle/>
          <a:p>
            <a:pPr algn="l">
              <a:lnSpc>
                <a:spcPct val="125000"/>
              </a:lnSpc>
            </a:pPr>
            <a:r>
              <a:rPr sz="1050" b="1">
                <a:solidFill>
                  <a:srgbClr val="145F6B"/>
                </a:solidFill>
                <a:latin typeface="Noto Sans JP"/>
                <a:ea typeface="Noto Sans JP"/>
                <a:cs typeface="Noto Sans JP"/>
              </a:rPr>
              <a:t>MY METHOD  原則 04</a:t>
            </a:r>
          </a:p>
        </p:txBody>
      </p:sp>
      <p:sp>
        <p:nvSpPr>
          <p:cNvPr id="5" name="TextBox 4"/>
          <p:cNvSpPr txBox="1"/>
          <p:nvPr/>
        </p:nvSpPr>
        <p:spPr>
          <a:xfrm>
            <a:off x="992000" y="840000"/>
            <a:ext cx="10438000" cy="600000"/>
          </a:xfrm>
          <a:prstGeom prst="rect">
            <a:avLst/>
          </a:prstGeom>
          <a:noFill/>
        </p:spPr>
        <p:txBody>
          <a:bodyPr wrap="square" anchor="t" lIns="0" rIns="0" tIns="0" bIns="0">
            <a:spAutoFit/>
          </a:bodyPr>
          <a:lstStyle/>
          <a:p>
            <a:pPr algn="l">
              <a:lnSpc>
                <a:spcPct val="125000"/>
              </a:lnSpc>
            </a:pPr>
            <a:r>
              <a:rPr sz="2600" b="1">
                <a:solidFill>
                  <a:srgbClr val="2A2F33"/>
                </a:solidFill>
                <a:latin typeface="Noto Sans JP"/>
                <a:ea typeface="Noto Sans JP"/>
                <a:cs typeface="Noto Sans JP"/>
              </a:rPr>
              <a:t>「なんとなくの場所」ではなく「お客様がいる場所」で伝える</a:t>
            </a:r>
          </a:p>
        </p:txBody>
      </p:sp>
      <p:sp>
        <p:nvSpPr>
          <p:cNvPr id="6" name="Rectangle 5"/>
          <p:cNvSpPr/>
          <p:nvPr/>
        </p:nvSpPr>
        <p:spPr>
          <a:xfrm>
            <a:off x="762000" y="6380000"/>
            <a:ext cx="10668000" cy="9525"/>
          </a:xfrm>
          <a:prstGeom prst="rect">
            <a:avLst/>
          </a:prstGeom>
          <a:solidFill>
            <a:srgbClr val="E6DD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2000" y="6480000"/>
            <a:ext cx="4000000" cy="200000"/>
          </a:xfrm>
          <a:prstGeom prst="rect">
            <a:avLst/>
          </a:prstGeom>
          <a:noFill/>
        </p:spPr>
        <p:txBody>
          <a:bodyPr wrap="square" anchor="t" lIns="0" rIns="0" tIns="0" bIns="0">
            <a:spAutoFit/>
          </a:bodyPr>
          <a:lstStyle/>
          <a:p>
            <a:pPr algn="l">
              <a:lnSpc>
                <a:spcPct val="125000"/>
              </a:lnSpc>
            </a:pPr>
            <a:r>
              <a:rPr sz="800" b="0">
                <a:solidFill>
                  <a:srgbClr val="5F666B"/>
                </a:solidFill>
                <a:latin typeface="Noto Sans JP"/>
                <a:ea typeface="Noto Sans JP"/>
                <a:cs typeface="Noto Sans JP"/>
              </a:rPr>
              <a:t>© U-Writing All Rights Reserved.</a:t>
            </a:r>
          </a:p>
        </p:txBody>
      </p:sp>
      <p:sp>
        <p:nvSpPr>
          <p:cNvPr id="8" name="Rounded Rectangle 7"/>
          <p:cNvSpPr/>
          <p:nvPr/>
        </p:nvSpPr>
        <p:spPr>
          <a:xfrm>
            <a:off x="11010000" y="6430000"/>
            <a:ext cx="420000" cy="300000"/>
          </a:xfrm>
          <a:prstGeom prst="round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010000" y="6430000"/>
            <a:ext cx="420000" cy="300000"/>
          </a:xfrm>
          <a:prstGeom prst="rect">
            <a:avLst/>
          </a:prstGeom>
          <a:noFill/>
        </p:spPr>
        <p:txBody>
          <a:bodyPr wrap="square" anchor="ctr" lIns="0" rIns="0" tIns="0" bIns="0">
            <a:spAutoFit/>
          </a:bodyPr>
          <a:lstStyle/>
          <a:p>
            <a:pPr algn="ctr">
              <a:lnSpc>
                <a:spcPct val="125000"/>
              </a:lnSpc>
            </a:pPr>
            <a:r>
              <a:rPr sz="1100" b="1">
                <a:solidFill>
                  <a:srgbClr val="FFFFFF"/>
                </a:solidFill>
                <a:latin typeface="Noto Sans JP"/>
                <a:ea typeface="Noto Sans JP"/>
                <a:cs typeface="Noto Sans JP"/>
              </a:rPr>
              <a:t>11</a:t>
            </a:r>
          </a:p>
        </p:txBody>
      </p:sp>
      <p:pic>
        <p:nvPicPr>
          <p:cNvPr id="10" name="Picture 9" descr="lp_r4.png"/>
          <p:cNvPicPr>
            <a:picLocks noChangeAspect="1"/>
          </p:cNvPicPr>
          <p:nvPr/>
        </p:nvPicPr>
        <p:blipFill>
          <a:blip r:embed="rId3"/>
          <a:stretch>
            <a:fillRect/>
          </a:stretch>
        </p:blipFill>
        <p:spPr>
          <a:xfrm>
            <a:off x="762000" y="1627607"/>
            <a:ext cx="5400000" cy="4444785"/>
          </a:xfrm>
          <a:prstGeom prst="rect">
            <a:avLst/>
          </a:prstGeom>
          <a:ln w="12700">
            <a:solidFill>
              <a:srgbClr val="E6DDCF"/>
            </a:solidFill>
          </a:ln>
        </p:spPr>
      </p:pic>
      <p:sp>
        <p:nvSpPr>
          <p:cNvPr id="11" name="TextBox 10"/>
          <p:cNvSpPr txBox="1"/>
          <p:nvPr/>
        </p:nvSpPr>
        <p:spPr>
          <a:xfrm>
            <a:off x="6512000" y="1650000"/>
            <a:ext cx="4918000" cy="300000"/>
          </a:xfrm>
          <a:prstGeom prst="rect">
            <a:avLst/>
          </a:prstGeom>
          <a:noFill/>
        </p:spPr>
        <p:txBody>
          <a:bodyPr wrap="square" anchor="t" lIns="0" rIns="0" tIns="0" bIns="0">
            <a:spAutoFit/>
          </a:bodyPr>
          <a:lstStyle/>
          <a:p>
            <a:pPr algn="l">
              <a:lnSpc>
                <a:spcPct val="125000"/>
              </a:lnSpc>
            </a:pPr>
            <a:r>
              <a:rPr sz="1100" b="1">
                <a:solidFill>
                  <a:srgbClr val="5F666B"/>
                </a:solidFill>
                <a:latin typeface="Noto Sans JP"/>
                <a:ea typeface="Noto Sans JP"/>
                <a:cs typeface="Noto Sans JP"/>
              </a:rPr>
              <a:t>よくある失敗</a:t>
            </a:r>
          </a:p>
        </p:txBody>
      </p:sp>
      <p:sp>
        <p:nvSpPr>
          <p:cNvPr id="12" name="TextBox 11"/>
          <p:cNvSpPr txBox="1"/>
          <p:nvPr/>
        </p:nvSpPr>
        <p:spPr>
          <a:xfrm>
            <a:off x="6512000" y="1950000"/>
            <a:ext cx="4918000" cy="500000"/>
          </a:xfrm>
          <a:prstGeom prst="rect">
            <a:avLst/>
          </a:prstGeom>
          <a:noFill/>
        </p:spPr>
        <p:txBody>
          <a:bodyPr wrap="square" anchor="t" lIns="0" rIns="0" tIns="0" bIns="0">
            <a:spAutoFit/>
          </a:bodyPr>
          <a:lstStyle/>
          <a:p>
            <a:pPr algn="l">
              <a:lnSpc>
                <a:spcPct val="135000"/>
              </a:lnSpc>
            </a:pPr>
            <a:r>
              <a:rPr sz="1400" b="1">
                <a:solidFill>
                  <a:srgbClr val="5F666B"/>
                </a:solidFill>
                <a:latin typeface="Noto Sans JP"/>
                <a:ea typeface="Noto Sans JP"/>
                <a:cs typeface="Noto Sans JP"/>
              </a:rPr>
              <a:t>ターゲットが少ない場所で集客を続けてしまう</a:t>
            </a:r>
          </a:p>
        </p:txBody>
      </p:sp>
      <p:sp>
        <p:nvSpPr>
          <p:cNvPr id="13" name="Rectangle 12"/>
          <p:cNvSpPr/>
          <p:nvPr/>
        </p:nvSpPr>
        <p:spPr>
          <a:xfrm>
            <a:off x="6512000" y="2700000"/>
            <a:ext cx="4918000" cy="2300000"/>
          </a:xfrm>
          <a:prstGeom prst="rect">
            <a:avLst/>
          </a:prstGeom>
          <a:solidFill>
            <a:srgbClr val="F1E9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512000" y="2700000"/>
            <a:ext cx="76200" cy="23000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762000" y="2830000"/>
            <a:ext cx="4518000" cy="300000"/>
          </a:xfrm>
          <a:prstGeom prst="rect">
            <a:avLst/>
          </a:prstGeom>
          <a:noFill/>
        </p:spPr>
        <p:txBody>
          <a:bodyPr wrap="square" anchor="t" lIns="0" rIns="0" tIns="0" bIns="0">
            <a:spAutoFit/>
          </a:bodyPr>
          <a:lstStyle/>
          <a:p>
            <a:pPr algn="l">
              <a:lnSpc>
                <a:spcPct val="125000"/>
              </a:lnSpc>
            </a:pPr>
            <a:r>
              <a:rPr sz="1100" b="1">
                <a:solidFill>
                  <a:srgbClr val="145F6B"/>
                </a:solidFill>
                <a:latin typeface="Noto Sans JP"/>
                <a:ea typeface="Noto Sans JP"/>
                <a:cs typeface="Noto Sans JP"/>
              </a:rPr>
              <a:t>私はこう作る</a:t>
            </a:r>
          </a:p>
        </p:txBody>
      </p:sp>
      <p:sp>
        <p:nvSpPr>
          <p:cNvPr id="16" name="TextBox 15"/>
          <p:cNvSpPr txBox="1"/>
          <p:nvPr/>
        </p:nvSpPr>
        <p:spPr>
          <a:xfrm>
            <a:off x="6762000" y="3150000"/>
            <a:ext cx="4518000" cy="1800000"/>
          </a:xfrm>
          <a:prstGeom prst="rect">
            <a:avLst/>
          </a:prstGeom>
          <a:noFill/>
        </p:spPr>
        <p:txBody>
          <a:bodyPr wrap="square" anchor="t" lIns="0" rIns="0" tIns="0" bIns="0">
            <a:spAutoFit/>
          </a:bodyPr>
          <a:lstStyle/>
          <a:p>
            <a:pPr algn="l">
              <a:lnSpc>
                <a:spcPct val="155000"/>
              </a:lnSpc>
            </a:pPr>
            <a:r>
              <a:rPr sz="1300" b="0">
                <a:solidFill>
                  <a:srgbClr val="2A2F33"/>
                </a:solidFill>
                <a:latin typeface="Noto Sans JP"/>
                <a:ea typeface="Noto Sans JP"/>
                <a:cs typeface="Noto Sans JP"/>
              </a:rPr>
              <a:t>どんなに良い広告でも、必要とする人がいない場所では反応は出ない。お客様が実際にいる媒体・地域・タイミングを選んでから作ります。</a:t>
            </a:r>
          </a:p>
        </p:txBody>
      </p:sp>
      <p:sp>
        <p:nvSpPr>
          <p:cNvPr id="17" name="TextBox 16"/>
          <p:cNvSpPr txBox="1"/>
          <p:nvPr/>
        </p:nvSpPr>
        <p:spPr>
          <a:xfrm>
            <a:off x="6512000" y="5150000"/>
            <a:ext cx="4918000" cy="450000"/>
          </a:xfrm>
          <a:prstGeom prst="rect">
            <a:avLst/>
          </a:prstGeom>
          <a:noFill/>
        </p:spPr>
        <p:txBody>
          <a:bodyPr wrap="square" anchor="t" lIns="0" rIns="0" tIns="0" bIns="0">
            <a:spAutoFit/>
          </a:bodyPr>
          <a:lstStyle/>
          <a:p>
            <a:pPr algn="l">
              <a:lnSpc>
                <a:spcPct val="135000"/>
              </a:lnSpc>
            </a:pPr>
            <a:r>
              <a:rPr sz="1200" b="1">
                <a:solidFill>
                  <a:srgbClr val="2A2F33"/>
                </a:solidFill>
                <a:latin typeface="Noto Sans JP"/>
                <a:ea typeface="Noto Sans JP"/>
                <a:cs typeface="Noto Sans JP"/>
              </a:rPr>
              <a:t>LP・Meta広告・LINEなど、媒体の組み合わせまで設計する。</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Rectangle 1"/>
          <p:cNvSpPr/>
          <p:nvPr/>
        </p:nvSpPr>
        <p:spPr>
          <a:xfrm>
            <a:off x="0" y="0"/>
            <a:ext cx="12192000" cy="762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62000" y="600000"/>
            <a:ext cx="76200" cy="8200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92000" y="560000"/>
            <a:ext cx="10668000" cy="260000"/>
          </a:xfrm>
          <a:prstGeom prst="rect">
            <a:avLst/>
          </a:prstGeom>
          <a:noFill/>
        </p:spPr>
        <p:txBody>
          <a:bodyPr wrap="square" anchor="t" lIns="0" rIns="0" tIns="0" bIns="0">
            <a:spAutoFit/>
          </a:bodyPr>
          <a:lstStyle/>
          <a:p>
            <a:pPr algn="l">
              <a:lnSpc>
                <a:spcPct val="125000"/>
              </a:lnSpc>
            </a:pPr>
            <a:r>
              <a:rPr sz="1050" b="1">
                <a:solidFill>
                  <a:srgbClr val="145F6B"/>
                </a:solidFill>
                <a:latin typeface="Noto Sans JP"/>
                <a:ea typeface="Noto Sans JP"/>
                <a:cs typeface="Noto Sans JP"/>
              </a:rPr>
              <a:t>MY METHOD  原則 05</a:t>
            </a:r>
          </a:p>
        </p:txBody>
      </p:sp>
      <p:sp>
        <p:nvSpPr>
          <p:cNvPr id="5" name="TextBox 4"/>
          <p:cNvSpPr txBox="1"/>
          <p:nvPr/>
        </p:nvSpPr>
        <p:spPr>
          <a:xfrm>
            <a:off x="992000" y="840000"/>
            <a:ext cx="10438000" cy="600000"/>
          </a:xfrm>
          <a:prstGeom prst="rect">
            <a:avLst/>
          </a:prstGeom>
          <a:noFill/>
        </p:spPr>
        <p:txBody>
          <a:bodyPr wrap="square" anchor="t" lIns="0" rIns="0" tIns="0" bIns="0">
            <a:spAutoFit/>
          </a:bodyPr>
          <a:lstStyle/>
          <a:p>
            <a:pPr algn="l">
              <a:lnSpc>
                <a:spcPct val="125000"/>
              </a:lnSpc>
            </a:pPr>
            <a:r>
              <a:rPr sz="2600" b="1">
                <a:solidFill>
                  <a:srgbClr val="2A2F33"/>
                </a:solidFill>
                <a:latin typeface="Noto Sans JP"/>
                <a:ea typeface="Noto Sans JP"/>
                <a:cs typeface="Noto Sans JP"/>
              </a:rPr>
              <a:t>「流行り」ではなく「仮説と数字」で方針を決める</a:t>
            </a:r>
          </a:p>
        </p:txBody>
      </p:sp>
      <p:sp>
        <p:nvSpPr>
          <p:cNvPr id="6" name="Rectangle 5"/>
          <p:cNvSpPr/>
          <p:nvPr/>
        </p:nvSpPr>
        <p:spPr>
          <a:xfrm>
            <a:off x="762000" y="6380000"/>
            <a:ext cx="10668000" cy="9525"/>
          </a:xfrm>
          <a:prstGeom prst="rect">
            <a:avLst/>
          </a:prstGeom>
          <a:solidFill>
            <a:srgbClr val="E6DD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2000" y="6480000"/>
            <a:ext cx="4000000" cy="200000"/>
          </a:xfrm>
          <a:prstGeom prst="rect">
            <a:avLst/>
          </a:prstGeom>
          <a:noFill/>
        </p:spPr>
        <p:txBody>
          <a:bodyPr wrap="square" anchor="t" lIns="0" rIns="0" tIns="0" bIns="0">
            <a:spAutoFit/>
          </a:bodyPr>
          <a:lstStyle/>
          <a:p>
            <a:pPr algn="l">
              <a:lnSpc>
                <a:spcPct val="125000"/>
              </a:lnSpc>
            </a:pPr>
            <a:r>
              <a:rPr sz="800" b="0">
                <a:solidFill>
                  <a:srgbClr val="5F666B"/>
                </a:solidFill>
                <a:latin typeface="Noto Sans JP"/>
                <a:ea typeface="Noto Sans JP"/>
                <a:cs typeface="Noto Sans JP"/>
              </a:rPr>
              <a:t>© U-Writing All Rights Reserved.</a:t>
            </a:r>
          </a:p>
        </p:txBody>
      </p:sp>
      <p:sp>
        <p:nvSpPr>
          <p:cNvPr id="8" name="Rounded Rectangle 7"/>
          <p:cNvSpPr/>
          <p:nvPr/>
        </p:nvSpPr>
        <p:spPr>
          <a:xfrm>
            <a:off x="11010000" y="6430000"/>
            <a:ext cx="420000" cy="300000"/>
          </a:xfrm>
          <a:prstGeom prst="round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010000" y="6430000"/>
            <a:ext cx="420000" cy="300000"/>
          </a:xfrm>
          <a:prstGeom prst="rect">
            <a:avLst/>
          </a:prstGeom>
          <a:noFill/>
        </p:spPr>
        <p:txBody>
          <a:bodyPr wrap="square" anchor="ctr" lIns="0" rIns="0" tIns="0" bIns="0">
            <a:spAutoFit/>
          </a:bodyPr>
          <a:lstStyle/>
          <a:p>
            <a:pPr algn="ctr">
              <a:lnSpc>
                <a:spcPct val="125000"/>
              </a:lnSpc>
            </a:pPr>
            <a:r>
              <a:rPr sz="1100" b="1">
                <a:solidFill>
                  <a:srgbClr val="FFFFFF"/>
                </a:solidFill>
                <a:latin typeface="Noto Sans JP"/>
                <a:ea typeface="Noto Sans JP"/>
                <a:cs typeface="Noto Sans JP"/>
              </a:rPr>
              <a:t>12</a:t>
            </a:r>
          </a:p>
        </p:txBody>
      </p:sp>
      <p:pic>
        <p:nvPicPr>
          <p:cNvPr id="10" name="Picture 9" descr="lp_r5.png"/>
          <p:cNvPicPr>
            <a:picLocks noChangeAspect="1"/>
          </p:cNvPicPr>
          <p:nvPr/>
        </p:nvPicPr>
        <p:blipFill>
          <a:blip r:embed="rId3"/>
          <a:stretch>
            <a:fillRect/>
          </a:stretch>
        </p:blipFill>
        <p:spPr>
          <a:xfrm>
            <a:off x="762000" y="1752456"/>
            <a:ext cx="5400000" cy="4195087"/>
          </a:xfrm>
          <a:prstGeom prst="rect">
            <a:avLst/>
          </a:prstGeom>
          <a:ln w="12700">
            <a:solidFill>
              <a:srgbClr val="E6DDCF"/>
            </a:solidFill>
          </a:ln>
        </p:spPr>
      </p:pic>
      <p:sp>
        <p:nvSpPr>
          <p:cNvPr id="11" name="TextBox 10"/>
          <p:cNvSpPr txBox="1"/>
          <p:nvPr/>
        </p:nvSpPr>
        <p:spPr>
          <a:xfrm>
            <a:off x="6512000" y="1650000"/>
            <a:ext cx="4918000" cy="300000"/>
          </a:xfrm>
          <a:prstGeom prst="rect">
            <a:avLst/>
          </a:prstGeom>
          <a:noFill/>
        </p:spPr>
        <p:txBody>
          <a:bodyPr wrap="square" anchor="t" lIns="0" rIns="0" tIns="0" bIns="0">
            <a:spAutoFit/>
          </a:bodyPr>
          <a:lstStyle/>
          <a:p>
            <a:pPr algn="l">
              <a:lnSpc>
                <a:spcPct val="125000"/>
              </a:lnSpc>
            </a:pPr>
            <a:r>
              <a:rPr sz="1100" b="1">
                <a:solidFill>
                  <a:srgbClr val="5F666B"/>
                </a:solidFill>
                <a:latin typeface="Noto Sans JP"/>
                <a:ea typeface="Noto Sans JP"/>
                <a:cs typeface="Noto Sans JP"/>
              </a:rPr>
              <a:t>よくある失敗</a:t>
            </a:r>
          </a:p>
        </p:txBody>
      </p:sp>
      <p:sp>
        <p:nvSpPr>
          <p:cNvPr id="12" name="TextBox 11"/>
          <p:cNvSpPr txBox="1"/>
          <p:nvPr/>
        </p:nvSpPr>
        <p:spPr>
          <a:xfrm>
            <a:off x="6512000" y="1950000"/>
            <a:ext cx="4918000" cy="500000"/>
          </a:xfrm>
          <a:prstGeom prst="rect">
            <a:avLst/>
          </a:prstGeom>
          <a:noFill/>
        </p:spPr>
        <p:txBody>
          <a:bodyPr wrap="square" anchor="t" lIns="0" rIns="0" tIns="0" bIns="0">
            <a:spAutoFit/>
          </a:bodyPr>
          <a:lstStyle/>
          <a:p>
            <a:pPr algn="l">
              <a:lnSpc>
                <a:spcPct val="135000"/>
              </a:lnSpc>
            </a:pPr>
            <a:r>
              <a:rPr sz="1400" b="1">
                <a:solidFill>
                  <a:srgbClr val="5F666B"/>
                </a:solidFill>
                <a:latin typeface="Noto Sans JP"/>
                <a:ea typeface="Noto Sans JP"/>
                <a:cs typeface="Noto Sans JP"/>
              </a:rPr>
              <a:t>何も考えずに集客方針を決めてしまう</a:t>
            </a:r>
          </a:p>
        </p:txBody>
      </p:sp>
      <p:sp>
        <p:nvSpPr>
          <p:cNvPr id="13" name="Rectangle 12"/>
          <p:cNvSpPr/>
          <p:nvPr/>
        </p:nvSpPr>
        <p:spPr>
          <a:xfrm>
            <a:off x="6512000" y="2700000"/>
            <a:ext cx="4918000" cy="2300000"/>
          </a:xfrm>
          <a:prstGeom prst="rect">
            <a:avLst/>
          </a:prstGeom>
          <a:solidFill>
            <a:srgbClr val="F1E9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512000" y="2700000"/>
            <a:ext cx="76200" cy="23000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762000" y="2830000"/>
            <a:ext cx="4518000" cy="300000"/>
          </a:xfrm>
          <a:prstGeom prst="rect">
            <a:avLst/>
          </a:prstGeom>
          <a:noFill/>
        </p:spPr>
        <p:txBody>
          <a:bodyPr wrap="square" anchor="t" lIns="0" rIns="0" tIns="0" bIns="0">
            <a:spAutoFit/>
          </a:bodyPr>
          <a:lstStyle/>
          <a:p>
            <a:pPr algn="l">
              <a:lnSpc>
                <a:spcPct val="125000"/>
              </a:lnSpc>
            </a:pPr>
            <a:r>
              <a:rPr sz="1100" b="1">
                <a:solidFill>
                  <a:srgbClr val="145F6B"/>
                </a:solidFill>
                <a:latin typeface="Noto Sans JP"/>
                <a:ea typeface="Noto Sans JP"/>
                <a:cs typeface="Noto Sans JP"/>
              </a:rPr>
              <a:t>私はこう作る</a:t>
            </a:r>
          </a:p>
        </p:txBody>
      </p:sp>
      <p:sp>
        <p:nvSpPr>
          <p:cNvPr id="16" name="TextBox 15"/>
          <p:cNvSpPr txBox="1"/>
          <p:nvPr/>
        </p:nvSpPr>
        <p:spPr>
          <a:xfrm>
            <a:off x="6762000" y="3150000"/>
            <a:ext cx="4518000" cy="1800000"/>
          </a:xfrm>
          <a:prstGeom prst="rect">
            <a:avLst/>
          </a:prstGeom>
          <a:noFill/>
        </p:spPr>
        <p:txBody>
          <a:bodyPr wrap="square" anchor="t" lIns="0" rIns="0" tIns="0" bIns="0">
            <a:spAutoFit/>
          </a:bodyPr>
          <a:lstStyle/>
          <a:p>
            <a:pPr algn="l">
              <a:lnSpc>
                <a:spcPct val="155000"/>
              </a:lnSpc>
            </a:pPr>
            <a:r>
              <a:rPr sz="1300" b="0">
                <a:solidFill>
                  <a:srgbClr val="2A2F33"/>
                </a:solidFill>
                <a:latin typeface="Noto Sans JP"/>
                <a:ea typeface="Noto Sans JP"/>
                <a:cs typeface="Noto Sans JP"/>
              </a:rPr>
              <a:t>流行りを追うだけだと、結果を見ても何を直せばいいか分からない。「これで何人来るはず」という仮説を立てて始め、数字を見て一つずつ直します。</a:t>
            </a:r>
          </a:p>
        </p:txBody>
      </p:sp>
      <p:sp>
        <p:nvSpPr>
          <p:cNvPr id="17" name="TextBox 16"/>
          <p:cNvSpPr txBox="1"/>
          <p:nvPr/>
        </p:nvSpPr>
        <p:spPr>
          <a:xfrm>
            <a:off x="6512000" y="5150000"/>
            <a:ext cx="4918000" cy="450000"/>
          </a:xfrm>
          <a:prstGeom prst="rect">
            <a:avLst/>
          </a:prstGeom>
          <a:noFill/>
        </p:spPr>
        <p:txBody>
          <a:bodyPr wrap="square" anchor="t" lIns="0" rIns="0" tIns="0" bIns="0">
            <a:spAutoFit/>
          </a:bodyPr>
          <a:lstStyle/>
          <a:p>
            <a:pPr algn="l">
              <a:lnSpc>
                <a:spcPct val="135000"/>
              </a:lnSpc>
            </a:pPr>
            <a:r>
              <a:rPr sz="1200" b="1">
                <a:solidFill>
                  <a:srgbClr val="2A2F33"/>
                </a:solidFill>
                <a:latin typeface="Noto Sans JP"/>
                <a:ea typeface="Noto Sans JP"/>
                <a:cs typeface="Noto Sans JP"/>
              </a:rPr>
              <a:t>作って終わりではなく、改善まで伴走する。</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Rectangle 1"/>
          <p:cNvSpPr/>
          <p:nvPr/>
        </p:nvSpPr>
        <p:spPr>
          <a:xfrm>
            <a:off x="0" y="0"/>
            <a:ext cx="12192000" cy="762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62000" y="600000"/>
            <a:ext cx="76200" cy="8200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92000" y="560000"/>
            <a:ext cx="10668000" cy="260000"/>
          </a:xfrm>
          <a:prstGeom prst="rect">
            <a:avLst/>
          </a:prstGeom>
          <a:noFill/>
        </p:spPr>
        <p:txBody>
          <a:bodyPr wrap="square" anchor="t" lIns="0" rIns="0" tIns="0" bIns="0">
            <a:spAutoFit/>
          </a:bodyPr>
          <a:lstStyle/>
          <a:p>
            <a:pPr algn="l">
              <a:lnSpc>
                <a:spcPct val="125000"/>
              </a:lnSpc>
            </a:pPr>
            <a:r>
              <a:rPr sz="1050" b="1">
                <a:solidFill>
                  <a:srgbClr val="145F6B"/>
                </a:solidFill>
                <a:latin typeface="Noto Sans JP"/>
                <a:ea typeface="Noto Sans JP"/>
                <a:cs typeface="Noto Sans JP"/>
              </a:rPr>
              <a:t>SERVICE</a:t>
            </a:r>
          </a:p>
        </p:txBody>
      </p:sp>
      <p:sp>
        <p:nvSpPr>
          <p:cNvPr id="5" name="TextBox 4"/>
          <p:cNvSpPr txBox="1"/>
          <p:nvPr/>
        </p:nvSpPr>
        <p:spPr>
          <a:xfrm>
            <a:off x="992000" y="840000"/>
            <a:ext cx="10438000" cy="600000"/>
          </a:xfrm>
          <a:prstGeom prst="rect">
            <a:avLst/>
          </a:prstGeom>
          <a:noFill/>
        </p:spPr>
        <p:txBody>
          <a:bodyPr wrap="square" anchor="t" lIns="0" rIns="0" tIns="0" bIns="0">
            <a:spAutoFit/>
          </a:bodyPr>
          <a:lstStyle/>
          <a:p>
            <a:pPr algn="l">
              <a:lnSpc>
                <a:spcPct val="125000"/>
              </a:lnSpc>
            </a:pPr>
            <a:r>
              <a:rPr sz="2600" b="1">
                <a:solidFill>
                  <a:srgbClr val="2A2F33"/>
                </a:solidFill>
                <a:latin typeface="Noto Sans JP"/>
                <a:ea typeface="Noto Sans JP"/>
                <a:cs typeface="Noto Sans JP"/>
              </a:rPr>
              <a:t>提供しているサービス</a:t>
            </a:r>
          </a:p>
        </p:txBody>
      </p:sp>
      <p:sp>
        <p:nvSpPr>
          <p:cNvPr id="6" name="Rectangle 5"/>
          <p:cNvSpPr/>
          <p:nvPr/>
        </p:nvSpPr>
        <p:spPr>
          <a:xfrm>
            <a:off x="762000" y="6380000"/>
            <a:ext cx="10668000" cy="9525"/>
          </a:xfrm>
          <a:prstGeom prst="rect">
            <a:avLst/>
          </a:prstGeom>
          <a:solidFill>
            <a:srgbClr val="E6DD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2000" y="6480000"/>
            <a:ext cx="4000000" cy="200000"/>
          </a:xfrm>
          <a:prstGeom prst="rect">
            <a:avLst/>
          </a:prstGeom>
          <a:noFill/>
        </p:spPr>
        <p:txBody>
          <a:bodyPr wrap="square" anchor="t" lIns="0" rIns="0" tIns="0" bIns="0">
            <a:spAutoFit/>
          </a:bodyPr>
          <a:lstStyle/>
          <a:p>
            <a:pPr algn="l">
              <a:lnSpc>
                <a:spcPct val="125000"/>
              </a:lnSpc>
            </a:pPr>
            <a:r>
              <a:rPr sz="800" b="0">
                <a:solidFill>
                  <a:srgbClr val="5F666B"/>
                </a:solidFill>
                <a:latin typeface="Noto Sans JP"/>
                <a:ea typeface="Noto Sans JP"/>
                <a:cs typeface="Noto Sans JP"/>
              </a:rPr>
              <a:t>© U-Writing All Rights Reserved.</a:t>
            </a:r>
          </a:p>
        </p:txBody>
      </p:sp>
      <p:sp>
        <p:nvSpPr>
          <p:cNvPr id="8" name="Rounded Rectangle 7"/>
          <p:cNvSpPr/>
          <p:nvPr/>
        </p:nvSpPr>
        <p:spPr>
          <a:xfrm>
            <a:off x="11010000" y="6430000"/>
            <a:ext cx="420000" cy="300000"/>
          </a:xfrm>
          <a:prstGeom prst="round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010000" y="6430000"/>
            <a:ext cx="420000" cy="300000"/>
          </a:xfrm>
          <a:prstGeom prst="rect">
            <a:avLst/>
          </a:prstGeom>
          <a:noFill/>
        </p:spPr>
        <p:txBody>
          <a:bodyPr wrap="square" anchor="ctr" lIns="0" rIns="0" tIns="0" bIns="0">
            <a:spAutoFit/>
          </a:bodyPr>
          <a:lstStyle/>
          <a:p>
            <a:pPr algn="ctr">
              <a:lnSpc>
                <a:spcPct val="125000"/>
              </a:lnSpc>
            </a:pPr>
            <a:r>
              <a:rPr sz="1100" b="1">
                <a:solidFill>
                  <a:srgbClr val="FFFFFF"/>
                </a:solidFill>
                <a:latin typeface="Noto Sans JP"/>
                <a:ea typeface="Noto Sans JP"/>
                <a:cs typeface="Noto Sans JP"/>
              </a:rPr>
              <a:t>13</a:t>
            </a:r>
          </a:p>
        </p:txBody>
      </p:sp>
      <p:sp>
        <p:nvSpPr>
          <p:cNvPr id="10" name="Rectangle 9"/>
          <p:cNvSpPr/>
          <p:nvPr/>
        </p:nvSpPr>
        <p:spPr>
          <a:xfrm>
            <a:off x="762000" y="1650000"/>
            <a:ext cx="5180000" cy="4500000"/>
          </a:xfrm>
          <a:prstGeom prst="rect">
            <a:avLst/>
          </a:prstGeom>
          <a:solidFill>
            <a:srgbClr val="FFFFFF"/>
          </a:solidFill>
          <a:ln w="12700">
            <a:solidFill>
              <a:srgbClr val="E6DD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62000" y="1650000"/>
            <a:ext cx="5180000" cy="1000000"/>
          </a:xfrm>
          <a:prstGeom prst="rect">
            <a:avLst/>
          </a:prstGeom>
          <a:solidFill>
            <a:srgbClr val="2A2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112000" y="1780000"/>
            <a:ext cx="3500000" cy="300000"/>
          </a:xfrm>
          <a:prstGeom prst="rect">
            <a:avLst/>
          </a:prstGeom>
          <a:noFill/>
        </p:spPr>
        <p:txBody>
          <a:bodyPr wrap="square" anchor="t" lIns="0" rIns="0" tIns="0" bIns="0">
            <a:spAutoFit/>
          </a:bodyPr>
          <a:lstStyle/>
          <a:p>
            <a:pPr algn="l">
              <a:lnSpc>
                <a:spcPct val="125000"/>
              </a:lnSpc>
            </a:pPr>
            <a:r>
              <a:rPr sz="1200" b="1">
                <a:solidFill>
                  <a:srgbClr val="FFFFFF"/>
                </a:solidFill>
                <a:latin typeface="Noto Sans JP"/>
                <a:ea typeface="Noto Sans JP"/>
                <a:cs typeface="Noto Sans JP"/>
              </a:rPr>
              <a:t>制作代行サービス</a:t>
            </a:r>
          </a:p>
        </p:txBody>
      </p:sp>
      <p:sp>
        <p:nvSpPr>
          <p:cNvPr id="13" name="TextBox 12"/>
          <p:cNvSpPr txBox="1"/>
          <p:nvPr/>
        </p:nvSpPr>
        <p:spPr>
          <a:xfrm>
            <a:off x="1112000" y="2080000"/>
            <a:ext cx="3500000" cy="500000"/>
          </a:xfrm>
          <a:prstGeom prst="rect">
            <a:avLst/>
          </a:prstGeom>
          <a:noFill/>
        </p:spPr>
        <p:txBody>
          <a:bodyPr wrap="square" anchor="t" lIns="0" rIns="0" tIns="0" bIns="0">
            <a:spAutoFit/>
          </a:bodyPr>
          <a:lstStyle/>
          <a:p>
            <a:pPr algn="l">
              <a:lnSpc>
                <a:spcPct val="125000"/>
              </a:lnSpc>
            </a:pPr>
            <a:r>
              <a:rPr sz="2600" b="1">
                <a:solidFill>
                  <a:srgbClr val="FFFFFF"/>
                </a:solidFill>
                <a:latin typeface="Noto Sans JP"/>
                <a:ea typeface="Noto Sans JP"/>
                <a:cs typeface="Noto Sans JP"/>
              </a:rPr>
              <a:t>カワリミ</a:t>
            </a:r>
          </a:p>
        </p:txBody>
      </p:sp>
      <p:pic>
        <p:nvPicPr>
          <p:cNvPr id="14" name="Picture 13" descr="icon_kawarimi.png"/>
          <p:cNvPicPr>
            <a:picLocks noChangeAspect="1"/>
          </p:cNvPicPr>
          <p:nvPr/>
        </p:nvPicPr>
        <p:blipFill>
          <a:blip r:embed="rId3"/>
          <a:stretch>
            <a:fillRect/>
          </a:stretch>
        </p:blipFill>
        <p:spPr>
          <a:xfrm>
            <a:off x="4692000" y="1450000"/>
            <a:ext cx="1100000" cy="1100000"/>
          </a:xfrm>
          <a:prstGeom prst="rect">
            <a:avLst/>
          </a:prstGeom>
        </p:spPr>
      </p:pic>
      <p:sp>
        <p:nvSpPr>
          <p:cNvPr id="15" name="Rectangle 14"/>
          <p:cNvSpPr/>
          <p:nvPr/>
        </p:nvSpPr>
        <p:spPr>
          <a:xfrm>
            <a:off x="1112000" y="2900000"/>
            <a:ext cx="4480000" cy="300000"/>
          </a:xfrm>
          <a:prstGeom prst="rect">
            <a:avLst/>
          </a:prstGeom>
          <a:solidFill>
            <a:srgbClr val="F1E9D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2A2F33"/>
                </a:solidFill>
                <a:latin typeface="Noto Sans JP"/>
                <a:ea typeface="Noto Sans JP"/>
                <a:cs typeface="Noto Sans JP"/>
              </a:rPr>
              <a:t>作る時間がない方に（制作）</a:t>
            </a:r>
          </a:p>
        </p:txBody>
      </p:sp>
      <p:sp>
        <p:nvSpPr>
          <p:cNvPr id="16" name="TextBox 15"/>
          <p:cNvSpPr txBox="1"/>
          <p:nvPr/>
        </p:nvSpPr>
        <p:spPr>
          <a:xfrm>
            <a:off x="1112000" y="3450000"/>
            <a:ext cx="4480000" cy="1600000"/>
          </a:xfrm>
          <a:prstGeom prst="rect">
            <a:avLst/>
          </a:prstGeom>
          <a:noFill/>
        </p:spPr>
        <p:txBody>
          <a:bodyPr wrap="square" anchor="t" lIns="0" rIns="0" tIns="0" bIns="0">
            <a:spAutoFit/>
          </a:bodyPr>
          <a:lstStyle/>
          <a:p>
            <a:pPr algn="l">
              <a:lnSpc>
                <a:spcPct val="160000"/>
              </a:lnSpc>
            </a:pPr>
            <a:r>
              <a:rPr sz="1300" b="0">
                <a:solidFill>
                  <a:srgbClr val="5F666B"/>
                </a:solidFill>
                <a:latin typeface="Noto Sans JP"/>
                <a:ea typeface="Noto Sans JP"/>
                <a:cs typeface="Noto Sans JP"/>
              </a:rPr>
              <a:t>✓ LP・HP制作／ライティング</a:t>
            </a:r>
          </a:p>
          <a:p>
            <a:pPr algn="l">
              <a:lnSpc>
                <a:spcPct val="160000"/>
              </a:lnSpc>
            </a:pPr>
            <a:r>
              <a:rPr sz="1300" b="0">
                <a:solidFill>
                  <a:srgbClr val="5F666B"/>
                </a:solidFill>
                <a:latin typeface="Noto Sans JP"/>
                <a:ea typeface="Noto Sans JP"/>
                <a:cs typeface="Noto Sans JP"/>
              </a:rPr>
              <a:t>✓ 公式LINE構築・運用</a:t>
            </a:r>
          </a:p>
          <a:p>
            <a:pPr algn="l">
              <a:lnSpc>
                <a:spcPct val="160000"/>
              </a:lnSpc>
            </a:pPr>
            <a:r>
              <a:rPr sz="1300" b="0">
                <a:solidFill>
                  <a:srgbClr val="5F666B"/>
                </a:solidFill>
                <a:latin typeface="Noto Sans JP"/>
                <a:ea typeface="Noto Sans JP"/>
                <a:cs typeface="Noto Sans JP"/>
              </a:rPr>
              <a:t>✓ Meta広告運用</a:t>
            </a:r>
          </a:p>
          <a:p>
            <a:pPr algn="l">
              <a:lnSpc>
                <a:spcPct val="160000"/>
              </a:lnSpc>
            </a:pPr>
            <a:r>
              <a:rPr sz="1300" b="0">
                <a:solidFill>
                  <a:srgbClr val="5F666B"/>
                </a:solidFill>
                <a:latin typeface="Noto Sans JP"/>
                <a:ea typeface="Noto Sans JP"/>
                <a:cs typeface="Noto Sans JP"/>
              </a:rPr>
              <a:t>✓ チラシ・営業資料など</a:t>
            </a:r>
          </a:p>
        </p:txBody>
      </p:sp>
      <p:sp>
        <p:nvSpPr>
          <p:cNvPr id="17" name="Rectangle 16"/>
          <p:cNvSpPr/>
          <p:nvPr/>
        </p:nvSpPr>
        <p:spPr>
          <a:xfrm>
            <a:off x="1112000" y="5250000"/>
            <a:ext cx="4480000" cy="9525"/>
          </a:xfrm>
          <a:prstGeom prst="rect">
            <a:avLst/>
          </a:prstGeom>
          <a:solidFill>
            <a:srgbClr val="E6DD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112000" y="5400000"/>
            <a:ext cx="4480000" cy="500000"/>
          </a:xfrm>
          <a:prstGeom prst="rect">
            <a:avLst/>
          </a:prstGeom>
          <a:noFill/>
        </p:spPr>
        <p:txBody>
          <a:bodyPr wrap="square" anchor="t" lIns="0" rIns="0" tIns="0" bIns="0">
            <a:spAutoFit/>
          </a:bodyPr>
          <a:lstStyle/>
          <a:p>
            <a:pPr algn="r">
              <a:lnSpc>
                <a:spcPct val="125000"/>
              </a:lnSpc>
            </a:pPr>
            <a:r>
              <a:rPr sz="2000" b="1">
                <a:solidFill>
                  <a:srgbClr val="D9764A"/>
                </a:solidFill>
                <a:latin typeface="Noto Sans JP"/>
                <a:ea typeface="Noto Sans JP"/>
                <a:cs typeface="Noto Sans JP"/>
              </a:rPr>
              <a:t>単発 5,000円〜</a:t>
            </a:r>
          </a:p>
        </p:txBody>
      </p:sp>
      <p:sp>
        <p:nvSpPr>
          <p:cNvPr id="19" name="Rectangle 18"/>
          <p:cNvSpPr/>
          <p:nvPr/>
        </p:nvSpPr>
        <p:spPr>
          <a:xfrm>
            <a:off x="6250000" y="1650000"/>
            <a:ext cx="5180000" cy="4500000"/>
          </a:xfrm>
          <a:prstGeom prst="rect">
            <a:avLst/>
          </a:prstGeom>
          <a:solidFill>
            <a:srgbClr val="FFFFFF"/>
          </a:solidFill>
          <a:ln w="12700">
            <a:solidFill>
              <a:srgbClr val="E6DD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50000" y="1650000"/>
            <a:ext cx="5180000" cy="10000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600000" y="1780000"/>
            <a:ext cx="3500000" cy="300000"/>
          </a:xfrm>
          <a:prstGeom prst="rect">
            <a:avLst/>
          </a:prstGeom>
          <a:noFill/>
        </p:spPr>
        <p:txBody>
          <a:bodyPr wrap="square" anchor="t" lIns="0" rIns="0" tIns="0" bIns="0">
            <a:spAutoFit/>
          </a:bodyPr>
          <a:lstStyle/>
          <a:p>
            <a:pPr algn="l">
              <a:lnSpc>
                <a:spcPct val="125000"/>
              </a:lnSpc>
            </a:pPr>
            <a:r>
              <a:rPr sz="1200" b="1">
                <a:solidFill>
                  <a:srgbClr val="FFFFFF"/>
                </a:solidFill>
                <a:latin typeface="Noto Sans JP"/>
                <a:ea typeface="Noto Sans JP"/>
                <a:cs typeface="Noto Sans JP"/>
              </a:rPr>
              <a:t>集客顧問サービス</a:t>
            </a:r>
          </a:p>
        </p:txBody>
      </p:sp>
      <p:sp>
        <p:nvSpPr>
          <p:cNvPr id="22" name="TextBox 21"/>
          <p:cNvSpPr txBox="1"/>
          <p:nvPr/>
        </p:nvSpPr>
        <p:spPr>
          <a:xfrm>
            <a:off x="6600000" y="2080000"/>
            <a:ext cx="3500000" cy="500000"/>
          </a:xfrm>
          <a:prstGeom prst="rect">
            <a:avLst/>
          </a:prstGeom>
          <a:noFill/>
        </p:spPr>
        <p:txBody>
          <a:bodyPr wrap="square" anchor="t" lIns="0" rIns="0" tIns="0" bIns="0">
            <a:spAutoFit/>
          </a:bodyPr>
          <a:lstStyle/>
          <a:p>
            <a:pPr algn="l">
              <a:lnSpc>
                <a:spcPct val="125000"/>
              </a:lnSpc>
            </a:pPr>
            <a:r>
              <a:rPr sz="2600" b="1">
                <a:solidFill>
                  <a:srgbClr val="FFFFFF"/>
                </a:solidFill>
                <a:latin typeface="Noto Sans JP"/>
                <a:ea typeface="Noto Sans JP"/>
                <a:cs typeface="Noto Sans JP"/>
              </a:rPr>
              <a:t>ミチスジ</a:t>
            </a:r>
          </a:p>
        </p:txBody>
      </p:sp>
      <p:pic>
        <p:nvPicPr>
          <p:cNvPr id="23" name="Picture 22" descr="icon_michisuji.png"/>
          <p:cNvPicPr>
            <a:picLocks noChangeAspect="1"/>
          </p:cNvPicPr>
          <p:nvPr/>
        </p:nvPicPr>
        <p:blipFill>
          <a:blip r:embed="rId4"/>
          <a:stretch>
            <a:fillRect/>
          </a:stretch>
        </p:blipFill>
        <p:spPr>
          <a:xfrm>
            <a:off x="10180000" y="1450000"/>
            <a:ext cx="1100000" cy="1100000"/>
          </a:xfrm>
          <a:prstGeom prst="rect">
            <a:avLst/>
          </a:prstGeom>
        </p:spPr>
      </p:pic>
      <p:sp>
        <p:nvSpPr>
          <p:cNvPr id="24" name="Rectangle 23"/>
          <p:cNvSpPr/>
          <p:nvPr/>
        </p:nvSpPr>
        <p:spPr>
          <a:xfrm>
            <a:off x="6600000" y="2900000"/>
            <a:ext cx="4480000" cy="300000"/>
          </a:xfrm>
          <a:prstGeom prst="rect">
            <a:avLst/>
          </a:prstGeom>
          <a:solidFill>
            <a:srgbClr val="F1E9D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2A2F33"/>
                </a:solidFill>
                <a:latin typeface="Noto Sans JP"/>
                <a:ea typeface="Noto Sans JP"/>
                <a:cs typeface="Noto Sans JP"/>
              </a:rPr>
              <a:t>方向性に迷っている方に（コンサル）</a:t>
            </a:r>
          </a:p>
        </p:txBody>
      </p:sp>
      <p:sp>
        <p:nvSpPr>
          <p:cNvPr id="25" name="TextBox 24"/>
          <p:cNvSpPr txBox="1"/>
          <p:nvPr/>
        </p:nvSpPr>
        <p:spPr>
          <a:xfrm>
            <a:off x="6600000" y="3450000"/>
            <a:ext cx="4480000" cy="1600000"/>
          </a:xfrm>
          <a:prstGeom prst="rect">
            <a:avLst/>
          </a:prstGeom>
          <a:noFill/>
        </p:spPr>
        <p:txBody>
          <a:bodyPr wrap="square" anchor="t" lIns="0" rIns="0" tIns="0" bIns="0">
            <a:spAutoFit/>
          </a:bodyPr>
          <a:lstStyle/>
          <a:p>
            <a:pPr algn="l">
              <a:lnSpc>
                <a:spcPct val="160000"/>
              </a:lnSpc>
            </a:pPr>
            <a:r>
              <a:rPr sz="1300" b="0">
                <a:solidFill>
                  <a:srgbClr val="5F666B"/>
                </a:solidFill>
                <a:latin typeface="Noto Sans JP"/>
                <a:ea typeface="Noto Sans JP"/>
                <a:cs typeface="Noto Sans JP"/>
              </a:rPr>
              <a:t>✓ 月最大4時間のZoom相談</a:t>
            </a:r>
          </a:p>
          <a:p>
            <a:pPr algn="l">
              <a:lnSpc>
                <a:spcPct val="160000"/>
              </a:lnSpc>
            </a:pPr>
            <a:r>
              <a:rPr sz="1300" b="0">
                <a:solidFill>
                  <a:srgbClr val="5F666B"/>
                </a:solidFill>
                <a:latin typeface="Noto Sans JP"/>
                <a:ea typeface="Noto Sans JP"/>
                <a:cs typeface="Noto Sans JP"/>
              </a:rPr>
              <a:t>✓ 制作物への添削・アドバイス</a:t>
            </a:r>
          </a:p>
          <a:p>
            <a:pPr algn="l">
              <a:lnSpc>
                <a:spcPct val="160000"/>
              </a:lnSpc>
            </a:pPr>
            <a:r>
              <a:rPr sz="1300" b="0">
                <a:solidFill>
                  <a:srgbClr val="5F666B"/>
                </a:solidFill>
                <a:latin typeface="Noto Sans JP"/>
                <a:ea typeface="Noto Sans JP"/>
                <a:cs typeface="Noto Sans JP"/>
              </a:rPr>
              <a:t>✓ 集客施策の分析・仮説検証</a:t>
            </a:r>
          </a:p>
          <a:p>
            <a:pPr algn="l">
              <a:lnSpc>
                <a:spcPct val="160000"/>
              </a:lnSpc>
            </a:pPr>
            <a:r>
              <a:rPr sz="1300" b="0">
                <a:solidFill>
                  <a:srgbClr val="5F666B"/>
                </a:solidFill>
                <a:latin typeface="Noto Sans JP"/>
                <a:ea typeface="Noto Sans JP"/>
                <a:cs typeface="Noto Sans JP"/>
              </a:rPr>
              <a:t>✓ 1回だけの相談もOK</a:t>
            </a:r>
          </a:p>
        </p:txBody>
      </p:sp>
      <p:sp>
        <p:nvSpPr>
          <p:cNvPr id="26" name="Rectangle 25"/>
          <p:cNvSpPr/>
          <p:nvPr/>
        </p:nvSpPr>
        <p:spPr>
          <a:xfrm>
            <a:off x="6600000" y="5250000"/>
            <a:ext cx="4480000" cy="9525"/>
          </a:xfrm>
          <a:prstGeom prst="rect">
            <a:avLst/>
          </a:prstGeom>
          <a:solidFill>
            <a:srgbClr val="E6DD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600000" y="5400000"/>
            <a:ext cx="4480000" cy="500000"/>
          </a:xfrm>
          <a:prstGeom prst="rect">
            <a:avLst/>
          </a:prstGeom>
          <a:noFill/>
        </p:spPr>
        <p:txBody>
          <a:bodyPr wrap="square" anchor="t" lIns="0" rIns="0" tIns="0" bIns="0">
            <a:spAutoFit/>
          </a:bodyPr>
          <a:lstStyle/>
          <a:p>
            <a:pPr algn="r">
              <a:lnSpc>
                <a:spcPct val="125000"/>
              </a:lnSpc>
            </a:pPr>
            <a:r>
              <a:rPr sz="2000" b="1">
                <a:solidFill>
                  <a:srgbClr val="D9764A"/>
                </a:solidFill>
                <a:latin typeface="Noto Sans JP"/>
                <a:ea typeface="Noto Sans JP"/>
                <a:cs typeface="Noto Sans JP"/>
              </a:rPr>
              <a:t>月額 49,800円〜</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Rectangle 1"/>
          <p:cNvSpPr/>
          <p:nvPr/>
        </p:nvSpPr>
        <p:spPr>
          <a:xfrm>
            <a:off x="0" y="0"/>
            <a:ext cx="12192000" cy="762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62000" y="600000"/>
            <a:ext cx="76200" cy="8200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92000" y="560000"/>
            <a:ext cx="10668000" cy="260000"/>
          </a:xfrm>
          <a:prstGeom prst="rect">
            <a:avLst/>
          </a:prstGeom>
          <a:noFill/>
        </p:spPr>
        <p:txBody>
          <a:bodyPr wrap="square" anchor="t" lIns="0" rIns="0" tIns="0" bIns="0">
            <a:spAutoFit/>
          </a:bodyPr>
          <a:lstStyle/>
          <a:p>
            <a:pPr algn="l">
              <a:lnSpc>
                <a:spcPct val="125000"/>
              </a:lnSpc>
            </a:pPr>
            <a:r>
              <a:rPr sz="1050" b="1">
                <a:solidFill>
                  <a:srgbClr val="145F6B"/>
                </a:solidFill>
                <a:latin typeface="Noto Sans JP"/>
                <a:ea typeface="Noto Sans JP"/>
                <a:cs typeface="Noto Sans JP"/>
              </a:rPr>
              <a:t>OUR STRENGTHS</a:t>
            </a:r>
          </a:p>
        </p:txBody>
      </p:sp>
      <p:sp>
        <p:nvSpPr>
          <p:cNvPr id="5" name="TextBox 4"/>
          <p:cNvSpPr txBox="1"/>
          <p:nvPr/>
        </p:nvSpPr>
        <p:spPr>
          <a:xfrm>
            <a:off x="992000" y="840000"/>
            <a:ext cx="10438000" cy="600000"/>
          </a:xfrm>
          <a:prstGeom prst="rect">
            <a:avLst/>
          </a:prstGeom>
          <a:noFill/>
        </p:spPr>
        <p:txBody>
          <a:bodyPr wrap="square" anchor="t" lIns="0" rIns="0" tIns="0" bIns="0">
            <a:spAutoFit/>
          </a:bodyPr>
          <a:lstStyle/>
          <a:p>
            <a:pPr algn="l">
              <a:lnSpc>
                <a:spcPct val="125000"/>
              </a:lnSpc>
            </a:pPr>
            <a:r>
              <a:rPr sz="2600" b="1">
                <a:solidFill>
                  <a:srgbClr val="2A2F33"/>
                </a:solidFill>
                <a:latin typeface="Noto Sans JP"/>
                <a:ea typeface="Noto Sans JP"/>
                <a:cs typeface="Noto Sans JP"/>
              </a:rPr>
              <a:t>U-ライティングの2つの強み</a:t>
            </a:r>
          </a:p>
        </p:txBody>
      </p:sp>
      <p:sp>
        <p:nvSpPr>
          <p:cNvPr id="6" name="Rectangle 5"/>
          <p:cNvSpPr/>
          <p:nvPr/>
        </p:nvSpPr>
        <p:spPr>
          <a:xfrm>
            <a:off x="762000" y="6380000"/>
            <a:ext cx="10668000" cy="9525"/>
          </a:xfrm>
          <a:prstGeom prst="rect">
            <a:avLst/>
          </a:prstGeom>
          <a:solidFill>
            <a:srgbClr val="E6DD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2000" y="6480000"/>
            <a:ext cx="4000000" cy="200000"/>
          </a:xfrm>
          <a:prstGeom prst="rect">
            <a:avLst/>
          </a:prstGeom>
          <a:noFill/>
        </p:spPr>
        <p:txBody>
          <a:bodyPr wrap="square" anchor="t" lIns="0" rIns="0" tIns="0" bIns="0">
            <a:spAutoFit/>
          </a:bodyPr>
          <a:lstStyle/>
          <a:p>
            <a:pPr algn="l">
              <a:lnSpc>
                <a:spcPct val="125000"/>
              </a:lnSpc>
            </a:pPr>
            <a:r>
              <a:rPr sz="800" b="0">
                <a:solidFill>
                  <a:srgbClr val="5F666B"/>
                </a:solidFill>
                <a:latin typeface="Noto Sans JP"/>
                <a:ea typeface="Noto Sans JP"/>
                <a:cs typeface="Noto Sans JP"/>
              </a:rPr>
              <a:t>© U-Writing All Rights Reserved.</a:t>
            </a:r>
          </a:p>
        </p:txBody>
      </p:sp>
      <p:sp>
        <p:nvSpPr>
          <p:cNvPr id="8" name="Rounded Rectangle 7"/>
          <p:cNvSpPr/>
          <p:nvPr/>
        </p:nvSpPr>
        <p:spPr>
          <a:xfrm>
            <a:off x="11010000" y="6430000"/>
            <a:ext cx="420000" cy="300000"/>
          </a:xfrm>
          <a:prstGeom prst="round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010000" y="6430000"/>
            <a:ext cx="420000" cy="300000"/>
          </a:xfrm>
          <a:prstGeom prst="rect">
            <a:avLst/>
          </a:prstGeom>
          <a:noFill/>
        </p:spPr>
        <p:txBody>
          <a:bodyPr wrap="square" anchor="ctr" lIns="0" rIns="0" tIns="0" bIns="0">
            <a:spAutoFit/>
          </a:bodyPr>
          <a:lstStyle/>
          <a:p>
            <a:pPr algn="ctr">
              <a:lnSpc>
                <a:spcPct val="125000"/>
              </a:lnSpc>
            </a:pPr>
            <a:r>
              <a:rPr sz="1100" b="1">
                <a:solidFill>
                  <a:srgbClr val="FFFFFF"/>
                </a:solidFill>
                <a:latin typeface="Noto Sans JP"/>
                <a:ea typeface="Noto Sans JP"/>
                <a:cs typeface="Noto Sans JP"/>
              </a:rPr>
              <a:t>14</a:t>
            </a:r>
          </a:p>
        </p:txBody>
      </p:sp>
      <p:sp>
        <p:nvSpPr>
          <p:cNvPr id="10" name="Rectangle 9"/>
          <p:cNvSpPr/>
          <p:nvPr/>
        </p:nvSpPr>
        <p:spPr>
          <a:xfrm>
            <a:off x="762000" y="1650000"/>
            <a:ext cx="5180000" cy="4500000"/>
          </a:xfrm>
          <a:prstGeom prst="rect">
            <a:avLst/>
          </a:prstGeom>
          <a:solidFill>
            <a:srgbClr val="FFFFFF"/>
          </a:solidFill>
          <a:ln w="12700">
            <a:solidFill>
              <a:srgbClr val="E6DD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62000" y="1650000"/>
            <a:ext cx="5180000" cy="508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112000" y="1900000"/>
            <a:ext cx="2000000" cy="400000"/>
          </a:xfrm>
          <a:prstGeom prst="rect">
            <a:avLst/>
          </a:prstGeom>
          <a:noFill/>
        </p:spPr>
        <p:txBody>
          <a:bodyPr wrap="square" anchor="t" lIns="0" rIns="0" tIns="0" bIns="0">
            <a:spAutoFit/>
          </a:bodyPr>
          <a:lstStyle/>
          <a:p>
            <a:pPr algn="l">
              <a:lnSpc>
                <a:spcPct val="125000"/>
              </a:lnSpc>
            </a:pPr>
            <a:r>
              <a:rPr sz="1100" b="1">
                <a:solidFill>
                  <a:srgbClr val="145F6B"/>
                </a:solidFill>
                <a:latin typeface="Noto Sans JP"/>
                <a:ea typeface="Noto Sans JP"/>
                <a:cs typeface="Noto Sans JP"/>
              </a:rPr>
              <a:t>STRENGTH 01</a:t>
            </a:r>
          </a:p>
        </p:txBody>
      </p:sp>
      <p:sp>
        <p:nvSpPr>
          <p:cNvPr id="13" name="TextBox 12"/>
          <p:cNvSpPr txBox="1"/>
          <p:nvPr/>
        </p:nvSpPr>
        <p:spPr>
          <a:xfrm>
            <a:off x="1112000" y="2250000"/>
            <a:ext cx="4480000" cy="1000000"/>
          </a:xfrm>
          <a:prstGeom prst="rect">
            <a:avLst/>
          </a:prstGeom>
          <a:noFill/>
        </p:spPr>
        <p:txBody>
          <a:bodyPr wrap="square" anchor="t" lIns="0" rIns="0" tIns="0" bIns="0">
            <a:spAutoFit/>
          </a:bodyPr>
          <a:lstStyle/>
          <a:p>
            <a:pPr algn="l">
              <a:lnSpc>
                <a:spcPct val="120000"/>
              </a:lnSpc>
            </a:pPr>
            <a:r>
              <a:rPr sz="2200" b="1">
                <a:solidFill>
                  <a:srgbClr val="2A2F33"/>
                </a:solidFill>
                <a:latin typeface="Noto Sans JP"/>
                <a:ea typeface="Noto Sans JP"/>
                <a:cs typeface="Noto Sans JP"/>
              </a:rPr>
              <a:t>制作とコンサル、</a:t>
            </a:r>
          </a:p>
          <a:p>
            <a:pPr algn="l">
              <a:lnSpc>
                <a:spcPct val="120000"/>
              </a:lnSpc>
            </a:pPr>
            <a:r>
              <a:rPr sz="2200" b="1">
                <a:solidFill>
                  <a:srgbClr val="2A2F33"/>
                </a:solidFill>
                <a:latin typeface="Noto Sans JP"/>
                <a:ea typeface="Noto Sans JP"/>
                <a:cs typeface="Noto Sans JP"/>
              </a:rPr>
              <a:t>どちらも対応できる</a:t>
            </a:r>
          </a:p>
        </p:txBody>
      </p:sp>
      <p:sp>
        <p:nvSpPr>
          <p:cNvPr id="14" name="TextBox 13"/>
          <p:cNvSpPr txBox="1"/>
          <p:nvPr/>
        </p:nvSpPr>
        <p:spPr>
          <a:xfrm>
            <a:off x="1112000" y="3300000"/>
            <a:ext cx="4480000" cy="400000"/>
          </a:xfrm>
          <a:prstGeom prst="rect">
            <a:avLst/>
          </a:prstGeom>
          <a:noFill/>
        </p:spPr>
        <p:txBody>
          <a:bodyPr wrap="square" anchor="t" lIns="0" rIns="0" tIns="0" bIns="0">
            <a:spAutoFit/>
          </a:bodyPr>
          <a:lstStyle/>
          <a:p>
            <a:pPr algn="l">
              <a:lnSpc>
                <a:spcPct val="125000"/>
              </a:lnSpc>
            </a:pPr>
            <a:r>
              <a:rPr sz="1400" b="1">
                <a:solidFill>
                  <a:srgbClr val="145F6B"/>
                </a:solidFill>
                <a:latin typeface="Noto Sans JP"/>
                <a:ea typeface="Noto Sans JP"/>
                <a:cs typeface="Noto Sans JP"/>
              </a:rPr>
              <a:t>だから、お客様の要望に合わせた提案ができる</a:t>
            </a:r>
          </a:p>
        </p:txBody>
      </p:sp>
      <p:sp>
        <p:nvSpPr>
          <p:cNvPr id="15" name="Rectangle 14"/>
          <p:cNvSpPr/>
          <p:nvPr/>
        </p:nvSpPr>
        <p:spPr>
          <a:xfrm>
            <a:off x="1112000" y="3800000"/>
            <a:ext cx="4480000" cy="1450000"/>
          </a:xfrm>
          <a:prstGeom prst="rect">
            <a:avLst/>
          </a:prstGeom>
          <a:solidFill>
            <a:srgbClr val="F1E9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312000" y="3950000"/>
            <a:ext cx="4080000" cy="1250000"/>
          </a:xfrm>
          <a:prstGeom prst="rect">
            <a:avLst/>
          </a:prstGeom>
          <a:noFill/>
        </p:spPr>
        <p:txBody>
          <a:bodyPr wrap="square" anchor="t" lIns="0" rIns="0" tIns="0" bIns="0">
            <a:spAutoFit/>
          </a:bodyPr>
          <a:lstStyle/>
          <a:p>
            <a:pPr algn="l">
              <a:lnSpc>
                <a:spcPct val="155000"/>
              </a:lnSpc>
            </a:pPr>
            <a:r>
              <a:rPr sz="1300" b="0">
                <a:solidFill>
                  <a:srgbClr val="2A2F33"/>
                </a:solidFill>
                <a:latin typeface="Noto Sans JP"/>
                <a:ea typeface="Noto Sans JP"/>
                <a:cs typeface="Noto Sans JP"/>
              </a:rPr>
              <a:t>・「今は作らず、相談だけ」</a:t>
            </a:r>
          </a:p>
          <a:p>
            <a:pPr algn="l">
              <a:lnSpc>
                <a:spcPct val="155000"/>
              </a:lnSpc>
            </a:pPr>
            <a:r>
              <a:rPr sz="1300" b="0">
                <a:solidFill>
                  <a:srgbClr val="2A2F33"/>
                </a:solidFill>
                <a:latin typeface="Noto Sans JP"/>
                <a:ea typeface="Noto Sans JP"/>
                <a:cs typeface="Noto Sans JP"/>
              </a:rPr>
              <a:t>・「LPの冒頭だけ作り直す」</a:t>
            </a:r>
          </a:p>
          <a:p>
            <a:pPr algn="l">
              <a:lnSpc>
                <a:spcPct val="155000"/>
              </a:lnSpc>
            </a:pPr>
            <a:r>
              <a:rPr sz="1300" b="0">
                <a:solidFill>
                  <a:srgbClr val="2A2F33"/>
                </a:solidFill>
                <a:latin typeface="Noto Sans JP"/>
                <a:ea typeface="Noto Sans JP"/>
                <a:cs typeface="Noto Sans JP"/>
              </a:rPr>
              <a:t>・「方針を決めてから、必要なものだけ作る」</a:t>
            </a:r>
          </a:p>
        </p:txBody>
      </p:sp>
      <p:sp>
        <p:nvSpPr>
          <p:cNvPr id="17" name="TextBox 16"/>
          <p:cNvSpPr txBox="1"/>
          <p:nvPr/>
        </p:nvSpPr>
        <p:spPr>
          <a:xfrm>
            <a:off x="1112000" y="5400000"/>
            <a:ext cx="4480000" cy="650000"/>
          </a:xfrm>
          <a:prstGeom prst="rect">
            <a:avLst/>
          </a:prstGeom>
          <a:noFill/>
        </p:spPr>
        <p:txBody>
          <a:bodyPr wrap="square" anchor="t" lIns="0" rIns="0" tIns="0" bIns="0">
            <a:spAutoFit/>
          </a:bodyPr>
          <a:lstStyle/>
          <a:p>
            <a:pPr algn="l">
              <a:lnSpc>
                <a:spcPct val="145000"/>
              </a:lnSpc>
            </a:pPr>
            <a:r>
              <a:rPr sz="1100" b="0">
                <a:solidFill>
                  <a:srgbClr val="5F666B"/>
                </a:solidFill>
                <a:latin typeface="Noto Sans JP"/>
                <a:ea typeface="Noto Sans JP"/>
                <a:cs typeface="Noto Sans JP"/>
              </a:rPr>
              <a:t>作ることが前提の制作会社でも、作らないコンサルでもない。必要なものだけを選べます。</a:t>
            </a:r>
          </a:p>
        </p:txBody>
      </p:sp>
      <p:sp>
        <p:nvSpPr>
          <p:cNvPr id="18" name="Rectangle 17"/>
          <p:cNvSpPr/>
          <p:nvPr/>
        </p:nvSpPr>
        <p:spPr>
          <a:xfrm>
            <a:off x="6250000" y="1650000"/>
            <a:ext cx="5180000" cy="4500000"/>
          </a:xfrm>
          <a:prstGeom prst="rect">
            <a:avLst/>
          </a:prstGeom>
          <a:solidFill>
            <a:srgbClr val="FFFFFF"/>
          </a:solidFill>
          <a:ln w="12700">
            <a:solidFill>
              <a:srgbClr val="E6DD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250000" y="1650000"/>
            <a:ext cx="5180000" cy="508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600000" y="1900000"/>
            <a:ext cx="2000000" cy="400000"/>
          </a:xfrm>
          <a:prstGeom prst="rect">
            <a:avLst/>
          </a:prstGeom>
          <a:noFill/>
        </p:spPr>
        <p:txBody>
          <a:bodyPr wrap="square" anchor="t" lIns="0" rIns="0" tIns="0" bIns="0">
            <a:spAutoFit/>
          </a:bodyPr>
          <a:lstStyle/>
          <a:p>
            <a:pPr algn="l">
              <a:lnSpc>
                <a:spcPct val="125000"/>
              </a:lnSpc>
            </a:pPr>
            <a:r>
              <a:rPr sz="1100" b="1">
                <a:solidFill>
                  <a:srgbClr val="145F6B"/>
                </a:solidFill>
                <a:latin typeface="Noto Sans JP"/>
                <a:ea typeface="Noto Sans JP"/>
                <a:cs typeface="Noto Sans JP"/>
              </a:rPr>
              <a:t>STRENGTH 02</a:t>
            </a:r>
          </a:p>
        </p:txBody>
      </p:sp>
      <p:sp>
        <p:nvSpPr>
          <p:cNvPr id="21" name="TextBox 20"/>
          <p:cNvSpPr txBox="1"/>
          <p:nvPr/>
        </p:nvSpPr>
        <p:spPr>
          <a:xfrm>
            <a:off x="6600000" y="2250000"/>
            <a:ext cx="4480000" cy="1000000"/>
          </a:xfrm>
          <a:prstGeom prst="rect">
            <a:avLst/>
          </a:prstGeom>
          <a:noFill/>
        </p:spPr>
        <p:txBody>
          <a:bodyPr wrap="square" anchor="t" lIns="0" rIns="0" tIns="0" bIns="0">
            <a:spAutoFit/>
          </a:bodyPr>
          <a:lstStyle/>
          <a:p>
            <a:pPr algn="l">
              <a:lnSpc>
                <a:spcPct val="120000"/>
              </a:lnSpc>
            </a:pPr>
            <a:r>
              <a:rPr sz="2200" b="1">
                <a:solidFill>
                  <a:srgbClr val="2A2F33"/>
                </a:solidFill>
                <a:latin typeface="Noto Sans JP"/>
                <a:ea typeface="Noto Sans JP"/>
                <a:cs typeface="Noto Sans JP"/>
              </a:rPr>
              <a:t>差別化まで狙える</a:t>
            </a:r>
          </a:p>
          <a:p>
            <a:pPr algn="l">
              <a:lnSpc>
                <a:spcPct val="120000"/>
              </a:lnSpc>
            </a:pPr>
            <a:r>
              <a:rPr sz="2200" b="1">
                <a:solidFill>
                  <a:srgbClr val="2A2F33"/>
                </a:solidFill>
                <a:latin typeface="Noto Sans JP"/>
                <a:ea typeface="Noto Sans JP"/>
                <a:cs typeface="Noto Sans JP"/>
              </a:rPr>
              <a:t>薬機法対策</a:t>
            </a:r>
          </a:p>
        </p:txBody>
      </p:sp>
      <p:sp>
        <p:nvSpPr>
          <p:cNvPr id="22" name="TextBox 21"/>
          <p:cNvSpPr txBox="1"/>
          <p:nvPr/>
        </p:nvSpPr>
        <p:spPr>
          <a:xfrm>
            <a:off x="6600000" y="3300000"/>
            <a:ext cx="4480000" cy="400000"/>
          </a:xfrm>
          <a:prstGeom prst="rect">
            <a:avLst/>
          </a:prstGeom>
          <a:noFill/>
        </p:spPr>
        <p:txBody>
          <a:bodyPr wrap="square" anchor="t" lIns="0" rIns="0" tIns="0" bIns="0">
            <a:spAutoFit/>
          </a:bodyPr>
          <a:lstStyle/>
          <a:p>
            <a:pPr algn="l">
              <a:lnSpc>
                <a:spcPct val="125000"/>
              </a:lnSpc>
            </a:pPr>
            <a:r>
              <a:rPr sz="1400" b="1">
                <a:solidFill>
                  <a:srgbClr val="145F6B"/>
                </a:solidFill>
                <a:latin typeface="Noto Sans JP"/>
                <a:ea typeface="Noto Sans JP"/>
                <a:cs typeface="Noto Sans JP"/>
              </a:rPr>
              <a:t>守るだけでなく、他社との違いを作る</a:t>
            </a:r>
          </a:p>
        </p:txBody>
      </p:sp>
      <p:sp>
        <p:nvSpPr>
          <p:cNvPr id="23" name="Rectangle 22"/>
          <p:cNvSpPr/>
          <p:nvPr/>
        </p:nvSpPr>
        <p:spPr>
          <a:xfrm>
            <a:off x="6600000" y="3800000"/>
            <a:ext cx="4480000" cy="1450000"/>
          </a:xfrm>
          <a:prstGeom prst="rect">
            <a:avLst/>
          </a:prstGeom>
          <a:solidFill>
            <a:srgbClr val="F1E9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800000" y="3950000"/>
            <a:ext cx="4080000" cy="1250000"/>
          </a:xfrm>
          <a:prstGeom prst="rect">
            <a:avLst/>
          </a:prstGeom>
          <a:noFill/>
        </p:spPr>
        <p:txBody>
          <a:bodyPr wrap="square" anchor="t" lIns="0" rIns="0" tIns="0" bIns="0">
            <a:spAutoFit/>
          </a:bodyPr>
          <a:lstStyle/>
          <a:p>
            <a:pPr algn="l">
              <a:lnSpc>
                <a:spcPct val="155000"/>
              </a:lnSpc>
            </a:pPr>
            <a:r>
              <a:rPr sz="1300" b="0">
                <a:solidFill>
                  <a:srgbClr val="2A2F33"/>
                </a:solidFill>
                <a:latin typeface="Noto Sans JP"/>
                <a:ea typeface="Noto Sans JP"/>
                <a:cs typeface="Noto Sans JP"/>
              </a:rPr>
              <a:t>・効果効能は言わず、「体験」「変化」を言葉にする</a:t>
            </a:r>
          </a:p>
          <a:p>
            <a:pPr algn="l">
              <a:lnSpc>
                <a:spcPct val="155000"/>
              </a:lnSpc>
            </a:pPr>
            <a:r>
              <a:rPr sz="1300" b="0">
                <a:solidFill>
                  <a:srgbClr val="2A2F33"/>
                </a:solidFill>
                <a:latin typeface="Noto Sans JP"/>
                <a:ea typeface="Noto Sans JP"/>
                <a:cs typeface="Noto Sans JP"/>
              </a:rPr>
              <a:t>・単なる言い換えではなく、ベネフィットを設計</a:t>
            </a:r>
          </a:p>
          <a:p>
            <a:pPr algn="l">
              <a:lnSpc>
                <a:spcPct val="155000"/>
              </a:lnSpc>
            </a:pPr>
            <a:r>
              <a:rPr sz="1300" b="0">
                <a:solidFill>
                  <a:srgbClr val="2A2F33"/>
                </a:solidFill>
                <a:latin typeface="Noto Sans JP"/>
                <a:ea typeface="Noto Sans JP"/>
                <a:cs typeface="Noto Sans JP"/>
              </a:rPr>
              <a:t>・景表法にも配慮した表現</a:t>
            </a:r>
          </a:p>
        </p:txBody>
      </p:sp>
      <p:sp>
        <p:nvSpPr>
          <p:cNvPr id="25" name="TextBox 24"/>
          <p:cNvSpPr txBox="1"/>
          <p:nvPr/>
        </p:nvSpPr>
        <p:spPr>
          <a:xfrm>
            <a:off x="6600000" y="5400000"/>
            <a:ext cx="4480000" cy="650000"/>
          </a:xfrm>
          <a:prstGeom prst="rect">
            <a:avLst/>
          </a:prstGeom>
          <a:noFill/>
        </p:spPr>
        <p:txBody>
          <a:bodyPr wrap="square" anchor="t" lIns="0" rIns="0" tIns="0" bIns="0">
            <a:spAutoFit/>
          </a:bodyPr>
          <a:lstStyle/>
          <a:p>
            <a:pPr algn="l">
              <a:lnSpc>
                <a:spcPct val="145000"/>
              </a:lnSpc>
            </a:pPr>
            <a:r>
              <a:rPr sz="1100" b="0">
                <a:solidFill>
                  <a:srgbClr val="5F666B"/>
                </a:solidFill>
                <a:latin typeface="Noto Sans JP"/>
                <a:ea typeface="Noto Sans JP"/>
                <a:cs typeface="Noto Sans JP"/>
              </a:rPr>
              <a:t>法律を意識するほど、どこも同じ表現になりがち。だからこそ差別化のチャンスになります。</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Rectangle 1"/>
          <p:cNvSpPr/>
          <p:nvPr/>
        </p:nvSpPr>
        <p:spPr>
          <a:xfrm>
            <a:off x="0" y="0"/>
            <a:ext cx="12192000" cy="762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62000" y="600000"/>
            <a:ext cx="76200" cy="8200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92000" y="560000"/>
            <a:ext cx="10668000" cy="260000"/>
          </a:xfrm>
          <a:prstGeom prst="rect">
            <a:avLst/>
          </a:prstGeom>
          <a:noFill/>
        </p:spPr>
        <p:txBody>
          <a:bodyPr wrap="square" anchor="t" lIns="0" rIns="0" tIns="0" bIns="0">
            <a:spAutoFit/>
          </a:bodyPr>
          <a:lstStyle/>
          <a:p>
            <a:pPr algn="l">
              <a:lnSpc>
                <a:spcPct val="125000"/>
              </a:lnSpc>
            </a:pPr>
            <a:r>
              <a:rPr sz="1050" b="1">
                <a:solidFill>
                  <a:srgbClr val="145F6B"/>
                </a:solidFill>
                <a:latin typeface="Noto Sans JP"/>
                <a:ea typeface="Noto Sans JP"/>
                <a:cs typeface="Noto Sans JP"/>
              </a:rPr>
              <a:t>CASE 01  導入事例</a:t>
            </a:r>
          </a:p>
        </p:txBody>
      </p:sp>
      <p:sp>
        <p:nvSpPr>
          <p:cNvPr id="5" name="TextBox 4"/>
          <p:cNvSpPr txBox="1"/>
          <p:nvPr/>
        </p:nvSpPr>
        <p:spPr>
          <a:xfrm>
            <a:off x="992000" y="840000"/>
            <a:ext cx="10438000" cy="600000"/>
          </a:xfrm>
          <a:prstGeom prst="rect">
            <a:avLst/>
          </a:prstGeom>
          <a:noFill/>
        </p:spPr>
        <p:txBody>
          <a:bodyPr wrap="square" anchor="t" lIns="0" rIns="0" tIns="0" bIns="0">
            <a:spAutoFit/>
          </a:bodyPr>
          <a:lstStyle/>
          <a:p>
            <a:pPr algn="l">
              <a:lnSpc>
                <a:spcPct val="125000"/>
              </a:lnSpc>
            </a:pPr>
            <a:r>
              <a:rPr sz="2600" b="1">
                <a:solidFill>
                  <a:srgbClr val="2A2F33"/>
                </a:solidFill>
                <a:latin typeface="Noto Sans JP"/>
                <a:ea typeface="Noto Sans JP"/>
                <a:cs typeface="Noto Sans JP"/>
              </a:rPr>
              <a:t>機能性寝具（羽毛ふとん）</a:t>
            </a:r>
          </a:p>
        </p:txBody>
      </p:sp>
      <p:sp>
        <p:nvSpPr>
          <p:cNvPr id="6" name="Rectangle 5"/>
          <p:cNvSpPr/>
          <p:nvPr/>
        </p:nvSpPr>
        <p:spPr>
          <a:xfrm>
            <a:off x="762000" y="6380000"/>
            <a:ext cx="10668000" cy="9525"/>
          </a:xfrm>
          <a:prstGeom prst="rect">
            <a:avLst/>
          </a:prstGeom>
          <a:solidFill>
            <a:srgbClr val="E6DD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2000" y="6480000"/>
            <a:ext cx="4000000" cy="200000"/>
          </a:xfrm>
          <a:prstGeom prst="rect">
            <a:avLst/>
          </a:prstGeom>
          <a:noFill/>
        </p:spPr>
        <p:txBody>
          <a:bodyPr wrap="square" anchor="t" lIns="0" rIns="0" tIns="0" bIns="0">
            <a:spAutoFit/>
          </a:bodyPr>
          <a:lstStyle/>
          <a:p>
            <a:pPr algn="l">
              <a:lnSpc>
                <a:spcPct val="125000"/>
              </a:lnSpc>
            </a:pPr>
            <a:r>
              <a:rPr sz="800" b="0">
                <a:solidFill>
                  <a:srgbClr val="5F666B"/>
                </a:solidFill>
                <a:latin typeface="Noto Sans JP"/>
                <a:ea typeface="Noto Sans JP"/>
                <a:cs typeface="Noto Sans JP"/>
              </a:rPr>
              <a:t>© U-Writing All Rights Reserved.</a:t>
            </a:r>
          </a:p>
        </p:txBody>
      </p:sp>
      <p:sp>
        <p:nvSpPr>
          <p:cNvPr id="8" name="Rounded Rectangle 7"/>
          <p:cNvSpPr/>
          <p:nvPr/>
        </p:nvSpPr>
        <p:spPr>
          <a:xfrm>
            <a:off x="11010000" y="6430000"/>
            <a:ext cx="420000" cy="300000"/>
          </a:xfrm>
          <a:prstGeom prst="round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010000" y="6430000"/>
            <a:ext cx="420000" cy="300000"/>
          </a:xfrm>
          <a:prstGeom prst="rect">
            <a:avLst/>
          </a:prstGeom>
          <a:noFill/>
        </p:spPr>
        <p:txBody>
          <a:bodyPr wrap="square" anchor="ctr" lIns="0" rIns="0" tIns="0" bIns="0">
            <a:spAutoFit/>
          </a:bodyPr>
          <a:lstStyle/>
          <a:p>
            <a:pPr algn="ctr">
              <a:lnSpc>
                <a:spcPct val="125000"/>
              </a:lnSpc>
            </a:pPr>
            <a:r>
              <a:rPr sz="1100" b="1">
                <a:solidFill>
                  <a:srgbClr val="FFFFFF"/>
                </a:solidFill>
                <a:latin typeface="Noto Sans JP"/>
                <a:ea typeface="Noto Sans JP"/>
                <a:cs typeface="Noto Sans JP"/>
              </a:rPr>
              <a:t>15</a:t>
            </a:r>
          </a:p>
        </p:txBody>
      </p:sp>
      <p:sp>
        <p:nvSpPr>
          <p:cNvPr id="10" name="Rectangle 9"/>
          <p:cNvSpPr/>
          <p:nvPr/>
        </p:nvSpPr>
        <p:spPr>
          <a:xfrm>
            <a:off x="762000" y="1450000"/>
            <a:ext cx="3100000" cy="3000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FFFFFF"/>
                </a:solidFill>
                <a:latin typeface="Noto Sans JP"/>
                <a:ea typeface="Noto Sans JP"/>
                <a:cs typeface="Noto Sans JP"/>
              </a:rPr>
              <a:t>クラファン｜ページ企画・ライティング担当</a:t>
            </a:r>
          </a:p>
        </p:txBody>
      </p:sp>
      <p:sp>
        <p:nvSpPr>
          <p:cNvPr id="11" name="TextBox 10"/>
          <p:cNvSpPr txBox="1"/>
          <p:nvPr/>
        </p:nvSpPr>
        <p:spPr>
          <a:xfrm>
            <a:off x="762000" y="1950000"/>
            <a:ext cx="5300000" cy="300000"/>
          </a:xfrm>
          <a:prstGeom prst="rect">
            <a:avLst/>
          </a:prstGeom>
          <a:noFill/>
        </p:spPr>
        <p:txBody>
          <a:bodyPr wrap="square" anchor="t" lIns="0" rIns="0" tIns="0" bIns="0">
            <a:spAutoFit/>
          </a:bodyPr>
          <a:lstStyle/>
          <a:p>
            <a:pPr algn="l">
              <a:lnSpc>
                <a:spcPct val="125000"/>
              </a:lnSpc>
            </a:pPr>
            <a:r>
              <a:rPr sz="1100" b="1">
                <a:solidFill>
                  <a:srgbClr val="145F6B"/>
                </a:solidFill>
                <a:latin typeface="Noto Sans JP"/>
                <a:ea typeface="Noto Sans JP"/>
                <a:cs typeface="Noto Sans JP"/>
              </a:rPr>
              <a:t>課題</a:t>
            </a:r>
          </a:p>
        </p:txBody>
      </p:sp>
      <p:sp>
        <p:nvSpPr>
          <p:cNvPr id="12" name="TextBox 11"/>
          <p:cNvSpPr txBox="1"/>
          <p:nvPr/>
        </p:nvSpPr>
        <p:spPr>
          <a:xfrm>
            <a:off x="762000" y="2250000"/>
            <a:ext cx="5300000" cy="900000"/>
          </a:xfrm>
          <a:prstGeom prst="rect">
            <a:avLst/>
          </a:prstGeom>
          <a:noFill/>
        </p:spPr>
        <p:txBody>
          <a:bodyPr wrap="square" anchor="t" lIns="0" rIns="0" tIns="0" bIns="0">
            <a:spAutoFit/>
          </a:bodyPr>
          <a:lstStyle/>
          <a:p>
            <a:pPr algn="l">
              <a:lnSpc>
                <a:spcPct val="150000"/>
              </a:lnSpc>
            </a:pPr>
            <a:r>
              <a:rPr sz="1200" b="0">
                <a:solidFill>
                  <a:srgbClr val="2A2F33"/>
                </a:solidFill>
                <a:latin typeface="Noto Sans JP"/>
                <a:ea typeface="Noto Sans JP"/>
                <a:cs typeface="Noto Sans JP"/>
              </a:rPr>
              <a:t>薬機法上、「快眠」「疲労回復」などの効果を直接うたえず、魅力の伝え方に悩んでいた。</a:t>
            </a:r>
          </a:p>
        </p:txBody>
      </p:sp>
      <p:sp>
        <p:nvSpPr>
          <p:cNvPr id="13" name="TextBox 12"/>
          <p:cNvSpPr txBox="1"/>
          <p:nvPr/>
        </p:nvSpPr>
        <p:spPr>
          <a:xfrm>
            <a:off x="762000" y="3200000"/>
            <a:ext cx="5300000" cy="300000"/>
          </a:xfrm>
          <a:prstGeom prst="rect">
            <a:avLst/>
          </a:prstGeom>
          <a:noFill/>
        </p:spPr>
        <p:txBody>
          <a:bodyPr wrap="square" anchor="t" lIns="0" rIns="0" tIns="0" bIns="0">
            <a:spAutoFit/>
          </a:bodyPr>
          <a:lstStyle/>
          <a:p>
            <a:pPr algn="l">
              <a:lnSpc>
                <a:spcPct val="125000"/>
              </a:lnSpc>
            </a:pPr>
            <a:r>
              <a:rPr sz="1100" b="1">
                <a:solidFill>
                  <a:srgbClr val="145F6B"/>
                </a:solidFill>
                <a:latin typeface="Noto Sans JP"/>
                <a:ea typeface="Noto Sans JP"/>
                <a:cs typeface="Noto Sans JP"/>
              </a:rPr>
              <a:t>やったこと</a:t>
            </a:r>
          </a:p>
        </p:txBody>
      </p:sp>
      <p:sp>
        <p:nvSpPr>
          <p:cNvPr id="14" name="TextBox 13"/>
          <p:cNvSpPr txBox="1"/>
          <p:nvPr/>
        </p:nvSpPr>
        <p:spPr>
          <a:xfrm>
            <a:off x="762000" y="3500000"/>
            <a:ext cx="5300000" cy="1000000"/>
          </a:xfrm>
          <a:prstGeom prst="rect">
            <a:avLst/>
          </a:prstGeom>
          <a:noFill/>
        </p:spPr>
        <p:txBody>
          <a:bodyPr wrap="square" anchor="t" lIns="0" rIns="0" tIns="0" bIns="0">
            <a:spAutoFit/>
          </a:bodyPr>
          <a:lstStyle/>
          <a:p>
            <a:pPr algn="l">
              <a:lnSpc>
                <a:spcPct val="150000"/>
              </a:lnSpc>
            </a:pPr>
            <a:r>
              <a:rPr sz="1200" b="0">
                <a:solidFill>
                  <a:srgbClr val="2A2F33"/>
                </a:solidFill>
                <a:latin typeface="Noto Sans JP"/>
                <a:ea typeface="Noto Sans JP"/>
                <a:cs typeface="Noto Sans JP"/>
              </a:rPr>
              <a:t>法に触れない範囲で「睡眠体験」「朝の目覚め」の変化に焦点を当てたストーリーを設計。写真撮影のディレクションも実施。</a:t>
            </a:r>
          </a:p>
        </p:txBody>
      </p:sp>
      <p:sp>
        <p:nvSpPr>
          <p:cNvPr id="15" name="Rectangle 14"/>
          <p:cNvSpPr/>
          <p:nvPr/>
        </p:nvSpPr>
        <p:spPr>
          <a:xfrm>
            <a:off x="762000" y="4700000"/>
            <a:ext cx="5300000" cy="1500000"/>
          </a:xfrm>
          <a:prstGeom prst="rect">
            <a:avLst/>
          </a:prstGeom>
          <a:solidFill>
            <a:srgbClr val="F1E9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62000" y="4700000"/>
            <a:ext cx="76200" cy="15000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62000" y="4850000"/>
            <a:ext cx="1000000" cy="300000"/>
          </a:xfrm>
          <a:prstGeom prst="rect">
            <a:avLst/>
          </a:prstGeom>
          <a:noFill/>
        </p:spPr>
        <p:txBody>
          <a:bodyPr wrap="square" anchor="t" lIns="0" rIns="0" tIns="0" bIns="0">
            <a:spAutoFit/>
          </a:bodyPr>
          <a:lstStyle/>
          <a:p>
            <a:pPr algn="l">
              <a:lnSpc>
                <a:spcPct val="125000"/>
              </a:lnSpc>
            </a:pPr>
            <a:r>
              <a:rPr sz="1100" b="1">
                <a:solidFill>
                  <a:srgbClr val="145F6B"/>
                </a:solidFill>
                <a:latin typeface="Noto Sans JP"/>
                <a:ea typeface="Noto Sans JP"/>
                <a:cs typeface="Noto Sans JP"/>
              </a:rPr>
              <a:t>成果</a:t>
            </a:r>
          </a:p>
        </p:txBody>
      </p:sp>
      <p:sp>
        <p:nvSpPr>
          <p:cNvPr id="18" name="TextBox 17"/>
          <p:cNvSpPr txBox="1"/>
          <p:nvPr/>
        </p:nvSpPr>
        <p:spPr>
          <a:xfrm>
            <a:off x="1062000" y="5100000"/>
            <a:ext cx="4800000" cy="650000"/>
          </a:xfrm>
          <a:prstGeom prst="rect">
            <a:avLst/>
          </a:prstGeom>
          <a:noFill/>
        </p:spPr>
        <p:txBody>
          <a:bodyPr wrap="square" anchor="t" lIns="0" rIns="0" tIns="0" bIns="0">
            <a:spAutoFit/>
          </a:bodyPr>
          <a:lstStyle/>
          <a:p>
            <a:pPr algn="l">
              <a:lnSpc>
                <a:spcPct val="125000"/>
              </a:lnSpc>
            </a:pPr>
            <a:r>
              <a:rPr sz="3600" b="1">
                <a:solidFill>
                  <a:srgbClr val="2A2F33"/>
                </a:solidFill>
                <a:latin typeface="Noto Sans JP"/>
                <a:ea typeface="Noto Sans JP"/>
                <a:cs typeface="Noto Sans JP"/>
              </a:rPr>
              <a:t>279%</a:t>
            </a:r>
          </a:p>
        </p:txBody>
      </p:sp>
      <p:sp>
        <p:nvSpPr>
          <p:cNvPr id="19" name="TextBox 18"/>
          <p:cNvSpPr txBox="1"/>
          <p:nvPr/>
        </p:nvSpPr>
        <p:spPr>
          <a:xfrm>
            <a:off x="1062000" y="5800000"/>
            <a:ext cx="4800000" cy="300000"/>
          </a:xfrm>
          <a:prstGeom prst="rect">
            <a:avLst/>
          </a:prstGeom>
          <a:noFill/>
        </p:spPr>
        <p:txBody>
          <a:bodyPr wrap="square" anchor="t" lIns="0" rIns="0" tIns="0" bIns="0">
            <a:spAutoFit/>
          </a:bodyPr>
          <a:lstStyle/>
          <a:p>
            <a:pPr algn="l">
              <a:lnSpc>
                <a:spcPct val="125000"/>
              </a:lnSpc>
            </a:pPr>
            <a:r>
              <a:rPr sz="1200" b="0">
                <a:solidFill>
                  <a:srgbClr val="5F666B"/>
                </a:solidFill>
                <a:latin typeface="Noto Sans JP"/>
                <a:ea typeface="Noto Sans JP"/>
                <a:cs typeface="Noto Sans JP"/>
              </a:rPr>
              <a:t>目標30万円に対し、公開1ヶ月で83.9万円</a:t>
            </a:r>
          </a:p>
        </p:txBody>
      </p:sp>
      <p:pic>
        <p:nvPicPr>
          <p:cNvPr id="20" name="Picture 19" descr="case1.png"/>
          <p:cNvPicPr>
            <a:picLocks noChangeAspect="1"/>
          </p:cNvPicPr>
          <p:nvPr/>
        </p:nvPicPr>
        <p:blipFill>
          <a:blip r:embed="rId3"/>
          <a:stretch>
            <a:fillRect/>
          </a:stretch>
        </p:blipFill>
        <p:spPr>
          <a:xfrm>
            <a:off x="6462001" y="1796959"/>
            <a:ext cx="4967998" cy="4106080"/>
          </a:xfrm>
          <a:prstGeom prst="rect">
            <a:avLst/>
          </a:prstGeom>
          <a:ln w="12700">
            <a:solidFill>
              <a:srgbClr val="E6DDCF"/>
            </a:solidFill>
          </a:ln>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Rectangle 1"/>
          <p:cNvSpPr/>
          <p:nvPr/>
        </p:nvSpPr>
        <p:spPr>
          <a:xfrm>
            <a:off x="0" y="0"/>
            <a:ext cx="12192000" cy="762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62000" y="600000"/>
            <a:ext cx="76200" cy="8200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92000" y="560000"/>
            <a:ext cx="10668000" cy="260000"/>
          </a:xfrm>
          <a:prstGeom prst="rect">
            <a:avLst/>
          </a:prstGeom>
          <a:noFill/>
        </p:spPr>
        <p:txBody>
          <a:bodyPr wrap="square" anchor="t" lIns="0" rIns="0" tIns="0" bIns="0">
            <a:spAutoFit/>
          </a:bodyPr>
          <a:lstStyle/>
          <a:p>
            <a:pPr algn="l">
              <a:lnSpc>
                <a:spcPct val="125000"/>
              </a:lnSpc>
            </a:pPr>
            <a:r>
              <a:rPr sz="1050" b="1">
                <a:solidFill>
                  <a:srgbClr val="145F6B"/>
                </a:solidFill>
                <a:latin typeface="Noto Sans JP"/>
                <a:ea typeface="Noto Sans JP"/>
                <a:cs typeface="Noto Sans JP"/>
              </a:rPr>
              <a:t>CASE 02  導入事例</a:t>
            </a:r>
          </a:p>
        </p:txBody>
      </p:sp>
      <p:sp>
        <p:nvSpPr>
          <p:cNvPr id="5" name="TextBox 4"/>
          <p:cNvSpPr txBox="1"/>
          <p:nvPr/>
        </p:nvSpPr>
        <p:spPr>
          <a:xfrm>
            <a:off x="992000" y="840000"/>
            <a:ext cx="10438000" cy="600000"/>
          </a:xfrm>
          <a:prstGeom prst="rect">
            <a:avLst/>
          </a:prstGeom>
          <a:noFill/>
        </p:spPr>
        <p:txBody>
          <a:bodyPr wrap="square" anchor="t" lIns="0" rIns="0" tIns="0" bIns="0">
            <a:spAutoFit/>
          </a:bodyPr>
          <a:lstStyle/>
          <a:p>
            <a:pPr algn="l">
              <a:lnSpc>
                <a:spcPct val="125000"/>
              </a:lnSpc>
            </a:pPr>
            <a:r>
              <a:rPr sz="2600" b="1">
                <a:solidFill>
                  <a:srgbClr val="2A2F33"/>
                </a:solidFill>
                <a:latin typeface="Noto Sans JP"/>
                <a:ea typeface="Noto Sans JP"/>
                <a:cs typeface="Noto Sans JP"/>
              </a:rPr>
              <a:t>健康雑貨（ツボ押しシート）</a:t>
            </a:r>
          </a:p>
        </p:txBody>
      </p:sp>
      <p:sp>
        <p:nvSpPr>
          <p:cNvPr id="6" name="Rectangle 5"/>
          <p:cNvSpPr/>
          <p:nvPr/>
        </p:nvSpPr>
        <p:spPr>
          <a:xfrm>
            <a:off x="762000" y="6380000"/>
            <a:ext cx="10668000" cy="9525"/>
          </a:xfrm>
          <a:prstGeom prst="rect">
            <a:avLst/>
          </a:prstGeom>
          <a:solidFill>
            <a:srgbClr val="E6DD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2000" y="6480000"/>
            <a:ext cx="4000000" cy="200000"/>
          </a:xfrm>
          <a:prstGeom prst="rect">
            <a:avLst/>
          </a:prstGeom>
          <a:noFill/>
        </p:spPr>
        <p:txBody>
          <a:bodyPr wrap="square" anchor="t" lIns="0" rIns="0" tIns="0" bIns="0">
            <a:spAutoFit/>
          </a:bodyPr>
          <a:lstStyle/>
          <a:p>
            <a:pPr algn="l">
              <a:lnSpc>
                <a:spcPct val="125000"/>
              </a:lnSpc>
            </a:pPr>
            <a:r>
              <a:rPr sz="800" b="0">
                <a:solidFill>
                  <a:srgbClr val="5F666B"/>
                </a:solidFill>
                <a:latin typeface="Noto Sans JP"/>
                <a:ea typeface="Noto Sans JP"/>
                <a:cs typeface="Noto Sans JP"/>
              </a:rPr>
              <a:t>© U-Writing All Rights Reserved.</a:t>
            </a:r>
          </a:p>
        </p:txBody>
      </p:sp>
      <p:sp>
        <p:nvSpPr>
          <p:cNvPr id="8" name="Rounded Rectangle 7"/>
          <p:cNvSpPr/>
          <p:nvPr/>
        </p:nvSpPr>
        <p:spPr>
          <a:xfrm>
            <a:off x="11010000" y="6430000"/>
            <a:ext cx="420000" cy="300000"/>
          </a:xfrm>
          <a:prstGeom prst="round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010000" y="6430000"/>
            <a:ext cx="420000" cy="300000"/>
          </a:xfrm>
          <a:prstGeom prst="rect">
            <a:avLst/>
          </a:prstGeom>
          <a:noFill/>
        </p:spPr>
        <p:txBody>
          <a:bodyPr wrap="square" anchor="ctr" lIns="0" rIns="0" tIns="0" bIns="0">
            <a:spAutoFit/>
          </a:bodyPr>
          <a:lstStyle/>
          <a:p>
            <a:pPr algn="ctr">
              <a:lnSpc>
                <a:spcPct val="125000"/>
              </a:lnSpc>
            </a:pPr>
            <a:r>
              <a:rPr sz="1100" b="1">
                <a:solidFill>
                  <a:srgbClr val="FFFFFF"/>
                </a:solidFill>
                <a:latin typeface="Noto Sans JP"/>
                <a:ea typeface="Noto Sans JP"/>
                <a:cs typeface="Noto Sans JP"/>
              </a:rPr>
              <a:t>16</a:t>
            </a:r>
          </a:p>
        </p:txBody>
      </p:sp>
      <p:sp>
        <p:nvSpPr>
          <p:cNvPr id="10" name="Rectangle 9"/>
          <p:cNvSpPr/>
          <p:nvPr/>
        </p:nvSpPr>
        <p:spPr>
          <a:xfrm>
            <a:off x="762000" y="1450000"/>
            <a:ext cx="3100000" cy="3000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FFFFFF"/>
                </a:solidFill>
                <a:latin typeface="Noto Sans JP"/>
                <a:ea typeface="Noto Sans JP"/>
                <a:cs typeface="Noto Sans JP"/>
              </a:rPr>
              <a:t>クラファン｜ページ企画・ライティング担当</a:t>
            </a:r>
          </a:p>
        </p:txBody>
      </p:sp>
      <p:sp>
        <p:nvSpPr>
          <p:cNvPr id="11" name="TextBox 10"/>
          <p:cNvSpPr txBox="1"/>
          <p:nvPr/>
        </p:nvSpPr>
        <p:spPr>
          <a:xfrm>
            <a:off x="762000" y="1950000"/>
            <a:ext cx="5300000" cy="300000"/>
          </a:xfrm>
          <a:prstGeom prst="rect">
            <a:avLst/>
          </a:prstGeom>
          <a:noFill/>
        </p:spPr>
        <p:txBody>
          <a:bodyPr wrap="square" anchor="t" lIns="0" rIns="0" tIns="0" bIns="0">
            <a:spAutoFit/>
          </a:bodyPr>
          <a:lstStyle/>
          <a:p>
            <a:pPr algn="l">
              <a:lnSpc>
                <a:spcPct val="125000"/>
              </a:lnSpc>
            </a:pPr>
            <a:r>
              <a:rPr sz="1100" b="1">
                <a:solidFill>
                  <a:srgbClr val="145F6B"/>
                </a:solidFill>
                <a:latin typeface="Noto Sans JP"/>
                <a:ea typeface="Noto Sans JP"/>
                <a:cs typeface="Noto Sans JP"/>
              </a:rPr>
              <a:t>課題</a:t>
            </a:r>
          </a:p>
        </p:txBody>
      </p:sp>
      <p:sp>
        <p:nvSpPr>
          <p:cNvPr id="12" name="TextBox 11"/>
          <p:cNvSpPr txBox="1"/>
          <p:nvPr/>
        </p:nvSpPr>
        <p:spPr>
          <a:xfrm>
            <a:off x="762000" y="2250000"/>
            <a:ext cx="5300000" cy="900000"/>
          </a:xfrm>
          <a:prstGeom prst="rect">
            <a:avLst/>
          </a:prstGeom>
          <a:noFill/>
        </p:spPr>
        <p:txBody>
          <a:bodyPr wrap="square" anchor="t" lIns="0" rIns="0" tIns="0" bIns="0">
            <a:spAutoFit/>
          </a:bodyPr>
          <a:lstStyle/>
          <a:p>
            <a:pPr algn="l">
              <a:lnSpc>
                <a:spcPct val="150000"/>
              </a:lnSpc>
            </a:pPr>
            <a:r>
              <a:rPr sz="1200" b="0">
                <a:solidFill>
                  <a:srgbClr val="2A2F33"/>
                </a:solidFill>
                <a:latin typeface="Noto Sans JP"/>
                <a:ea typeface="Noto Sans JP"/>
                <a:cs typeface="Noto Sans JP"/>
              </a:rPr>
              <a:t>ニッチな商品で、短期間で認知を広げて支援を集める必要があった。</a:t>
            </a:r>
          </a:p>
        </p:txBody>
      </p:sp>
      <p:sp>
        <p:nvSpPr>
          <p:cNvPr id="13" name="TextBox 12"/>
          <p:cNvSpPr txBox="1"/>
          <p:nvPr/>
        </p:nvSpPr>
        <p:spPr>
          <a:xfrm>
            <a:off x="762000" y="3200000"/>
            <a:ext cx="5300000" cy="300000"/>
          </a:xfrm>
          <a:prstGeom prst="rect">
            <a:avLst/>
          </a:prstGeom>
          <a:noFill/>
        </p:spPr>
        <p:txBody>
          <a:bodyPr wrap="square" anchor="t" lIns="0" rIns="0" tIns="0" bIns="0">
            <a:spAutoFit/>
          </a:bodyPr>
          <a:lstStyle/>
          <a:p>
            <a:pPr algn="l">
              <a:lnSpc>
                <a:spcPct val="125000"/>
              </a:lnSpc>
            </a:pPr>
            <a:r>
              <a:rPr sz="1100" b="1">
                <a:solidFill>
                  <a:srgbClr val="145F6B"/>
                </a:solidFill>
                <a:latin typeface="Noto Sans JP"/>
                <a:ea typeface="Noto Sans JP"/>
                <a:cs typeface="Noto Sans JP"/>
              </a:rPr>
              <a:t>やったこと</a:t>
            </a:r>
          </a:p>
        </p:txBody>
      </p:sp>
      <p:sp>
        <p:nvSpPr>
          <p:cNvPr id="14" name="TextBox 13"/>
          <p:cNvSpPr txBox="1"/>
          <p:nvPr/>
        </p:nvSpPr>
        <p:spPr>
          <a:xfrm>
            <a:off x="762000" y="3500000"/>
            <a:ext cx="5300000" cy="1000000"/>
          </a:xfrm>
          <a:prstGeom prst="rect">
            <a:avLst/>
          </a:prstGeom>
          <a:noFill/>
        </p:spPr>
        <p:txBody>
          <a:bodyPr wrap="square" anchor="t" lIns="0" rIns="0" tIns="0" bIns="0">
            <a:spAutoFit/>
          </a:bodyPr>
          <a:lstStyle/>
          <a:p>
            <a:pPr algn="l">
              <a:lnSpc>
                <a:spcPct val="150000"/>
              </a:lnSpc>
            </a:pPr>
            <a:r>
              <a:rPr sz="1200" b="0">
                <a:solidFill>
                  <a:srgbClr val="2A2F33"/>
                </a:solidFill>
                <a:latin typeface="Noto Sans JP"/>
                <a:ea typeface="Noto Sans JP"/>
                <a:cs typeface="Noto Sans JP"/>
              </a:rPr>
              <a:t>ターゲットの「痛み」「悩み」に寄り添う構成案を作成。利用シーンが浮かぶ撮影ディレクションで、共感を呼ぶページに。</a:t>
            </a:r>
          </a:p>
        </p:txBody>
      </p:sp>
      <p:sp>
        <p:nvSpPr>
          <p:cNvPr id="15" name="Rectangle 14"/>
          <p:cNvSpPr/>
          <p:nvPr/>
        </p:nvSpPr>
        <p:spPr>
          <a:xfrm>
            <a:off x="762000" y="4700000"/>
            <a:ext cx="5300000" cy="1500000"/>
          </a:xfrm>
          <a:prstGeom prst="rect">
            <a:avLst/>
          </a:prstGeom>
          <a:solidFill>
            <a:srgbClr val="F1E9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62000" y="4700000"/>
            <a:ext cx="76200" cy="15000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62000" y="4850000"/>
            <a:ext cx="1000000" cy="300000"/>
          </a:xfrm>
          <a:prstGeom prst="rect">
            <a:avLst/>
          </a:prstGeom>
          <a:noFill/>
        </p:spPr>
        <p:txBody>
          <a:bodyPr wrap="square" anchor="t" lIns="0" rIns="0" tIns="0" bIns="0">
            <a:spAutoFit/>
          </a:bodyPr>
          <a:lstStyle/>
          <a:p>
            <a:pPr algn="l">
              <a:lnSpc>
                <a:spcPct val="125000"/>
              </a:lnSpc>
            </a:pPr>
            <a:r>
              <a:rPr sz="1100" b="1">
                <a:solidFill>
                  <a:srgbClr val="145F6B"/>
                </a:solidFill>
                <a:latin typeface="Noto Sans JP"/>
                <a:ea typeface="Noto Sans JP"/>
                <a:cs typeface="Noto Sans JP"/>
              </a:rPr>
              <a:t>成果</a:t>
            </a:r>
          </a:p>
        </p:txBody>
      </p:sp>
      <p:sp>
        <p:nvSpPr>
          <p:cNvPr id="18" name="TextBox 17"/>
          <p:cNvSpPr txBox="1"/>
          <p:nvPr/>
        </p:nvSpPr>
        <p:spPr>
          <a:xfrm>
            <a:off x="1062000" y="5100000"/>
            <a:ext cx="4800000" cy="650000"/>
          </a:xfrm>
          <a:prstGeom prst="rect">
            <a:avLst/>
          </a:prstGeom>
          <a:noFill/>
        </p:spPr>
        <p:txBody>
          <a:bodyPr wrap="square" anchor="t" lIns="0" rIns="0" tIns="0" bIns="0">
            <a:spAutoFit/>
          </a:bodyPr>
          <a:lstStyle/>
          <a:p>
            <a:pPr algn="l">
              <a:lnSpc>
                <a:spcPct val="125000"/>
              </a:lnSpc>
            </a:pPr>
            <a:r>
              <a:rPr sz="3600" b="1">
                <a:solidFill>
                  <a:srgbClr val="2A2F33"/>
                </a:solidFill>
                <a:latin typeface="Noto Sans JP"/>
                <a:ea typeface="Noto Sans JP"/>
                <a:cs typeface="Noto Sans JP"/>
              </a:rPr>
              <a:t>219万円</a:t>
            </a:r>
          </a:p>
        </p:txBody>
      </p:sp>
      <p:sp>
        <p:nvSpPr>
          <p:cNvPr id="19" name="TextBox 18"/>
          <p:cNvSpPr txBox="1"/>
          <p:nvPr/>
        </p:nvSpPr>
        <p:spPr>
          <a:xfrm>
            <a:off x="1062000" y="5800000"/>
            <a:ext cx="4800000" cy="300000"/>
          </a:xfrm>
          <a:prstGeom prst="rect">
            <a:avLst/>
          </a:prstGeom>
          <a:noFill/>
        </p:spPr>
        <p:txBody>
          <a:bodyPr wrap="square" anchor="t" lIns="0" rIns="0" tIns="0" bIns="0">
            <a:spAutoFit/>
          </a:bodyPr>
          <a:lstStyle/>
          <a:p>
            <a:pPr algn="l">
              <a:lnSpc>
                <a:spcPct val="125000"/>
              </a:lnSpc>
            </a:pPr>
            <a:r>
              <a:rPr sz="1200" b="0">
                <a:solidFill>
                  <a:srgbClr val="5F666B"/>
                </a:solidFill>
                <a:latin typeface="Noto Sans JP"/>
                <a:ea typeface="Noto Sans JP"/>
                <a:cs typeface="Noto Sans JP"/>
              </a:rPr>
              <a:t>公開3日で約50万円、最終的に目標比109%</a:t>
            </a:r>
          </a:p>
        </p:txBody>
      </p:sp>
      <p:pic>
        <p:nvPicPr>
          <p:cNvPr id="20" name="Picture 19" descr="case2.png"/>
          <p:cNvPicPr>
            <a:picLocks noChangeAspect="1"/>
          </p:cNvPicPr>
          <p:nvPr/>
        </p:nvPicPr>
        <p:blipFill>
          <a:blip r:embed="rId3"/>
          <a:stretch>
            <a:fillRect/>
          </a:stretch>
        </p:blipFill>
        <p:spPr>
          <a:xfrm>
            <a:off x="6462000" y="1896452"/>
            <a:ext cx="4967999" cy="3907094"/>
          </a:xfrm>
          <a:prstGeom prst="rect">
            <a:avLst/>
          </a:prstGeom>
          <a:ln w="12700">
            <a:solidFill>
              <a:srgbClr val="E6DDCF"/>
            </a:solidFill>
          </a:ln>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Rectangle 1"/>
          <p:cNvSpPr/>
          <p:nvPr/>
        </p:nvSpPr>
        <p:spPr>
          <a:xfrm>
            <a:off x="0" y="0"/>
            <a:ext cx="12192000" cy="762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62000" y="600000"/>
            <a:ext cx="76200" cy="8200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92000" y="560000"/>
            <a:ext cx="10668000" cy="260000"/>
          </a:xfrm>
          <a:prstGeom prst="rect">
            <a:avLst/>
          </a:prstGeom>
          <a:noFill/>
        </p:spPr>
        <p:txBody>
          <a:bodyPr wrap="square" anchor="t" lIns="0" rIns="0" tIns="0" bIns="0">
            <a:spAutoFit/>
          </a:bodyPr>
          <a:lstStyle/>
          <a:p>
            <a:pPr algn="l">
              <a:lnSpc>
                <a:spcPct val="125000"/>
              </a:lnSpc>
            </a:pPr>
            <a:r>
              <a:rPr sz="1050" b="1">
                <a:solidFill>
                  <a:srgbClr val="145F6B"/>
                </a:solidFill>
                <a:latin typeface="Noto Sans JP"/>
                <a:ea typeface="Noto Sans JP"/>
                <a:cs typeface="Noto Sans JP"/>
              </a:rPr>
              <a:t>CASE 03  導入事例</a:t>
            </a:r>
          </a:p>
        </p:txBody>
      </p:sp>
      <p:sp>
        <p:nvSpPr>
          <p:cNvPr id="5" name="TextBox 4"/>
          <p:cNvSpPr txBox="1"/>
          <p:nvPr/>
        </p:nvSpPr>
        <p:spPr>
          <a:xfrm>
            <a:off x="992000" y="840000"/>
            <a:ext cx="10438000" cy="600000"/>
          </a:xfrm>
          <a:prstGeom prst="rect">
            <a:avLst/>
          </a:prstGeom>
          <a:noFill/>
        </p:spPr>
        <p:txBody>
          <a:bodyPr wrap="square" anchor="t" lIns="0" rIns="0" tIns="0" bIns="0">
            <a:spAutoFit/>
          </a:bodyPr>
          <a:lstStyle/>
          <a:p>
            <a:pPr algn="l">
              <a:lnSpc>
                <a:spcPct val="125000"/>
              </a:lnSpc>
            </a:pPr>
            <a:r>
              <a:rPr sz="2600" b="1">
                <a:solidFill>
                  <a:srgbClr val="2A2F33"/>
                </a:solidFill>
                <a:latin typeface="Noto Sans JP"/>
                <a:ea typeface="Noto Sans JP"/>
                <a:cs typeface="Noto Sans JP"/>
              </a:rPr>
              <a:t>オンライン講座</a:t>
            </a:r>
          </a:p>
        </p:txBody>
      </p:sp>
      <p:sp>
        <p:nvSpPr>
          <p:cNvPr id="6" name="Rectangle 5"/>
          <p:cNvSpPr/>
          <p:nvPr/>
        </p:nvSpPr>
        <p:spPr>
          <a:xfrm>
            <a:off x="762000" y="6380000"/>
            <a:ext cx="10668000" cy="9525"/>
          </a:xfrm>
          <a:prstGeom prst="rect">
            <a:avLst/>
          </a:prstGeom>
          <a:solidFill>
            <a:srgbClr val="E6DD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2000" y="6480000"/>
            <a:ext cx="4000000" cy="200000"/>
          </a:xfrm>
          <a:prstGeom prst="rect">
            <a:avLst/>
          </a:prstGeom>
          <a:noFill/>
        </p:spPr>
        <p:txBody>
          <a:bodyPr wrap="square" anchor="t" lIns="0" rIns="0" tIns="0" bIns="0">
            <a:spAutoFit/>
          </a:bodyPr>
          <a:lstStyle/>
          <a:p>
            <a:pPr algn="l">
              <a:lnSpc>
                <a:spcPct val="125000"/>
              </a:lnSpc>
            </a:pPr>
            <a:r>
              <a:rPr sz="800" b="0">
                <a:solidFill>
                  <a:srgbClr val="5F666B"/>
                </a:solidFill>
                <a:latin typeface="Noto Sans JP"/>
                <a:ea typeface="Noto Sans JP"/>
                <a:cs typeface="Noto Sans JP"/>
              </a:rPr>
              <a:t>© U-Writing All Rights Reserved.</a:t>
            </a:r>
          </a:p>
        </p:txBody>
      </p:sp>
      <p:sp>
        <p:nvSpPr>
          <p:cNvPr id="8" name="Rounded Rectangle 7"/>
          <p:cNvSpPr/>
          <p:nvPr/>
        </p:nvSpPr>
        <p:spPr>
          <a:xfrm>
            <a:off x="11010000" y="6430000"/>
            <a:ext cx="420000" cy="300000"/>
          </a:xfrm>
          <a:prstGeom prst="round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010000" y="6430000"/>
            <a:ext cx="420000" cy="300000"/>
          </a:xfrm>
          <a:prstGeom prst="rect">
            <a:avLst/>
          </a:prstGeom>
          <a:noFill/>
        </p:spPr>
        <p:txBody>
          <a:bodyPr wrap="square" anchor="ctr" lIns="0" rIns="0" tIns="0" bIns="0">
            <a:spAutoFit/>
          </a:bodyPr>
          <a:lstStyle/>
          <a:p>
            <a:pPr algn="ctr">
              <a:lnSpc>
                <a:spcPct val="125000"/>
              </a:lnSpc>
            </a:pPr>
            <a:r>
              <a:rPr sz="1100" b="1">
                <a:solidFill>
                  <a:srgbClr val="FFFFFF"/>
                </a:solidFill>
                <a:latin typeface="Noto Sans JP"/>
                <a:ea typeface="Noto Sans JP"/>
                <a:cs typeface="Noto Sans JP"/>
              </a:rPr>
              <a:t>17</a:t>
            </a:r>
          </a:p>
        </p:txBody>
      </p:sp>
      <p:sp>
        <p:nvSpPr>
          <p:cNvPr id="10" name="Rectangle 9"/>
          <p:cNvSpPr/>
          <p:nvPr/>
        </p:nvSpPr>
        <p:spPr>
          <a:xfrm>
            <a:off x="762000" y="1450000"/>
            <a:ext cx="2540000" cy="3000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FFFFFF"/>
                </a:solidFill>
                <a:latin typeface="Noto Sans JP"/>
                <a:ea typeface="Noto Sans JP"/>
                <a:cs typeface="Noto Sans JP"/>
              </a:rPr>
              <a:t>広告運用・LP改善・LINE配信</a:t>
            </a:r>
          </a:p>
        </p:txBody>
      </p:sp>
      <p:sp>
        <p:nvSpPr>
          <p:cNvPr id="11" name="TextBox 10"/>
          <p:cNvSpPr txBox="1"/>
          <p:nvPr/>
        </p:nvSpPr>
        <p:spPr>
          <a:xfrm>
            <a:off x="762000" y="1950000"/>
            <a:ext cx="5300000" cy="300000"/>
          </a:xfrm>
          <a:prstGeom prst="rect">
            <a:avLst/>
          </a:prstGeom>
          <a:noFill/>
        </p:spPr>
        <p:txBody>
          <a:bodyPr wrap="square" anchor="t" lIns="0" rIns="0" tIns="0" bIns="0">
            <a:spAutoFit/>
          </a:bodyPr>
          <a:lstStyle/>
          <a:p>
            <a:pPr algn="l">
              <a:lnSpc>
                <a:spcPct val="125000"/>
              </a:lnSpc>
            </a:pPr>
            <a:r>
              <a:rPr sz="1100" b="1">
                <a:solidFill>
                  <a:srgbClr val="145F6B"/>
                </a:solidFill>
                <a:latin typeface="Noto Sans JP"/>
                <a:ea typeface="Noto Sans JP"/>
                <a:cs typeface="Noto Sans JP"/>
              </a:rPr>
              <a:t>課題</a:t>
            </a:r>
          </a:p>
        </p:txBody>
      </p:sp>
      <p:sp>
        <p:nvSpPr>
          <p:cNvPr id="12" name="TextBox 11"/>
          <p:cNvSpPr txBox="1"/>
          <p:nvPr/>
        </p:nvSpPr>
        <p:spPr>
          <a:xfrm>
            <a:off x="762000" y="2250000"/>
            <a:ext cx="5300000" cy="900000"/>
          </a:xfrm>
          <a:prstGeom prst="rect">
            <a:avLst/>
          </a:prstGeom>
          <a:noFill/>
        </p:spPr>
        <p:txBody>
          <a:bodyPr wrap="square" anchor="t" lIns="0" rIns="0" tIns="0" bIns="0">
            <a:spAutoFit/>
          </a:bodyPr>
          <a:lstStyle/>
          <a:p>
            <a:pPr algn="l">
              <a:lnSpc>
                <a:spcPct val="150000"/>
              </a:lnSpc>
            </a:pPr>
            <a:r>
              <a:rPr sz="1200" b="0">
                <a:solidFill>
                  <a:srgbClr val="2A2F33"/>
                </a:solidFill>
                <a:latin typeface="Noto Sans JP"/>
                <a:ea typeface="Noto Sans JP"/>
                <a:cs typeface="Noto Sans JP"/>
              </a:rPr>
              <a:t>広告からの流入はあるが、LPでの離脱が多く成約率が伸びない。月商も横ばいが続いていた。</a:t>
            </a:r>
          </a:p>
        </p:txBody>
      </p:sp>
      <p:sp>
        <p:nvSpPr>
          <p:cNvPr id="13" name="TextBox 12"/>
          <p:cNvSpPr txBox="1"/>
          <p:nvPr/>
        </p:nvSpPr>
        <p:spPr>
          <a:xfrm>
            <a:off x="762000" y="3200000"/>
            <a:ext cx="5300000" cy="300000"/>
          </a:xfrm>
          <a:prstGeom prst="rect">
            <a:avLst/>
          </a:prstGeom>
          <a:noFill/>
        </p:spPr>
        <p:txBody>
          <a:bodyPr wrap="square" anchor="t" lIns="0" rIns="0" tIns="0" bIns="0">
            <a:spAutoFit/>
          </a:bodyPr>
          <a:lstStyle/>
          <a:p>
            <a:pPr algn="l">
              <a:lnSpc>
                <a:spcPct val="125000"/>
              </a:lnSpc>
            </a:pPr>
            <a:r>
              <a:rPr sz="1100" b="1">
                <a:solidFill>
                  <a:srgbClr val="145F6B"/>
                </a:solidFill>
                <a:latin typeface="Noto Sans JP"/>
                <a:ea typeface="Noto Sans JP"/>
                <a:cs typeface="Noto Sans JP"/>
              </a:rPr>
              <a:t>やったこと</a:t>
            </a:r>
          </a:p>
        </p:txBody>
      </p:sp>
      <p:sp>
        <p:nvSpPr>
          <p:cNvPr id="14" name="TextBox 13"/>
          <p:cNvSpPr txBox="1"/>
          <p:nvPr/>
        </p:nvSpPr>
        <p:spPr>
          <a:xfrm>
            <a:off x="762000" y="3500000"/>
            <a:ext cx="5300000" cy="1000000"/>
          </a:xfrm>
          <a:prstGeom prst="rect">
            <a:avLst/>
          </a:prstGeom>
          <a:noFill/>
        </p:spPr>
        <p:txBody>
          <a:bodyPr wrap="square" anchor="t" lIns="0" rIns="0" tIns="0" bIns="0">
            <a:spAutoFit/>
          </a:bodyPr>
          <a:lstStyle/>
          <a:p>
            <a:pPr algn="l">
              <a:lnSpc>
                <a:spcPct val="150000"/>
              </a:lnSpc>
            </a:pPr>
            <a:r>
              <a:rPr sz="1200" b="0">
                <a:solidFill>
                  <a:srgbClr val="2A2F33"/>
                </a:solidFill>
                <a:latin typeface="Noto Sans JP"/>
                <a:ea typeface="Noto Sans JP"/>
                <a:cs typeface="Noto Sans JP"/>
              </a:rPr>
              <a:t>Meta広告の運用に加え、LPの構成とデザインを改修。LINEのステップ配信も見直し、教育から成約までの導線を最適化。</a:t>
            </a:r>
          </a:p>
        </p:txBody>
      </p:sp>
      <p:sp>
        <p:nvSpPr>
          <p:cNvPr id="15" name="Rectangle 14"/>
          <p:cNvSpPr/>
          <p:nvPr/>
        </p:nvSpPr>
        <p:spPr>
          <a:xfrm>
            <a:off x="762000" y="4700000"/>
            <a:ext cx="5300000" cy="1500000"/>
          </a:xfrm>
          <a:prstGeom prst="rect">
            <a:avLst/>
          </a:prstGeom>
          <a:solidFill>
            <a:srgbClr val="F1E9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62000" y="4700000"/>
            <a:ext cx="76200" cy="15000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62000" y="4850000"/>
            <a:ext cx="1000000" cy="300000"/>
          </a:xfrm>
          <a:prstGeom prst="rect">
            <a:avLst/>
          </a:prstGeom>
          <a:noFill/>
        </p:spPr>
        <p:txBody>
          <a:bodyPr wrap="square" anchor="t" lIns="0" rIns="0" tIns="0" bIns="0">
            <a:spAutoFit/>
          </a:bodyPr>
          <a:lstStyle/>
          <a:p>
            <a:pPr algn="l">
              <a:lnSpc>
                <a:spcPct val="125000"/>
              </a:lnSpc>
            </a:pPr>
            <a:r>
              <a:rPr sz="1100" b="1">
                <a:solidFill>
                  <a:srgbClr val="145F6B"/>
                </a:solidFill>
                <a:latin typeface="Noto Sans JP"/>
                <a:ea typeface="Noto Sans JP"/>
                <a:cs typeface="Noto Sans JP"/>
              </a:rPr>
              <a:t>成果</a:t>
            </a:r>
          </a:p>
        </p:txBody>
      </p:sp>
      <p:sp>
        <p:nvSpPr>
          <p:cNvPr id="18" name="TextBox 17"/>
          <p:cNvSpPr txBox="1"/>
          <p:nvPr/>
        </p:nvSpPr>
        <p:spPr>
          <a:xfrm>
            <a:off x="1062000" y="5100000"/>
            <a:ext cx="4800000" cy="650000"/>
          </a:xfrm>
          <a:prstGeom prst="rect">
            <a:avLst/>
          </a:prstGeom>
          <a:noFill/>
        </p:spPr>
        <p:txBody>
          <a:bodyPr wrap="square" anchor="t" lIns="0" rIns="0" tIns="0" bIns="0">
            <a:spAutoFit/>
          </a:bodyPr>
          <a:lstStyle/>
          <a:p>
            <a:pPr algn="l">
              <a:lnSpc>
                <a:spcPct val="125000"/>
              </a:lnSpc>
            </a:pPr>
            <a:r>
              <a:rPr sz="3600" b="1">
                <a:solidFill>
                  <a:srgbClr val="2A2F33"/>
                </a:solidFill>
                <a:latin typeface="Noto Sans JP"/>
                <a:ea typeface="Noto Sans JP"/>
                <a:cs typeface="Noto Sans JP"/>
              </a:rPr>
              <a:t>最大150万円</a:t>
            </a:r>
          </a:p>
        </p:txBody>
      </p:sp>
      <p:sp>
        <p:nvSpPr>
          <p:cNvPr id="19" name="TextBox 18"/>
          <p:cNvSpPr txBox="1"/>
          <p:nvPr/>
        </p:nvSpPr>
        <p:spPr>
          <a:xfrm>
            <a:off x="1062000" y="5800000"/>
            <a:ext cx="4800000" cy="300000"/>
          </a:xfrm>
          <a:prstGeom prst="rect">
            <a:avLst/>
          </a:prstGeom>
          <a:noFill/>
        </p:spPr>
        <p:txBody>
          <a:bodyPr wrap="square" anchor="t" lIns="0" rIns="0" tIns="0" bIns="0">
            <a:spAutoFit/>
          </a:bodyPr>
          <a:lstStyle/>
          <a:p>
            <a:pPr algn="l">
              <a:lnSpc>
                <a:spcPct val="125000"/>
              </a:lnSpc>
            </a:pPr>
            <a:r>
              <a:rPr sz="1200" b="0">
                <a:solidFill>
                  <a:srgbClr val="5F666B"/>
                </a:solidFill>
                <a:latin typeface="Noto Sans JP"/>
                <a:ea typeface="Noto Sans JP"/>
                <a:cs typeface="Noto Sans JP"/>
              </a:rPr>
              <a:t>月平均50万円の売上から改善</a:t>
            </a:r>
          </a:p>
        </p:txBody>
      </p:sp>
      <p:sp>
        <p:nvSpPr>
          <p:cNvPr id="20" name="Rectangle 19"/>
          <p:cNvSpPr/>
          <p:nvPr/>
        </p:nvSpPr>
        <p:spPr>
          <a:xfrm>
            <a:off x="6462000" y="1600000"/>
            <a:ext cx="4968000" cy="1000000"/>
          </a:xfrm>
          <a:prstGeom prst="rect">
            <a:avLst/>
          </a:prstGeom>
          <a:solidFill>
            <a:srgbClr val="FFFFFF"/>
          </a:solidFill>
          <a:ln w="12700">
            <a:solidFill>
              <a:srgbClr val="E6DD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712000" y="1780000"/>
            <a:ext cx="700000" cy="600000"/>
          </a:xfrm>
          <a:prstGeom prst="rect">
            <a:avLst/>
          </a:prstGeom>
          <a:noFill/>
        </p:spPr>
        <p:txBody>
          <a:bodyPr wrap="square" anchor="t" lIns="0" rIns="0" tIns="0" bIns="0">
            <a:spAutoFit/>
          </a:bodyPr>
          <a:lstStyle/>
          <a:p>
            <a:pPr algn="l">
              <a:lnSpc>
                <a:spcPct val="125000"/>
              </a:lnSpc>
            </a:pPr>
            <a:r>
              <a:rPr sz="2600" b="1">
                <a:solidFill>
                  <a:srgbClr val="D9764A"/>
                </a:solidFill>
                <a:latin typeface="Noto Sans JP"/>
                <a:ea typeface="Noto Sans JP"/>
                <a:cs typeface="Noto Sans JP"/>
              </a:rPr>
              <a:t>01</a:t>
            </a:r>
          </a:p>
        </p:txBody>
      </p:sp>
      <p:sp>
        <p:nvSpPr>
          <p:cNvPr id="22" name="TextBox 21"/>
          <p:cNvSpPr txBox="1"/>
          <p:nvPr/>
        </p:nvSpPr>
        <p:spPr>
          <a:xfrm>
            <a:off x="7462000" y="1800000"/>
            <a:ext cx="3768000" cy="400000"/>
          </a:xfrm>
          <a:prstGeom prst="rect">
            <a:avLst/>
          </a:prstGeom>
          <a:noFill/>
        </p:spPr>
        <p:txBody>
          <a:bodyPr wrap="square" anchor="t" lIns="0" rIns="0" tIns="0" bIns="0">
            <a:spAutoFit/>
          </a:bodyPr>
          <a:lstStyle/>
          <a:p>
            <a:pPr algn="l">
              <a:lnSpc>
                <a:spcPct val="125000"/>
              </a:lnSpc>
            </a:pPr>
            <a:r>
              <a:rPr sz="1600" b="1">
                <a:solidFill>
                  <a:srgbClr val="2A2F33"/>
                </a:solidFill>
                <a:latin typeface="Noto Sans JP"/>
                <a:ea typeface="Noto Sans JP"/>
                <a:cs typeface="Noto Sans JP"/>
              </a:rPr>
              <a:t>Meta広告運用</a:t>
            </a:r>
          </a:p>
        </p:txBody>
      </p:sp>
      <p:sp>
        <p:nvSpPr>
          <p:cNvPr id="23" name="TextBox 22"/>
          <p:cNvSpPr txBox="1"/>
          <p:nvPr/>
        </p:nvSpPr>
        <p:spPr>
          <a:xfrm>
            <a:off x="7462000" y="2180000"/>
            <a:ext cx="3768000" cy="300000"/>
          </a:xfrm>
          <a:prstGeom prst="rect">
            <a:avLst/>
          </a:prstGeom>
          <a:noFill/>
        </p:spPr>
        <p:txBody>
          <a:bodyPr wrap="square" anchor="t" lIns="0" rIns="0" tIns="0" bIns="0">
            <a:spAutoFit/>
          </a:bodyPr>
          <a:lstStyle/>
          <a:p>
            <a:pPr algn="l">
              <a:lnSpc>
                <a:spcPct val="125000"/>
              </a:lnSpc>
            </a:pPr>
            <a:r>
              <a:rPr sz="1200" b="0">
                <a:solidFill>
                  <a:srgbClr val="5F666B"/>
                </a:solidFill>
                <a:latin typeface="Noto Sans JP"/>
                <a:ea typeface="Noto Sans JP"/>
                <a:cs typeface="Noto Sans JP"/>
              </a:rPr>
              <a:t>見込み客を集める</a:t>
            </a:r>
          </a:p>
        </p:txBody>
      </p:sp>
      <p:sp>
        <p:nvSpPr>
          <p:cNvPr id="24" name="Rectangle 23"/>
          <p:cNvSpPr/>
          <p:nvPr/>
        </p:nvSpPr>
        <p:spPr>
          <a:xfrm>
            <a:off x="6462000" y="2850000"/>
            <a:ext cx="4968000" cy="1000000"/>
          </a:xfrm>
          <a:prstGeom prst="rect">
            <a:avLst/>
          </a:prstGeom>
          <a:solidFill>
            <a:srgbClr val="FFFFFF"/>
          </a:solidFill>
          <a:ln w="12700">
            <a:solidFill>
              <a:srgbClr val="E6DD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712000" y="3030000"/>
            <a:ext cx="700000" cy="600000"/>
          </a:xfrm>
          <a:prstGeom prst="rect">
            <a:avLst/>
          </a:prstGeom>
          <a:noFill/>
        </p:spPr>
        <p:txBody>
          <a:bodyPr wrap="square" anchor="t" lIns="0" rIns="0" tIns="0" bIns="0">
            <a:spAutoFit/>
          </a:bodyPr>
          <a:lstStyle/>
          <a:p>
            <a:pPr algn="l">
              <a:lnSpc>
                <a:spcPct val="125000"/>
              </a:lnSpc>
            </a:pPr>
            <a:r>
              <a:rPr sz="2600" b="1">
                <a:solidFill>
                  <a:srgbClr val="D9764A"/>
                </a:solidFill>
                <a:latin typeface="Noto Sans JP"/>
                <a:ea typeface="Noto Sans JP"/>
                <a:cs typeface="Noto Sans JP"/>
              </a:rPr>
              <a:t>02</a:t>
            </a:r>
          </a:p>
        </p:txBody>
      </p:sp>
      <p:sp>
        <p:nvSpPr>
          <p:cNvPr id="26" name="TextBox 25"/>
          <p:cNvSpPr txBox="1"/>
          <p:nvPr/>
        </p:nvSpPr>
        <p:spPr>
          <a:xfrm>
            <a:off x="7462000" y="3050000"/>
            <a:ext cx="3768000" cy="400000"/>
          </a:xfrm>
          <a:prstGeom prst="rect">
            <a:avLst/>
          </a:prstGeom>
          <a:noFill/>
        </p:spPr>
        <p:txBody>
          <a:bodyPr wrap="square" anchor="t" lIns="0" rIns="0" tIns="0" bIns="0">
            <a:spAutoFit/>
          </a:bodyPr>
          <a:lstStyle/>
          <a:p>
            <a:pPr algn="l">
              <a:lnSpc>
                <a:spcPct val="125000"/>
              </a:lnSpc>
            </a:pPr>
            <a:r>
              <a:rPr sz="1600" b="1">
                <a:solidFill>
                  <a:srgbClr val="2A2F33"/>
                </a:solidFill>
                <a:latin typeface="Noto Sans JP"/>
                <a:ea typeface="Noto Sans JP"/>
                <a:cs typeface="Noto Sans JP"/>
              </a:rPr>
              <a:t>LP改修</a:t>
            </a:r>
          </a:p>
        </p:txBody>
      </p:sp>
      <p:sp>
        <p:nvSpPr>
          <p:cNvPr id="27" name="TextBox 26"/>
          <p:cNvSpPr txBox="1"/>
          <p:nvPr/>
        </p:nvSpPr>
        <p:spPr>
          <a:xfrm>
            <a:off x="7462000" y="3430000"/>
            <a:ext cx="3768000" cy="300000"/>
          </a:xfrm>
          <a:prstGeom prst="rect">
            <a:avLst/>
          </a:prstGeom>
          <a:noFill/>
        </p:spPr>
        <p:txBody>
          <a:bodyPr wrap="square" anchor="t" lIns="0" rIns="0" tIns="0" bIns="0">
            <a:spAutoFit/>
          </a:bodyPr>
          <a:lstStyle/>
          <a:p>
            <a:pPr algn="l">
              <a:lnSpc>
                <a:spcPct val="125000"/>
              </a:lnSpc>
            </a:pPr>
            <a:r>
              <a:rPr sz="1200" b="0">
                <a:solidFill>
                  <a:srgbClr val="5F666B"/>
                </a:solidFill>
                <a:latin typeface="Noto Sans JP"/>
                <a:ea typeface="Noto Sans JP"/>
                <a:cs typeface="Noto Sans JP"/>
              </a:rPr>
              <a:t>離脱を減らし、成約率を上げる</a:t>
            </a:r>
          </a:p>
        </p:txBody>
      </p:sp>
      <p:sp>
        <p:nvSpPr>
          <p:cNvPr id="28" name="Rectangle 27"/>
          <p:cNvSpPr/>
          <p:nvPr/>
        </p:nvSpPr>
        <p:spPr>
          <a:xfrm>
            <a:off x="6462000" y="4100000"/>
            <a:ext cx="4968000" cy="1000000"/>
          </a:xfrm>
          <a:prstGeom prst="rect">
            <a:avLst/>
          </a:prstGeom>
          <a:solidFill>
            <a:srgbClr val="FFFFFF"/>
          </a:solidFill>
          <a:ln w="12700">
            <a:solidFill>
              <a:srgbClr val="E6DD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712000" y="4280000"/>
            <a:ext cx="700000" cy="600000"/>
          </a:xfrm>
          <a:prstGeom prst="rect">
            <a:avLst/>
          </a:prstGeom>
          <a:noFill/>
        </p:spPr>
        <p:txBody>
          <a:bodyPr wrap="square" anchor="t" lIns="0" rIns="0" tIns="0" bIns="0">
            <a:spAutoFit/>
          </a:bodyPr>
          <a:lstStyle/>
          <a:p>
            <a:pPr algn="l">
              <a:lnSpc>
                <a:spcPct val="125000"/>
              </a:lnSpc>
            </a:pPr>
            <a:r>
              <a:rPr sz="2600" b="1">
                <a:solidFill>
                  <a:srgbClr val="D9764A"/>
                </a:solidFill>
                <a:latin typeface="Noto Sans JP"/>
                <a:ea typeface="Noto Sans JP"/>
                <a:cs typeface="Noto Sans JP"/>
              </a:rPr>
              <a:t>03</a:t>
            </a:r>
          </a:p>
        </p:txBody>
      </p:sp>
      <p:sp>
        <p:nvSpPr>
          <p:cNvPr id="30" name="TextBox 29"/>
          <p:cNvSpPr txBox="1"/>
          <p:nvPr/>
        </p:nvSpPr>
        <p:spPr>
          <a:xfrm>
            <a:off x="7462000" y="4300000"/>
            <a:ext cx="3768000" cy="400000"/>
          </a:xfrm>
          <a:prstGeom prst="rect">
            <a:avLst/>
          </a:prstGeom>
          <a:noFill/>
        </p:spPr>
        <p:txBody>
          <a:bodyPr wrap="square" anchor="t" lIns="0" rIns="0" tIns="0" bIns="0">
            <a:spAutoFit/>
          </a:bodyPr>
          <a:lstStyle/>
          <a:p>
            <a:pPr algn="l">
              <a:lnSpc>
                <a:spcPct val="125000"/>
              </a:lnSpc>
            </a:pPr>
            <a:r>
              <a:rPr sz="1600" b="1">
                <a:solidFill>
                  <a:srgbClr val="2A2F33"/>
                </a:solidFill>
                <a:latin typeface="Noto Sans JP"/>
                <a:ea typeface="Noto Sans JP"/>
                <a:cs typeface="Noto Sans JP"/>
              </a:rPr>
              <a:t>LINEステップ配信</a:t>
            </a:r>
          </a:p>
        </p:txBody>
      </p:sp>
      <p:sp>
        <p:nvSpPr>
          <p:cNvPr id="31" name="TextBox 30"/>
          <p:cNvSpPr txBox="1"/>
          <p:nvPr/>
        </p:nvSpPr>
        <p:spPr>
          <a:xfrm>
            <a:off x="7462000" y="4680000"/>
            <a:ext cx="3768000" cy="300000"/>
          </a:xfrm>
          <a:prstGeom prst="rect">
            <a:avLst/>
          </a:prstGeom>
          <a:noFill/>
        </p:spPr>
        <p:txBody>
          <a:bodyPr wrap="square" anchor="t" lIns="0" rIns="0" tIns="0" bIns="0">
            <a:spAutoFit/>
          </a:bodyPr>
          <a:lstStyle/>
          <a:p>
            <a:pPr algn="l">
              <a:lnSpc>
                <a:spcPct val="125000"/>
              </a:lnSpc>
            </a:pPr>
            <a:r>
              <a:rPr sz="1200" b="0">
                <a:solidFill>
                  <a:srgbClr val="5F666B"/>
                </a:solidFill>
                <a:latin typeface="Noto Sans JP"/>
                <a:ea typeface="Noto Sans JP"/>
                <a:cs typeface="Noto Sans JP"/>
              </a:rPr>
              <a:t>教育から成約までの導線を整える</a:t>
            </a:r>
          </a:p>
        </p:txBody>
      </p:sp>
      <p:sp>
        <p:nvSpPr>
          <p:cNvPr id="32" name="Isosceles Triangle 31"/>
          <p:cNvSpPr/>
          <p:nvPr/>
        </p:nvSpPr>
        <p:spPr>
          <a:xfrm rot="10800000">
            <a:off x="8696000" y="5330000"/>
            <a:ext cx="500000" cy="250000"/>
          </a:xfrm>
          <a:prstGeom prst="triangle">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462000" y="5650000"/>
            <a:ext cx="4968000" cy="450000"/>
          </a:xfrm>
          <a:prstGeom prst="rect">
            <a:avLst/>
          </a:prstGeom>
          <a:noFill/>
        </p:spPr>
        <p:txBody>
          <a:bodyPr wrap="square" anchor="t" lIns="0" rIns="0" tIns="0" bIns="0">
            <a:spAutoFit/>
          </a:bodyPr>
          <a:lstStyle/>
          <a:p>
            <a:pPr algn="ctr">
              <a:lnSpc>
                <a:spcPct val="125000"/>
              </a:lnSpc>
            </a:pPr>
            <a:r>
              <a:rPr sz="1800" b="1">
                <a:solidFill>
                  <a:srgbClr val="2A2F33"/>
                </a:solidFill>
                <a:latin typeface="Noto Sans JP"/>
                <a:ea typeface="Noto Sans JP"/>
                <a:cs typeface="Noto Sans JP"/>
              </a:rPr>
              <a:t>月の売上 最大150万円</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Rectangle 1"/>
          <p:cNvSpPr/>
          <p:nvPr/>
        </p:nvSpPr>
        <p:spPr>
          <a:xfrm>
            <a:off x="0" y="0"/>
            <a:ext cx="12192000" cy="762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62000" y="600000"/>
            <a:ext cx="76200" cy="8200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92000" y="560000"/>
            <a:ext cx="10668000" cy="260000"/>
          </a:xfrm>
          <a:prstGeom prst="rect">
            <a:avLst/>
          </a:prstGeom>
          <a:noFill/>
        </p:spPr>
        <p:txBody>
          <a:bodyPr wrap="square" anchor="t" lIns="0" rIns="0" tIns="0" bIns="0">
            <a:spAutoFit/>
          </a:bodyPr>
          <a:lstStyle/>
          <a:p>
            <a:pPr algn="l">
              <a:lnSpc>
                <a:spcPct val="125000"/>
              </a:lnSpc>
            </a:pPr>
            <a:r>
              <a:rPr sz="1050" b="1">
                <a:solidFill>
                  <a:srgbClr val="145F6B"/>
                </a:solidFill>
                <a:latin typeface="Noto Sans JP"/>
                <a:ea typeface="Noto Sans JP"/>
                <a:cs typeface="Noto Sans JP"/>
              </a:rPr>
              <a:t>CASE 04  導入事例</a:t>
            </a:r>
          </a:p>
        </p:txBody>
      </p:sp>
      <p:sp>
        <p:nvSpPr>
          <p:cNvPr id="5" name="TextBox 4"/>
          <p:cNvSpPr txBox="1"/>
          <p:nvPr/>
        </p:nvSpPr>
        <p:spPr>
          <a:xfrm>
            <a:off x="992000" y="840000"/>
            <a:ext cx="10438000" cy="600000"/>
          </a:xfrm>
          <a:prstGeom prst="rect">
            <a:avLst/>
          </a:prstGeom>
          <a:noFill/>
        </p:spPr>
        <p:txBody>
          <a:bodyPr wrap="square" anchor="t" lIns="0" rIns="0" tIns="0" bIns="0">
            <a:spAutoFit/>
          </a:bodyPr>
          <a:lstStyle/>
          <a:p>
            <a:pPr algn="l">
              <a:lnSpc>
                <a:spcPct val="125000"/>
              </a:lnSpc>
            </a:pPr>
            <a:r>
              <a:rPr sz="2600" b="1">
                <a:solidFill>
                  <a:srgbClr val="2A2F33"/>
                </a:solidFill>
                <a:latin typeface="Noto Sans JP"/>
                <a:ea typeface="Noto Sans JP"/>
                <a:cs typeface="Noto Sans JP"/>
              </a:rPr>
              <a:t>建設会社（防水・塗装）の採用</a:t>
            </a:r>
          </a:p>
        </p:txBody>
      </p:sp>
      <p:sp>
        <p:nvSpPr>
          <p:cNvPr id="6" name="Rectangle 5"/>
          <p:cNvSpPr/>
          <p:nvPr/>
        </p:nvSpPr>
        <p:spPr>
          <a:xfrm>
            <a:off x="762000" y="6380000"/>
            <a:ext cx="10668000" cy="9525"/>
          </a:xfrm>
          <a:prstGeom prst="rect">
            <a:avLst/>
          </a:prstGeom>
          <a:solidFill>
            <a:srgbClr val="E6DD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2000" y="6480000"/>
            <a:ext cx="4000000" cy="200000"/>
          </a:xfrm>
          <a:prstGeom prst="rect">
            <a:avLst/>
          </a:prstGeom>
          <a:noFill/>
        </p:spPr>
        <p:txBody>
          <a:bodyPr wrap="square" anchor="t" lIns="0" rIns="0" tIns="0" bIns="0">
            <a:spAutoFit/>
          </a:bodyPr>
          <a:lstStyle/>
          <a:p>
            <a:pPr algn="l">
              <a:lnSpc>
                <a:spcPct val="125000"/>
              </a:lnSpc>
            </a:pPr>
            <a:r>
              <a:rPr sz="800" b="0">
                <a:solidFill>
                  <a:srgbClr val="5F666B"/>
                </a:solidFill>
                <a:latin typeface="Noto Sans JP"/>
                <a:ea typeface="Noto Sans JP"/>
                <a:cs typeface="Noto Sans JP"/>
              </a:rPr>
              <a:t>© U-Writing All Rights Reserved.</a:t>
            </a:r>
          </a:p>
        </p:txBody>
      </p:sp>
      <p:sp>
        <p:nvSpPr>
          <p:cNvPr id="8" name="Rounded Rectangle 7"/>
          <p:cNvSpPr/>
          <p:nvPr/>
        </p:nvSpPr>
        <p:spPr>
          <a:xfrm>
            <a:off x="11010000" y="6430000"/>
            <a:ext cx="420000" cy="300000"/>
          </a:xfrm>
          <a:prstGeom prst="round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010000" y="6430000"/>
            <a:ext cx="420000" cy="300000"/>
          </a:xfrm>
          <a:prstGeom prst="rect">
            <a:avLst/>
          </a:prstGeom>
          <a:noFill/>
        </p:spPr>
        <p:txBody>
          <a:bodyPr wrap="square" anchor="ctr" lIns="0" rIns="0" tIns="0" bIns="0">
            <a:spAutoFit/>
          </a:bodyPr>
          <a:lstStyle/>
          <a:p>
            <a:pPr algn="ctr">
              <a:lnSpc>
                <a:spcPct val="125000"/>
              </a:lnSpc>
            </a:pPr>
            <a:r>
              <a:rPr sz="1100" b="1">
                <a:solidFill>
                  <a:srgbClr val="FFFFFF"/>
                </a:solidFill>
                <a:latin typeface="Noto Sans JP"/>
                <a:ea typeface="Noto Sans JP"/>
                <a:cs typeface="Noto Sans JP"/>
              </a:rPr>
              <a:t>18</a:t>
            </a:r>
          </a:p>
        </p:txBody>
      </p:sp>
      <p:sp>
        <p:nvSpPr>
          <p:cNvPr id="10" name="Rectangle 9"/>
          <p:cNvSpPr/>
          <p:nvPr/>
        </p:nvSpPr>
        <p:spPr>
          <a:xfrm>
            <a:off x="762000" y="1450000"/>
            <a:ext cx="1560000" cy="3000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FFFFFF"/>
                </a:solidFill>
                <a:latin typeface="Noto Sans JP"/>
                <a:ea typeface="Noto Sans JP"/>
                <a:cs typeface="Noto Sans JP"/>
              </a:rPr>
              <a:t>採用コンテンツ制作</a:t>
            </a:r>
          </a:p>
        </p:txBody>
      </p:sp>
      <p:sp>
        <p:nvSpPr>
          <p:cNvPr id="11" name="TextBox 10"/>
          <p:cNvSpPr txBox="1"/>
          <p:nvPr/>
        </p:nvSpPr>
        <p:spPr>
          <a:xfrm>
            <a:off x="762000" y="1950000"/>
            <a:ext cx="5300000" cy="300000"/>
          </a:xfrm>
          <a:prstGeom prst="rect">
            <a:avLst/>
          </a:prstGeom>
          <a:noFill/>
        </p:spPr>
        <p:txBody>
          <a:bodyPr wrap="square" anchor="t" lIns="0" rIns="0" tIns="0" bIns="0">
            <a:spAutoFit/>
          </a:bodyPr>
          <a:lstStyle/>
          <a:p>
            <a:pPr algn="l">
              <a:lnSpc>
                <a:spcPct val="125000"/>
              </a:lnSpc>
            </a:pPr>
            <a:r>
              <a:rPr sz="1100" b="1">
                <a:solidFill>
                  <a:srgbClr val="145F6B"/>
                </a:solidFill>
                <a:latin typeface="Noto Sans JP"/>
                <a:ea typeface="Noto Sans JP"/>
                <a:cs typeface="Noto Sans JP"/>
              </a:rPr>
              <a:t>課題</a:t>
            </a:r>
          </a:p>
        </p:txBody>
      </p:sp>
      <p:sp>
        <p:nvSpPr>
          <p:cNvPr id="12" name="TextBox 11"/>
          <p:cNvSpPr txBox="1"/>
          <p:nvPr/>
        </p:nvSpPr>
        <p:spPr>
          <a:xfrm>
            <a:off x="762000" y="2250000"/>
            <a:ext cx="5300000" cy="900000"/>
          </a:xfrm>
          <a:prstGeom prst="rect">
            <a:avLst/>
          </a:prstGeom>
          <a:noFill/>
        </p:spPr>
        <p:txBody>
          <a:bodyPr wrap="square" anchor="t" lIns="0" rIns="0" tIns="0" bIns="0">
            <a:spAutoFit/>
          </a:bodyPr>
          <a:lstStyle/>
          <a:p>
            <a:pPr algn="l">
              <a:lnSpc>
                <a:spcPct val="150000"/>
              </a:lnSpc>
            </a:pPr>
            <a:r>
              <a:rPr sz="1200" b="0">
                <a:solidFill>
                  <a:srgbClr val="2A2F33"/>
                </a:solidFill>
                <a:latin typeface="Noto Sans JP"/>
                <a:ea typeface="Noto Sans JP"/>
                <a:cs typeface="Noto Sans JP"/>
              </a:rPr>
              <a:t>当初の依頼はパンフレット制作。ヒアリングすると、HPの情報不足による採用のミスマッチが本当の課題だった。</a:t>
            </a:r>
          </a:p>
        </p:txBody>
      </p:sp>
      <p:sp>
        <p:nvSpPr>
          <p:cNvPr id="13" name="TextBox 12"/>
          <p:cNvSpPr txBox="1"/>
          <p:nvPr/>
        </p:nvSpPr>
        <p:spPr>
          <a:xfrm>
            <a:off x="762000" y="3200000"/>
            <a:ext cx="5300000" cy="300000"/>
          </a:xfrm>
          <a:prstGeom prst="rect">
            <a:avLst/>
          </a:prstGeom>
          <a:noFill/>
        </p:spPr>
        <p:txBody>
          <a:bodyPr wrap="square" anchor="t" lIns="0" rIns="0" tIns="0" bIns="0">
            <a:spAutoFit/>
          </a:bodyPr>
          <a:lstStyle/>
          <a:p>
            <a:pPr algn="l">
              <a:lnSpc>
                <a:spcPct val="125000"/>
              </a:lnSpc>
            </a:pPr>
            <a:r>
              <a:rPr sz="1100" b="1">
                <a:solidFill>
                  <a:srgbClr val="145F6B"/>
                </a:solidFill>
                <a:latin typeface="Noto Sans JP"/>
                <a:ea typeface="Noto Sans JP"/>
                <a:cs typeface="Noto Sans JP"/>
              </a:rPr>
              <a:t>やったこと</a:t>
            </a:r>
          </a:p>
        </p:txBody>
      </p:sp>
      <p:sp>
        <p:nvSpPr>
          <p:cNvPr id="14" name="TextBox 13"/>
          <p:cNvSpPr txBox="1"/>
          <p:nvPr/>
        </p:nvSpPr>
        <p:spPr>
          <a:xfrm>
            <a:off x="762000" y="3500000"/>
            <a:ext cx="5300000" cy="1000000"/>
          </a:xfrm>
          <a:prstGeom prst="rect">
            <a:avLst/>
          </a:prstGeom>
          <a:noFill/>
        </p:spPr>
        <p:txBody>
          <a:bodyPr wrap="square" anchor="t" lIns="0" rIns="0" tIns="0" bIns="0">
            <a:spAutoFit/>
          </a:bodyPr>
          <a:lstStyle/>
          <a:p>
            <a:pPr algn="l">
              <a:lnSpc>
                <a:spcPct val="150000"/>
              </a:lnSpc>
            </a:pPr>
            <a:r>
              <a:rPr sz="1200" b="0">
                <a:solidFill>
                  <a:srgbClr val="2A2F33"/>
                </a:solidFill>
                <a:latin typeface="Noto Sans JP"/>
                <a:ea typeface="Noto Sans JP"/>
                <a:cs typeface="Noto Sans JP"/>
              </a:rPr>
              <a:t>パンフレット制作は中止を提案。代わりに、求める人物像と代表の想いを伝える記事をHPに掲載。</a:t>
            </a:r>
          </a:p>
        </p:txBody>
      </p:sp>
      <p:sp>
        <p:nvSpPr>
          <p:cNvPr id="15" name="Rectangle 14"/>
          <p:cNvSpPr/>
          <p:nvPr/>
        </p:nvSpPr>
        <p:spPr>
          <a:xfrm>
            <a:off x="762000" y="4700000"/>
            <a:ext cx="5300000" cy="1500000"/>
          </a:xfrm>
          <a:prstGeom prst="rect">
            <a:avLst/>
          </a:prstGeom>
          <a:solidFill>
            <a:srgbClr val="F1E9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62000" y="4700000"/>
            <a:ext cx="76200" cy="15000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62000" y="4850000"/>
            <a:ext cx="1000000" cy="300000"/>
          </a:xfrm>
          <a:prstGeom prst="rect">
            <a:avLst/>
          </a:prstGeom>
          <a:noFill/>
        </p:spPr>
        <p:txBody>
          <a:bodyPr wrap="square" anchor="t" lIns="0" rIns="0" tIns="0" bIns="0">
            <a:spAutoFit/>
          </a:bodyPr>
          <a:lstStyle/>
          <a:p>
            <a:pPr algn="l">
              <a:lnSpc>
                <a:spcPct val="125000"/>
              </a:lnSpc>
            </a:pPr>
            <a:r>
              <a:rPr sz="1100" b="1">
                <a:solidFill>
                  <a:srgbClr val="145F6B"/>
                </a:solidFill>
                <a:latin typeface="Noto Sans JP"/>
                <a:ea typeface="Noto Sans JP"/>
                <a:cs typeface="Noto Sans JP"/>
              </a:rPr>
              <a:t>成果</a:t>
            </a:r>
          </a:p>
        </p:txBody>
      </p:sp>
      <p:sp>
        <p:nvSpPr>
          <p:cNvPr id="18" name="TextBox 17"/>
          <p:cNvSpPr txBox="1"/>
          <p:nvPr/>
        </p:nvSpPr>
        <p:spPr>
          <a:xfrm>
            <a:off x="1062000" y="5100000"/>
            <a:ext cx="4800000" cy="650000"/>
          </a:xfrm>
          <a:prstGeom prst="rect">
            <a:avLst/>
          </a:prstGeom>
          <a:noFill/>
        </p:spPr>
        <p:txBody>
          <a:bodyPr wrap="square" anchor="t" lIns="0" rIns="0" tIns="0" bIns="0">
            <a:spAutoFit/>
          </a:bodyPr>
          <a:lstStyle/>
          <a:p>
            <a:pPr algn="l">
              <a:lnSpc>
                <a:spcPct val="125000"/>
              </a:lnSpc>
            </a:pPr>
            <a:r>
              <a:rPr sz="3600" b="1">
                <a:solidFill>
                  <a:srgbClr val="2A2F33"/>
                </a:solidFill>
                <a:latin typeface="Noto Sans JP"/>
                <a:ea typeface="Noto Sans JP"/>
                <a:cs typeface="Noto Sans JP"/>
              </a:rPr>
              <a:t>1週間</a:t>
            </a:r>
          </a:p>
        </p:txBody>
      </p:sp>
      <p:sp>
        <p:nvSpPr>
          <p:cNvPr id="19" name="TextBox 18"/>
          <p:cNvSpPr txBox="1"/>
          <p:nvPr/>
        </p:nvSpPr>
        <p:spPr>
          <a:xfrm>
            <a:off x="1062000" y="5800000"/>
            <a:ext cx="4800000" cy="300000"/>
          </a:xfrm>
          <a:prstGeom prst="rect">
            <a:avLst/>
          </a:prstGeom>
          <a:noFill/>
        </p:spPr>
        <p:txBody>
          <a:bodyPr wrap="square" anchor="t" lIns="0" rIns="0" tIns="0" bIns="0">
            <a:spAutoFit/>
          </a:bodyPr>
          <a:lstStyle/>
          <a:p>
            <a:pPr algn="l">
              <a:lnSpc>
                <a:spcPct val="125000"/>
              </a:lnSpc>
            </a:pPr>
            <a:r>
              <a:rPr sz="1200" b="0">
                <a:solidFill>
                  <a:srgbClr val="5F666B"/>
                </a:solidFill>
                <a:latin typeface="Noto Sans JP"/>
                <a:ea typeface="Noto Sans JP"/>
                <a:cs typeface="Noto Sans JP"/>
              </a:rPr>
              <a:t>記事公開から1週間以内に、新卒1名が入社決定</a:t>
            </a:r>
          </a:p>
        </p:txBody>
      </p:sp>
      <p:pic>
        <p:nvPicPr>
          <p:cNvPr id="20" name="Picture 19" descr="case4.png"/>
          <p:cNvPicPr>
            <a:picLocks noChangeAspect="1"/>
          </p:cNvPicPr>
          <p:nvPr/>
        </p:nvPicPr>
        <p:blipFill>
          <a:blip r:embed="rId3"/>
          <a:stretch>
            <a:fillRect/>
          </a:stretch>
        </p:blipFill>
        <p:spPr>
          <a:xfrm>
            <a:off x="6462001" y="2545474"/>
            <a:ext cx="4967998" cy="2609051"/>
          </a:xfrm>
          <a:prstGeom prst="rect">
            <a:avLst/>
          </a:prstGeom>
          <a:ln w="12700">
            <a:solidFill>
              <a:srgbClr val="E6DDCF"/>
            </a:solidFill>
          </a:ln>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Rectangle 1"/>
          <p:cNvSpPr/>
          <p:nvPr/>
        </p:nvSpPr>
        <p:spPr>
          <a:xfrm>
            <a:off x="0" y="0"/>
            <a:ext cx="12192000" cy="762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62000" y="600000"/>
            <a:ext cx="76200" cy="8200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92000" y="560000"/>
            <a:ext cx="10668000" cy="260000"/>
          </a:xfrm>
          <a:prstGeom prst="rect">
            <a:avLst/>
          </a:prstGeom>
          <a:noFill/>
        </p:spPr>
        <p:txBody>
          <a:bodyPr wrap="square" anchor="t" lIns="0" rIns="0" tIns="0" bIns="0">
            <a:spAutoFit/>
          </a:bodyPr>
          <a:lstStyle/>
          <a:p>
            <a:pPr algn="l">
              <a:lnSpc>
                <a:spcPct val="125000"/>
              </a:lnSpc>
            </a:pPr>
            <a:r>
              <a:rPr sz="1050" b="1">
                <a:solidFill>
                  <a:srgbClr val="145F6B"/>
                </a:solidFill>
                <a:latin typeface="Noto Sans JP"/>
                <a:ea typeface="Noto Sans JP"/>
                <a:cs typeface="Noto Sans JP"/>
              </a:rPr>
              <a:t>VOICE</a:t>
            </a:r>
          </a:p>
        </p:txBody>
      </p:sp>
      <p:sp>
        <p:nvSpPr>
          <p:cNvPr id="5" name="TextBox 4"/>
          <p:cNvSpPr txBox="1"/>
          <p:nvPr/>
        </p:nvSpPr>
        <p:spPr>
          <a:xfrm>
            <a:off x="992000" y="840000"/>
            <a:ext cx="10438000" cy="600000"/>
          </a:xfrm>
          <a:prstGeom prst="rect">
            <a:avLst/>
          </a:prstGeom>
          <a:noFill/>
        </p:spPr>
        <p:txBody>
          <a:bodyPr wrap="square" anchor="t" lIns="0" rIns="0" tIns="0" bIns="0">
            <a:spAutoFit/>
          </a:bodyPr>
          <a:lstStyle/>
          <a:p>
            <a:pPr algn="l">
              <a:lnSpc>
                <a:spcPct val="125000"/>
              </a:lnSpc>
            </a:pPr>
            <a:r>
              <a:rPr sz="2600" b="1">
                <a:solidFill>
                  <a:srgbClr val="2A2F33"/>
                </a:solidFill>
                <a:latin typeface="Noto Sans JP"/>
                <a:ea typeface="Noto Sans JP"/>
                <a:cs typeface="Noto Sans JP"/>
              </a:rPr>
              <a:t>お客様の声</a:t>
            </a:r>
          </a:p>
        </p:txBody>
      </p:sp>
      <p:sp>
        <p:nvSpPr>
          <p:cNvPr id="6" name="Rectangle 5"/>
          <p:cNvSpPr/>
          <p:nvPr/>
        </p:nvSpPr>
        <p:spPr>
          <a:xfrm>
            <a:off x="762000" y="6380000"/>
            <a:ext cx="10668000" cy="9525"/>
          </a:xfrm>
          <a:prstGeom prst="rect">
            <a:avLst/>
          </a:prstGeom>
          <a:solidFill>
            <a:srgbClr val="E6DD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2000" y="6480000"/>
            <a:ext cx="4000000" cy="200000"/>
          </a:xfrm>
          <a:prstGeom prst="rect">
            <a:avLst/>
          </a:prstGeom>
          <a:noFill/>
        </p:spPr>
        <p:txBody>
          <a:bodyPr wrap="square" anchor="t" lIns="0" rIns="0" tIns="0" bIns="0">
            <a:spAutoFit/>
          </a:bodyPr>
          <a:lstStyle/>
          <a:p>
            <a:pPr algn="l">
              <a:lnSpc>
                <a:spcPct val="125000"/>
              </a:lnSpc>
            </a:pPr>
            <a:r>
              <a:rPr sz="800" b="0">
                <a:solidFill>
                  <a:srgbClr val="5F666B"/>
                </a:solidFill>
                <a:latin typeface="Noto Sans JP"/>
                <a:ea typeface="Noto Sans JP"/>
                <a:cs typeface="Noto Sans JP"/>
              </a:rPr>
              <a:t>© U-Writing All Rights Reserved.</a:t>
            </a:r>
          </a:p>
        </p:txBody>
      </p:sp>
      <p:sp>
        <p:nvSpPr>
          <p:cNvPr id="8" name="Rounded Rectangle 7"/>
          <p:cNvSpPr/>
          <p:nvPr/>
        </p:nvSpPr>
        <p:spPr>
          <a:xfrm>
            <a:off x="11010000" y="6430000"/>
            <a:ext cx="420000" cy="300000"/>
          </a:xfrm>
          <a:prstGeom prst="round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010000" y="6430000"/>
            <a:ext cx="420000" cy="300000"/>
          </a:xfrm>
          <a:prstGeom prst="rect">
            <a:avLst/>
          </a:prstGeom>
          <a:noFill/>
        </p:spPr>
        <p:txBody>
          <a:bodyPr wrap="square" anchor="ctr" lIns="0" rIns="0" tIns="0" bIns="0">
            <a:spAutoFit/>
          </a:bodyPr>
          <a:lstStyle/>
          <a:p>
            <a:pPr algn="ctr">
              <a:lnSpc>
                <a:spcPct val="125000"/>
              </a:lnSpc>
            </a:pPr>
            <a:r>
              <a:rPr sz="1100" b="1">
                <a:solidFill>
                  <a:srgbClr val="FFFFFF"/>
                </a:solidFill>
                <a:latin typeface="Noto Sans JP"/>
                <a:ea typeface="Noto Sans JP"/>
                <a:cs typeface="Noto Sans JP"/>
              </a:rPr>
              <a:t>19</a:t>
            </a:r>
          </a:p>
        </p:txBody>
      </p:sp>
      <p:sp>
        <p:nvSpPr>
          <p:cNvPr id="10" name="Rectangle 9"/>
          <p:cNvSpPr/>
          <p:nvPr/>
        </p:nvSpPr>
        <p:spPr>
          <a:xfrm>
            <a:off x="762000" y="1700000"/>
            <a:ext cx="3400000" cy="4400000"/>
          </a:xfrm>
          <a:prstGeom prst="rect">
            <a:avLst/>
          </a:prstGeom>
          <a:solidFill>
            <a:srgbClr val="F1E9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012000" y="1950000"/>
            <a:ext cx="1320000" cy="3000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FFFFFF"/>
                </a:solidFill>
                <a:latin typeface="Noto Sans JP"/>
                <a:ea typeface="Noto Sans JP"/>
                <a:cs typeface="Noto Sans JP"/>
              </a:rPr>
              <a:t>提案力の高さ</a:t>
            </a:r>
          </a:p>
        </p:txBody>
      </p:sp>
      <p:sp>
        <p:nvSpPr>
          <p:cNvPr id="12" name="TextBox 11"/>
          <p:cNvSpPr txBox="1"/>
          <p:nvPr/>
        </p:nvSpPr>
        <p:spPr>
          <a:xfrm>
            <a:off x="1012000" y="2450000"/>
            <a:ext cx="500000" cy="600000"/>
          </a:xfrm>
          <a:prstGeom prst="rect">
            <a:avLst/>
          </a:prstGeom>
          <a:noFill/>
        </p:spPr>
        <p:txBody>
          <a:bodyPr wrap="square" anchor="t" lIns="0" rIns="0" tIns="0" bIns="0">
            <a:spAutoFit/>
          </a:bodyPr>
          <a:lstStyle/>
          <a:p>
            <a:pPr algn="l">
              <a:lnSpc>
                <a:spcPct val="125000"/>
              </a:lnSpc>
            </a:pPr>
            <a:r>
              <a:rPr sz="4800" b="1">
                <a:solidFill>
                  <a:srgbClr val="D9764A"/>
                </a:solidFill>
                <a:latin typeface="Noto Sans JP"/>
                <a:ea typeface="Noto Sans JP"/>
                <a:cs typeface="Noto Sans JP"/>
              </a:rPr>
              <a:t>“</a:t>
            </a:r>
          </a:p>
        </p:txBody>
      </p:sp>
      <p:sp>
        <p:nvSpPr>
          <p:cNvPr id="13" name="TextBox 12"/>
          <p:cNvSpPr txBox="1"/>
          <p:nvPr/>
        </p:nvSpPr>
        <p:spPr>
          <a:xfrm>
            <a:off x="1012000" y="3050000"/>
            <a:ext cx="2900000" cy="2300000"/>
          </a:xfrm>
          <a:prstGeom prst="rect">
            <a:avLst/>
          </a:prstGeom>
          <a:noFill/>
        </p:spPr>
        <p:txBody>
          <a:bodyPr wrap="square" anchor="t" lIns="0" rIns="0" tIns="0" bIns="0">
            <a:spAutoFit/>
          </a:bodyPr>
          <a:lstStyle/>
          <a:p>
            <a:pPr algn="l">
              <a:lnSpc>
                <a:spcPct val="160000"/>
              </a:lnSpc>
            </a:pPr>
            <a:r>
              <a:rPr sz="1300" b="0">
                <a:solidFill>
                  <a:srgbClr val="2A2F33"/>
                </a:solidFill>
                <a:latin typeface="Noto Sans JP"/>
                <a:ea typeface="Noto Sans JP"/>
                <a:cs typeface="Noto Sans JP"/>
              </a:rPr>
              <a:t>こちらの要望も丁寧に聞いてくださり、的確な提案をいただけました。リーズナブルな価格にもかかわらず、しっかりとした内容でとても助かりました。</a:t>
            </a:r>
          </a:p>
        </p:txBody>
      </p:sp>
      <p:sp>
        <p:nvSpPr>
          <p:cNvPr id="14" name="TextBox 13"/>
          <p:cNvSpPr txBox="1"/>
          <p:nvPr/>
        </p:nvSpPr>
        <p:spPr>
          <a:xfrm>
            <a:off x="1012000" y="5550000"/>
            <a:ext cx="2900000" cy="300000"/>
          </a:xfrm>
          <a:prstGeom prst="rect">
            <a:avLst/>
          </a:prstGeom>
          <a:noFill/>
        </p:spPr>
        <p:txBody>
          <a:bodyPr wrap="square" anchor="t" lIns="0" rIns="0" tIns="0" bIns="0">
            <a:spAutoFit/>
          </a:bodyPr>
          <a:lstStyle/>
          <a:p>
            <a:pPr algn="r">
              <a:lnSpc>
                <a:spcPct val="125000"/>
              </a:lnSpc>
            </a:pPr>
            <a:r>
              <a:rPr sz="1100" b="1">
                <a:solidFill>
                  <a:srgbClr val="5F666B"/>
                </a:solidFill>
                <a:latin typeface="Noto Sans JP"/>
                <a:ea typeface="Noto Sans JP"/>
                <a:cs typeface="Noto Sans JP"/>
              </a:rPr>
              <a:t>健康装具の販売者 Sさん</a:t>
            </a:r>
          </a:p>
        </p:txBody>
      </p:sp>
      <p:sp>
        <p:nvSpPr>
          <p:cNvPr id="15" name="Rectangle 14"/>
          <p:cNvSpPr/>
          <p:nvPr/>
        </p:nvSpPr>
        <p:spPr>
          <a:xfrm>
            <a:off x="4396000" y="1700000"/>
            <a:ext cx="3400000" cy="4400000"/>
          </a:xfrm>
          <a:prstGeom prst="rect">
            <a:avLst/>
          </a:prstGeom>
          <a:solidFill>
            <a:srgbClr val="F1E9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646000" y="1950000"/>
            <a:ext cx="1830000" cy="3000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FFFFFF"/>
                </a:solidFill>
                <a:latin typeface="Noto Sans JP"/>
                <a:ea typeface="Noto Sans JP"/>
                <a:cs typeface="Noto Sans JP"/>
              </a:rPr>
              <a:t>ヒアリング力の高さ</a:t>
            </a:r>
          </a:p>
        </p:txBody>
      </p:sp>
      <p:sp>
        <p:nvSpPr>
          <p:cNvPr id="17" name="TextBox 16"/>
          <p:cNvSpPr txBox="1"/>
          <p:nvPr/>
        </p:nvSpPr>
        <p:spPr>
          <a:xfrm>
            <a:off x="4646000" y="2450000"/>
            <a:ext cx="500000" cy="600000"/>
          </a:xfrm>
          <a:prstGeom prst="rect">
            <a:avLst/>
          </a:prstGeom>
          <a:noFill/>
        </p:spPr>
        <p:txBody>
          <a:bodyPr wrap="square" anchor="t" lIns="0" rIns="0" tIns="0" bIns="0">
            <a:spAutoFit/>
          </a:bodyPr>
          <a:lstStyle/>
          <a:p>
            <a:pPr algn="l">
              <a:lnSpc>
                <a:spcPct val="125000"/>
              </a:lnSpc>
            </a:pPr>
            <a:r>
              <a:rPr sz="4800" b="1">
                <a:solidFill>
                  <a:srgbClr val="D9764A"/>
                </a:solidFill>
                <a:latin typeface="Noto Sans JP"/>
                <a:ea typeface="Noto Sans JP"/>
                <a:cs typeface="Noto Sans JP"/>
              </a:rPr>
              <a:t>“</a:t>
            </a:r>
          </a:p>
        </p:txBody>
      </p:sp>
      <p:sp>
        <p:nvSpPr>
          <p:cNvPr id="18" name="TextBox 17"/>
          <p:cNvSpPr txBox="1"/>
          <p:nvPr/>
        </p:nvSpPr>
        <p:spPr>
          <a:xfrm>
            <a:off x="4646000" y="3050000"/>
            <a:ext cx="2900000" cy="2300000"/>
          </a:xfrm>
          <a:prstGeom prst="rect">
            <a:avLst/>
          </a:prstGeom>
          <a:noFill/>
        </p:spPr>
        <p:txBody>
          <a:bodyPr wrap="square" anchor="t" lIns="0" rIns="0" tIns="0" bIns="0">
            <a:spAutoFit/>
          </a:bodyPr>
          <a:lstStyle/>
          <a:p>
            <a:pPr algn="l">
              <a:lnSpc>
                <a:spcPct val="160000"/>
              </a:lnSpc>
            </a:pPr>
            <a:r>
              <a:rPr sz="1300" b="0">
                <a:solidFill>
                  <a:srgbClr val="2A2F33"/>
                </a:solidFill>
                <a:latin typeface="Noto Sans JP"/>
                <a:ea typeface="Noto Sans JP"/>
                <a:cs typeface="Noto Sans JP"/>
              </a:rPr>
              <a:t>これまでの広告課題やお客様の反応を丁寧にヒアリングしてくださり、納得感のある広告に仕上げていただけました。次回もぜひお願いしたいと思える方です。</a:t>
            </a:r>
          </a:p>
        </p:txBody>
      </p:sp>
      <p:sp>
        <p:nvSpPr>
          <p:cNvPr id="19" name="TextBox 18"/>
          <p:cNvSpPr txBox="1"/>
          <p:nvPr/>
        </p:nvSpPr>
        <p:spPr>
          <a:xfrm>
            <a:off x="4646000" y="5550000"/>
            <a:ext cx="2900000" cy="300000"/>
          </a:xfrm>
          <a:prstGeom prst="rect">
            <a:avLst/>
          </a:prstGeom>
          <a:noFill/>
        </p:spPr>
        <p:txBody>
          <a:bodyPr wrap="square" anchor="t" lIns="0" rIns="0" tIns="0" bIns="0">
            <a:spAutoFit/>
          </a:bodyPr>
          <a:lstStyle/>
          <a:p>
            <a:pPr algn="r">
              <a:lnSpc>
                <a:spcPct val="125000"/>
              </a:lnSpc>
            </a:pPr>
            <a:r>
              <a:rPr sz="1100" b="1">
                <a:solidFill>
                  <a:srgbClr val="5F666B"/>
                </a:solidFill>
                <a:latin typeface="Noto Sans JP"/>
                <a:ea typeface="Noto Sans JP"/>
                <a:cs typeface="Noto Sans JP"/>
              </a:rPr>
              <a:t>脱毛・ホワイトニングサロン Yさん</a:t>
            </a:r>
          </a:p>
        </p:txBody>
      </p:sp>
      <p:sp>
        <p:nvSpPr>
          <p:cNvPr id="20" name="Rectangle 19"/>
          <p:cNvSpPr/>
          <p:nvPr/>
        </p:nvSpPr>
        <p:spPr>
          <a:xfrm>
            <a:off x="8030000" y="1700000"/>
            <a:ext cx="3400000" cy="4400000"/>
          </a:xfrm>
          <a:prstGeom prst="rect">
            <a:avLst/>
          </a:prstGeom>
          <a:solidFill>
            <a:srgbClr val="F1E9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280000" y="1950000"/>
            <a:ext cx="1490000" cy="3000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FFFFFF"/>
                </a:solidFill>
                <a:latin typeface="Noto Sans JP"/>
                <a:ea typeface="Noto Sans JP"/>
                <a:cs typeface="Noto Sans JP"/>
              </a:rPr>
              <a:t>薬機法も対策可</a:t>
            </a:r>
          </a:p>
        </p:txBody>
      </p:sp>
      <p:sp>
        <p:nvSpPr>
          <p:cNvPr id="22" name="TextBox 21"/>
          <p:cNvSpPr txBox="1"/>
          <p:nvPr/>
        </p:nvSpPr>
        <p:spPr>
          <a:xfrm>
            <a:off x="8280000" y="2450000"/>
            <a:ext cx="500000" cy="600000"/>
          </a:xfrm>
          <a:prstGeom prst="rect">
            <a:avLst/>
          </a:prstGeom>
          <a:noFill/>
        </p:spPr>
        <p:txBody>
          <a:bodyPr wrap="square" anchor="t" lIns="0" rIns="0" tIns="0" bIns="0">
            <a:spAutoFit/>
          </a:bodyPr>
          <a:lstStyle/>
          <a:p>
            <a:pPr algn="l">
              <a:lnSpc>
                <a:spcPct val="125000"/>
              </a:lnSpc>
            </a:pPr>
            <a:r>
              <a:rPr sz="4800" b="1">
                <a:solidFill>
                  <a:srgbClr val="D9764A"/>
                </a:solidFill>
                <a:latin typeface="Noto Sans JP"/>
                <a:ea typeface="Noto Sans JP"/>
                <a:cs typeface="Noto Sans JP"/>
              </a:rPr>
              <a:t>“</a:t>
            </a:r>
          </a:p>
        </p:txBody>
      </p:sp>
      <p:sp>
        <p:nvSpPr>
          <p:cNvPr id="23" name="TextBox 22"/>
          <p:cNvSpPr txBox="1"/>
          <p:nvPr/>
        </p:nvSpPr>
        <p:spPr>
          <a:xfrm>
            <a:off x="8280000" y="3050000"/>
            <a:ext cx="2900000" cy="2300000"/>
          </a:xfrm>
          <a:prstGeom prst="rect">
            <a:avLst/>
          </a:prstGeom>
          <a:noFill/>
        </p:spPr>
        <p:txBody>
          <a:bodyPr wrap="square" anchor="t" lIns="0" rIns="0" tIns="0" bIns="0">
            <a:spAutoFit/>
          </a:bodyPr>
          <a:lstStyle/>
          <a:p>
            <a:pPr algn="l">
              <a:lnSpc>
                <a:spcPct val="160000"/>
              </a:lnSpc>
            </a:pPr>
            <a:r>
              <a:rPr sz="1300" b="0">
                <a:solidFill>
                  <a:srgbClr val="2A2F33"/>
                </a:solidFill>
                <a:latin typeface="Noto Sans JP"/>
                <a:ea typeface="Noto Sans JP"/>
                <a:cs typeface="Noto Sans JP"/>
              </a:rPr>
              <a:t>薬機法が関わる案件でも、安心して上原さんにすべてお任せできました。丁寧な対応と、高い完成度の原稿にとても満足しています。</a:t>
            </a:r>
          </a:p>
        </p:txBody>
      </p:sp>
      <p:sp>
        <p:nvSpPr>
          <p:cNvPr id="24" name="TextBox 23"/>
          <p:cNvSpPr txBox="1"/>
          <p:nvPr/>
        </p:nvSpPr>
        <p:spPr>
          <a:xfrm>
            <a:off x="8280000" y="5550000"/>
            <a:ext cx="2900000" cy="300000"/>
          </a:xfrm>
          <a:prstGeom prst="rect">
            <a:avLst/>
          </a:prstGeom>
          <a:noFill/>
        </p:spPr>
        <p:txBody>
          <a:bodyPr wrap="square" anchor="t" lIns="0" rIns="0" tIns="0" bIns="0">
            <a:spAutoFit/>
          </a:bodyPr>
          <a:lstStyle/>
          <a:p>
            <a:pPr algn="r">
              <a:lnSpc>
                <a:spcPct val="125000"/>
              </a:lnSpc>
            </a:pPr>
            <a:r>
              <a:rPr sz="1100" b="1">
                <a:solidFill>
                  <a:srgbClr val="5F666B"/>
                </a:solidFill>
                <a:latin typeface="Noto Sans JP"/>
                <a:ea typeface="Noto Sans JP"/>
                <a:cs typeface="Noto Sans JP"/>
              </a:rPr>
              <a:t>デザイン制作会社 Hさん</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Rectangle 1"/>
          <p:cNvSpPr/>
          <p:nvPr/>
        </p:nvSpPr>
        <p:spPr>
          <a:xfrm>
            <a:off x="0" y="0"/>
            <a:ext cx="12192000" cy="762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62000" y="600000"/>
            <a:ext cx="76200" cy="8200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92000" y="560000"/>
            <a:ext cx="10668000" cy="260000"/>
          </a:xfrm>
          <a:prstGeom prst="rect">
            <a:avLst/>
          </a:prstGeom>
          <a:noFill/>
        </p:spPr>
        <p:txBody>
          <a:bodyPr wrap="square" anchor="t" lIns="0" rIns="0" tIns="0" bIns="0">
            <a:spAutoFit/>
          </a:bodyPr>
          <a:lstStyle/>
          <a:p>
            <a:pPr algn="l">
              <a:lnSpc>
                <a:spcPct val="125000"/>
              </a:lnSpc>
            </a:pPr>
            <a:r>
              <a:rPr sz="1050" b="1">
                <a:solidFill>
                  <a:srgbClr val="145F6B"/>
                </a:solidFill>
                <a:latin typeface="Noto Sans JP"/>
                <a:ea typeface="Noto Sans JP"/>
                <a:cs typeface="Noto Sans JP"/>
              </a:rPr>
              <a:t>WORKS</a:t>
            </a:r>
          </a:p>
        </p:txBody>
      </p:sp>
      <p:sp>
        <p:nvSpPr>
          <p:cNvPr id="5" name="TextBox 4"/>
          <p:cNvSpPr txBox="1"/>
          <p:nvPr/>
        </p:nvSpPr>
        <p:spPr>
          <a:xfrm>
            <a:off x="992000" y="840000"/>
            <a:ext cx="10438000" cy="600000"/>
          </a:xfrm>
          <a:prstGeom prst="rect">
            <a:avLst/>
          </a:prstGeom>
          <a:noFill/>
        </p:spPr>
        <p:txBody>
          <a:bodyPr wrap="square" anchor="t" lIns="0" rIns="0" tIns="0" bIns="0">
            <a:spAutoFit/>
          </a:bodyPr>
          <a:lstStyle/>
          <a:p>
            <a:pPr algn="l">
              <a:lnSpc>
                <a:spcPct val="125000"/>
              </a:lnSpc>
            </a:pPr>
            <a:r>
              <a:rPr sz="2600" b="1">
                <a:solidFill>
                  <a:srgbClr val="2A2F33"/>
                </a:solidFill>
                <a:latin typeface="Noto Sans JP"/>
                <a:ea typeface="Noto Sans JP"/>
                <a:cs typeface="Noto Sans JP"/>
              </a:rPr>
              <a:t>その他の実績</a:t>
            </a:r>
          </a:p>
        </p:txBody>
      </p:sp>
      <p:sp>
        <p:nvSpPr>
          <p:cNvPr id="6" name="Rectangle 5"/>
          <p:cNvSpPr/>
          <p:nvPr/>
        </p:nvSpPr>
        <p:spPr>
          <a:xfrm>
            <a:off x="762000" y="6380000"/>
            <a:ext cx="10668000" cy="9525"/>
          </a:xfrm>
          <a:prstGeom prst="rect">
            <a:avLst/>
          </a:prstGeom>
          <a:solidFill>
            <a:srgbClr val="E6DD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2000" y="6480000"/>
            <a:ext cx="4000000" cy="200000"/>
          </a:xfrm>
          <a:prstGeom prst="rect">
            <a:avLst/>
          </a:prstGeom>
          <a:noFill/>
        </p:spPr>
        <p:txBody>
          <a:bodyPr wrap="square" anchor="t" lIns="0" rIns="0" tIns="0" bIns="0">
            <a:spAutoFit/>
          </a:bodyPr>
          <a:lstStyle/>
          <a:p>
            <a:pPr algn="l">
              <a:lnSpc>
                <a:spcPct val="125000"/>
              </a:lnSpc>
            </a:pPr>
            <a:r>
              <a:rPr sz="800" b="0">
                <a:solidFill>
                  <a:srgbClr val="5F666B"/>
                </a:solidFill>
                <a:latin typeface="Noto Sans JP"/>
                <a:ea typeface="Noto Sans JP"/>
                <a:cs typeface="Noto Sans JP"/>
              </a:rPr>
              <a:t>© U-Writing All Rights Reserved.</a:t>
            </a:r>
          </a:p>
        </p:txBody>
      </p:sp>
      <p:sp>
        <p:nvSpPr>
          <p:cNvPr id="8" name="Rounded Rectangle 7"/>
          <p:cNvSpPr/>
          <p:nvPr/>
        </p:nvSpPr>
        <p:spPr>
          <a:xfrm>
            <a:off x="11010000" y="6430000"/>
            <a:ext cx="420000" cy="300000"/>
          </a:xfrm>
          <a:prstGeom prst="round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010000" y="6430000"/>
            <a:ext cx="420000" cy="300000"/>
          </a:xfrm>
          <a:prstGeom prst="rect">
            <a:avLst/>
          </a:prstGeom>
          <a:noFill/>
        </p:spPr>
        <p:txBody>
          <a:bodyPr wrap="square" anchor="ctr" lIns="0" rIns="0" tIns="0" bIns="0">
            <a:spAutoFit/>
          </a:bodyPr>
          <a:lstStyle/>
          <a:p>
            <a:pPr algn="ctr">
              <a:lnSpc>
                <a:spcPct val="125000"/>
              </a:lnSpc>
            </a:pPr>
            <a:r>
              <a:rPr sz="1100" b="1">
                <a:solidFill>
                  <a:srgbClr val="FFFFFF"/>
                </a:solidFill>
                <a:latin typeface="Noto Sans JP"/>
                <a:ea typeface="Noto Sans JP"/>
                <a:cs typeface="Noto Sans JP"/>
              </a:rPr>
              <a:t>20</a:t>
            </a:r>
          </a:p>
        </p:txBody>
      </p:sp>
      <p:sp>
        <p:nvSpPr>
          <p:cNvPr id="10" name="Rectangle 9"/>
          <p:cNvSpPr/>
          <p:nvPr/>
        </p:nvSpPr>
        <p:spPr>
          <a:xfrm>
            <a:off x="762000" y="1600000"/>
            <a:ext cx="3400000" cy="3000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FFFFFF"/>
                </a:solidFill>
                <a:latin typeface="Noto Sans JP"/>
                <a:ea typeface="Noto Sans JP"/>
                <a:cs typeface="Noto Sans JP"/>
              </a:rPr>
              <a:t>LINE・広告</a:t>
            </a:r>
          </a:p>
        </p:txBody>
      </p:sp>
      <p:sp>
        <p:nvSpPr>
          <p:cNvPr id="11" name="Rectangle 10"/>
          <p:cNvSpPr/>
          <p:nvPr/>
        </p:nvSpPr>
        <p:spPr>
          <a:xfrm>
            <a:off x="762000" y="2050000"/>
            <a:ext cx="3400000" cy="1250000"/>
          </a:xfrm>
          <a:prstGeom prst="rect">
            <a:avLst/>
          </a:prstGeom>
          <a:solidFill>
            <a:srgbClr val="FFFFFF"/>
          </a:solidFill>
          <a:ln w="12700">
            <a:solidFill>
              <a:srgbClr val="E6DD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82000" y="2200000"/>
            <a:ext cx="2960000" cy="450000"/>
          </a:xfrm>
          <a:prstGeom prst="rect">
            <a:avLst/>
          </a:prstGeom>
          <a:noFill/>
        </p:spPr>
        <p:txBody>
          <a:bodyPr wrap="square" anchor="t" lIns="0" rIns="0" tIns="0" bIns="0">
            <a:spAutoFit/>
          </a:bodyPr>
          <a:lstStyle/>
          <a:p>
            <a:pPr algn="l">
              <a:lnSpc>
                <a:spcPct val="125000"/>
              </a:lnSpc>
            </a:pPr>
            <a:r>
              <a:rPr sz="2000" b="1">
                <a:solidFill>
                  <a:srgbClr val="D9764A"/>
                </a:solidFill>
                <a:latin typeface="Noto Sans JP"/>
                <a:ea typeface="Noto Sans JP"/>
                <a:cs typeface="Noto Sans JP"/>
              </a:rPr>
              <a:t>17.12%</a:t>
            </a:r>
          </a:p>
        </p:txBody>
      </p:sp>
      <p:sp>
        <p:nvSpPr>
          <p:cNvPr id="13" name="TextBox 12"/>
          <p:cNvSpPr txBox="1"/>
          <p:nvPr/>
        </p:nvSpPr>
        <p:spPr>
          <a:xfrm>
            <a:off x="982000" y="2650000"/>
            <a:ext cx="2960000" cy="300000"/>
          </a:xfrm>
          <a:prstGeom prst="rect">
            <a:avLst/>
          </a:prstGeom>
          <a:noFill/>
        </p:spPr>
        <p:txBody>
          <a:bodyPr wrap="square" anchor="t" lIns="0" rIns="0" tIns="0" bIns="0">
            <a:spAutoFit/>
          </a:bodyPr>
          <a:lstStyle/>
          <a:p>
            <a:pPr algn="l">
              <a:lnSpc>
                <a:spcPct val="125000"/>
              </a:lnSpc>
            </a:pPr>
            <a:r>
              <a:rPr sz="1200" b="1">
                <a:solidFill>
                  <a:srgbClr val="2A2F33"/>
                </a:solidFill>
                <a:latin typeface="Noto Sans JP"/>
                <a:ea typeface="Noto Sans JP"/>
                <a:cs typeface="Noto Sans JP"/>
              </a:rPr>
              <a:t>化粧品の販促LINEシナリオ</a:t>
            </a:r>
          </a:p>
        </p:txBody>
      </p:sp>
      <p:sp>
        <p:nvSpPr>
          <p:cNvPr id="14" name="TextBox 13"/>
          <p:cNvSpPr txBox="1"/>
          <p:nvPr/>
        </p:nvSpPr>
        <p:spPr>
          <a:xfrm>
            <a:off x="982000" y="2950000"/>
            <a:ext cx="2960000" cy="300000"/>
          </a:xfrm>
          <a:prstGeom prst="rect">
            <a:avLst/>
          </a:prstGeom>
          <a:noFill/>
        </p:spPr>
        <p:txBody>
          <a:bodyPr wrap="square" anchor="t" lIns="0" rIns="0" tIns="0" bIns="0">
            <a:spAutoFit/>
          </a:bodyPr>
          <a:lstStyle/>
          <a:p>
            <a:pPr algn="l">
              <a:lnSpc>
                <a:spcPct val="125000"/>
              </a:lnSpc>
            </a:pPr>
            <a:r>
              <a:rPr sz="1000" b="0">
                <a:solidFill>
                  <a:srgbClr val="5F666B"/>
                </a:solidFill>
                <a:latin typeface="Noto Sans JP"/>
                <a:ea typeface="Noto Sans JP"/>
                <a:cs typeface="Noto Sans JP"/>
              </a:rPr>
              <a:t>257通中44件が成約・単価2,000円</a:t>
            </a:r>
          </a:p>
        </p:txBody>
      </p:sp>
      <p:sp>
        <p:nvSpPr>
          <p:cNvPr id="15" name="Rectangle 14"/>
          <p:cNvSpPr/>
          <p:nvPr/>
        </p:nvSpPr>
        <p:spPr>
          <a:xfrm>
            <a:off x="762000" y="3430000"/>
            <a:ext cx="3400000" cy="1250000"/>
          </a:xfrm>
          <a:prstGeom prst="rect">
            <a:avLst/>
          </a:prstGeom>
          <a:solidFill>
            <a:srgbClr val="FFFFFF"/>
          </a:solidFill>
          <a:ln w="12700">
            <a:solidFill>
              <a:srgbClr val="E6DD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82000" y="3580000"/>
            <a:ext cx="2960000" cy="450000"/>
          </a:xfrm>
          <a:prstGeom prst="rect">
            <a:avLst/>
          </a:prstGeom>
          <a:noFill/>
        </p:spPr>
        <p:txBody>
          <a:bodyPr wrap="square" anchor="t" lIns="0" rIns="0" tIns="0" bIns="0">
            <a:spAutoFit/>
          </a:bodyPr>
          <a:lstStyle/>
          <a:p>
            <a:pPr algn="l">
              <a:lnSpc>
                <a:spcPct val="125000"/>
              </a:lnSpc>
            </a:pPr>
            <a:r>
              <a:rPr sz="2000" b="1">
                <a:solidFill>
                  <a:srgbClr val="D9764A"/>
                </a:solidFill>
                <a:latin typeface="Noto Sans JP"/>
                <a:ea typeface="Noto Sans JP"/>
                <a:cs typeface="Noto Sans JP"/>
              </a:rPr>
              <a:t>約14,000円</a:t>
            </a:r>
          </a:p>
        </p:txBody>
      </p:sp>
      <p:sp>
        <p:nvSpPr>
          <p:cNvPr id="17" name="TextBox 16"/>
          <p:cNvSpPr txBox="1"/>
          <p:nvPr/>
        </p:nvSpPr>
        <p:spPr>
          <a:xfrm>
            <a:off x="982000" y="4030000"/>
            <a:ext cx="2960000" cy="300000"/>
          </a:xfrm>
          <a:prstGeom prst="rect">
            <a:avLst/>
          </a:prstGeom>
          <a:noFill/>
        </p:spPr>
        <p:txBody>
          <a:bodyPr wrap="square" anchor="t" lIns="0" rIns="0" tIns="0" bIns="0">
            <a:spAutoFit/>
          </a:bodyPr>
          <a:lstStyle/>
          <a:p>
            <a:pPr algn="l">
              <a:lnSpc>
                <a:spcPct val="125000"/>
              </a:lnSpc>
            </a:pPr>
            <a:r>
              <a:rPr sz="1200" b="1">
                <a:solidFill>
                  <a:srgbClr val="2A2F33"/>
                </a:solidFill>
                <a:latin typeface="Noto Sans JP"/>
                <a:ea typeface="Noto Sans JP"/>
                <a:cs typeface="Noto Sans JP"/>
              </a:rPr>
              <a:t>講座の集客にMeta広告を活用</a:t>
            </a:r>
          </a:p>
        </p:txBody>
      </p:sp>
      <p:sp>
        <p:nvSpPr>
          <p:cNvPr id="18" name="TextBox 17"/>
          <p:cNvSpPr txBox="1"/>
          <p:nvPr/>
        </p:nvSpPr>
        <p:spPr>
          <a:xfrm>
            <a:off x="982000" y="4330000"/>
            <a:ext cx="2960000" cy="300000"/>
          </a:xfrm>
          <a:prstGeom prst="rect">
            <a:avLst/>
          </a:prstGeom>
          <a:noFill/>
        </p:spPr>
        <p:txBody>
          <a:bodyPr wrap="square" anchor="t" lIns="0" rIns="0" tIns="0" bIns="0">
            <a:spAutoFit/>
          </a:bodyPr>
          <a:lstStyle/>
          <a:p>
            <a:pPr algn="l">
              <a:lnSpc>
                <a:spcPct val="125000"/>
              </a:lnSpc>
            </a:pPr>
            <a:r>
              <a:rPr sz="1000" b="0">
                <a:solidFill>
                  <a:srgbClr val="5F666B"/>
                </a:solidFill>
                <a:latin typeface="Noto Sans JP"/>
                <a:ea typeface="Noto Sans JP"/>
                <a:cs typeface="Noto Sans JP"/>
              </a:rPr>
              <a:t>1人あたりの集客単価</a:t>
            </a:r>
          </a:p>
        </p:txBody>
      </p:sp>
      <p:sp>
        <p:nvSpPr>
          <p:cNvPr id="19" name="Rectangle 18"/>
          <p:cNvSpPr/>
          <p:nvPr/>
        </p:nvSpPr>
        <p:spPr>
          <a:xfrm>
            <a:off x="762000" y="4810000"/>
            <a:ext cx="3400000" cy="1250000"/>
          </a:xfrm>
          <a:prstGeom prst="rect">
            <a:avLst/>
          </a:prstGeom>
          <a:solidFill>
            <a:srgbClr val="FFFFFF"/>
          </a:solidFill>
          <a:ln w="12700">
            <a:solidFill>
              <a:srgbClr val="E6DD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82000" y="4960000"/>
            <a:ext cx="2960000" cy="450000"/>
          </a:xfrm>
          <a:prstGeom prst="rect">
            <a:avLst/>
          </a:prstGeom>
          <a:noFill/>
        </p:spPr>
        <p:txBody>
          <a:bodyPr wrap="square" anchor="t" lIns="0" rIns="0" tIns="0" bIns="0">
            <a:spAutoFit/>
          </a:bodyPr>
          <a:lstStyle/>
          <a:p>
            <a:pPr algn="l">
              <a:lnSpc>
                <a:spcPct val="125000"/>
              </a:lnSpc>
            </a:pPr>
            <a:r>
              <a:rPr sz="2000" b="1">
                <a:solidFill>
                  <a:srgbClr val="D9764A"/>
                </a:solidFill>
                <a:latin typeface="Noto Sans JP"/>
                <a:ea typeface="Noto Sans JP"/>
                <a:cs typeface="Noto Sans JP"/>
              </a:rPr>
              <a:t>約6,750円</a:t>
            </a:r>
          </a:p>
        </p:txBody>
      </p:sp>
      <p:sp>
        <p:nvSpPr>
          <p:cNvPr id="21" name="TextBox 20"/>
          <p:cNvSpPr txBox="1"/>
          <p:nvPr/>
        </p:nvSpPr>
        <p:spPr>
          <a:xfrm>
            <a:off x="982000" y="5410000"/>
            <a:ext cx="2960000" cy="300000"/>
          </a:xfrm>
          <a:prstGeom prst="rect">
            <a:avLst/>
          </a:prstGeom>
          <a:noFill/>
        </p:spPr>
        <p:txBody>
          <a:bodyPr wrap="square" anchor="t" lIns="0" rIns="0" tIns="0" bIns="0">
            <a:spAutoFit/>
          </a:bodyPr>
          <a:lstStyle/>
          <a:p>
            <a:pPr algn="l">
              <a:lnSpc>
                <a:spcPct val="125000"/>
              </a:lnSpc>
            </a:pPr>
            <a:r>
              <a:rPr sz="1200" b="1">
                <a:solidFill>
                  <a:srgbClr val="2A2F33"/>
                </a:solidFill>
                <a:latin typeface="Noto Sans JP"/>
                <a:ea typeface="Noto Sans JP"/>
                <a:cs typeface="Noto Sans JP"/>
              </a:rPr>
              <a:t>セールス代行LPのライティング</a:t>
            </a:r>
          </a:p>
        </p:txBody>
      </p:sp>
      <p:sp>
        <p:nvSpPr>
          <p:cNvPr id="22" name="TextBox 21"/>
          <p:cNvSpPr txBox="1"/>
          <p:nvPr/>
        </p:nvSpPr>
        <p:spPr>
          <a:xfrm>
            <a:off x="982000" y="5710000"/>
            <a:ext cx="2960000" cy="300000"/>
          </a:xfrm>
          <a:prstGeom prst="rect">
            <a:avLst/>
          </a:prstGeom>
          <a:noFill/>
        </p:spPr>
        <p:txBody>
          <a:bodyPr wrap="square" anchor="t" lIns="0" rIns="0" tIns="0" bIns="0">
            <a:spAutoFit/>
          </a:bodyPr>
          <a:lstStyle/>
          <a:p>
            <a:pPr algn="l">
              <a:lnSpc>
                <a:spcPct val="125000"/>
              </a:lnSpc>
            </a:pPr>
            <a:r>
              <a:rPr sz="1000" b="0">
                <a:solidFill>
                  <a:srgbClr val="5F666B"/>
                </a:solidFill>
                <a:latin typeface="Noto Sans JP"/>
                <a:ea typeface="Noto Sans JP"/>
                <a:cs typeface="Noto Sans JP"/>
              </a:rPr>
              <a:t>約54,000円で8件のLINE登録</a:t>
            </a:r>
          </a:p>
        </p:txBody>
      </p:sp>
      <p:sp>
        <p:nvSpPr>
          <p:cNvPr id="23" name="Rectangle 22"/>
          <p:cNvSpPr/>
          <p:nvPr/>
        </p:nvSpPr>
        <p:spPr>
          <a:xfrm>
            <a:off x="4396000" y="1600000"/>
            <a:ext cx="3400000" cy="3000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FFFFFF"/>
                </a:solidFill>
                <a:latin typeface="Noto Sans JP"/>
                <a:ea typeface="Noto Sans JP"/>
                <a:cs typeface="Noto Sans JP"/>
              </a:rPr>
              <a:t>文章・記事</a:t>
            </a:r>
          </a:p>
        </p:txBody>
      </p:sp>
      <p:sp>
        <p:nvSpPr>
          <p:cNvPr id="24" name="Rectangle 23"/>
          <p:cNvSpPr/>
          <p:nvPr/>
        </p:nvSpPr>
        <p:spPr>
          <a:xfrm>
            <a:off x="4396000" y="2050000"/>
            <a:ext cx="3400000" cy="1250000"/>
          </a:xfrm>
          <a:prstGeom prst="rect">
            <a:avLst/>
          </a:prstGeom>
          <a:solidFill>
            <a:srgbClr val="FFFFFF"/>
          </a:solidFill>
          <a:ln w="12700">
            <a:solidFill>
              <a:srgbClr val="E6DD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616000" y="2200000"/>
            <a:ext cx="2960000" cy="450000"/>
          </a:xfrm>
          <a:prstGeom prst="rect">
            <a:avLst/>
          </a:prstGeom>
          <a:noFill/>
        </p:spPr>
        <p:txBody>
          <a:bodyPr wrap="square" anchor="t" lIns="0" rIns="0" tIns="0" bIns="0">
            <a:spAutoFit/>
          </a:bodyPr>
          <a:lstStyle/>
          <a:p>
            <a:pPr algn="l">
              <a:lnSpc>
                <a:spcPct val="125000"/>
              </a:lnSpc>
            </a:pPr>
            <a:r>
              <a:rPr sz="2000" b="1">
                <a:solidFill>
                  <a:srgbClr val="D9764A"/>
                </a:solidFill>
                <a:latin typeface="Noto Sans JP"/>
                <a:ea typeface="Noto Sans JP"/>
                <a:cs typeface="Noto Sans JP"/>
              </a:rPr>
              <a:t>0人→5人</a:t>
            </a:r>
          </a:p>
        </p:txBody>
      </p:sp>
      <p:sp>
        <p:nvSpPr>
          <p:cNvPr id="26" name="TextBox 25"/>
          <p:cNvSpPr txBox="1"/>
          <p:nvPr/>
        </p:nvSpPr>
        <p:spPr>
          <a:xfrm>
            <a:off x="4616000" y="2650000"/>
            <a:ext cx="2960000" cy="300000"/>
          </a:xfrm>
          <a:prstGeom prst="rect">
            <a:avLst/>
          </a:prstGeom>
          <a:noFill/>
        </p:spPr>
        <p:txBody>
          <a:bodyPr wrap="square" anchor="t" lIns="0" rIns="0" tIns="0" bIns="0">
            <a:spAutoFit/>
          </a:bodyPr>
          <a:lstStyle/>
          <a:p>
            <a:pPr algn="l">
              <a:lnSpc>
                <a:spcPct val="125000"/>
              </a:lnSpc>
            </a:pPr>
            <a:r>
              <a:rPr sz="1200" b="1">
                <a:solidFill>
                  <a:srgbClr val="2A2F33"/>
                </a:solidFill>
                <a:latin typeface="Noto Sans JP"/>
                <a:ea typeface="Noto Sans JP"/>
                <a:cs typeface="Noto Sans JP"/>
              </a:rPr>
              <a:t>コーチングのセミナー文章を改修</a:t>
            </a:r>
          </a:p>
        </p:txBody>
      </p:sp>
      <p:sp>
        <p:nvSpPr>
          <p:cNvPr id="27" name="TextBox 26"/>
          <p:cNvSpPr txBox="1"/>
          <p:nvPr/>
        </p:nvSpPr>
        <p:spPr>
          <a:xfrm>
            <a:off x="4616000" y="2950000"/>
            <a:ext cx="2960000" cy="300000"/>
          </a:xfrm>
          <a:prstGeom prst="rect">
            <a:avLst/>
          </a:prstGeom>
          <a:noFill/>
        </p:spPr>
        <p:txBody>
          <a:bodyPr wrap="square" anchor="t" lIns="0" rIns="0" tIns="0" bIns="0">
            <a:spAutoFit/>
          </a:bodyPr>
          <a:lstStyle/>
          <a:p>
            <a:pPr algn="l">
              <a:lnSpc>
                <a:spcPct val="125000"/>
              </a:lnSpc>
            </a:pPr>
            <a:r>
              <a:rPr sz="1000" b="0">
                <a:solidFill>
                  <a:srgbClr val="5F666B"/>
                </a:solidFill>
                <a:latin typeface="Noto Sans JP"/>
                <a:ea typeface="Noto Sans JP"/>
                <a:cs typeface="Noto Sans JP"/>
              </a:rPr>
              <a:t>集客数</a:t>
            </a:r>
          </a:p>
        </p:txBody>
      </p:sp>
      <p:sp>
        <p:nvSpPr>
          <p:cNvPr id="28" name="Rectangle 27"/>
          <p:cNvSpPr/>
          <p:nvPr/>
        </p:nvSpPr>
        <p:spPr>
          <a:xfrm>
            <a:off x="4396000" y="3430000"/>
            <a:ext cx="3400000" cy="1250000"/>
          </a:xfrm>
          <a:prstGeom prst="rect">
            <a:avLst/>
          </a:prstGeom>
          <a:solidFill>
            <a:srgbClr val="FFFFFF"/>
          </a:solidFill>
          <a:ln w="12700">
            <a:solidFill>
              <a:srgbClr val="E6DD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616000" y="3580000"/>
            <a:ext cx="2960000" cy="450000"/>
          </a:xfrm>
          <a:prstGeom prst="rect">
            <a:avLst/>
          </a:prstGeom>
          <a:noFill/>
        </p:spPr>
        <p:txBody>
          <a:bodyPr wrap="square" anchor="t" lIns="0" rIns="0" tIns="0" bIns="0">
            <a:spAutoFit/>
          </a:bodyPr>
          <a:lstStyle/>
          <a:p>
            <a:pPr algn="l">
              <a:lnSpc>
                <a:spcPct val="125000"/>
              </a:lnSpc>
            </a:pPr>
            <a:r>
              <a:rPr sz="2000" b="1">
                <a:solidFill>
                  <a:srgbClr val="D9764A"/>
                </a:solidFill>
                <a:latin typeface="Noto Sans JP"/>
                <a:ea typeface="Noto Sans JP"/>
                <a:cs typeface="Noto Sans JP"/>
              </a:rPr>
              <a:t>新卒1人</a:t>
            </a:r>
          </a:p>
        </p:txBody>
      </p:sp>
      <p:sp>
        <p:nvSpPr>
          <p:cNvPr id="30" name="TextBox 29"/>
          <p:cNvSpPr txBox="1"/>
          <p:nvPr/>
        </p:nvSpPr>
        <p:spPr>
          <a:xfrm>
            <a:off x="4616000" y="4030000"/>
            <a:ext cx="2960000" cy="300000"/>
          </a:xfrm>
          <a:prstGeom prst="rect">
            <a:avLst/>
          </a:prstGeom>
          <a:noFill/>
        </p:spPr>
        <p:txBody>
          <a:bodyPr wrap="square" anchor="t" lIns="0" rIns="0" tIns="0" bIns="0">
            <a:spAutoFit/>
          </a:bodyPr>
          <a:lstStyle/>
          <a:p>
            <a:pPr algn="l">
              <a:lnSpc>
                <a:spcPct val="125000"/>
              </a:lnSpc>
            </a:pPr>
            <a:r>
              <a:rPr sz="1200" b="1">
                <a:solidFill>
                  <a:srgbClr val="2A2F33"/>
                </a:solidFill>
                <a:latin typeface="Noto Sans JP"/>
                <a:ea typeface="Noto Sans JP"/>
                <a:cs typeface="Noto Sans JP"/>
              </a:rPr>
              <a:t>防水・塗装会社の採用記事</a:t>
            </a:r>
          </a:p>
        </p:txBody>
      </p:sp>
      <p:sp>
        <p:nvSpPr>
          <p:cNvPr id="31" name="TextBox 30"/>
          <p:cNvSpPr txBox="1"/>
          <p:nvPr/>
        </p:nvSpPr>
        <p:spPr>
          <a:xfrm>
            <a:off x="4616000" y="4330000"/>
            <a:ext cx="2960000" cy="300000"/>
          </a:xfrm>
          <a:prstGeom prst="rect">
            <a:avLst/>
          </a:prstGeom>
          <a:noFill/>
        </p:spPr>
        <p:txBody>
          <a:bodyPr wrap="square" anchor="t" lIns="0" rIns="0" tIns="0" bIns="0">
            <a:spAutoFit/>
          </a:bodyPr>
          <a:lstStyle/>
          <a:p>
            <a:pPr algn="l">
              <a:lnSpc>
                <a:spcPct val="125000"/>
              </a:lnSpc>
            </a:pPr>
            <a:r>
              <a:rPr sz="1000" b="0">
                <a:solidFill>
                  <a:srgbClr val="5F666B"/>
                </a:solidFill>
                <a:latin typeface="Noto Sans JP"/>
                <a:ea typeface="Noto Sans JP"/>
                <a:cs typeface="Noto Sans JP"/>
              </a:rPr>
              <a:t>公開1週間以内に入社決定</a:t>
            </a:r>
          </a:p>
        </p:txBody>
      </p:sp>
      <p:sp>
        <p:nvSpPr>
          <p:cNvPr id="32" name="Rectangle 31"/>
          <p:cNvSpPr/>
          <p:nvPr/>
        </p:nvSpPr>
        <p:spPr>
          <a:xfrm>
            <a:off x="4396000" y="4810000"/>
            <a:ext cx="3400000" cy="1250000"/>
          </a:xfrm>
          <a:prstGeom prst="rect">
            <a:avLst/>
          </a:prstGeom>
          <a:solidFill>
            <a:srgbClr val="FFFFFF"/>
          </a:solidFill>
          <a:ln w="12700">
            <a:solidFill>
              <a:srgbClr val="E6DD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616000" y="4960000"/>
            <a:ext cx="2960000" cy="450000"/>
          </a:xfrm>
          <a:prstGeom prst="rect">
            <a:avLst/>
          </a:prstGeom>
          <a:noFill/>
        </p:spPr>
        <p:txBody>
          <a:bodyPr wrap="square" anchor="t" lIns="0" rIns="0" tIns="0" bIns="0">
            <a:spAutoFit/>
          </a:bodyPr>
          <a:lstStyle/>
          <a:p>
            <a:pPr algn="l">
              <a:lnSpc>
                <a:spcPct val="125000"/>
              </a:lnSpc>
            </a:pPr>
            <a:r>
              <a:rPr sz="2000" b="1">
                <a:solidFill>
                  <a:srgbClr val="D9764A"/>
                </a:solidFill>
                <a:latin typeface="Noto Sans JP"/>
                <a:ea typeface="Noto Sans JP"/>
                <a:cs typeface="Noto Sans JP"/>
              </a:rPr>
              <a:t>60→70サイト</a:t>
            </a:r>
          </a:p>
        </p:txBody>
      </p:sp>
      <p:sp>
        <p:nvSpPr>
          <p:cNvPr id="34" name="TextBox 33"/>
          <p:cNvSpPr txBox="1"/>
          <p:nvPr/>
        </p:nvSpPr>
        <p:spPr>
          <a:xfrm>
            <a:off x="4616000" y="5410000"/>
            <a:ext cx="2960000" cy="300000"/>
          </a:xfrm>
          <a:prstGeom prst="rect">
            <a:avLst/>
          </a:prstGeom>
          <a:noFill/>
        </p:spPr>
        <p:txBody>
          <a:bodyPr wrap="square" anchor="t" lIns="0" rIns="0" tIns="0" bIns="0">
            <a:spAutoFit/>
          </a:bodyPr>
          <a:lstStyle/>
          <a:p>
            <a:pPr algn="l">
              <a:lnSpc>
                <a:spcPct val="125000"/>
              </a:lnSpc>
            </a:pPr>
            <a:r>
              <a:rPr sz="1200" b="1">
                <a:solidFill>
                  <a:srgbClr val="2A2F33"/>
                </a:solidFill>
                <a:latin typeface="Noto Sans JP"/>
                <a:ea typeface="Noto Sans JP"/>
                <a:cs typeface="Noto Sans JP"/>
              </a:rPr>
              <a:t>転職サービスのPR記事を企画</a:t>
            </a:r>
          </a:p>
        </p:txBody>
      </p:sp>
      <p:sp>
        <p:nvSpPr>
          <p:cNvPr id="35" name="TextBox 34"/>
          <p:cNvSpPr txBox="1"/>
          <p:nvPr/>
        </p:nvSpPr>
        <p:spPr>
          <a:xfrm>
            <a:off x="4616000" y="5710000"/>
            <a:ext cx="2960000" cy="300000"/>
          </a:xfrm>
          <a:prstGeom prst="rect">
            <a:avLst/>
          </a:prstGeom>
          <a:noFill/>
        </p:spPr>
        <p:txBody>
          <a:bodyPr wrap="square" anchor="t" lIns="0" rIns="0" tIns="0" bIns="0">
            <a:spAutoFit/>
          </a:bodyPr>
          <a:lstStyle/>
          <a:p>
            <a:pPr algn="l">
              <a:lnSpc>
                <a:spcPct val="125000"/>
              </a:lnSpc>
            </a:pPr>
            <a:r>
              <a:rPr sz="1000" b="0">
                <a:solidFill>
                  <a:srgbClr val="5F666B"/>
                </a:solidFill>
                <a:latin typeface="Noto Sans JP"/>
                <a:ea typeface="Noto Sans JP"/>
                <a:cs typeface="Noto Sans JP"/>
              </a:rPr>
              <a:t>記事の平均転載数</a:t>
            </a:r>
          </a:p>
        </p:txBody>
      </p:sp>
      <p:sp>
        <p:nvSpPr>
          <p:cNvPr id="36" name="Rectangle 35"/>
          <p:cNvSpPr/>
          <p:nvPr/>
        </p:nvSpPr>
        <p:spPr>
          <a:xfrm>
            <a:off x="8030000" y="1600000"/>
            <a:ext cx="3400000" cy="3000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FFFFFF"/>
                </a:solidFill>
                <a:latin typeface="Noto Sans JP"/>
                <a:ea typeface="Noto Sans JP"/>
                <a:cs typeface="Noto Sans JP"/>
              </a:rPr>
              <a:t>クラファン</a:t>
            </a:r>
          </a:p>
        </p:txBody>
      </p:sp>
      <p:sp>
        <p:nvSpPr>
          <p:cNvPr id="37" name="Rectangle 36"/>
          <p:cNvSpPr/>
          <p:nvPr/>
        </p:nvSpPr>
        <p:spPr>
          <a:xfrm>
            <a:off x="8030000" y="2050000"/>
            <a:ext cx="3400000" cy="1250000"/>
          </a:xfrm>
          <a:prstGeom prst="rect">
            <a:avLst/>
          </a:prstGeom>
          <a:solidFill>
            <a:srgbClr val="FFFFFF"/>
          </a:solidFill>
          <a:ln w="12700">
            <a:solidFill>
              <a:srgbClr val="E6DD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50000" y="2200000"/>
            <a:ext cx="2960000" cy="450000"/>
          </a:xfrm>
          <a:prstGeom prst="rect">
            <a:avLst/>
          </a:prstGeom>
          <a:noFill/>
        </p:spPr>
        <p:txBody>
          <a:bodyPr wrap="square" anchor="t" lIns="0" rIns="0" tIns="0" bIns="0">
            <a:spAutoFit/>
          </a:bodyPr>
          <a:lstStyle/>
          <a:p>
            <a:pPr algn="l">
              <a:lnSpc>
                <a:spcPct val="125000"/>
              </a:lnSpc>
            </a:pPr>
            <a:r>
              <a:rPr sz="2000" b="1">
                <a:solidFill>
                  <a:srgbClr val="D9764A"/>
                </a:solidFill>
                <a:latin typeface="Noto Sans JP"/>
                <a:ea typeface="Noto Sans JP"/>
                <a:cs typeface="Noto Sans JP"/>
              </a:rPr>
              <a:t>約30万円</a:t>
            </a:r>
          </a:p>
        </p:txBody>
      </p:sp>
      <p:sp>
        <p:nvSpPr>
          <p:cNvPr id="39" name="TextBox 38"/>
          <p:cNvSpPr txBox="1"/>
          <p:nvPr/>
        </p:nvSpPr>
        <p:spPr>
          <a:xfrm>
            <a:off x="8250000" y="2650000"/>
            <a:ext cx="2960000" cy="300000"/>
          </a:xfrm>
          <a:prstGeom prst="rect">
            <a:avLst/>
          </a:prstGeom>
          <a:noFill/>
        </p:spPr>
        <p:txBody>
          <a:bodyPr wrap="square" anchor="t" lIns="0" rIns="0" tIns="0" bIns="0">
            <a:spAutoFit/>
          </a:bodyPr>
          <a:lstStyle/>
          <a:p>
            <a:pPr algn="l">
              <a:lnSpc>
                <a:spcPct val="125000"/>
              </a:lnSpc>
            </a:pPr>
            <a:r>
              <a:rPr sz="1200" b="1">
                <a:solidFill>
                  <a:srgbClr val="2A2F33"/>
                </a:solidFill>
                <a:latin typeface="Noto Sans JP"/>
                <a:ea typeface="Noto Sans JP"/>
                <a:cs typeface="Noto Sans JP"/>
              </a:rPr>
              <a:t>PCガジェット</a:t>
            </a:r>
          </a:p>
        </p:txBody>
      </p:sp>
      <p:sp>
        <p:nvSpPr>
          <p:cNvPr id="40" name="TextBox 39"/>
          <p:cNvSpPr txBox="1"/>
          <p:nvPr/>
        </p:nvSpPr>
        <p:spPr>
          <a:xfrm>
            <a:off x="8250000" y="2950000"/>
            <a:ext cx="2960000" cy="300000"/>
          </a:xfrm>
          <a:prstGeom prst="rect">
            <a:avLst/>
          </a:prstGeom>
          <a:noFill/>
        </p:spPr>
        <p:txBody>
          <a:bodyPr wrap="square" anchor="t" lIns="0" rIns="0" tIns="0" bIns="0">
            <a:spAutoFit/>
          </a:bodyPr>
          <a:lstStyle/>
          <a:p>
            <a:pPr algn="l">
              <a:lnSpc>
                <a:spcPct val="125000"/>
              </a:lnSpc>
            </a:pPr>
            <a:r>
              <a:rPr sz="1000" b="0">
                <a:solidFill>
                  <a:srgbClr val="5F666B"/>
                </a:solidFill>
                <a:latin typeface="Noto Sans JP"/>
                <a:ea typeface="Noto Sans JP"/>
                <a:cs typeface="Noto Sans JP"/>
              </a:rPr>
              <a:t>公開3日以内（ライティング担当）</a:t>
            </a:r>
          </a:p>
        </p:txBody>
      </p:sp>
      <p:sp>
        <p:nvSpPr>
          <p:cNvPr id="41" name="Rectangle 40"/>
          <p:cNvSpPr/>
          <p:nvPr/>
        </p:nvSpPr>
        <p:spPr>
          <a:xfrm>
            <a:off x="8030000" y="3430000"/>
            <a:ext cx="3400000" cy="1250000"/>
          </a:xfrm>
          <a:prstGeom prst="rect">
            <a:avLst/>
          </a:prstGeom>
          <a:solidFill>
            <a:srgbClr val="FFFFFF"/>
          </a:solidFill>
          <a:ln w="12700">
            <a:solidFill>
              <a:srgbClr val="E6DD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250000" y="3580000"/>
            <a:ext cx="2960000" cy="450000"/>
          </a:xfrm>
          <a:prstGeom prst="rect">
            <a:avLst/>
          </a:prstGeom>
          <a:noFill/>
        </p:spPr>
        <p:txBody>
          <a:bodyPr wrap="square" anchor="t" lIns="0" rIns="0" tIns="0" bIns="0">
            <a:spAutoFit/>
          </a:bodyPr>
          <a:lstStyle/>
          <a:p>
            <a:pPr algn="l">
              <a:lnSpc>
                <a:spcPct val="125000"/>
              </a:lnSpc>
            </a:pPr>
            <a:r>
              <a:rPr sz="2000" b="1">
                <a:solidFill>
                  <a:srgbClr val="D9764A"/>
                </a:solidFill>
                <a:latin typeface="Noto Sans JP"/>
                <a:ea typeface="Noto Sans JP"/>
                <a:cs typeface="Noto Sans JP"/>
              </a:rPr>
              <a:t>2件</a:t>
            </a:r>
          </a:p>
        </p:txBody>
      </p:sp>
      <p:sp>
        <p:nvSpPr>
          <p:cNvPr id="43" name="TextBox 42"/>
          <p:cNvSpPr txBox="1"/>
          <p:nvPr/>
        </p:nvSpPr>
        <p:spPr>
          <a:xfrm>
            <a:off x="8250000" y="4030000"/>
            <a:ext cx="2960000" cy="300000"/>
          </a:xfrm>
          <a:prstGeom prst="rect">
            <a:avLst/>
          </a:prstGeom>
          <a:noFill/>
        </p:spPr>
        <p:txBody>
          <a:bodyPr wrap="square" anchor="t" lIns="0" rIns="0" tIns="0" bIns="0">
            <a:spAutoFit/>
          </a:bodyPr>
          <a:lstStyle/>
          <a:p>
            <a:pPr algn="l">
              <a:lnSpc>
                <a:spcPct val="125000"/>
              </a:lnSpc>
            </a:pPr>
            <a:r>
              <a:rPr sz="1200" b="1">
                <a:solidFill>
                  <a:srgbClr val="2A2F33"/>
                </a:solidFill>
                <a:latin typeface="Noto Sans JP"/>
                <a:ea typeface="Noto Sans JP"/>
                <a:cs typeface="Noto Sans JP"/>
              </a:rPr>
              <a:t>機能性寝具・健康雑貨</a:t>
            </a:r>
          </a:p>
        </p:txBody>
      </p:sp>
      <p:sp>
        <p:nvSpPr>
          <p:cNvPr id="44" name="TextBox 43"/>
          <p:cNvSpPr txBox="1"/>
          <p:nvPr/>
        </p:nvSpPr>
        <p:spPr>
          <a:xfrm>
            <a:off x="8250000" y="4330000"/>
            <a:ext cx="2960000" cy="300000"/>
          </a:xfrm>
          <a:prstGeom prst="rect">
            <a:avLst/>
          </a:prstGeom>
          <a:noFill/>
        </p:spPr>
        <p:txBody>
          <a:bodyPr wrap="square" anchor="t" lIns="0" rIns="0" tIns="0" bIns="0">
            <a:spAutoFit/>
          </a:bodyPr>
          <a:lstStyle/>
          <a:p>
            <a:pPr algn="l">
              <a:lnSpc>
                <a:spcPct val="125000"/>
              </a:lnSpc>
            </a:pPr>
            <a:r>
              <a:rPr sz="1000" b="0">
                <a:solidFill>
                  <a:srgbClr val="5F666B"/>
                </a:solidFill>
                <a:latin typeface="Noto Sans JP"/>
                <a:ea typeface="Noto Sans JP"/>
                <a:cs typeface="Noto Sans JP"/>
              </a:rPr>
              <a:t>CASE 01・02でご紹介</a:t>
            </a:r>
          </a:p>
        </p:txBody>
      </p:sp>
      <p:sp>
        <p:nvSpPr>
          <p:cNvPr id="45" name="TextBox 44"/>
          <p:cNvSpPr txBox="1"/>
          <p:nvPr/>
        </p:nvSpPr>
        <p:spPr>
          <a:xfrm>
            <a:off x="762000" y="6150000"/>
            <a:ext cx="10668000" cy="250000"/>
          </a:xfrm>
          <a:prstGeom prst="rect">
            <a:avLst/>
          </a:prstGeom>
          <a:noFill/>
        </p:spPr>
        <p:txBody>
          <a:bodyPr wrap="square" anchor="t" lIns="0" rIns="0" tIns="0" bIns="0">
            <a:spAutoFit/>
          </a:bodyPr>
          <a:lstStyle/>
          <a:p>
            <a:pPr algn="l">
              <a:lnSpc>
                <a:spcPct val="125000"/>
              </a:lnSpc>
            </a:pPr>
            <a:r>
              <a:rPr sz="900" b="0">
                <a:solidFill>
                  <a:srgbClr val="5F666B"/>
                </a:solidFill>
                <a:latin typeface="Noto Sans JP"/>
                <a:ea typeface="Noto Sans JP"/>
                <a:cs typeface="Noto Sans JP"/>
              </a:rPr>
              <a:t>※ サービスサイト（https://www.u-promotion.com/）掲載の実績より</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Rectangle 1"/>
          <p:cNvSpPr/>
          <p:nvPr/>
        </p:nvSpPr>
        <p:spPr>
          <a:xfrm>
            <a:off x="0" y="0"/>
            <a:ext cx="12192000" cy="762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62000" y="600000"/>
            <a:ext cx="76200" cy="8200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92000" y="560000"/>
            <a:ext cx="10668000" cy="260000"/>
          </a:xfrm>
          <a:prstGeom prst="rect">
            <a:avLst/>
          </a:prstGeom>
          <a:noFill/>
        </p:spPr>
        <p:txBody>
          <a:bodyPr wrap="square" anchor="t" lIns="0" rIns="0" tIns="0" bIns="0">
            <a:spAutoFit/>
          </a:bodyPr>
          <a:lstStyle/>
          <a:p>
            <a:pPr algn="l">
              <a:lnSpc>
                <a:spcPct val="125000"/>
              </a:lnSpc>
            </a:pPr>
            <a:r>
              <a:rPr sz="1050" b="1">
                <a:solidFill>
                  <a:srgbClr val="145F6B"/>
                </a:solidFill>
                <a:latin typeface="Noto Sans JP"/>
                <a:ea typeface="Noto Sans JP"/>
                <a:cs typeface="Noto Sans JP"/>
              </a:rPr>
              <a:t>PRICE</a:t>
            </a:r>
          </a:p>
        </p:txBody>
      </p:sp>
      <p:sp>
        <p:nvSpPr>
          <p:cNvPr id="5" name="TextBox 4"/>
          <p:cNvSpPr txBox="1"/>
          <p:nvPr/>
        </p:nvSpPr>
        <p:spPr>
          <a:xfrm>
            <a:off x="992000" y="840000"/>
            <a:ext cx="10438000" cy="600000"/>
          </a:xfrm>
          <a:prstGeom prst="rect">
            <a:avLst/>
          </a:prstGeom>
          <a:noFill/>
        </p:spPr>
        <p:txBody>
          <a:bodyPr wrap="square" anchor="t" lIns="0" rIns="0" tIns="0" bIns="0">
            <a:spAutoFit/>
          </a:bodyPr>
          <a:lstStyle/>
          <a:p>
            <a:pPr algn="l">
              <a:lnSpc>
                <a:spcPct val="125000"/>
              </a:lnSpc>
            </a:pPr>
            <a:r>
              <a:rPr sz="2600" b="1">
                <a:solidFill>
                  <a:srgbClr val="2A2F33"/>
                </a:solidFill>
                <a:latin typeface="Noto Sans JP"/>
                <a:ea typeface="Noto Sans JP"/>
                <a:cs typeface="Noto Sans JP"/>
              </a:rPr>
              <a:t>料金一覧</a:t>
            </a:r>
          </a:p>
        </p:txBody>
      </p:sp>
      <p:sp>
        <p:nvSpPr>
          <p:cNvPr id="6" name="Rectangle 5"/>
          <p:cNvSpPr/>
          <p:nvPr/>
        </p:nvSpPr>
        <p:spPr>
          <a:xfrm>
            <a:off x="762000" y="6380000"/>
            <a:ext cx="10668000" cy="9525"/>
          </a:xfrm>
          <a:prstGeom prst="rect">
            <a:avLst/>
          </a:prstGeom>
          <a:solidFill>
            <a:srgbClr val="E6DD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2000" y="6480000"/>
            <a:ext cx="4000000" cy="200000"/>
          </a:xfrm>
          <a:prstGeom prst="rect">
            <a:avLst/>
          </a:prstGeom>
          <a:noFill/>
        </p:spPr>
        <p:txBody>
          <a:bodyPr wrap="square" anchor="t" lIns="0" rIns="0" tIns="0" bIns="0">
            <a:spAutoFit/>
          </a:bodyPr>
          <a:lstStyle/>
          <a:p>
            <a:pPr algn="l">
              <a:lnSpc>
                <a:spcPct val="125000"/>
              </a:lnSpc>
            </a:pPr>
            <a:r>
              <a:rPr sz="800" b="0">
                <a:solidFill>
                  <a:srgbClr val="5F666B"/>
                </a:solidFill>
                <a:latin typeface="Noto Sans JP"/>
                <a:ea typeface="Noto Sans JP"/>
                <a:cs typeface="Noto Sans JP"/>
              </a:rPr>
              <a:t>© U-Writing All Rights Reserved.</a:t>
            </a:r>
          </a:p>
        </p:txBody>
      </p:sp>
      <p:sp>
        <p:nvSpPr>
          <p:cNvPr id="8" name="Rounded Rectangle 7"/>
          <p:cNvSpPr/>
          <p:nvPr/>
        </p:nvSpPr>
        <p:spPr>
          <a:xfrm>
            <a:off x="11010000" y="6430000"/>
            <a:ext cx="420000" cy="300000"/>
          </a:xfrm>
          <a:prstGeom prst="round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010000" y="6430000"/>
            <a:ext cx="420000" cy="300000"/>
          </a:xfrm>
          <a:prstGeom prst="rect">
            <a:avLst/>
          </a:prstGeom>
          <a:noFill/>
        </p:spPr>
        <p:txBody>
          <a:bodyPr wrap="square" anchor="ctr" lIns="0" rIns="0" tIns="0" bIns="0">
            <a:spAutoFit/>
          </a:bodyPr>
          <a:lstStyle/>
          <a:p>
            <a:pPr algn="ctr">
              <a:lnSpc>
                <a:spcPct val="125000"/>
              </a:lnSpc>
            </a:pPr>
            <a:r>
              <a:rPr sz="1100" b="1">
                <a:solidFill>
                  <a:srgbClr val="FFFFFF"/>
                </a:solidFill>
                <a:latin typeface="Noto Sans JP"/>
                <a:ea typeface="Noto Sans JP"/>
                <a:cs typeface="Noto Sans JP"/>
              </a:rPr>
              <a:t>21</a:t>
            </a:r>
          </a:p>
        </p:txBody>
      </p:sp>
      <p:sp>
        <p:nvSpPr>
          <p:cNvPr id="10" name="Rectangle 9"/>
          <p:cNvSpPr/>
          <p:nvPr/>
        </p:nvSpPr>
        <p:spPr>
          <a:xfrm>
            <a:off x="762000" y="1550000"/>
            <a:ext cx="5180000" cy="1150000"/>
          </a:xfrm>
          <a:prstGeom prst="rect">
            <a:avLst/>
          </a:prstGeom>
          <a:solidFill>
            <a:srgbClr val="F1E9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62000" y="1550000"/>
            <a:ext cx="76200" cy="1150000"/>
          </a:xfrm>
          <a:prstGeom prst="rect">
            <a:avLst/>
          </a:prstGeom>
          <a:solidFill>
            <a:srgbClr val="2A2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62000" y="1680000"/>
            <a:ext cx="4580000" cy="350000"/>
          </a:xfrm>
          <a:prstGeom prst="rect">
            <a:avLst/>
          </a:prstGeom>
          <a:noFill/>
        </p:spPr>
        <p:txBody>
          <a:bodyPr wrap="square" anchor="t" lIns="0" rIns="0" tIns="0" bIns="0">
            <a:spAutoFit/>
          </a:bodyPr>
          <a:lstStyle/>
          <a:p>
            <a:pPr algn="l">
              <a:lnSpc>
                <a:spcPct val="125000"/>
              </a:lnSpc>
            </a:pPr>
            <a:r>
              <a:rPr sz="1500" b="1">
                <a:solidFill>
                  <a:srgbClr val="2A2F33"/>
                </a:solidFill>
                <a:latin typeface="Noto Sans JP"/>
                <a:ea typeface="Noto Sans JP"/>
                <a:cs typeface="Noto Sans JP"/>
              </a:rPr>
              <a:t>制作代行「カワリミ」</a:t>
            </a:r>
          </a:p>
        </p:txBody>
      </p:sp>
      <p:sp>
        <p:nvSpPr>
          <p:cNvPr id="13" name="TextBox 12"/>
          <p:cNvSpPr txBox="1"/>
          <p:nvPr/>
        </p:nvSpPr>
        <p:spPr>
          <a:xfrm>
            <a:off x="1062000" y="2100000"/>
            <a:ext cx="2280000" cy="350000"/>
          </a:xfrm>
          <a:prstGeom prst="rect">
            <a:avLst/>
          </a:prstGeom>
          <a:noFill/>
        </p:spPr>
        <p:txBody>
          <a:bodyPr wrap="square" anchor="t" lIns="0" rIns="0" tIns="0" bIns="0">
            <a:spAutoFit/>
          </a:bodyPr>
          <a:lstStyle/>
          <a:p>
            <a:pPr algn="l">
              <a:lnSpc>
                <a:spcPct val="125000"/>
              </a:lnSpc>
            </a:pPr>
            <a:r>
              <a:rPr sz="1100" b="0">
                <a:solidFill>
                  <a:srgbClr val="5F666B"/>
                </a:solidFill>
                <a:latin typeface="Noto Sans JP"/>
                <a:ea typeface="Noto Sans JP"/>
                <a:cs typeface="Noto Sans JP"/>
              </a:rPr>
              <a:t>広告物の制作・運用を代行</a:t>
            </a:r>
          </a:p>
        </p:txBody>
      </p:sp>
      <p:sp>
        <p:nvSpPr>
          <p:cNvPr id="14" name="TextBox 13"/>
          <p:cNvSpPr txBox="1"/>
          <p:nvPr/>
        </p:nvSpPr>
        <p:spPr>
          <a:xfrm>
            <a:off x="3342000" y="2020000"/>
            <a:ext cx="600000" cy="400000"/>
          </a:xfrm>
          <a:prstGeom prst="rect">
            <a:avLst/>
          </a:prstGeom>
          <a:noFill/>
        </p:spPr>
        <p:txBody>
          <a:bodyPr wrap="square" anchor="t" lIns="0" rIns="0" tIns="0" bIns="0">
            <a:spAutoFit/>
          </a:bodyPr>
          <a:lstStyle/>
          <a:p>
            <a:pPr algn="l">
              <a:lnSpc>
                <a:spcPct val="125000"/>
              </a:lnSpc>
            </a:pPr>
            <a:r>
              <a:rPr sz="1200" b="0">
                <a:solidFill>
                  <a:srgbClr val="5F666B"/>
                </a:solidFill>
                <a:latin typeface="Noto Sans JP"/>
                <a:ea typeface="Noto Sans JP"/>
                <a:cs typeface="Noto Sans JP"/>
              </a:rPr>
              <a:t>単発</a:t>
            </a:r>
          </a:p>
        </p:txBody>
      </p:sp>
      <p:sp>
        <p:nvSpPr>
          <p:cNvPr id="15" name="TextBox 14"/>
          <p:cNvSpPr txBox="1"/>
          <p:nvPr/>
        </p:nvSpPr>
        <p:spPr>
          <a:xfrm>
            <a:off x="3842000" y="1900000"/>
            <a:ext cx="1850000" cy="600000"/>
          </a:xfrm>
          <a:prstGeom prst="rect">
            <a:avLst/>
          </a:prstGeom>
          <a:noFill/>
        </p:spPr>
        <p:txBody>
          <a:bodyPr wrap="square" anchor="t" lIns="0" rIns="0" tIns="0" bIns="0">
            <a:spAutoFit/>
          </a:bodyPr>
          <a:lstStyle/>
          <a:p>
            <a:pPr algn="r">
              <a:lnSpc>
                <a:spcPct val="125000"/>
              </a:lnSpc>
            </a:pPr>
            <a:r>
              <a:rPr sz="2400" b="1">
                <a:solidFill>
                  <a:srgbClr val="D9764A"/>
                </a:solidFill>
                <a:latin typeface="Noto Sans JP"/>
                <a:ea typeface="Noto Sans JP"/>
                <a:cs typeface="Noto Sans JP"/>
              </a:rPr>
              <a:t>5,000円〜</a:t>
            </a:r>
          </a:p>
        </p:txBody>
      </p:sp>
      <p:sp>
        <p:nvSpPr>
          <p:cNvPr id="16" name="Rectangle 15"/>
          <p:cNvSpPr/>
          <p:nvPr/>
        </p:nvSpPr>
        <p:spPr>
          <a:xfrm>
            <a:off x="6250000" y="1550000"/>
            <a:ext cx="5180000" cy="1150000"/>
          </a:xfrm>
          <a:prstGeom prst="rect">
            <a:avLst/>
          </a:prstGeom>
          <a:solidFill>
            <a:srgbClr val="F1E9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250000" y="1550000"/>
            <a:ext cx="76200" cy="11500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50000" y="1680000"/>
            <a:ext cx="4580000" cy="350000"/>
          </a:xfrm>
          <a:prstGeom prst="rect">
            <a:avLst/>
          </a:prstGeom>
          <a:noFill/>
        </p:spPr>
        <p:txBody>
          <a:bodyPr wrap="square" anchor="t" lIns="0" rIns="0" tIns="0" bIns="0">
            <a:spAutoFit/>
          </a:bodyPr>
          <a:lstStyle/>
          <a:p>
            <a:pPr algn="l">
              <a:lnSpc>
                <a:spcPct val="125000"/>
              </a:lnSpc>
            </a:pPr>
            <a:r>
              <a:rPr sz="1500" b="1">
                <a:solidFill>
                  <a:srgbClr val="2A2F33"/>
                </a:solidFill>
                <a:latin typeface="Noto Sans JP"/>
                <a:ea typeface="Noto Sans JP"/>
                <a:cs typeface="Noto Sans JP"/>
              </a:rPr>
              <a:t>集客顧問「ミチスジ」顧問プラン</a:t>
            </a:r>
          </a:p>
        </p:txBody>
      </p:sp>
      <p:sp>
        <p:nvSpPr>
          <p:cNvPr id="19" name="TextBox 18"/>
          <p:cNvSpPr txBox="1"/>
          <p:nvPr/>
        </p:nvSpPr>
        <p:spPr>
          <a:xfrm>
            <a:off x="6550000" y="2100000"/>
            <a:ext cx="2280000" cy="350000"/>
          </a:xfrm>
          <a:prstGeom prst="rect">
            <a:avLst/>
          </a:prstGeom>
          <a:noFill/>
        </p:spPr>
        <p:txBody>
          <a:bodyPr wrap="square" anchor="t" lIns="0" rIns="0" tIns="0" bIns="0">
            <a:spAutoFit/>
          </a:bodyPr>
          <a:lstStyle/>
          <a:p>
            <a:pPr algn="l">
              <a:lnSpc>
                <a:spcPct val="125000"/>
              </a:lnSpc>
            </a:pPr>
            <a:r>
              <a:rPr sz="1100" b="0">
                <a:solidFill>
                  <a:srgbClr val="5F666B"/>
                </a:solidFill>
                <a:latin typeface="Noto Sans JP"/>
                <a:ea typeface="Noto Sans JP"/>
                <a:cs typeface="Noto Sans JP"/>
              </a:rPr>
              <a:t>月4時間までのZoom相談</a:t>
            </a:r>
          </a:p>
        </p:txBody>
      </p:sp>
      <p:sp>
        <p:nvSpPr>
          <p:cNvPr id="20" name="TextBox 19"/>
          <p:cNvSpPr txBox="1"/>
          <p:nvPr/>
        </p:nvSpPr>
        <p:spPr>
          <a:xfrm>
            <a:off x="8830000" y="2020000"/>
            <a:ext cx="600000" cy="400000"/>
          </a:xfrm>
          <a:prstGeom prst="rect">
            <a:avLst/>
          </a:prstGeom>
          <a:noFill/>
        </p:spPr>
        <p:txBody>
          <a:bodyPr wrap="square" anchor="t" lIns="0" rIns="0" tIns="0" bIns="0">
            <a:spAutoFit/>
          </a:bodyPr>
          <a:lstStyle/>
          <a:p>
            <a:pPr algn="l">
              <a:lnSpc>
                <a:spcPct val="125000"/>
              </a:lnSpc>
            </a:pPr>
            <a:r>
              <a:rPr sz="1200" b="0">
                <a:solidFill>
                  <a:srgbClr val="5F666B"/>
                </a:solidFill>
                <a:latin typeface="Noto Sans JP"/>
                <a:ea typeface="Noto Sans JP"/>
                <a:cs typeface="Noto Sans JP"/>
              </a:rPr>
              <a:t>月額</a:t>
            </a:r>
          </a:p>
        </p:txBody>
      </p:sp>
      <p:sp>
        <p:nvSpPr>
          <p:cNvPr id="21" name="TextBox 20"/>
          <p:cNvSpPr txBox="1"/>
          <p:nvPr/>
        </p:nvSpPr>
        <p:spPr>
          <a:xfrm>
            <a:off x="9330000" y="1900000"/>
            <a:ext cx="1850000" cy="600000"/>
          </a:xfrm>
          <a:prstGeom prst="rect">
            <a:avLst/>
          </a:prstGeom>
          <a:noFill/>
        </p:spPr>
        <p:txBody>
          <a:bodyPr wrap="square" anchor="t" lIns="0" rIns="0" tIns="0" bIns="0">
            <a:spAutoFit/>
          </a:bodyPr>
          <a:lstStyle/>
          <a:p>
            <a:pPr algn="r">
              <a:lnSpc>
                <a:spcPct val="125000"/>
              </a:lnSpc>
            </a:pPr>
            <a:r>
              <a:rPr sz="2400" b="1">
                <a:solidFill>
                  <a:srgbClr val="D9764A"/>
                </a:solidFill>
                <a:latin typeface="Noto Sans JP"/>
                <a:ea typeface="Noto Sans JP"/>
                <a:cs typeface="Noto Sans JP"/>
              </a:rPr>
              <a:t>49,800円〜</a:t>
            </a:r>
          </a:p>
        </p:txBody>
      </p:sp>
      <p:graphicFrame>
        <p:nvGraphicFramePr>
          <p:cNvPr id="22" name="Table 21"/>
          <p:cNvGraphicFramePr>
            <a:graphicFrameLocks noGrp="1"/>
          </p:cNvGraphicFramePr>
          <p:nvPr/>
        </p:nvGraphicFramePr>
        <p:xfrm>
          <a:off x="762000" y="2900000"/>
          <a:ext cx="10668000" cy="2800000"/>
        </p:xfrm>
        <a:graphic>
          <a:graphicData uri="http://schemas.openxmlformats.org/drawingml/2006/table">
            <a:tbl>
              <a:tblPr firstRow="1" bandRow="1">
                <a:tableStyleId>{5C22544A-7EE6-4342-B048-85BDC9FD1C3A}</a:tableStyleId>
              </a:tblPr>
              <a:tblGrid>
                <a:gridCol w="1700000"/>
                <a:gridCol w="5300000"/>
                <a:gridCol w="3668000"/>
              </a:tblGrid>
              <a:tr h="400000">
                <a:tc>
                  <a:txBody>
                    <a:bodyPr/>
                    <a:lstStyle/>
                    <a:p>
                      <a:pPr algn="l"/>
                      <a:r>
                        <a:rPr sz="1100" b="1">
                          <a:solidFill>
                            <a:srgbClr val="FFFFFF"/>
                          </a:solidFill>
                          <a:latin typeface="Noto Sans JP"/>
                          <a:ea typeface="Noto Sans JP"/>
                          <a:cs typeface="Noto Sans JP"/>
                        </a:rPr>
                        <a:t>カテゴリー</a:t>
                      </a:r>
                    </a:p>
                  </a:txBody>
                  <a:tcPr anchor="ctr" marL="150000" marR="150000" marT="30000" marB="30000">
                    <a:solidFill>
                      <a:srgbClr val="145F6B"/>
                    </a:solidFill>
                  </a:tcPr>
                </a:tc>
                <a:tc>
                  <a:txBody>
                    <a:bodyPr/>
                    <a:lstStyle/>
                    <a:p>
                      <a:pPr algn="l"/>
                      <a:r>
                        <a:rPr sz="1100" b="1">
                          <a:solidFill>
                            <a:srgbClr val="FFFFFF"/>
                          </a:solidFill>
                          <a:latin typeface="Noto Sans JP"/>
                          <a:ea typeface="Noto Sans JP"/>
                          <a:cs typeface="Noto Sans JP"/>
                        </a:rPr>
                        <a:t>各種制作メニュー</a:t>
                      </a:r>
                    </a:p>
                  </a:txBody>
                  <a:tcPr anchor="ctr" marL="150000" marR="150000" marT="30000" marB="30000">
                    <a:solidFill>
                      <a:srgbClr val="145F6B"/>
                    </a:solidFill>
                  </a:tcPr>
                </a:tc>
                <a:tc>
                  <a:txBody>
                    <a:bodyPr/>
                    <a:lstStyle/>
                    <a:p>
                      <a:pPr algn="l"/>
                      <a:r>
                        <a:rPr sz="1100" b="1">
                          <a:solidFill>
                            <a:srgbClr val="FFFFFF"/>
                          </a:solidFill>
                          <a:latin typeface="Noto Sans JP"/>
                          <a:ea typeface="Noto Sans JP"/>
                          <a:cs typeface="Noto Sans JP"/>
                        </a:rPr>
                        <a:t>価格（税込）</a:t>
                      </a:r>
                    </a:p>
                  </a:txBody>
                  <a:tcPr anchor="ctr" marL="150000" marR="150000" marT="30000" marB="30000">
                    <a:solidFill>
                      <a:srgbClr val="145F6B"/>
                    </a:solidFill>
                  </a:tcPr>
                </a:tc>
              </a:tr>
              <a:tr h="400000">
                <a:tc>
                  <a:txBody>
                    <a:bodyPr/>
                    <a:lstStyle/>
                    <a:p>
                      <a:pPr algn="l"/>
                      <a:r>
                        <a:rPr sz="1200" b="0">
                          <a:solidFill>
                            <a:srgbClr val="2A2F33"/>
                          </a:solidFill>
                          <a:latin typeface="Noto Sans JP"/>
                          <a:ea typeface="Noto Sans JP"/>
                          <a:cs typeface="Noto Sans JP"/>
                        </a:rPr>
                        <a:t>Web制作</a:t>
                      </a:r>
                    </a:p>
                  </a:txBody>
                  <a:tcPr anchor="ctr" marL="150000" marR="150000" marT="30000" marB="30000">
                    <a:solidFill>
                      <a:srgbClr val="FFFFFF"/>
                    </a:solidFill>
                  </a:tcPr>
                </a:tc>
                <a:tc>
                  <a:txBody>
                    <a:bodyPr/>
                    <a:lstStyle/>
                    <a:p>
                      <a:pPr algn="l"/>
                      <a:r>
                        <a:rPr sz="1200" b="0">
                          <a:solidFill>
                            <a:srgbClr val="2A2F33"/>
                          </a:solidFill>
                          <a:latin typeface="Noto Sans JP"/>
                          <a:ea typeface="Noto Sans JP"/>
                          <a:cs typeface="Noto Sans JP"/>
                        </a:rPr>
                        <a:t>LP制作・HP制作（Wix／ペライチ／WordPress）</a:t>
                      </a:r>
                    </a:p>
                  </a:txBody>
                  <a:tcPr anchor="ctr" marL="150000" marR="150000" marT="30000" marB="30000">
                    <a:solidFill>
                      <a:srgbClr val="FFFFFF"/>
                    </a:solidFill>
                  </a:tcPr>
                </a:tc>
                <a:tc>
                  <a:txBody>
                    <a:bodyPr/>
                    <a:lstStyle/>
                    <a:p>
                      <a:pPr algn="r"/>
                      <a:r>
                        <a:rPr sz="1200" b="1">
                          <a:solidFill>
                            <a:srgbClr val="145F6B"/>
                          </a:solidFill>
                          <a:latin typeface="Noto Sans JP"/>
                          <a:ea typeface="Noto Sans JP"/>
                          <a:cs typeface="Noto Sans JP"/>
                        </a:rPr>
                        <a:t>100,000円〜</a:t>
                      </a:r>
                    </a:p>
                  </a:txBody>
                  <a:tcPr anchor="ctr" marL="150000" marR="150000" marT="30000" marB="30000">
                    <a:solidFill>
                      <a:srgbClr val="FFFFFF"/>
                    </a:solidFill>
                  </a:tcPr>
                </a:tc>
              </a:tr>
              <a:tr h="400000">
                <a:tc>
                  <a:txBody>
                    <a:bodyPr/>
                    <a:lstStyle/>
                    <a:p>
                      <a:pPr algn="l"/>
                      <a:r>
                        <a:rPr sz="1200" b="0">
                          <a:solidFill>
                            <a:srgbClr val="2A2F33"/>
                          </a:solidFill>
                          <a:latin typeface="Noto Sans JP"/>
                          <a:ea typeface="Noto Sans JP"/>
                          <a:cs typeface="Noto Sans JP"/>
                        </a:rPr>
                        <a:t>Web制作</a:t>
                      </a:r>
                    </a:p>
                  </a:txBody>
                  <a:tcPr anchor="ctr" marL="150000" marR="150000" marT="30000" marB="30000">
                    <a:solidFill>
                      <a:srgbClr val="F1E9DC"/>
                    </a:solidFill>
                  </a:tcPr>
                </a:tc>
                <a:tc>
                  <a:txBody>
                    <a:bodyPr/>
                    <a:lstStyle/>
                    <a:p>
                      <a:pPr algn="l"/>
                      <a:r>
                        <a:rPr sz="1200" b="0">
                          <a:solidFill>
                            <a:srgbClr val="2A2F33"/>
                          </a:solidFill>
                          <a:latin typeface="Noto Sans JP"/>
                          <a:ea typeface="Noto Sans JP"/>
                          <a:cs typeface="Noto Sans JP"/>
                        </a:rPr>
                        <a:t>LPライティング（構成・原稿・ワイヤー作成）</a:t>
                      </a:r>
                    </a:p>
                  </a:txBody>
                  <a:tcPr anchor="ctr" marL="150000" marR="150000" marT="30000" marB="30000">
                    <a:solidFill>
                      <a:srgbClr val="F1E9DC"/>
                    </a:solidFill>
                  </a:tcPr>
                </a:tc>
                <a:tc>
                  <a:txBody>
                    <a:bodyPr/>
                    <a:lstStyle/>
                    <a:p>
                      <a:pPr algn="r"/>
                      <a:r>
                        <a:rPr sz="1200" b="1">
                          <a:solidFill>
                            <a:srgbClr val="145F6B"/>
                          </a:solidFill>
                          <a:latin typeface="Noto Sans JP"/>
                          <a:ea typeface="Noto Sans JP"/>
                          <a:cs typeface="Noto Sans JP"/>
                        </a:rPr>
                        <a:t>80,000円〜</a:t>
                      </a:r>
                    </a:p>
                  </a:txBody>
                  <a:tcPr anchor="ctr" marL="150000" marR="150000" marT="30000" marB="30000">
                    <a:solidFill>
                      <a:srgbClr val="F1E9DC"/>
                    </a:solidFill>
                  </a:tcPr>
                </a:tc>
              </a:tr>
              <a:tr h="400000">
                <a:tc>
                  <a:txBody>
                    <a:bodyPr/>
                    <a:lstStyle/>
                    <a:p>
                      <a:pPr algn="l"/>
                      <a:r>
                        <a:rPr sz="1200" b="0">
                          <a:solidFill>
                            <a:srgbClr val="2A2F33"/>
                          </a:solidFill>
                          <a:latin typeface="Noto Sans JP"/>
                          <a:ea typeface="Noto Sans JP"/>
                          <a:cs typeface="Noto Sans JP"/>
                        </a:rPr>
                        <a:t>SNS・広告</a:t>
                      </a:r>
                    </a:p>
                  </a:txBody>
                  <a:tcPr anchor="ctr" marL="150000" marR="150000" marT="30000" marB="30000">
                    <a:solidFill>
                      <a:srgbClr val="FFFFFF"/>
                    </a:solidFill>
                  </a:tcPr>
                </a:tc>
                <a:tc>
                  <a:txBody>
                    <a:bodyPr/>
                    <a:lstStyle/>
                    <a:p>
                      <a:pPr algn="l"/>
                      <a:r>
                        <a:rPr sz="1200" b="0">
                          <a:solidFill>
                            <a:srgbClr val="2A2F33"/>
                          </a:solidFill>
                          <a:latin typeface="Noto Sans JP"/>
                          <a:ea typeface="Noto Sans JP"/>
                          <a:cs typeface="Noto Sans JP"/>
                        </a:rPr>
                        <a:t>公式LINE構築＋運用（配信代行含む）</a:t>
                      </a:r>
                    </a:p>
                  </a:txBody>
                  <a:tcPr anchor="ctr" marL="150000" marR="150000" marT="30000" marB="30000">
                    <a:solidFill>
                      <a:srgbClr val="FFFFFF"/>
                    </a:solidFill>
                  </a:tcPr>
                </a:tc>
                <a:tc>
                  <a:txBody>
                    <a:bodyPr/>
                    <a:lstStyle/>
                    <a:p>
                      <a:pPr algn="r"/>
                      <a:r>
                        <a:rPr sz="1200" b="1">
                          <a:solidFill>
                            <a:srgbClr val="145F6B"/>
                          </a:solidFill>
                          <a:latin typeface="Noto Sans JP"/>
                          <a:ea typeface="Noto Sans JP"/>
                          <a:cs typeface="Noto Sans JP"/>
                        </a:rPr>
                        <a:t>初月50,000円〜／月額30,000円〜</a:t>
                      </a:r>
                    </a:p>
                  </a:txBody>
                  <a:tcPr anchor="ctr" marL="150000" marR="150000" marT="30000" marB="30000">
                    <a:solidFill>
                      <a:srgbClr val="FFFFFF"/>
                    </a:solidFill>
                  </a:tcPr>
                </a:tc>
              </a:tr>
              <a:tr h="400000">
                <a:tc>
                  <a:txBody>
                    <a:bodyPr/>
                    <a:lstStyle/>
                    <a:p>
                      <a:pPr algn="l"/>
                      <a:r>
                        <a:rPr sz="1200" b="0">
                          <a:solidFill>
                            <a:srgbClr val="2A2F33"/>
                          </a:solidFill>
                          <a:latin typeface="Noto Sans JP"/>
                          <a:ea typeface="Noto Sans JP"/>
                          <a:cs typeface="Noto Sans JP"/>
                        </a:rPr>
                        <a:t>SNS・広告</a:t>
                      </a:r>
                    </a:p>
                  </a:txBody>
                  <a:tcPr anchor="ctr" marL="150000" marR="150000" marT="30000" marB="30000">
                    <a:solidFill>
                      <a:srgbClr val="F1E9DC"/>
                    </a:solidFill>
                  </a:tcPr>
                </a:tc>
                <a:tc>
                  <a:txBody>
                    <a:bodyPr/>
                    <a:lstStyle/>
                    <a:p>
                      <a:pPr algn="l"/>
                      <a:r>
                        <a:rPr sz="1200" b="0">
                          <a:solidFill>
                            <a:srgbClr val="2A2F33"/>
                          </a:solidFill>
                          <a:latin typeface="Noto Sans JP"/>
                          <a:ea typeface="Noto Sans JP"/>
                          <a:cs typeface="Noto Sans JP"/>
                        </a:rPr>
                        <a:t>Meta広告運用（Facebook／Instagram）</a:t>
                      </a:r>
                    </a:p>
                  </a:txBody>
                  <a:tcPr anchor="ctr" marL="150000" marR="150000" marT="30000" marB="30000">
                    <a:solidFill>
                      <a:srgbClr val="F1E9DC"/>
                    </a:solidFill>
                  </a:tcPr>
                </a:tc>
                <a:tc>
                  <a:txBody>
                    <a:bodyPr/>
                    <a:lstStyle/>
                    <a:p>
                      <a:pPr algn="r"/>
                      <a:r>
                        <a:rPr sz="1200" b="1">
                          <a:solidFill>
                            <a:srgbClr val="145F6B"/>
                          </a:solidFill>
                          <a:latin typeface="Noto Sans JP"/>
                          <a:ea typeface="Noto Sans JP"/>
                          <a:cs typeface="Noto Sans JP"/>
                        </a:rPr>
                        <a:t>初期30,000円〜／月額 広告費の20%</a:t>
                      </a:r>
                    </a:p>
                  </a:txBody>
                  <a:tcPr anchor="ctr" marL="150000" marR="150000" marT="30000" marB="30000">
                    <a:solidFill>
                      <a:srgbClr val="F1E9DC"/>
                    </a:solidFill>
                  </a:tcPr>
                </a:tc>
              </a:tr>
              <a:tr h="400000">
                <a:tc>
                  <a:txBody>
                    <a:bodyPr/>
                    <a:lstStyle/>
                    <a:p>
                      <a:pPr algn="l"/>
                      <a:r>
                        <a:rPr sz="1200" b="0">
                          <a:solidFill>
                            <a:srgbClr val="2A2F33"/>
                          </a:solidFill>
                          <a:latin typeface="Noto Sans JP"/>
                          <a:ea typeface="Noto Sans JP"/>
                          <a:cs typeface="Noto Sans JP"/>
                        </a:rPr>
                        <a:t>紙媒体</a:t>
                      </a:r>
                    </a:p>
                  </a:txBody>
                  <a:tcPr anchor="ctr" marL="150000" marR="150000" marT="30000" marB="30000">
                    <a:solidFill>
                      <a:srgbClr val="FFFFFF"/>
                    </a:solidFill>
                  </a:tcPr>
                </a:tc>
                <a:tc>
                  <a:txBody>
                    <a:bodyPr/>
                    <a:lstStyle/>
                    <a:p>
                      <a:pPr algn="l"/>
                      <a:r>
                        <a:rPr sz="1200" b="0">
                          <a:solidFill>
                            <a:srgbClr val="2A2F33"/>
                          </a:solidFill>
                          <a:latin typeface="Noto Sans JP"/>
                          <a:ea typeface="Noto Sans JP"/>
                          <a:cs typeface="Noto Sans JP"/>
                        </a:rPr>
                        <a:t>チラシ制作（片面／両面）</a:t>
                      </a:r>
                    </a:p>
                  </a:txBody>
                  <a:tcPr anchor="ctr" marL="150000" marR="150000" marT="30000" marB="30000">
                    <a:solidFill>
                      <a:srgbClr val="FFFFFF"/>
                    </a:solidFill>
                  </a:tcPr>
                </a:tc>
                <a:tc>
                  <a:txBody>
                    <a:bodyPr/>
                    <a:lstStyle/>
                    <a:p>
                      <a:pPr algn="r"/>
                      <a:r>
                        <a:rPr sz="1200" b="1">
                          <a:solidFill>
                            <a:srgbClr val="145F6B"/>
                          </a:solidFill>
                          <a:latin typeface="Noto Sans JP"/>
                          <a:ea typeface="Noto Sans JP"/>
                          <a:cs typeface="Noto Sans JP"/>
                        </a:rPr>
                        <a:t>30,000円〜／50,000円〜</a:t>
                      </a:r>
                    </a:p>
                  </a:txBody>
                  <a:tcPr anchor="ctr" marL="150000" marR="150000" marT="30000" marB="30000">
                    <a:solidFill>
                      <a:srgbClr val="FFFFFF"/>
                    </a:solidFill>
                  </a:tcPr>
                </a:tc>
              </a:tr>
              <a:tr h="400000">
                <a:tc>
                  <a:txBody>
                    <a:bodyPr/>
                    <a:lstStyle/>
                    <a:p>
                      <a:pPr algn="l"/>
                      <a:r>
                        <a:rPr sz="1200" b="0">
                          <a:solidFill>
                            <a:srgbClr val="2A2F33"/>
                          </a:solidFill>
                          <a:latin typeface="Noto Sans JP"/>
                          <a:ea typeface="Noto Sans JP"/>
                          <a:cs typeface="Noto Sans JP"/>
                        </a:rPr>
                        <a:t>その他</a:t>
                      </a:r>
                    </a:p>
                  </a:txBody>
                  <a:tcPr anchor="ctr" marL="150000" marR="150000" marT="30000" marB="30000">
                    <a:solidFill>
                      <a:srgbClr val="F1E9DC"/>
                    </a:solidFill>
                  </a:tcPr>
                </a:tc>
                <a:tc>
                  <a:txBody>
                    <a:bodyPr/>
                    <a:lstStyle/>
                    <a:p>
                      <a:pPr algn="l"/>
                      <a:r>
                        <a:rPr sz="1200" b="0">
                          <a:solidFill>
                            <a:srgbClr val="2A2F33"/>
                          </a:solidFill>
                          <a:latin typeface="Noto Sans JP"/>
                          <a:ea typeface="Noto Sans JP"/>
                          <a:cs typeface="Noto Sans JP"/>
                        </a:rPr>
                        <a:t>スピーチ原稿／営業資料</a:t>
                      </a:r>
                    </a:p>
                  </a:txBody>
                  <a:tcPr anchor="ctr" marL="150000" marR="150000" marT="30000" marB="30000">
                    <a:solidFill>
                      <a:srgbClr val="F1E9DC"/>
                    </a:solidFill>
                  </a:tcPr>
                </a:tc>
                <a:tc>
                  <a:txBody>
                    <a:bodyPr/>
                    <a:lstStyle/>
                    <a:p>
                      <a:pPr algn="r"/>
                      <a:r>
                        <a:rPr sz="1200" b="1">
                          <a:solidFill>
                            <a:srgbClr val="145F6B"/>
                          </a:solidFill>
                          <a:latin typeface="Noto Sans JP"/>
                          <a:ea typeface="Noto Sans JP"/>
                          <a:cs typeface="Noto Sans JP"/>
                        </a:rPr>
                        <a:t>5,000円〜／50,000円〜</a:t>
                      </a:r>
                    </a:p>
                  </a:txBody>
                  <a:tcPr anchor="ctr" marL="150000" marR="150000" marT="30000" marB="30000">
                    <a:solidFill>
                      <a:srgbClr val="F1E9DC"/>
                    </a:solidFill>
                  </a:tcPr>
                </a:tc>
              </a:tr>
            </a:tbl>
          </a:graphicData>
        </a:graphic>
      </p:graphicFrame>
      <p:sp>
        <p:nvSpPr>
          <p:cNvPr id="23" name="TextBox 22"/>
          <p:cNvSpPr txBox="1"/>
          <p:nvPr/>
        </p:nvSpPr>
        <p:spPr>
          <a:xfrm>
            <a:off x="762000" y="6080000"/>
            <a:ext cx="10668000" cy="300000"/>
          </a:xfrm>
          <a:prstGeom prst="rect">
            <a:avLst/>
          </a:prstGeom>
          <a:noFill/>
        </p:spPr>
        <p:txBody>
          <a:bodyPr wrap="square" anchor="t" lIns="0" rIns="0" tIns="0" bIns="0">
            <a:spAutoFit/>
          </a:bodyPr>
          <a:lstStyle/>
          <a:p>
            <a:pPr algn="l">
              <a:lnSpc>
                <a:spcPct val="125000"/>
              </a:lnSpc>
            </a:pPr>
            <a:r>
              <a:rPr sz="900" b="0">
                <a:solidFill>
                  <a:srgbClr val="5F666B"/>
                </a:solidFill>
                <a:latin typeface="Noto Sans JP"/>
                <a:ea typeface="Noto Sans JP"/>
                <a:cs typeface="Noto Sans JP"/>
              </a:rPr>
              <a:t>※ 価格は税込・目安です。内容やボリュームに応じて事前にお見積りします。「ミチスジ」顧問プラン契約中は、制作代行の費用が20% OFF。</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Rectangle 1"/>
          <p:cNvSpPr/>
          <p:nvPr/>
        </p:nvSpPr>
        <p:spPr>
          <a:xfrm>
            <a:off x="0" y="0"/>
            <a:ext cx="12192000" cy="762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62000" y="600000"/>
            <a:ext cx="76200" cy="8200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92000" y="560000"/>
            <a:ext cx="10668000" cy="260000"/>
          </a:xfrm>
          <a:prstGeom prst="rect">
            <a:avLst/>
          </a:prstGeom>
          <a:noFill/>
        </p:spPr>
        <p:txBody>
          <a:bodyPr wrap="square" anchor="t" lIns="0" rIns="0" tIns="0" bIns="0">
            <a:spAutoFit/>
          </a:bodyPr>
          <a:lstStyle/>
          <a:p>
            <a:pPr algn="l">
              <a:lnSpc>
                <a:spcPct val="125000"/>
              </a:lnSpc>
            </a:pPr>
            <a:r>
              <a:rPr sz="1050" b="1">
                <a:solidFill>
                  <a:srgbClr val="145F6B"/>
                </a:solidFill>
                <a:latin typeface="Noto Sans JP"/>
                <a:ea typeface="Noto Sans JP"/>
                <a:cs typeface="Noto Sans JP"/>
              </a:rPr>
              <a:t>NEXT STEP</a:t>
            </a:r>
          </a:p>
        </p:txBody>
      </p:sp>
      <p:sp>
        <p:nvSpPr>
          <p:cNvPr id="5" name="TextBox 4"/>
          <p:cNvSpPr txBox="1"/>
          <p:nvPr/>
        </p:nvSpPr>
        <p:spPr>
          <a:xfrm>
            <a:off x="992000" y="840000"/>
            <a:ext cx="10438000" cy="600000"/>
          </a:xfrm>
          <a:prstGeom prst="rect">
            <a:avLst/>
          </a:prstGeom>
          <a:noFill/>
        </p:spPr>
        <p:txBody>
          <a:bodyPr wrap="square" anchor="t" lIns="0" rIns="0" tIns="0" bIns="0">
            <a:spAutoFit/>
          </a:bodyPr>
          <a:lstStyle/>
          <a:p>
            <a:pPr algn="l">
              <a:lnSpc>
                <a:spcPct val="125000"/>
              </a:lnSpc>
            </a:pPr>
            <a:r>
              <a:rPr sz="2600" b="1">
                <a:solidFill>
                  <a:srgbClr val="2A2F33"/>
                </a:solidFill>
                <a:latin typeface="Noto Sans JP"/>
                <a:ea typeface="Noto Sans JP"/>
                <a:cs typeface="Noto Sans JP"/>
              </a:rPr>
              <a:t>次の一歩</a:t>
            </a:r>
          </a:p>
        </p:txBody>
      </p:sp>
      <p:sp>
        <p:nvSpPr>
          <p:cNvPr id="6" name="Rectangle 5"/>
          <p:cNvSpPr/>
          <p:nvPr/>
        </p:nvSpPr>
        <p:spPr>
          <a:xfrm>
            <a:off x="762000" y="6380000"/>
            <a:ext cx="10668000" cy="9525"/>
          </a:xfrm>
          <a:prstGeom prst="rect">
            <a:avLst/>
          </a:prstGeom>
          <a:solidFill>
            <a:srgbClr val="E6DD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2000" y="6480000"/>
            <a:ext cx="4000000" cy="200000"/>
          </a:xfrm>
          <a:prstGeom prst="rect">
            <a:avLst/>
          </a:prstGeom>
          <a:noFill/>
        </p:spPr>
        <p:txBody>
          <a:bodyPr wrap="square" anchor="t" lIns="0" rIns="0" tIns="0" bIns="0">
            <a:spAutoFit/>
          </a:bodyPr>
          <a:lstStyle/>
          <a:p>
            <a:pPr algn="l">
              <a:lnSpc>
                <a:spcPct val="125000"/>
              </a:lnSpc>
            </a:pPr>
            <a:r>
              <a:rPr sz="800" b="0">
                <a:solidFill>
                  <a:srgbClr val="5F666B"/>
                </a:solidFill>
                <a:latin typeface="Noto Sans JP"/>
                <a:ea typeface="Noto Sans JP"/>
                <a:cs typeface="Noto Sans JP"/>
              </a:rPr>
              <a:t>© U-Writing All Rights Reserved.</a:t>
            </a:r>
          </a:p>
        </p:txBody>
      </p:sp>
      <p:sp>
        <p:nvSpPr>
          <p:cNvPr id="8" name="Rounded Rectangle 7"/>
          <p:cNvSpPr/>
          <p:nvPr/>
        </p:nvSpPr>
        <p:spPr>
          <a:xfrm>
            <a:off x="11010000" y="6430000"/>
            <a:ext cx="420000" cy="300000"/>
          </a:xfrm>
          <a:prstGeom prst="round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010000" y="6430000"/>
            <a:ext cx="420000" cy="300000"/>
          </a:xfrm>
          <a:prstGeom prst="rect">
            <a:avLst/>
          </a:prstGeom>
          <a:noFill/>
        </p:spPr>
        <p:txBody>
          <a:bodyPr wrap="square" anchor="ctr" lIns="0" rIns="0" tIns="0" bIns="0">
            <a:spAutoFit/>
          </a:bodyPr>
          <a:lstStyle/>
          <a:p>
            <a:pPr algn="ctr">
              <a:lnSpc>
                <a:spcPct val="125000"/>
              </a:lnSpc>
            </a:pPr>
            <a:r>
              <a:rPr sz="1100" b="1">
                <a:solidFill>
                  <a:srgbClr val="FFFFFF"/>
                </a:solidFill>
                <a:latin typeface="Noto Sans JP"/>
                <a:ea typeface="Noto Sans JP"/>
                <a:cs typeface="Noto Sans JP"/>
              </a:rPr>
              <a:t>22</a:t>
            </a:r>
          </a:p>
        </p:txBody>
      </p:sp>
      <p:sp>
        <p:nvSpPr>
          <p:cNvPr id="10" name="TextBox 9"/>
          <p:cNvSpPr txBox="1"/>
          <p:nvPr/>
        </p:nvSpPr>
        <p:spPr>
          <a:xfrm>
            <a:off x="762000" y="1600000"/>
            <a:ext cx="10668000" cy="500000"/>
          </a:xfrm>
          <a:prstGeom prst="rect">
            <a:avLst/>
          </a:prstGeom>
          <a:noFill/>
        </p:spPr>
        <p:txBody>
          <a:bodyPr wrap="square" anchor="t" lIns="0" rIns="0" tIns="0" bIns="0">
            <a:spAutoFit/>
          </a:bodyPr>
          <a:lstStyle/>
          <a:p>
            <a:pPr algn="l">
              <a:lnSpc>
                <a:spcPct val="125000"/>
              </a:lnSpc>
            </a:pPr>
            <a:r>
              <a:rPr sz="1800" b="1">
                <a:solidFill>
                  <a:srgbClr val="2A2F33"/>
                </a:solidFill>
                <a:latin typeface="Noto Sans JP"/>
                <a:ea typeface="Noto Sans JP"/>
                <a:cs typeface="Noto Sans JP"/>
              </a:rPr>
              <a:t>本日のお話をもとに、必要なものだけをご提案します。</a:t>
            </a:r>
          </a:p>
        </p:txBody>
      </p:sp>
      <p:sp>
        <p:nvSpPr>
          <p:cNvPr id="11" name="Rectangle 10"/>
          <p:cNvSpPr/>
          <p:nvPr/>
        </p:nvSpPr>
        <p:spPr>
          <a:xfrm>
            <a:off x="762000" y="2350000"/>
            <a:ext cx="3400000" cy="3600000"/>
          </a:xfrm>
          <a:prstGeom prst="rect">
            <a:avLst/>
          </a:prstGeom>
          <a:solidFill>
            <a:srgbClr val="F1E9DC"/>
          </a:solidFill>
          <a:ln w="25400">
            <a:solidFill>
              <a:srgbClr val="145F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012000" y="2600000"/>
            <a:ext cx="980000" cy="300000"/>
          </a:xfrm>
          <a:prstGeom prst="rect">
            <a:avLst/>
          </a:prstGeom>
          <a:solidFill>
            <a:srgbClr val="D9764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FFFFFF"/>
                </a:solidFill>
                <a:latin typeface="Noto Sans JP"/>
                <a:ea typeface="Noto Sans JP"/>
                <a:cs typeface="Noto Sans JP"/>
              </a:rPr>
              <a:t>おすすめ</a:t>
            </a:r>
          </a:p>
        </p:txBody>
      </p:sp>
      <p:sp>
        <p:nvSpPr>
          <p:cNvPr id="13" name="TextBox 12"/>
          <p:cNvSpPr txBox="1"/>
          <p:nvPr/>
        </p:nvSpPr>
        <p:spPr>
          <a:xfrm>
            <a:off x="1012000" y="3150000"/>
            <a:ext cx="2900000" cy="500000"/>
          </a:xfrm>
          <a:prstGeom prst="rect">
            <a:avLst/>
          </a:prstGeom>
          <a:noFill/>
        </p:spPr>
        <p:txBody>
          <a:bodyPr wrap="square" anchor="t" lIns="0" rIns="0" tIns="0" bIns="0">
            <a:spAutoFit/>
          </a:bodyPr>
          <a:lstStyle/>
          <a:p>
            <a:pPr algn="l">
              <a:lnSpc>
                <a:spcPct val="125000"/>
              </a:lnSpc>
            </a:pPr>
            <a:r>
              <a:rPr sz="2000" b="1">
                <a:solidFill>
                  <a:srgbClr val="2A2F33"/>
                </a:solidFill>
                <a:latin typeface="Noto Sans JP"/>
                <a:ea typeface="Noto Sans JP"/>
                <a:cs typeface="Noto Sans JP"/>
              </a:rPr>
              <a:t>01  ご提案・お見積り</a:t>
            </a:r>
          </a:p>
        </p:txBody>
      </p:sp>
      <p:sp>
        <p:nvSpPr>
          <p:cNvPr id="14" name="TextBox 13"/>
          <p:cNvSpPr txBox="1"/>
          <p:nvPr/>
        </p:nvSpPr>
        <p:spPr>
          <a:xfrm>
            <a:off x="1012000" y="3750000"/>
            <a:ext cx="2900000" cy="500000"/>
          </a:xfrm>
          <a:prstGeom prst="rect">
            <a:avLst/>
          </a:prstGeom>
          <a:noFill/>
        </p:spPr>
        <p:txBody>
          <a:bodyPr wrap="square" anchor="t" lIns="0" rIns="0" tIns="0" bIns="0">
            <a:spAutoFit/>
          </a:bodyPr>
          <a:lstStyle/>
          <a:p>
            <a:pPr algn="l">
              <a:lnSpc>
                <a:spcPct val="125000"/>
              </a:lnSpc>
            </a:pPr>
            <a:r>
              <a:rPr sz="2200" b="1">
                <a:solidFill>
                  <a:srgbClr val="D9764A"/>
                </a:solidFill>
                <a:latin typeface="Noto Sans JP"/>
                <a:ea typeface="Noto Sans JP"/>
                <a:cs typeface="Noto Sans JP"/>
              </a:rPr>
              <a:t>無料</a:t>
            </a:r>
          </a:p>
        </p:txBody>
      </p:sp>
      <p:sp>
        <p:nvSpPr>
          <p:cNvPr id="15" name="TextBox 14"/>
          <p:cNvSpPr txBox="1"/>
          <p:nvPr/>
        </p:nvSpPr>
        <p:spPr>
          <a:xfrm>
            <a:off x="1012000" y="4450000"/>
            <a:ext cx="2900000" cy="1300000"/>
          </a:xfrm>
          <a:prstGeom prst="rect">
            <a:avLst/>
          </a:prstGeom>
          <a:noFill/>
        </p:spPr>
        <p:txBody>
          <a:bodyPr wrap="square" anchor="t" lIns="0" rIns="0" tIns="0" bIns="0">
            <a:spAutoFit/>
          </a:bodyPr>
          <a:lstStyle/>
          <a:p>
            <a:pPr algn="l">
              <a:lnSpc>
                <a:spcPct val="150000"/>
              </a:lnSpc>
            </a:pPr>
            <a:r>
              <a:rPr sz="1300" b="0">
                <a:solidFill>
                  <a:srgbClr val="5F666B"/>
                </a:solidFill>
                <a:latin typeface="Noto Sans JP"/>
                <a:ea typeface="Noto Sans JP"/>
                <a:cs typeface="Noto Sans JP"/>
              </a:rPr>
              <a:t>今日伺った課題に対して、制作・顧問のご提案と見積りをお送りします。</a:t>
            </a:r>
          </a:p>
        </p:txBody>
      </p:sp>
      <p:sp>
        <p:nvSpPr>
          <p:cNvPr id="16" name="Rectangle 15"/>
          <p:cNvSpPr/>
          <p:nvPr/>
        </p:nvSpPr>
        <p:spPr>
          <a:xfrm>
            <a:off x="4396000" y="2350000"/>
            <a:ext cx="3400000" cy="3600000"/>
          </a:xfrm>
          <a:prstGeom prst="rect">
            <a:avLst/>
          </a:prstGeom>
          <a:solidFill>
            <a:srgbClr val="FFFFFF"/>
          </a:solidFill>
          <a:ln w="12700">
            <a:solidFill>
              <a:srgbClr val="E6DD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646000" y="2600000"/>
            <a:ext cx="1660000" cy="3000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FFFFFF"/>
                </a:solidFill>
                <a:latin typeface="Noto Sans JP"/>
                <a:ea typeface="Noto Sans JP"/>
                <a:cs typeface="Noto Sans JP"/>
              </a:rPr>
              <a:t>まだ迷っている方</a:t>
            </a:r>
          </a:p>
        </p:txBody>
      </p:sp>
      <p:sp>
        <p:nvSpPr>
          <p:cNvPr id="18" name="TextBox 17"/>
          <p:cNvSpPr txBox="1"/>
          <p:nvPr/>
        </p:nvSpPr>
        <p:spPr>
          <a:xfrm>
            <a:off x="4646000" y="3150000"/>
            <a:ext cx="2900000" cy="500000"/>
          </a:xfrm>
          <a:prstGeom prst="rect">
            <a:avLst/>
          </a:prstGeom>
          <a:noFill/>
        </p:spPr>
        <p:txBody>
          <a:bodyPr wrap="square" anchor="t" lIns="0" rIns="0" tIns="0" bIns="0">
            <a:spAutoFit/>
          </a:bodyPr>
          <a:lstStyle/>
          <a:p>
            <a:pPr algn="l">
              <a:lnSpc>
                <a:spcPct val="125000"/>
              </a:lnSpc>
            </a:pPr>
            <a:r>
              <a:rPr sz="2000" b="1">
                <a:solidFill>
                  <a:srgbClr val="2A2F33"/>
                </a:solidFill>
                <a:latin typeface="Noto Sans JP"/>
                <a:ea typeface="Noto Sans JP"/>
                <a:cs typeface="Noto Sans JP"/>
              </a:rPr>
              <a:t>02  相談プラン</a:t>
            </a:r>
          </a:p>
        </p:txBody>
      </p:sp>
      <p:sp>
        <p:nvSpPr>
          <p:cNvPr id="19" name="TextBox 18"/>
          <p:cNvSpPr txBox="1"/>
          <p:nvPr/>
        </p:nvSpPr>
        <p:spPr>
          <a:xfrm>
            <a:off x="4646000" y="3750000"/>
            <a:ext cx="2900000" cy="500000"/>
          </a:xfrm>
          <a:prstGeom prst="rect">
            <a:avLst/>
          </a:prstGeom>
          <a:noFill/>
        </p:spPr>
        <p:txBody>
          <a:bodyPr wrap="square" anchor="t" lIns="0" rIns="0" tIns="0" bIns="0">
            <a:spAutoFit/>
          </a:bodyPr>
          <a:lstStyle/>
          <a:p>
            <a:pPr algn="l">
              <a:lnSpc>
                <a:spcPct val="125000"/>
              </a:lnSpc>
            </a:pPr>
            <a:r>
              <a:rPr sz="2200" b="1">
                <a:solidFill>
                  <a:srgbClr val="D9764A"/>
                </a:solidFill>
                <a:latin typeface="Noto Sans JP"/>
                <a:ea typeface="Noto Sans JP"/>
                <a:cs typeface="Noto Sans JP"/>
              </a:rPr>
              <a:t>14,800円〜</a:t>
            </a:r>
          </a:p>
        </p:txBody>
      </p:sp>
      <p:sp>
        <p:nvSpPr>
          <p:cNvPr id="20" name="TextBox 19"/>
          <p:cNvSpPr txBox="1"/>
          <p:nvPr/>
        </p:nvSpPr>
        <p:spPr>
          <a:xfrm>
            <a:off x="4646000" y="4450000"/>
            <a:ext cx="2900000" cy="1300000"/>
          </a:xfrm>
          <a:prstGeom prst="rect">
            <a:avLst/>
          </a:prstGeom>
          <a:noFill/>
        </p:spPr>
        <p:txBody>
          <a:bodyPr wrap="square" anchor="t" lIns="0" rIns="0" tIns="0" bIns="0">
            <a:spAutoFit/>
          </a:bodyPr>
          <a:lstStyle/>
          <a:p>
            <a:pPr algn="l">
              <a:lnSpc>
                <a:spcPct val="150000"/>
              </a:lnSpc>
            </a:pPr>
            <a:r>
              <a:rPr sz="1300" b="0">
                <a:solidFill>
                  <a:srgbClr val="5F666B"/>
                </a:solidFill>
                <a:latin typeface="Noto Sans JP"/>
                <a:ea typeface="Noto Sans JP"/>
                <a:cs typeface="Noto Sans JP"/>
              </a:rPr>
              <a:t>最大2時間のZoom相談で、現状と優先順位を一緒に整理します。</a:t>
            </a:r>
          </a:p>
        </p:txBody>
      </p:sp>
      <p:sp>
        <p:nvSpPr>
          <p:cNvPr id="21" name="Rectangle 20"/>
          <p:cNvSpPr/>
          <p:nvPr/>
        </p:nvSpPr>
        <p:spPr>
          <a:xfrm>
            <a:off x="8030000" y="2350000"/>
            <a:ext cx="3400000" cy="3600000"/>
          </a:xfrm>
          <a:prstGeom prst="rect">
            <a:avLst/>
          </a:prstGeom>
          <a:solidFill>
            <a:srgbClr val="FFFFFF"/>
          </a:solidFill>
          <a:ln w="12700">
            <a:solidFill>
              <a:srgbClr val="E6DD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280000" y="2600000"/>
            <a:ext cx="1320000" cy="3000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FFFFFF"/>
                </a:solidFill>
                <a:latin typeface="Noto Sans JP"/>
                <a:ea typeface="Noto Sans JP"/>
                <a:cs typeface="Noto Sans JP"/>
              </a:rPr>
              <a:t>お知り合いに</a:t>
            </a:r>
          </a:p>
        </p:txBody>
      </p:sp>
      <p:sp>
        <p:nvSpPr>
          <p:cNvPr id="23" name="TextBox 22"/>
          <p:cNvSpPr txBox="1"/>
          <p:nvPr/>
        </p:nvSpPr>
        <p:spPr>
          <a:xfrm>
            <a:off x="8280000" y="3150000"/>
            <a:ext cx="2900000" cy="500000"/>
          </a:xfrm>
          <a:prstGeom prst="rect">
            <a:avLst/>
          </a:prstGeom>
          <a:noFill/>
        </p:spPr>
        <p:txBody>
          <a:bodyPr wrap="square" anchor="t" lIns="0" rIns="0" tIns="0" bIns="0">
            <a:spAutoFit/>
          </a:bodyPr>
          <a:lstStyle/>
          <a:p>
            <a:pPr algn="l">
              <a:lnSpc>
                <a:spcPct val="125000"/>
              </a:lnSpc>
            </a:pPr>
            <a:r>
              <a:rPr sz="2000" b="1">
                <a:solidFill>
                  <a:srgbClr val="2A2F33"/>
                </a:solidFill>
                <a:latin typeface="Noto Sans JP"/>
                <a:ea typeface="Noto Sans JP"/>
                <a:cs typeface="Noto Sans JP"/>
              </a:rPr>
              <a:t>03  ご紹介</a:t>
            </a:r>
          </a:p>
        </p:txBody>
      </p:sp>
      <p:sp>
        <p:nvSpPr>
          <p:cNvPr id="24" name="TextBox 23"/>
          <p:cNvSpPr txBox="1"/>
          <p:nvPr/>
        </p:nvSpPr>
        <p:spPr>
          <a:xfrm>
            <a:off x="8280000" y="4450000"/>
            <a:ext cx="2900000" cy="1300000"/>
          </a:xfrm>
          <a:prstGeom prst="rect">
            <a:avLst/>
          </a:prstGeom>
          <a:noFill/>
        </p:spPr>
        <p:txBody>
          <a:bodyPr wrap="square" anchor="t" lIns="0" rIns="0" tIns="0" bIns="0">
            <a:spAutoFit/>
          </a:bodyPr>
          <a:lstStyle/>
          <a:p>
            <a:pPr algn="l">
              <a:lnSpc>
                <a:spcPct val="150000"/>
              </a:lnSpc>
            </a:pPr>
            <a:r>
              <a:rPr sz="1300" b="0">
                <a:solidFill>
                  <a:srgbClr val="5F666B"/>
                </a:solidFill>
                <a:latin typeface="Noto Sans JP"/>
                <a:ea typeface="Noto Sans JP"/>
                <a:cs typeface="Noto Sans JP"/>
              </a:rPr>
              <a:t>集客や広告でお困りの方がいれば、ぜひおつなぎください。</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Rectangle 1"/>
          <p:cNvSpPr/>
          <p:nvPr/>
        </p:nvSpPr>
        <p:spPr>
          <a:xfrm>
            <a:off x="0" y="0"/>
            <a:ext cx="12192000" cy="762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62000" y="600000"/>
            <a:ext cx="76200" cy="8200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92000" y="560000"/>
            <a:ext cx="10668000" cy="260000"/>
          </a:xfrm>
          <a:prstGeom prst="rect">
            <a:avLst/>
          </a:prstGeom>
          <a:noFill/>
        </p:spPr>
        <p:txBody>
          <a:bodyPr wrap="square" anchor="t" lIns="0" rIns="0" tIns="0" bIns="0">
            <a:spAutoFit/>
          </a:bodyPr>
          <a:lstStyle/>
          <a:p>
            <a:pPr algn="l">
              <a:lnSpc>
                <a:spcPct val="125000"/>
              </a:lnSpc>
            </a:pPr>
            <a:r>
              <a:rPr sz="1050" b="1">
                <a:solidFill>
                  <a:srgbClr val="145F6B"/>
                </a:solidFill>
                <a:latin typeface="Noto Sans JP"/>
                <a:ea typeface="Noto Sans JP"/>
                <a:cs typeface="Noto Sans JP"/>
              </a:rPr>
              <a:t>REFERRAL KEYWORDS</a:t>
            </a:r>
          </a:p>
        </p:txBody>
      </p:sp>
      <p:sp>
        <p:nvSpPr>
          <p:cNvPr id="5" name="TextBox 4"/>
          <p:cNvSpPr txBox="1"/>
          <p:nvPr/>
        </p:nvSpPr>
        <p:spPr>
          <a:xfrm>
            <a:off x="992000" y="840000"/>
            <a:ext cx="10438000" cy="600000"/>
          </a:xfrm>
          <a:prstGeom prst="rect">
            <a:avLst/>
          </a:prstGeom>
          <a:noFill/>
        </p:spPr>
        <p:txBody>
          <a:bodyPr wrap="square" anchor="t" lIns="0" rIns="0" tIns="0" bIns="0">
            <a:spAutoFit/>
          </a:bodyPr>
          <a:lstStyle/>
          <a:p>
            <a:pPr algn="l">
              <a:lnSpc>
                <a:spcPct val="125000"/>
              </a:lnSpc>
            </a:pPr>
            <a:r>
              <a:rPr sz="2600" b="1">
                <a:solidFill>
                  <a:srgbClr val="2A2F33"/>
                </a:solidFill>
                <a:latin typeface="Noto Sans JP"/>
                <a:ea typeface="Noto Sans JP"/>
                <a:cs typeface="Noto Sans JP"/>
              </a:rPr>
              <a:t>この5つで悩んでいる方がいたら、思い出してください</a:t>
            </a:r>
          </a:p>
        </p:txBody>
      </p:sp>
      <p:sp>
        <p:nvSpPr>
          <p:cNvPr id="6" name="Rectangle 5"/>
          <p:cNvSpPr/>
          <p:nvPr/>
        </p:nvSpPr>
        <p:spPr>
          <a:xfrm>
            <a:off x="762000" y="6380000"/>
            <a:ext cx="10668000" cy="9525"/>
          </a:xfrm>
          <a:prstGeom prst="rect">
            <a:avLst/>
          </a:prstGeom>
          <a:solidFill>
            <a:srgbClr val="E6DD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2000" y="6480000"/>
            <a:ext cx="4000000" cy="200000"/>
          </a:xfrm>
          <a:prstGeom prst="rect">
            <a:avLst/>
          </a:prstGeom>
          <a:noFill/>
        </p:spPr>
        <p:txBody>
          <a:bodyPr wrap="square" anchor="t" lIns="0" rIns="0" tIns="0" bIns="0">
            <a:spAutoFit/>
          </a:bodyPr>
          <a:lstStyle/>
          <a:p>
            <a:pPr algn="l">
              <a:lnSpc>
                <a:spcPct val="125000"/>
              </a:lnSpc>
            </a:pPr>
            <a:r>
              <a:rPr sz="800" b="0">
                <a:solidFill>
                  <a:srgbClr val="5F666B"/>
                </a:solidFill>
                <a:latin typeface="Noto Sans JP"/>
                <a:ea typeface="Noto Sans JP"/>
                <a:cs typeface="Noto Sans JP"/>
              </a:rPr>
              <a:t>© U-Writing All Rights Reserved.</a:t>
            </a:r>
          </a:p>
        </p:txBody>
      </p:sp>
      <p:sp>
        <p:nvSpPr>
          <p:cNvPr id="8" name="Rounded Rectangle 7"/>
          <p:cNvSpPr/>
          <p:nvPr/>
        </p:nvSpPr>
        <p:spPr>
          <a:xfrm>
            <a:off x="11010000" y="6430000"/>
            <a:ext cx="420000" cy="300000"/>
          </a:xfrm>
          <a:prstGeom prst="round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010000" y="6430000"/>
            <a:ext cx="420000" cy="300000"/>
          </a:xfrm>
          <a:prstGeom prst="rect">
            <a:avLst/>
          </a:prstGeom>
          <a:noFill/>
        </p:spPr>
        <p:txBody>
          <a:bodyPr wrap="square" anchor="ctr" lIns="0" rIns="0" tIns="0" bIns="0">
            <a:spAutoFit/>
          </a:bodyPr>
          <a:lstStyle/>
          <a:p>
            <a:pPr algn="ctr">
              <a:lnSpc>
                <a:spcPct val="125000"/>
              </a:lnSpc>
            </a:pPr>
            <a:r>
              <a:rPr sz="1100" b="1">
                <a:solidFill>
                  <a:srgbClr val="FFFFFF"/>
                </a:solidFill>
                <a:latin typeface="Noto Sans JP"/>
                <a:ea typeface="Noto Sans JP"/>
                <a:cs typeface="Noto Sans JP"/>
              </a:rPr>
              <a:t>23</a:t>
            </a:r>
          </a:p>
        </p:txBody>
      </p:sp>
      <p:sp>
        <p:nvSpPr>
          <p:cNvPr id="10" name="Rectangle 9"/>
          <p:cNvSpPr/>
          <p:nvPr/>
        </p:nvSpPr>
        <p:spPr>
          <a:xfrm>
            <a:off x="762000" y="1600000"/>
            <a:ext cx="10668000" cy="680000"/>
          </a:xfrm>
          <a:prstGeom prst="rect">
            <a:avLst/>
          </a:prstGeom>
          <a:solidFill>
            <a:srgbClr val="F1E9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62000" y="1600000"/>
            <a:ext cx="76200" cy="6800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62000" y="1700000"/>
            <a:ext cx="700000" cy="480000"/>
          </a:xfrm>
          <a:prstGeom prst="rect">
            <a:avLst/>
          </a:prstGeom>
          <a:noFill/>
        </p:spPr>
        <p:txBody>
          <a:bodyPr wrap="square" anchor="ctr" lIns="0" rIns="0" tIns="0" bIns="0">
            <a:spAutoFit/>
          </a:bodyPr>
          <a:lstStyle/>
          <a:p>
            <a:pPr algn="l">
              <a:lnSpc>
                <a:spcPct val="125000"/>
              </a:lnSpc>
            </a:pPr>
            <a:r>
              <a:rPr sz="1800" b="1">
                <a:solidFill>
                  <a:srgbClr val="D9764A"/>
                </a:solidFill>
                <a:latin typeface="Noto Sans JP"/>
                <a:ea typeface="Noto Sans JP"/>
                <a:cs typeface="Noto Sans JP"/>
              </a:rPr>
              <a:t>01</a:t>
            </a:r>
          </a:p>
        </p:txBody>
      </p:sp>
      <p:sp>
        <p:nvSpPr>
          <p:cNvPr id="13" name="TextBox 12"/>
          <p:cNvSpPr txBox="1"/>
          <p:nvPr/>
        </p:nvSpPr>
        <p:spPr>
          <a:xfrm>
            <a:off x="1862000" y="1700000"/>
            <a:ext cx="9268000" cy="480000"/>
          </a:xfrm>
          <a:prstGeom prst="rect">
            <a:avLst/>
          </a:prstGeom>
          <a:noFill/>
        </p:spPr>
        <p:txBody>
          <a:bodyPr wrap="square" anchor="ctr" lIns="0" rIns="0" tIns="0" bIns="0">
            <a:spAutoFit/>
          </a:bodyPr>
          <a:lstStyle/>
          <a:p>
            <a:pPr algn="l">
              <a:lnSpc>
                <a:spcPct val="125000"/>
              </a:lnSpc>
            </a:pPr>
            <a:r>
              <a:rPr sz="1600" b="1">
                <a:solidFill>
                  <a:srgbClr val="2A2F33"/>
                </a:solidFill>
                <a:latin typeface="Noto Sans JP"/>
                <a:ea typeface="Noto Sans JP"/>
                <a:cs typeface="Noto Sans JP"/>
              </a:rPr>
              <a:t>「商品の良さは分かってもらえるはずなのに、売れない」</a:t>
            </a:r>
          </a:p>
        </p:txBody>
      </p:sp>
      <p:sp>
        <p:nvSpPr>
          <p:cNvPr id="14" name="Rectangle 13"/>
          <p:cNvSpPr/>
          <p:nvPr/>
        </p:nvSpPr>
        <p:spPr>
          <a:xfrm>
            <a:off x="762000" y="2380000"/>
            <a:ext cx="10668000" cy="680000"/>
          </a:xfrm>
          <a:prstGeom prst="rect">
            <a:avLst/>
          </a:prstGeom>
          <a:solidFill>
            <a:srgbClr val="F1E9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62000" y="2380000"/>
            <a:ext cx="76200" cy="6800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62000" y="2480000"/>
            <a:ext cx="700000" cy="480000"/>
          </a:xfrm>
          <a:prstGeom prst="rect">
            <a:avLst/>
          </a:prstGeom>
          <a:noFill/>
        </p:spPr>
        <p:txBody>
          <a:bodyPr wrap="square" anchor="ctr" lIns="0" rIns="0" tIns="0" bIns="0">
            <a:spAutoFit/>
          </a:bodyPr>
          <a:lstStyle/>
          <a:p>
            <a:pPr algn="l">
              <a:lnSpc>
                <a:spcPct val="125000"/>
              </a:lnSpc>
            </a:pPr>
            <a:r>
              <a:rPr sz="1800" b="1">
                <a:solidFill>
                  <a:srgbClr val="D9764A"/>
                </a:solidFill>
                <a:latin typeface="Noto Sans JP"/>
                <a:ea typeface="Noto Sans JP"/>
                <a:cs typeface="Noto Sans JP"/>
              </a:rPr>
              <a:t>02</a:t>
            </a:r>
          </a:p>
        </p:txBody>
      </p:sp>
      <p:sp>
        <p:nvSpPr>
          <p:cNvPr id="17" name="TextBox 16"/>
          <p:cNvSpPr txBox="1"/>
          <p:nvPr/>
        </p:nvSpPr>
        <p:spPr>
          <a:xfrm>
            <a:off x="1862000" y="2480000"/>
            <a:ext cx="9268000" cy="480000"/>
          </a:xfrm>
          <a:prstGeom prst="rect">
            <a:avLst/>
          </a:prstGeom>
          <a:noFill/>
        </p:spPr>
        <p:txBody>
          <a:bodyPr wrap="square" anchor="ctr" lIns="0" rIns="0" tIns="0" bIns="0">
            <a:spAutoFit/>
          </a:bodyPr>
          <a:lstStyle/>
          <a:p>
            <a:pPr algn="l">
              <a:lnSpc>
                <a:spcPct val="125000"/>
              </a:lnSpc>
            </a:pPr>
            <a:r>
              <a:rPr sz="1600" b="1">
                <a:solidFill>
                  <a:srgbClr val="2A2F33"/>
                </a:solidFill>
                <a:latin typeface="Noto Sans JP"/>
                <a:ea typeface="Noto Sans JP"/>
                <a:cs typeface="Noto Sans JP"/>
              </a:rPr>
              <a:t>「同業と何が違うのか、うまく説明できない」</a:t>
            </a:r>
          </a:p>
        </p:txBody>
      </p:sp>
      <p:sp>
        <p:nvSpPr>
          <p:cNvPr id="18" name="Rectangle 17"/>
          <p:cNvSpPr/>
          <p:nvPr/>
        </p:nvSpPr>
        <p:spPr>
          <a:xfrm>
            <a:off x="762000" y="3160000"/>
            <a:ext cx="10668000" cy="680000"/>
          </a:xfrm>
          <a:prstGeom prst="rect">
            <a:avLst/>
          </a:prstGeom>
          <a:solidFill>
            <a:srgbClr val="F1E9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62000" y="3160000"/>
            <a:ext cx="76200" cy="6800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62000" y="3260000"/>
            <a:ext cx="700000" cy="480000"/>
          </a:xfrm>
          <a:prstGeom prst="rect">
            <a:avLst/>
          </a:prstGeom>
          <a:noFill/>
        </p:spPr>
        <p:txBody>
          <a:bodyPr wrap="square" anchor="ctr" lIns="0" rIns="0" tIns="0" bIns="0">
            <a:spAutoFit/>
          </a:bodyPr>
          <a:lstStyle/>
          <a:p>
            <a:pPr algn="l">
              <a:lnSpc>
                <a:spcPct val="125000"/>
              </a:lnSpc>
            </a:pPr>
            <a:r>
              <a:rPr sz="1800" b="1">
                <a:solidFill>
                  <a:srgbClr val="D9764A"/>
                </a:solidFill>
                <a:latin typeface="Noto Sans JP"/>
                <a:ea typeface="Noto Sans JP"/>
                <a:cs typeface="Noto Sans JP"/>
              </a:rPr>
              <a:t>03</a:t>
            </a:r>
          </a:p>
        </p:txBody>
      </p:sp>
      <p:sp>
        <p:nvSpPr>
          <p:cNvPr id="21" name="TextBox 20"/>
          <p:cNvSpPr txBox="1"/>
          <p:nvPr/>
        </p:nvSpPr>
        <p:spPr>
          <a:xfrm>
            <a:off x="1862000" y="3260000"/>
            <a:ext cx="9268000" cy="480000"/>
          </a:xfrm>
          <a:prstGeom prst="rect">
            <a:avLst/>
          </a:prstGeom>
          <a:noFill/>
        </p:spPr>
        <p:txBody>
          <a:bodyPr wrap="square" anchor="ctr" lIns="0" rIns="0" tIns="0" bIns="0">
            <a:spAutoFit/>
          </a:bodyPr>
          <a:lstStyle/>
          <a:p>
            <a:pPr algn="l">
              <a:lnSpc>
                <a:spcPct val="125000"/>
              </a:lnSpc>
            </a:pPr>
            <a:r>
              <a:rPr sz="1600" b="1">
                <a:solidFill>
                  <a:srgbClr val="2A2F33"/>
                </a:solidFill>
                <a:latin typeface="Noto Sans JP"/>
                <a:ea typeface="Noto Sans JP"/>
                <a:cs typeface="Noto Sans JP"/>
              </a:rPr>
              <a:t>「おしゃれなHPを作ったのに、問い合わせが来ない」</a:t>
            </a:r>
          </a:p>
        </p:txBody>
      </p:sp>
      <p:sp>
        <p:nvSpPr>
          <p:cNvPr id="22" name="Rectangle 21"/>
          <p:cNvSpPr/>
          <p:nvPr/>
        </p:nvSpPr>
        <p:spPr>
          <a:xfrm>
            <a:off x="762000" y="3940000"/>
            <a:ext cx="10668000" cy="680000"/>
          </a:xfrm>
          <a:prstGeom prst="rect">
            <a:avLst/>
          </a:prstGeom>
          <a:solidFill>
            <a:srgbClr val="F1E9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62000" y="3940000"/>
            <a:ext cx="76200" cy="6800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62000" y="4040000"/>
            <a:ext cx="700000" cy="480000"/>
          </a:xfrm>
          <a:prstGeom prst="rect">
            <a:avLst/>
          </a:prstGeom>
          <a:noFill/>
        </p:spPr>
        <p:txBody>
          <a:bodyPr wrap="square" anchor="ctr" lIns="0" rIns="0" tIns="0" bIns="0">
            <a:spAutoFit/>
          </a:bodyPr>
          <a:lstStyle/>
          <a:p>
            <a:pPr algn="l">
              <a:lnSpc>
                <a:spcPct val="125000"/>
              </a:lnSpc>
            </a:pPr>
            <a:r>
              <a:rPr sz="1800" b="1">
                <a:solidFill>
                  <a:srgbClr val="D9764A"/>
                </a:solidFill>
                <a:latin typeface="Noto Sans JP"/>
                <a:ea typeface="Noto Sans JP"/>
                <a:cs typeface="Noto Sans JP"/>
              </a:rPr>
              <a:t>04</a:t>
            </a:r>
          </a:p>
        </p:txBody>
      </p:sp>
      <p:sp>
        <p:nvSpPr>
          <p:cNvPr id="25" name="TextBox 24"/>
          <p:cNvSpPr txBox="1"/>
          <p:nvPr/>
        </p:nvSpPr>
        <p:spPr>
          <a:xfrm>
            <a:off x="1862000" y="4040000"/>
            <a:ext cx="9268000" cy="480000"/>
          </a:xfrm>
          <a:prstGeom prst="rect">
            <a:avLst/>
          </a:prstGeom>
          <a:noFill/>
        </p:spPr>
        <p:txBody>
          <a:bodyPr wrap="square" anchor="ctr" lIns="0" rIns="0" tIns="0" bIns="0">
            <a:spAutoFit/>
          </a:bodyPr>
          <a:lstStyle/>
          <a:p>
            <a:pPr algn="l">
              <a:lnSpc>
                <a:spcPct val="125000"/>
              </a:lnSpc>
            </a:pPr>
            <a:r>
              <a:rPr sz="1600" b="1">
                <a:solidFill>
                  <a:srgbClr val="2A2F33"/>
                </a:solidFill>
                <a:latin typeface="Noto Sans JP"/>
                <a:ea typeface="Noto Sans JP"/>
                <a:cs typeface="Noto Sans JP"/>
              </a:rPr>
              <a:t>「SNSを頑張っているのに、反応がない」</a:t>
            </a:r>
          </a:p>
        </p:txBody>
      </p:sp>
      <p:sp>
        <p:nvSpPr>
          <p:cNvPr id="26" name="Rectangle 25"/>
          <p:cNvSpPr/>
          <p:nvPr/>
        </p:nvSpPr>
        <p:spPr>
          <a:xfrm>
            <a:off x="762000" y="4720000"/>
            <a:ext cx="10668000" cy="680000"/>
          </a:xfrm>
          <a:prstGeom prst="rect">
            <a:avLst/>
          </a:prstGeom>
          <a:solidFill>
            <a:srgbClr val="F1E9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62000" y="4720000"/>
            <a:ext cx="76200" cy="6800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62000" y="4820000"/>
            <a:ext cx="700000" cy="480000"/>
          </a:xfrm>
          <a:prstGeom prst="rect">
            <a:avLst/>
          </a:prstGeom>
          <a:noFill/>
        </p:spPr>
        <p:txBody>
          <a:bodyPr wrap="square" anchor="ctr" lIns="0" rIns="0" tIns="0" bIns="0">
            <a:spAutoFit/>
          </a:bodyPr>
          <a:lstStyle/>
          <a:p>
            <a:pPr algn="l">
              <a:lnSpc>
                <a:spcPct val="125000"/>
              </a:lnSpc>
            </a:pPr>
            <a:r>
              <a:rPr sz="1800" b="1">
                <a:solidFill>
                  <a:srgbClr val="D9764A"/>
                </a:solidFill>
                <a:latin typeface="Noto Sans JP"/>
                <a:ea typeface="Noto Sans JP"/>
                <a:cs typeface="Noto Sans JP"/>
              </a:rPr>
              <a:t>05</a:t>
            </a:r>
          </a:p>
        </p:txBody>
      </p:sp>
      <p:sp>
        <p:nvSpPr>
          <p:cNvPr id="29" name="TextBox 28"/>
          <p:cNvSpPr txBox="1"/>
          <p:nvPr/>
        </p:nvSpPr>
        <p:spPr>
          <a:xfrm>
            <a:off x="1862000" y="4820000"/>
            <a:ext cx="9268000" cy="480000"/>
          </a:xfrm>
          <a:prstGeom prst="rect">
            <a:avLst/>
          </a:prstGeom>
          <a:noFill/>
        </p:spPr>
        <p:txBody>
          <a:bodyPr wrap="square" anchor="ctr" lIns="0" rIns="0" tIns="0" bIns="0">
            <a:spAutoFit/>
          </a:bodyPr>
          <a:lstStyle/>
          <a:p>
            <a:pPr algn="l">
              <a:lnSpc>
                <a:spcPct val="125000"/>
              </a:lnSpc>
            </a:pPr>
            <a:r>
              <a:rPr sz="1600" b="1">
                <a:solidFill>
                  <a:srgbClr val="2A2F33"/>
                </a:solidFill>
                <a:latin typeface="Noto Sans JP"/>
                <a:ea typeface="Noto Sans JP"/>
                <a:cs typeface="Noto Sans JP"/>
              </a:rPr>
              <a:t>「何をやっても効いているのか分からない」</a:t>
            </a:r>
          </a:p>
        </p:txBody>
      </p:sp>
      <p:sp>
        <p:nvSpPr>
          <p:cNvPr id="30" name="TextBox 29"/>
          <p:cNvSpPr txBox="1"/>
          <p:nvPr/>
        </p:nvSpPr>
        <p:spPr>
          <a:xfrm>
            <a:off x="762000" y="5600000"/>
            <a:ext cx="10668000" cy="500000"/>
          </a:xfrm>
          <a:prstGeom prst="rect">
            <a:avLst/>
          </a:prstGeom>
          <a:noFill/>
        </p:spPr>
        <p:txBody>
          <a:bodyPr wrap="square" anchor="t" lIns="0" rIns="0" tIns="0" bIns="0">
            <a:spAutoFit/>
          </a:bodyPr>
          <a:lstStyle/>
          <a:p>
            <a:pPr algn="ctr">
              <a:lnSpc>
                <a:spcPct val="125000"/>
              </a:lnSpc>
            </a:pPr>
            <a:r>
              <a:rPr sz="2000" b="1">
                <a:solidFill>
                  <a:srgbClr val="D9764A"/>
                </a:solidFill>
                <a:latin typeface="Noto Sans JP"/>
                <a:ea typeface="Noto Sans JP"/>
                <a:cs typeface="Noto Sans JP"/>
              </a:rPr>
              <a:t>合言葉は「マーケティング迷子」</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Rectangle 1"/>
          <p:cNvSpPr/>
          <p:nvPr/>
        </p:nvSpPr>
        <p:spPr>
          <a:xfrm>
            <a:off x="0" y="0"/>
            <a:ext cx="12192000" cy="762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62000" y="600000"/>
            <a:ext cx="76200" cy="8200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92000" y="560000"/>
            <a:ext cx="10668000" cy="260000"/>
          </a:xfrm>
          <a:prstGeom prst="rect">
            <a:avLst/>
          </a:prstGeom>
          <a:noFill/>
        </p:spPr>
        <p:txBody>
          <a:bodyPr wrap="square" anchor="t" lIns="0" rIns="0" tIns="0" bIns="0">
            <a:spAutoFit/>
          </a:bodyPr>
          <a:lstStyle/>
          <a:p>
            <a:pPr algn="l">
              <a:lnSpc>
                <a:spcPct val="125000"/>
              </a:lnSpc>
            </a:pPr>
            <a:r>
              <a:rPr sz="1050" b="1">
                <a:solidFill>
                  <a:srgbClr val="145F6B"/>
                </a:solidFill>
                <a:latin typeface="Noto Sans JP"/>
                <a:ea typeface="Noto Sans JP"/>
                <a:cs typeface="Noto Sans JP"/>
              </a:rPr>
              <a:t>WHO TO INTRODUCE</a:t>
            </a:r>
          </a:p>
        </p:txBody>
      </p:sp>
      <p:sp>
        <p:nvSpPr>
          <p:cNvPr id="5" name="TextBox 4"/>
          <p:cNvSpPr txBox="1"/>
          <p:nvPr/>
        </p:nvSpPr>
        <p:spPr>
          <a:xfrm>
            <a:off x="992000" y="840000"/>
            <a:ext cx="10438000" cy="600000"/>
          </a:xfrm>
          <a:prstGeom prst="rect">
            <a:avLst/>
          </a:prstGeom>
          <a:noFill/>
        </p:spPr>
        <p:txBody>
          <a:bodyPr wrap="square" anchor="t" lIns="0" rIns="0" tIns="0" bIns="0">
            <a:spAutoFit/>
          </a:bodyPr>
          <a:lstStyle/>
          <a:p>
            <a:pPr algn="l">
              <a:lnSpc>
                <a:spcPct val="125000"/>
              </a:lnSpc>
            </a:pPr>
            <a:r>
              <a:rPr sz="2600" b="1">
                <a:solidFill>
                  <a:srgbClr val="2A2F33"/>
                </a:solidFill>
                <a:latin typeface="Noto Sans JP"/>
                <a:ea typeface="Noto Sans JP"/>
                <a:cs typeface="Noto Sans JP"/>
              </a:rPr>
              <a:t>ご紹介いただきたい方</a:t>
            </a:r>
          </a:p>
        </p:txBody>
      </p:sp>
      <p:sp>
        <p:nvSpPr>
          <p:cNvPr id="6" name="Rectangle 5"/>
          <p:cNvSpPr/>
          <p:nvPr/>
        </p:nvSpPr>
        <p:spPr>
          <a:xfrm>
            <a:off x="762000" y="6380000"/>
            <a:ext cx="10668000" cy="9525"/>
          </a:xfrm>
          <a:prstGeom prst="rect">
            <a:avLst/>
          </a:prstGeom>
          <a:solidFill>
            <a:srgbClr val="E6DD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2000" y="6480000"/>
            <a:ext cx="4000000" cy="200000"/>
          </a:xfrm>
          <a:prstGeom prst="rect">
            <a:avLst/>
          </a:prstGeom>
          <a:noFill/>
        </p:spPr>
        <p:txBody>
          <a:bodyPr wrap="square" anchor="t" lIns="0" rIns="0" tIns="0" bIns="0">
            <a:spAutoFit/>
          </a:bodyPr>
          <a:lstStyle/>
          <a:p>
            <a:pPr algn="l">
              <a:lnSpc>
                <a:spcPct val="125000"/>
              </a:lnSpc>
            </a:pPr>
            <a:r>
              <a:rPr sz="800" b="0">
                <a:solidFill>
                  <a:srgbClr val="5F666B"/>
                </a:solidFill>
                <a:latin typeface="Noto Sans JP"/>
                <a:ea typeface="Noto Sans JP"/>
                <a:cs typeface="Noto Sans JP"/>
              </a:rPr>
              <a:t>© U-Writing All Rights Reserved.</a:t>
            </a:r>
          </a:p>
        </p:txBody>
      </p:sp>
      <p:sp>
        <p:nvSpPr>
          <p:cNvPr id="8" name="Rounded Rectangle 7"/>
          <p:cNvSpPr/>
          <p:nvPr/>
        </p:nvSpPr>
        <p:spPr>
          <a:xfrm>
            <a:off x="11010000" y="6430000"/>
            <a:ext cx="420000" cy="300000"/>
          </a:xfrm>
          <a:prstGeom prst="round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010000" y="6430000"/>
            <a:ext cx="420000" cy="300000"/>
          </a:xfrm>
          <a:prstGeom prst="rect">
            <a:avLst/>
          </a:prstGeom>
          <a:noFill/>
        </p:spPr>
        <p:txBody>
          <a:bodyPr wrap="square" anchor="ctr" lIns="0" rIns="0" tIns="0" bIns="0">
            <a:spAutoFit/>
          </a:bodyPr>
          <a:lstStyle/>
          <a:p>
            <a:pPr algn="ctr">
              <a:lnSpc>
                <a:spcPct val="125000"/>
              </a:lnSpc>
            </a:pPr>
            <a:r>
              <a:rPr sz="1100" b="1">
                <a:solidFill>
                  <a:srgbClr val="FFFFFF"/>
                </a:solidFill>
                <a:latin typeface="Noto Sans JP"/>
                <a:ea typeface="Noto Sans JP"/>
                <a:cs typeface="Noto Sans JP"/>
              </a:rPr>
              <a:t>24</a:t>
            </a:r>
          </a:p>
        </p:txBody>
      </p:sp>
      <p:sp>
        <p:nvSpPr>
          <p:cNvPr id="10" name="Rectangle 9"/>
          <p:cNvSpPr/>
          <p:nvPr/>
        </p:nvSpPr>
        <p:spPr>
          <a:xfrm>
            <a:off x="762000" y="1650000"/>
            <a:ext cx="5180000" cy="4450000"/>
          </a:xfrm>
          <a:prstGeom prst="rect">
            <a:avLst/>
          </a:prstGeom>
          <a:solidFill>
            <a:srgbClr val="FFFFFF"/>
          </a:solidFill>
          <a:ln w="12700">
            <a:solidFill>
              <a:srgbClr val="E6DD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62000" y="1650000"/>
            <a:ext cx="5180000" cy="508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112000" y="1950000"/>
            <a:ext cx="4480000" cy="450000"/>
          </a:xfrm>
          <a:prstGeom prst="rect">
            <a:avLst/>
          </a:prstGeom>
          <a:noFill/>
        </p:spPr>
        <p:txBody>
          <a:bodyPr wrap="square" anchor="t" lIns="0" rIns="0" tIns="0" bIns="0">
            <a:spAutoFit/>
          </a:bodyPr>
          <a:lstStyle/>
          <a:p>
            <a:pPr algn="l">
              <a:lnSpc>
                <a:spcPct val="125000"/>
              </a:lnSpc>
            </a:pPr>
            <a:r>
              <a:rPr sz="2000" b="1">
                <a:solidFill>
                  <a:srgbClr val="2A2F33"/>
                </a:solidFill>
                <a:latin typeface="Noto Sans JP"/>
                <a:ea typeface="Noto Sans JP"/>
                <a:cs typeface="Noto Sans JP"/>
              </a:rPr>
              <a:t>お客様として</a:t>
            </a:r>
          </a:p>
        </p:txBody>
      </p:sp>
      <p:sp>
        <p:nvSpPr>
          <p:cNvPr id="13" name="TextBox 12"/>
          <p:cNvSpPr txBox="1"/>
          <p:nvPr/>
        </p:nvSpPr>
        <p:spPr>
          <a:xfrm>
            <a:off x="1112000" y="2450000"/>
            <a:ext cx="4480000" cy="300000"/>
          </a:xfrm>
          <a:prstGeom prst="rect">
            <a:avLst/>
          </a:prstGeom>
          <a:noFill/>
        </p:spPr>
        <p:txBody>
          <a:bodyPr wrap="square" anchor="t" lIns="0" rIns="0" tIns="0" bIns="0">
            <a:spAutoFit/>
          </a:bodyPr>
          <a:lstStyle/>
          <a:p>
            <a:pPr algn="l">
              <a:lnSpc>
                <a:spcPct val="125000"/>
              </a:lnSpc>
            </a:pPr>
            <a:r>
              <a:rPr sz="1200" b="0">
                <a:solidFill>
                  <a:srgbClr val="5F666B"/>
                </a:solidFill>
                <a:latin typeface="Noto Sans JP"/>
                <a:ea typeface="Noto Sans JP"/>
                <a:cs typeface="Noto Sans JP"/>
              </a:rPr>
              <a:t>美容・健康分野で集客に悩む事業者</a:t>
            </a:r>
          </a:p>
        </p:txBody>
      </p:sp>
      <p:sp>
        <p:nvSpPr>
          <p:cNvPr id="14" name="TextBox 13"/>
          <p:cNvSpPr txBox="1"/>
          <p:nvPr/>
        </p:nvSpPr>
        <p:spPr>
          <a:xfrm>
            <a:off x="1112000" y="3000000"/>
            <a:ext cx="4480000" cy="2900000"/>
          </a:xfrm>
          <a:prstGeom prst="rect">
            <a:avLst/>
          </a:prstGeom>
          <a:noFill/>
        </p:spPr>
        <p:txBody>
          <a:bodyPr wrap="square" anchor="t" lIns="0" rIns="0" tIns="0" bIns="0">
            <a:spAutoFit/>
          </a:bodyPr>
          <a:lstStyle/>
          <a:p>
            <a:pPr algn="l">
              <a:lnSpc>
                <a:spcPct val="170000"/>
              </a:lnSpc>
            </a:pPr>
            <a:r>
              <a:rPr sz="1400" b="0">
                <a:solidFill>
                  <a:srgbClr val="2A2F33"/>
                </a:solidFill>
                <a:latin typeface="Noto Sans JP"/>
                <a:ea typeface="Noto Sans JP"/>
                <a:cs typeface="Noto Sans JP"/>
              </a:rPr>
              <a:t>● 美容サロン・脱毛サロン</a:t>
            </a:r>
          </a:p>
          <a:p>
            <a:pPr algn="l">
              <a:lnSpc>
                <a:spcPct val="170000"/>
              </a:lnSpc>
            </a:pPr>
            <a:r>
              <a:rPr sz="1400" b="0">
                <a:solidFill>
                  <a:srgbClr val="2A2F33"/>
                </a:solidFill>
                <a:latin typeface="Noto Sans JP"/>
                <a:ea typeface="Noto Sans JP"/>
                <a:cs typeface="Noto Sans JP"/>
              </a:rPr>
              <a:t>● 整体院・治療院</a:t>
            </a:r>
          </a:p>
          <a:p>
            <a:pPr algn="l">
              <a:lnSpc>
                <a:spcPct val="170000"/>
              </a:lnSpc>
            </a:pPr>
            <a:r>
              <a:rPr sz="1400" b="0">
                <a:solidFill>
                  <a:srgbClr val="2A2F33"/>
                </a:solidFill>
                <a:latin typeface="Noto Sans JP"/>
                <a:ea typeface="Noto Sans JP"/>
                <a:cs typeface="Noto Sans JP"/>
              </a:rPr>
              <a:t>● 医療クリニック</a:t>
            </a:r>
          </a:p>
          <a:p>
            <a:pPr algn="l">
              <a:lnSpc>
                <a:spcPct val="170000"/>
              </a:lnSpc>
            </a:pPr>
            <a:r>
              <a:rPr sz="1400" b="0">
                <a:solidFill>
                  <a:srgbClr val="2A2F33"/>
                </a:solidFill>
                <a:latin typeface="Noto Sans JP"/>
                <a:ea typeface="Noto Sans JP"/>
                <a:cs typeface="Noto Sans JP"/>
              </a:rPr>
              <a:t>● 健康食品・化粧品・健康雑貨の販売者</a:t>
            </a:r>
          </a:p>
          <a:p>
            <a:pPr algn="l">
              <a:lnSpc>
                <a:spcPct val="170000"/>
              </a:lnSpc>
            </a:pPr>
            <a:r>
              <a:rPr sz="1400" b="0">
                <a:solidFill>
                  <a:srgbClr val="2A2F33"/>
                </a:solidFill>
                <a:latin typeface="Noto Sans JP"/>
                <a:ea typeface="Noto Sans JP"/>
                <a:cs typeface="Noto Sans JP"/>
              </a:rPr>
              <a:t>● 講座・スクール・コーチ</a:t>
            </a:r>
          </a:p>
        </p:txBody>
      </p:sp>
      <p:sp>
        <p:nvSpPr>
          <p:cNvPr id="15" name="Rectangle 14"/>
          <p:cNvSpPr/>
          <p:nvPr/>
        </p:nvSpPr>
        <p:spPr>
          <a:xfrm>
            <a:off x="6250000" y="1650000"/>
            <a:ext cx="5180000" cy="4450000"/>
          </a:xfrm>
          <a:prstGeom prst="rect">
            <a:avLst/>
          </a:prstGeom>
          <a:solidFill>
            <a:srgbClr val="FFFFFF"/>
          </a:solidFill>
          <a:ln w="12700">
            <a:solidFill>
              <a:srgbClr val="E6DD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50000" y="1650000"/>
            <a:ext cx="5180000" cy="50800"/>
          </a:xfrm>
          <a:prstGeom prst="rect">
            <a:avLst/>
          </a:prstGeom>
          <a:solidFill>
            <a:srgbClr val="2A2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600000" y="1950000"/>
            <a:ext cx="4480000" cy="450000"/>
          </a:xfrm>
          <a:prstGeom prst="rect">
            <a:avLst/>
          </a:prstGeom>
          <a:noFill/>
        </p:spPr>
        <p:txBody>
          <a:bodyPr wrap="square" anchor="t" lIns="0" rIns="0" tIns="0" bIns="0">
            <a:spAutoFit/>
          </a:bodyPr>
          <a:lstStyle/>
          <a:p>
            <a:pPr algn="l">
              <a:lnSpc>
                <a:spcPct val="125000"/>
              </a:lnSpc>
            </a:pPr>
            <a:r>
              <a:rPr sz="2000" b="1">
                <a:solidFill>
                  <a:srgbClr val="2A2F33"/>
                </a:solidFill>
                <a:latin typeface="Noto Sans JP"/>
                <a:ea typeface="Noto Sans JP"/>
                <a:cs typeface="Noto Sans JP"/>
              </a:rPr>
              <a:t>協業パートナーとして</a:t>
            </a:r>
          </a:p>
        </p:txBody>
      </p:sp>
      <p:sp>
        <p:nvSpPr>
          <p:cNvPr id="18" name="TextBox 17"/>
          <p:cNvSpPr txBox="1"/>
          <p:nvPr/>
        </p:nvSpPr>
        <p:spPr>
          <a:xfrm>
            <a:off x="6600000" y="2450000"/>
            <a:ext cx="4480000" cy="300000"/>
          </a:xfrm>
          <a:prstGeom prst="rect">
            <a:avLst/>
          </a:prstGeom>
          <a:noFill/>
        </p:spPr>
        <p:txBody>
          <a:bodyPr wrap="square" anchor="t" lIns="0" rIns="0" tIns="0" bIns="0">
            <a:spAutoFit/>
          </a:bodyPr>
          <a:lstStyle/>
          <a:p>
            <a:pPr algn="l">
              <a:lnSpc>
                <a:spcPct val="125000"/>
              </a:lnSpc>
            </a:pPr>
            <a:r>
              <a:rPr sz="1200" b="0">
                <a:solidFill>
                  <a:srgbClr val="5F666B"/>
                </a:solidFill>
                <a:latin typeface="Noto Sans JP"/>
                <a:ea typeface="Noto Sans JP"/>
                <a:cs typeface="Noto Sans JP"/>
              </a:rPr>
              <a:t>ライティング・薬機法対応を任せたい方</a:t>
            </a:r>
          </a:p>
        </p:txBody>
      </p:sp>
      <p:sp>
        <p:nvSpPr>
          <p:cNvPr id="19" name="TextBox 18"/>
          <p:cNvSpPr txBox="1"/>
          <p:nvPr/>
        </p:nvSpPr>
        <p:spPr>
          <a:xfrm>
            <a:off x="6600000" y="3000000"/>
            <a:ext cx="4480000" cy="2900000"/>
          </a:xfrm>
          <a:prstGeom prst="rect">
            <a:avLst/>
          </a:prstGeom>
          <a:noFill/>
        </p:spPr>
        <p:txBody>
          <a:bodyPr wrap="square" anchor="t" lIns="0" rIns="0" tIns="0" bIns="0">
            <a:spAutoFit/>
          </a:bodyPr>
          <a:lstStyle/>
          <a:p>
            <a:pPr algn="l">
              <a:lnSpc>
                <a:spcPct val="170000"/>
              </a:lnSpc>
            </a:pPr>
            <a:r>
              <a:rPr sz="1400" b="0">
                <a:solidFill>
                  <a:srgbClr val="2A2F33"/>
                </a:solidFill>
                <a:latin typeface="Noto Sans JP"/>
                <a:ea typeface="Noto Sans JP"/>
                <a:cs typeface="Noto Sans JP"/>
              </a:rPr>
              <a:t>● Web制作会社・デザイン会社</a:t>
            </a:r>
          </a:p>
          <a:p>
            <a:pPr algn="l">
              <a:lnSpc>
                <a:spcPct val="170000"/>
              </a:lnSpc>
            </a:pPr>
            <a:r>
              <a:rPr sz="1400" b="0">
                <a:solidFill>
                  <a:srgbClr val="2A2F33"/>
                </a:solidFill>
                <a:latin typeface="Noto Sans JP"/>
                <a:ea typeface="Noto Sans JP"/>
                <a:cs typeface="Noto Sans JP"/>
              </a:rPr>
              <a:t>● 経営・財務コンサルタント</a:t>
            </a:r>
          </a:p>
          <a:p>
            <a:pPr algn="l">
              <a:lnSpc>
                <a:spcPct val="170000"/>
              </a:lnSpc>
            </a:pPr>
            <a:r>
              <a:rPr sz="1400" b="0">
                <a:solidFill>
                  <a:srgbClr val="2A2F33"/>
                </a:solidFill>
                <a:latin typeface="Noto Sans JP"/>
                <a:ea typeface="Noto Sans JP"/>
                <a:cs typeface="Noto Sans JP"/>
              </a:rPr>
              <a:t>● 医療・美容機器ディーラー</a:t>
            </a:r>
          </a:p>
          <a:p>
            <a:pPr algn="l">
              <a:lnSpc>
                <a:spcPct val="170000"/>
              </a:lnSpc>
            </a:pPr>
            <a:r>
              <a:rPr sz="1400" b="0">
                <a:solidFill>
                  <a:srgbClr val="2A2F33"/>
                </a:solidFill>
                <a:latin typeface="Noto Sans JP"/>
                <a:ea typeface="Noto Sans JP"/>
                <a:cs typeface="Noto Sans JP"/>
              </a:rPr>
              <a:t>● レンタルスペース・店舗物件の不動産仲介</a:t>
            </a:r>
          </a:p>
          <a:p>
            <a:pPr algn="l">
              <a:lnSpc>
                <a:spcPct val="170000"/>
              </a:lnSpc>
            </a:pPr>
            <a:r>
              <a:rPr sz="1400" b="0">
                <a:solidFill>
                  <a:srgbClr val="2A2F33"/>
                </a:solidFill>
                <a:latin typeface="Noto Sans JP"/>
                <a:ea typeface="Noto Sans JP"/>
                <a:cs typeface="Noto Sans JP"/>
              </a:rPr>
              <a:t>● 経営者コミュニティ・マッチングサービス運営</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Rectangle 1"/>
          <p:cNvSpPr/>
          <p:nvPr/>
        </p:nvSpPr>
        <p:spPr>
          <a:xfrm>
            <a:off x="0" y="0"/>
            <a:ext cx="12192000" cy="762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62000" y="600000"/>
            <a:ext cx="76200" cy="8200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92000" y="560000"/>
            <a:ext cx="10668000" cy="260000"/>
          </a:xfrm>
          <a:prstGeom prst="rect">
            <a:avLst/>
          </a:prstGeom>
          <a:noFill/>
        </p:spPr>
        <p:txBody>
          <a:bodyPr wrap="square" anchor="t" lIns="0" rIns="0" tIns="0" bIns="0">
            <a:spAutoFit/>
          </a:bodyPr>
          <a:lstStyle/>
          <a:p>
            <a:pPr algn="l">
              <a:lnSpc>
                <a:spcPct val="125000"/>
              </a:lnSpc>
            </a:pPr>
            <a:r>
              <a:rPr sz="1050" b="1">
                <a:solidFill>
                  <a:srgbClr val="145F6B"/>
                </a:solidFill>
                <a:latin typeface="Noto Sans JP"/>
                <a:ea typeface="Noto Sans JP"/>
                <a:cs typeface="Noto Sans JP"/>
              </a:rPr>
              <a:t>REFERRAL PROGRAM</a:t>
            </a:r>
          </a:p>
        </p:txBody>
      </p:sp>
      <p:sp>
        <p:nvSpPr>
          <p:cNvPr id="5" name="TextBox 4"/>
          <p:cNvSpPr txBox="1"/>
          <p:nvPr/>
        </p:nvSpPr>
        <p:spPr>
          <a:xfrm>
            <a:off x="992000" y="840000"/>
            <a:ext cx="10438000" cy="600000"/>
          </a:xfrm>
          <a:prstGeom prst="rect">
            <a:avLst/>
          </a:prstGeom>
          <a:noFill/>
        </p:spPr>
        <p:txBody>
          <a:bodyPr wrap="square" anchor="t" lIns="0" rIns="0" tIns="0" bIns="0">
            <a:spAutoFit/>
          </a:bodyPr>
          <a:lstStyle/>
          <a:p>
            <a:pPr algn="l">
              <a:lnSpc>
                <a:spcPct val="125000"/>
              </a:lnSpc>
            </a:pPr>
            <a:r>
              <a:rPr sz="2600" b="1">
                <a:solidFill>
                  <a:srgbClr val="2A2F33"/>
                </a:solidFill>
                <a:latin typeface="Noto Sans JP"/>
                <a:ea typeface="Noto Sans JP"/>
                <a:cs typeface="Noto Sans JP"/>
              </a:rPr>
              <a:t>紹介パートナー制度</a:t>
            </a:r>
          </a:p>
        </p:txBody>
      </p:sp>
      <p:sp>
        <p:nvSpPr>
          <p:cNvPr id="6" name="Rectangle 5"/>
          <p:cNvSpPr/>
          <p:nvPr/>
        </p:nvSpPr>
        <p:spPr>
          <a:xfrm>
            <a:off x="762000" y="6380000"/>
            <a:ext cx="10668000" cy="9525"/>
          </a:xfrm>
          <a:prstGeom prst="rect">
            <a:avLst/>
          </a:prstGeom>
          <a:solidFill>
            <a:srgbClr val="E6DD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2000" y="6480000"/>
            <a:ext cx="4000000" cy="200000"/>
          </a:xfrm>
          <a:prstGeom prst="rect">
            <a:avLst/>
          </a:prstGeom>
          <a:noFill/>
        </p:spPr>
        <p:txBody>
          <a:bodyPr wrap="square" anchor="t" lIns="0" rIns="0" tIns="0" bIns="0">
            <a:spAutoFit/>
          </a:bodyPr>
          <a:lstStyle/>
          <a:p>
            <a:pPr algn="l">
              <a:lnSpc>
                <a:spcPct val="125000"/>
              </a:lnSpc>
            </a:pPr>
            <a:r>
              <a:rPr sz="800" b="0">
                <a:solidFill>
                  <a:srgbClr val="5F666B"/>
                </a:solidFill>
                <a:latin typeface="Noto Sans JP"/>
                <a:ea typeface="Noto Sans JP"/>
                <a:cs typeface="Noto Sans JP"/>
              </a:rPr>
              <a:t>© U-Writing All Rights Reserved.</a:t>
            </a:r>
          </a:p>
        </p:txBody>
      </p:sp>
      <p:sp>
        <p:nvSpPr>
          <p:cNvPr id="8" name="Rounded Rectangle 7"/>
          <p:cNvSpPr/>
          <p:nvPr/>
        </p:nvSpPr>
        <p:spPr>
          <a:xfrm>
            <a:off x="11010000" y="6430000"/>
            <a:ext cx="420000" cy="300000"/>
          </a:xfrm>
          <a:prstGeom prst="round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010000" y="6430000"/>
            <a:ext cx="420000" cy="300000"/>
          </a:xfrm>
          <a:prstGeom prst="rect">
            <a:avLst/>
          </a:prstGeom>
          <a:noFill/>
        </p:spPr>
        <p:txBody>
          <a:bodyPr wrap="square" anchor="ctr" lIns="0" rIns="0" tIns="0" bIns="0">
            <a:spAutoFit/>
          </a:bodyPr>
          <a:lstStyle/>
          <a:p>
            <a:pPr algn="ctr">
              <a:lnSpc>
                <a:spcPct val="125000"/>
              </a:lnSpc>
            </a:pPr>
            <a:r>
              <a:rPr sz="1100" b="1">
                <a:solidFill>
                  <a:srgbClr val="FFFFFF"/>
                </a:solidFill>
                <a:latin typeface="Noto Sans JP"/>
                <a:ea typeface="Noto Sans JP"/>
                <a:cs typeface="Noto Sans JP"/>
              </a:rPr>
              <a:t>25</a:t>
            </a:r>
          </a:p>
        </p:txBody>
      </p:sp>
      <p:sp>
        <p:nvSpPr>
          <p:cNvPr id="10" name="Rectangle 9"/>
          <p:cNvSpPr/>
          <p:nvPr/>
        </p:nvSpPr>
        <p:spPr>
          <a:xfrm>
            <a:off x="762000" y="1700000"/>
            <a:ext cx="5300000" cy="1450000"/>
          </a:xfrm>
          <a:prstGeom prst="rect">
            <a:avLst/>
          </a:prstGeom>
          <a:solidFill>
            <a:srgbClr val="F1E9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62000" y="1920000"/>
            <a:ext cx="4800000" cy="350000"/>
          </a:xfrm>
          <a:prstGeom prst="rect">
            <a:avLst/>
          </a:prstGeom>
          <a:noFill/>
        </p:spPr>
        <p:txBody>
          <a:bodyPr wrap="square" anchor="t" lIns="0" rIns="0" tIns="0" bIns="0">
            <a:spAutoFit/>
          </a:bodyPr>
          <a:lstStyle/>
          <a:p>
            <a:pPr algn="l">
              <a:lnSpc>
                <a:spcPct val="125000"/>
              </a:lnSpc>
            </a:pPr>
            <a:r>
              <a:rPr sz="1300" b="1">
                <a:solidFill>
                  <a:srgbClr val="2A2F33"/>
                </a:solidFill>
                <a:latin typeface="Noto Sans JP"/>
                <a:ea typeface="Noto Sans JP"/>
                <a:cs typeface="Noto Sans JP"/>
              </a:rPr>
              <a:t>集客顧問「ミチスジ」顧問プラン</a:t>
            </a:r>
          </a:p>
        </p:txBody>
      </p:sp>
      <p:sp>
        <p:nvSpPr>
          <p:cNvPr id="12" name="TextBox 11"/>
          <p:cNvSpPr txBox="1"/>
          <p:nvPr/>
        </p:nvSpPr>
        <p:spPr>
          <a:xfrm>
            <a:off x="1062000" y="2300000"/>
            <a:ext cx="1700000" cy="750000"/>
          </a:xfrm>
          <a:prstGeom prst="rect">
            <a:avLst/>
          </a:prstGeom>
          <a:noFill/>
        </p:spPr>
        <p:txBody>
          <a:bodyPr wrap="square" anchor="t" lIns="0" rIns="0" tIns="0" bIns="0">
            <a:spAutoFit/>
          </a:bodyPr>
          <a:lstStyle/>
          <a:p>
            <a:pPr algn="l">
              <a:lnSpc>
                <a:spcPct val="125000"/>
              </a:lnSpc>
            </a:pPr>
            <a:r>
              <a:rPr sz="4000" b="1">
                <a:solidFill>
                  <a:srgbClr val="D9764A"/>
                </a:solidFill>
                <a:latin typeface="Noto Sans JP"/>
                <a:ea typeface="Noto Sans JP"/>
                <a:cs typeface="Noto Sans JP"/>
              </a:rPr>
              <a:t>20%</a:t>
            </a:r>
          </a:p>
        </p:txBody>
      </p:sp>
      <p:sp>
        <p:nvSpPr>
          <p:cNvPr id="13" name="TextBox 12"/>
          <p:cNvSpPr txBox="1"/>
          <p:nvPr/>
        </p:nvSpPr>
        <p:spPr>
          <a:xfrm>
            <a:off x="2762000" y="2380000"/>
            <a:ext cx="3200000" cy="300000"/>
          </a:xfrm>
          <a:prstGeom prst="rect">
            <a:avLst/>
          </a:prstGeom>
          <a:noFill/>
        </p:spPr>
        <p:txBody>
          <a:bodyPr wrap="square" anchor="t" lIns="0" rIns="0" tIns="0" bIns="0">
            <a:spAutoFit/>
          </a:bodyPr>
          <a:lstStyle/>
          <a:p>
            <a:pPr algn="l">
              <a:lnSpc>
                <a:spcPct val="125000"/>
              </a:lnSpc>
            </a:pPr>
            <a:r>
              <a:rPr sz="1300" b="1">
                <a:solidFill>
                  <a:srgbClr val="2A2F33"/>
                </a:solidFill>
                <a:latin typeface="Noto Sans JP"/>
                <a:ea typeface="Noto Sans JP"/>
                <a:cs typeface="Noto Sans JP"/>
              </a:rPr>
              <a:t>契約金額の20%を毎月</a:t>
            </a:r>
          </a:p>
        </p:txBody>
      </p:sp>
      <p:sp>
        <p:nvSpPr>
          <p:cNvPr id="14" name="TextBox 13"/>
          <p:cNvSpPr txBox="1"/>
          <p:nvPr/>
        </p:nvSpPr>
        <p:spPr>
          <a:xfrm>
            <a:off x="2762000" y="2700000"/>
            <a:ext cx="3200000" cy="300000"/>
          </a:xfrm>
          <a:prstGeom prst="rect">
            <a:avLst/>
          </a:prstGeom>
          <a:noFill/>
        </p:spPr>
        <p:txBody>
          <a:bodyPr wrap="square" anchor="t" lIns="0" rIns="0" tIns="0" bIns="0">
            <a:spAutoFit/>
          </a:bodyPr>
          <a:lstStyle/>
          <a:p>
            <a:pPr algn="l">
              <a:lnSpc>
                <a:spcPct val="125000"/>
              </a:lnSpc>
            </a:pPr>
            <a:r>
              <a:rPr sz="1000" b="0">
                <a:solidFill>
                  <a:srgbClr val="5F666B"/>
                </a:solidFill>
                <a:latin typeface="Noto Sans JP"/>
                <a:ea typeface="Noto Sans JP"/>
                <a:cs typeface="Noto Sans JP"/>
              </a:rPr>
              <a:t>契約が続く限り、着金確認後にお支払い</a:t>
            </a:r>
          </a:p>
        </p:txBody>
      </p:sp>
      <p:sp>
        <p:nvSpPr>
          <p:cNvPr id="15" name="Rectangle 14"/>
          <p:cNvSpPr/>
          <p:nvPr/>
        </p:nvSpPr>
        <p:spPr>
          <a:xfrm>
            <a:off x="762000" y="3350000"/>
            <a:ext cx="5300000" cy="1450000"/>
          </a:xfrm>
          <a:prstGeom prst="rect">
            <a:avLst/>
          </a:prstGeom>
          <a:solidFill>
            <a:srgbClr val="F1E9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62000" y="3570000"/>
            <a:ext cx="4800000" cy="350000"/>
          </a:xfrm>
          <a:prstGeom prst="rect">
            <a:avLst/>
          </a:prstGeom>
          <a:noFill/>
        </p:spPr>
        <p:txBody>
          <a:bodyPr wrap="square" anchor="t" lIns="0" rIns="0" tIns="0" bIns="0">
            <a:spAutoFit/>
          </a:bodyPr>
          <a:lstStyle/>
          <a:p>
            <a:pPr algn="l">
              <a:lnSpc>
                <a:spcPct val="125000"/>
              </a:lnSpc>
            </a:pPr>
            <a:r>
              <a:rPr sz="1300" b="1">
                <a:solidFill>
                  <a:srgbClr val="2A2F33"/>
                </a:solidFill>
                <a:latin typeface="Noto Sans JP"/>
                <a:ea typeface="Noto Sans JP"/>
                <a:cs typeface="Noto Sans JP"/>
              </a:rPr>
              <a:t>制作代行「カワリミ」</a:t>
            </a:r>
          </a:p>
        </p:txBody>
      </p:sp>
      <p:sp>
        <p:nvSpPr>
          <p:cNvPr id="17" name="TextBox 16"/>
          <p:cNvSpPr txBox="1"/>
          <p:nvPr/>
        </p:nvSpPr>
        <p:spPr>
          <a:xfrm>
            <a:off x="1062000" y="3950000"/>
            <a:ext cx="1700000" cy="750000"/>
          </a:xfrm>
          <a:prstGeom prst="rect">
            <a:avLst/>
          </a:prstGeom>
          <a:noFill/>
        </p:spPr>
        <p:txBody>
          <a:bodyPr wrap="square" anchor="t" lIns="0" rIns="0" tIns="0" bIns="0">
            <a:spAutoFit/>
          </a:bodyPr>
          <a:lstStyle/>
          <a:p>
            <a:pPr algn="l">
              <a:lnSpc>
                <a:spcPct val="125000"/>
              </a:lnSpc>
            </a:pPr>
            <a:r>
              <a:rPr sz="4000" b="1">
                <a:solidFill>
                  <a:srgbClr val="D9764A"/>
                </a:solidFill>
                <a:latin typeface="Noto Sans JP"/>
                <a:ea typeface="Noto Sans JP"/>
                <a:cs typeface="Noto Sans JP"/>
              </a:rPr>
              <a:t>10%</a:t>
            </a:r>
          </a:p>
        </p:txBody>
      </p:sp>
      <p:sp>
        <p:nvSpPr>
          <p:cNvPr id="18" name="TextBox 17"/>
          <p:cNvSpPr txBox="1"/>
          <p:nvPr/>
        </p:nvSpPr>
        <p:spPr>
          <a:xfrm>
            <a:off x="2762000" y="4030000"/>
            <a:ext cx="3200000" cy="300000"/>
          </a:xfrm>
          <a:prstGeom prst="rect">
            <a:avLst/>
          </a:prstGeom>
          <a:noFill/>
        </p:spPr>
        <p:txBody>
          <a:bodyPr wrap="square" anchor="t" lIns="0" rIns="0" tIns="0" bIns="0">
            <a:spAutoFit/>
          </a:bodyPr>
          <a:lstStyle/>
          <a:p>
            <a:pPr algn="l">
              <a:lnSpc>
                <a:spcPct val="125000"/>
              </a:lnSpc>
            </a:pPr>
            <a:r>
              <a:rPr sz="1300" b="1">
                <a:solidFill>
                  <a:srgbClr val="2A2F33"/>
                </a:solidFill>
                <a:latin typeface="Noto Sans JP"/>
                <a:ea typeface="Noto Sans JP"/>
                <a:cs typeface="Noto Sans JP"/>
              </a:rPr>
              <a:t>契約金額の10%</a:t>
            </a:r>
          </a:p>
        </p:txBody>
      </p:sp>
      <p:sp>
        <p:nvSpPr>
          <p:cNvPr id="19" name="TextBox 18"/>
          <p:cNvSpPr txBox="1"/>
          <p:nvPr/>
        </p:nvSpPr>
        <p:spPr>
          <a:xfrm>
            <a:off x="2762000" y="4350000"/>
            <a:ext cx="3200000" cy="300000"/>
          </a:xfrm>
          <a:prstGeom prst="rect">
            <a:avLst/>
          </a:prstGeom>
          <a:noFill/>
        </p:spPr>
        <p:txBody>
          <a:bodyPr wrap="square" anchor="t" lIns="0" rIns="0" tIns="0" bIns="0">
            <a:spAutoFit/>
          </a:bodyPr>
          <a:lstStyle/>
          <a:p>
            <a:pPr algn="l">
              <a:lnSpc>
                <a:spcPct val="125000"/>
              </a:lnSpc>
            </a:pPr>
            <a:r>
              <a:rPr sz="1000" b="0">
                <a:solidFill>
                  <a:srgbClr val="5F666B"/>
                </a:solidFill>
                <a:latin typeface="Noto Sans JP"/>
                <a:ea typeface="Noto Sans JP"/>
                <a:cs typeface="Noto Sans JP"/>
              </a:rPr>
              <a:t>契約金額10万円以上の場合。着金確認後にお支払い</a:t>
            </a:r>
          </a:p>
        </p:txBody>
      </p:sp>
      <p:sp>
        <p:nvSpPr>
          <p:cNvPr id="20" name="Rectangle 19"/>
          <p:cNvSpPr/>
          <p:nvPr/>
        </p:nvSpPr>
        <p:spPr>
          <a:xfrm>
            <a:off x="6462000" y="1700000"/>
            <a:ext cx="4968000" cy="720000"/>
          </a:xfrm>
          <a:prstGeom prst="rect">
            <a:avLst/>
          </a:prstGeom>
          <a:solidFill>
            <a:srgbClr val="FFFFFF"/>
          </a:solidFill>
          <a:ln w="12700">
            <a:solidFill>
              <a:srgbClr val="E6DD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662000" y="1860000"/>
            <a:ext cx="400000" cy="400000"/>
          </a:xfrm>
          <a:prstGeom prst="ellipse">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662000" y="1860000"/>
            <a:ext cx="400000" cy="400000"/>
          </a:xfrm>
          <a:prstGeom prst="rect">
            <a:avLst/>
          </a:prstGeom>
          <a:noFill/>
        </p:spPr>
        <p:txBody>
          <a:bodyPr wrap="square" anchor="ctr" lIns="0" rIns="0" tIns="0" bIns="0">
            <a:spAutoFit/>
          </a:bodyPr>
          <a:lstStyle/>
          <a:p>
            <a:pPr algn="ctr">
              <a:lnSpc>
                <a:spcPct val="125000"/>
              </a:lnSpc>
            </a:pPr>
            <a:r>
              <a:rPr sz="1200" b="1">
                <a:solidFill>
                  <a:srgbClr val="FFFFFF"/>
                </a:solidFill>
                <a:latin typeface="Noto Sans JP"/>
                <a:ea typeface="Noto Sans JP"/>
                <a:cs typeface="Noto Sans JP"/>
              </a:rPr>
              <a:t>1</a:t>
            </a:r>
          </a:p>
        </p:txBody>
      </p:sp>
      <p:sp>
        <p:nvSpPr>
          <p:cNvPr id="23" name="TextBox 22"/>
          <p:cNvSpPr txBox="1"/>
          <p:nvPr/>
        </p:nvSpPr>
        <p:spPr>
          <a:xfrm>
            <a:off x="7262000" y="1820000"/>
            <a:ext cx="3800000" cy="300000"/>
          </a:xfrm>
          <a:prstGeom prst="rect">
            <a:avLst/>
          </a:prstGeom>
          <a:noFill/>
        </p:spPr>
        <p:txBody>
          <a:bodyPr wrap="square" anchor="t" lIns="0" rIns="0" tIns="0" bIns="0">
            <a:spAutoFit/>
          </a:bodyPr>
          <a:lstStyle/>
          <a:p>
            <a:pPr algn="l">
              <a:lnSpc>
                <a:spcPct val="125000"/>
              </a:lnSpc>
            </a:pPr>
            <a:r>
              <a:rPr sz="1300" b="1">
                <a:solidFill>
                  <a:srgbClr val="2A2F33"/>
                </a:solidFill>
                <a:latin typeface="Noto Sans JP"/>
                <a:ea typeface="Noto Sans JP"/>
                <a:cs typeface="Noto Sans JP"/>
              </a:rPr>
              <a:t>ご紹介・おつなぎ</a:t>
            </a:r>
          </a:p>
        </p:txBody>
      </p:sp>
      <p:sp>
        <p:nvSpPr>
          <p:cNvPr id="24" name="TextBox 23"/>
          <p:cNvSpPr txBox="1"/>
          <p:nvPr/>
        </p:nvSpPr>
        <p:spPr>
          <a:xfrm>
            <a:off x="7262000" y="2100000"/>
            <a:ext cx="3800000" cy="300000"/>
          </a:xfrm>
          <a:prstGeom prst="rect">
            <a:avLst/>
          </a:prstGeom>
          <a:noFill/>
        </p:spPr>
        <p:txBody>
          <a:bodyPr wrap="square" anchor="t" lIns="0" rIns="0" tIns="0" bIns="0">
            <a:spAutoFit/>
          </a:bodyPr>
          <a:lstStyle/>
          <a:p>
            <a:pPr algn="l">
              <a:lnSpc>
                <a:spcPct val="125000"/>
              </a:lnSpc>
            </a:pPr>
            <a:r>
              <a:rPr sz="1000" b="0">
                <a:solidFill>
                  <a:srgbClr val="5F666B"/>
                </a:solidFill>
                <a:latin typeface="Noto Sans JP"/>
                <a:ea typeface="Noto Sans JP"/>
                <a:cs typeface="Noto Sans JP"/>
              </a:rPr>
              <a:t>お困りの方をご紹介ください</a:t>
            </a:r>
          </a:p>
        </p:txBody>
      </p:sp>
      <p:sp>
        <p:nvSpPr>
          <p:cNvPr id="25" name="Rectangle 24"/>
          <p:cNvSpPr/>
          <p:nvPr/>
        </p:nvSpPr>
        <p:spPr>
          <a:xfrm>
            <a:off x="6462000" y="2550000"/>
            <a:ext cx="4968000" cy="720000"/>
          </a:xfrm>
          <a:prstGeom prst="rect">
            <a:avLst/>
          </a:prstGeom>
          <a:solidFill>
            <a:srgbClr val="FFFFFF"/>
          </a:solidFill>
          <a:ln w="12700">
            <a:solidFill>
              <a:srgbClr val="E6DD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6662000" y="2710000"/>
            <a:ext cx="400000" cy="400000"/>
          </a:xfrm>
          <a:prstGeom prst="ellipse">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662000" y="2710000"/>
            <a:ext cx="400000" cy="400000"/>
          </a:xfrm>
          <a:prstGeom prst="rect">
            <a:avLst/>
          </a:prstGeom>
          <a:noFill/>
        </p:spPr>
        <p:txBody>
          <a:bodyPr wrap="square" anchor="ctr" lIns="0" rIns="0" tIns="0" bIns="0">
            <a:spAutoFit/>
          </a:bodyPr>
          <a:lstStyle/>
          <a:p>
            <a:pPr algn="ctr">
              <a:lnSpc>
                <a:spcPct val="125000"/>
              </a:lnSpc>
            </a:pPr>
            <a:r>
              <a:rPr sz="1200" b="1">
                <a:solidFill>
                  <a:srgbClr val="FFFFFF"/>
                </a:solidFill>
                <a:latin typeface="Noto Sans JP"/>
                <a:ea typeface="Noto Sans JP"/>
                <a:cs typeface="Noto Sans JP"/>
              </a:rPr>
              <a:t>2</a:t>
            </a:r>
          </a:p>
        </p:txBody>
      </p:sp>
      <p:sp>
        <p:nvSpPr>
          <p:cNvPr id="28" name="TextBox 27"/>
          <p:cNvSpPr txBox="1"/>
          <p:nvPr/>
        </p:nvSpPr>
        <p:spPr>
          <a:xfrm>
            <a:off x="7262000" y="2670000"/>
            <a:ext cx="3800000" cy="300000"/>
          </a:xfrm>
          <a:prstGeom prst="rect">
            <a:avLst/>
          </a:prstGeom>
          <a:noFill/>
        </p:spPr>
        <p:txBody>
          <a:bodyPr wrap="square" anchor="t" lIns="0" rIns="0" tIns="0" bIns="0">
            <a:spAutoFit/>
          </a:bodyPr>
          <a:lstStyle/>
          <a:p>
            <a:pPr algn="l">
              <a:lnSpc>
                <a:spcPct val="125000"/>
              </a:lnSpc>
            </a:pPr>
            <a:r>
              <a:rPr sz="1300" b="1">
                <a:solidFill>
                  <a:srgbClr val="2A2F33"/>
                </a:solidFill>
                <a:latin typeface="Noto Sans JP"/>
                <a:ea typeface="Noto Sans JP"/>
                <a:cs typeface="Noto Sans JP"/>
              </a:rPr>
              <a:t>商談・ご提案</a:t>
            </a:r>
          </a:p>
        </p:txBody>
      </p:sp>
      <p:sp>
        <p:nvSpPr>
          <p:cNvPr id="29" name="TextBox 28"/>
          <p:cNvSpPr txBox="1"/>
          <p:nvPr/>
        </p:nvSpPr>
        <p:spPr>
          <a:xfrm>
            <a:off x="7262000" y="2950000"/>
            <a:ext cx="3800000" cy="300000"/>
          </a:xfrm>
          <a:prstGeom prst="rect">
            <a:avLst/>
          </a:prstGeom>
          <a:noFill/>
        </p:spPr>
        <p:txBody>
          <a:bodyPr wrap="square" anchor="t" lIns="0" rIns="0" tIns="0" bIns="0">
            <a:spAutoFit/>
          </a:bodyPr>
          <a:lstStyle/>
          <a:p>
            <a:pPr algn="l">
              <a:lnSpc>
                <a:spcPct val="125000"/>
              </a:lnSpc>
            </a:pPr>
            <a:r>
              <a:rPr sz="1000" b="0">
                <a:solidFill>
                  <a:srgbClr val="5F666B"/>
                </a:solidFill>
                <a:latin typeface="Noto Sans JP"/>
                <a:ea typeface="Noto Sans JP"/>
                <a:cs typeface="Noto Sans JP"/>
              </a:rPr>
              <a:t>ヒアリングと提案はすべて私が行います</a:t>
            </a:r>
          </a:p>
        </p:txBody>
      </p:sp>
      <p:sp>
        <p:nvSpPr>
          <p:cNvPr id="30" name="Rectangle 29"/>
          <p:cNvSpPr/>
          <p:nvPr/>
        </p:nvSpPr>
        <p:spPr>
          <a:xfrm>
            <a:off x="6462000" y="3400000"/>
            <a:ext cx="4968000" cy="720000"/>
          </a:xfrm>
          <a:prstGeom prst="rect">
            <a:avLst/>
          </a:prstGeom>
          <a:solidFill>
            <a:srgbClr val="FFFFFF"/>
          </a:solidFill>
          <a:ln w="12700">
            <a:solidFill>
              <a:srgbClr val="E6DD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6662000" y="3560000"/>
            <a:ext cx="400000" cy="400000"/>
          </a:xfrm>
          <a:prstGeom prst="ellipse">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662000" y="3560000"/>
            <a:ext cx="400000" cy="400000"/>
          </a:xfrm>
          <a:prstGeom prst="rect">
            <a:avLst/>
          </a:prstGeom>
          <a:noFill/>
        </p:spPr>
        <p:txBody>
          <a:bodyPr wrap="square" anchor="ctr" lIns="0" rIns="0" tIns="0" bIns="0">
            <a:spAutoFit/>
          </a:bodyPr>
          <a:lstStyle/>
          <a:p>
            <a:pPr algn="ctr">
              <a:lnSpc>
                <a:spcPct val="125000"/>
              </a:lnSpc>
            </a:pPr>
            <a:r>
              <a:rPr sz="1200" b="1">
                <a:solidFill>
                  <a:srgbClr val="FFFFFF"/>
                </a:solidFill>
                <a:latin typeface="Noto Sans JP"/>
                <a:ea typeface="Noto Sans JP"/>
                <a:cs typeface="Noto Sans JP"/>
              </a:rPr>
              <a:t>3</a:t>
            </a:r>
          </a:p>
        </p:txBody>
      </p:sp>
      <p:sp>
        <p:nvSpPr>
          <p:cNvPr id="33" name="TextBox 32"/>
          <p:cNvSpPr txBox="1"/>
          <p:nvPr/>
        </p:nvSpPr>
        <p:spPr>
          <a:xfrm>
            <a:off x="7262000" y="3520000"/>
            <a:ext cx="3800000" cy="300000"/>
          </a:xfrm>
          <a:prstGeom prst="rect">
            <a:avLst/>
          </a:prstGeom>
          <a:noFill/>
        </p:spPr>
        <p:txBody>
          <a:bodyPr wrap="square" anchor="t" lIns="0" rIns="0" tIns="0" bIns="0">
            <a:spAutoFit/>
          </a:bodyPr>
          <a:lstStyle/>
          <a:p>
            <a:pPr algn="l">
              <a:lnSpc>
                <a:spcPct val="125000"/>
              </a:lnSpc>
            </a:pPr>
            <a:r>
              <a:rPr sz="1300" b="1">
                <a:solidFill>
                  <a:srgbClr val="2A2F33"/>
                </a:solidFill>
                <a:latin typeface="Noto Sans JP"/>
                <a:ea typeface="Noto Sans JP"/>
                <a:cs typeface="Noto Sans JP"/>
              </a:rPr>
              <a:t>ご契約・業務開始</a:t>
            </a:r>
          </a:p>
        </p:txBody>
      </p:sp>
      <p:sp>
        <p:nvSpPr>
          <p:cNvPr id="34" name="TextBox 33"/>
          <p:cNvSpPr txBox="1"/>
          <p:nvPr/>
        </p:nvSpPr>
        <p:spPr>
          <a:xfrm>
            <a:off x="7262000" y="3800000"/>
            <a:ext cx="3800000" cy="300000"/>
          </a:xfrm>
          <a:prstGeom prst="rect">
            <a:avLst/>
          </a:prstGeom>
          <a:noFill/>
        </p:spPr>
        <p:txBody>
          <a:bodyPr wrap="square" anchor="t" lIns="0" rIns="0" tIns="0" bIns="0">
            <a:spAutoFit/>
          </a:bodyPr>
          <a:lstStyle/>
          <a:p>
            <a:pPr algn="l">
              <a:lnSpc>
                <a:spcPct val="125000"/>
              </a:lnSpc>
            </a:pPr>
            <a:r>
              <a:rPr sz="1000" b="0">
                <a:solidFill>
                  <a:srgbClr val="5F666B"/>
                </a:solidFill>
                <a:latin typeface="Noto Sans JP"/>
                <a:ea typeface="Noto Sans JP"/>
                <a:cs typeface="Noto Sans JP"/>
              </a:rPr>
              <a:t>お客様と直接契約します</a:t>
            </a:r>
          </a:p>
        </p:txBody>
      </p:sp>
      <p:sp>
        <p:nvSpPr>
          <p:cNvPr id="35" name="Rectangle 34"/>
          <p:cNvSpPr/>
          <p:nvPr/>
        </p:nvSpPr>
        <p:spPr>
          <a:xfrm>
            <a:off x="6462000" y="4250000"/>
            <a:ext cx="4968000" cy="720000"/>
          </a:xfrm>
          <a:prstGeom prst="rect">
            <a:avLst/>
          </a:prstGeom>
          <a:solidFill>
            <a:srgbClr val="FFFFFF"/>
          </a:solidFill>
          <a:ln w="12700">
            <a:solidFill>
              <a:srgbClr val="E6DD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6662000" y="4410000"/>
            <a:ext cx="400000" cy="400000"/>
          </a:xfrm>
          <a:prstGeom prst="ellipse">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662000" y="4410000"/>
            <a:ext cx="400000" cy="400000"/>
          </a:xfrm>
          <a:prstGeom prst="rect">
            <a:avLst/>
          </a:prstGeom>
          <a:noFill/>
        </p:spPr>
        <p:txBody>
          <a:bodyPr wrap="square" anchor="ctr" lIns="0" rIns="0" tIns="0" bIns="0">
            <a:spAutoFit/>
          </a:bodyPr>
          <a:lstStyle/>
          <a:p>
            <a:pPr algn="ctr">
              <a:lnSpc>
                <a:spcPct val="125000"/>
              </a:lnSpc>
            </a:pPr>
            <a:r>
              <a:rPr sz="1200" b="1">
                <a:solidFill>
                  <a:srgbClr val="FFFFFF"/>
                </a:solidFill>
                <a:latin typeface="Noto Sans JP"/>
                <a:ea typeface="Noto Sans JP"/>
                <a:cs typeface="Noto Sans JP"/>
              </a:rPr>
              <a:t>4</a:t>
            </a:r>
          </a:p>
        </p:txBody>
      </p:sp>
      <p:sp>
        <p:nvSpPr>
          <p:cNvPr id="38" name="TextBox 37"/>
          <p:cNvSpPr txBox="1"/>
          <p:nvPr/>
        </p:nvSpPr>
        <p:spPr>
          <a:xfrm>
            <a:off x="7262000" y="4370000"/>
            <a:ext cx="3800000" cy="300000"/>
          </a:xfrm>
          <a:prstGeom prst="rect">
            <a:avLst/>
          </a:prstGeom>
          <a:noFill/>
        </p:spPr>
        <p:txBody>
          <a:bodyPr wrap="square" anchor="t" lIns="0" rIns="0" tIns="0" bIns="0">
            <a:spAutoFit/>
          </a:bodyPr>
          <a:lstStyle/>
          <a:p>
            <a:pPr algn="l">
              <a:lnSpc>
                <a:spcPct val="125000"/>
              </a:lnSpc>
            </a:pPr>
            <a:r>
              <a:rPr sz="1300" b="1">
                <a:solidFill>
                  <a:srgbClr val="2A2F33"/>
                </a:solidFill>
                <a:latin typeface="Noto Sans JP"/>
                <a:ea typeface="Noto Sans JP"/>
                <a:cs typeface="Noto Sans JP"/>
              </a:rPr>
              <a:t>紹介料のお支払い</a:t>
            </a:r>
          </a:p>
        </p:txBody>
      </p:sp>
      <p:sp>
        <p:nvSpPr>
          <p:cNvPr id="39" name="TextBox 38"/>
          <p:cNvSpPr txBox="1"/>
          <p:nvPr/>
        </p:nvSpPr>
        <p:spPr>
          <a:xfrm>
            <a:off x="7262000" y="4650000"/>
            <a:ext cx="3800000" cy="300000"/>
          </a:xfrm>
          <a:prstGeom prst="rect">
            <a:avLst/>
          </a:prstGeom>
          <a:noFill/>
        </p:spPr>
        <p:txBody>
          <a:bodyPr wrap="square" anchor="t" lIns="0" rIns="0" tIns="0" bIns="0">
            <a:spAutoFit/>
          </a:bodyPr>
          <a:lstStyle/>
          <a:p>
            <a:pPr algn="l">
              <a:lnSpc>
                <a:spcPct val="125000"/>
              </a:lnSpc>
            </a:pPr>
            <a:r>
              <a:rPr sz="1000" b="0">
                <a:solidFill>
                  <a:srgbClr val="5F666B"/>
                </a:solidFill>
                <a:latin typeface="Noto Sans JP"/>
                <a:ea typeface="Noto Sans JP"/>
                <a:cs typeface="Noto Sans JP"/>
              </a:rPr>
              <a:t>入金確認後にお支払いします</a:t>
            </a:r>
          </a:p>
        </p:txBody>
      </p:sp>
      <p:sp>
        <p:nvSpPr>
          <p:cNvPr id="40" name="TextBox 39"/>
          <p:cNvSpPr txBox="1"/>
          <p:nvPr/>
        </p:nvSpPr>
        <p:spPr>
          <a:xfrm>
            <a:off x="762000" y="5250000"/>
            <a:ext cx="10668000" cy="700000"/>
          </a:xfrm>
          <a:prstGeom prst="rect">
            <a:avLst/>
          </a:prstGeom>
          <a:noFill/>
        </p:spPr>
        <p:txBody>
          <a:bodyPr wrap="square" anchor="t" lIns="0" rIns="0" tIns="0" bIns="0">
            <a:spAutoFit/>
          </a:bodyPr>
          <a:lstStyle/>
          <a:p>
            <a:pPr algn="l">
              <a:lnSpc>
                <a:spcPct val="125000"/>
              </a:lnSpc>
            </a:pPr>
            <a:r>
              <a:rPr sz="1100" b="0">
                <a:solidFill>
                  <a:srgbClr val="5F666B"/>
                </a:solidFill>
                <a:latin typeface="Noto Sans JP"/>
                <a:ea typeface="Noto Sans JP"/>
                <a:cs typeface="Noto Sans JP"/>
              </a:rPr>
              <a:t>メリット：自社サービスの付加価値として提案できる／リスクなく新たな収益源になる／専門的な薬機法対応を任せられる</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Rectangle 1"/>
          <p:cNvSpPr/>
          <p:nvPr/>
        </p:nvSpPr>
        <p:spPr>
          <a:xfrm>
            <a:off x="0" y="0"/>
            <a:ext cx="12192000" cy="762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62000" y="600000"/>
            <a:ext cx="76200" cy="8200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92000" y="560000"/>
            <a:ext cx="10668000" cy="260000"/>
          </a:xfrm>
          <a:prstGeom prst="rect">
            <a:avLst/>
          </a:prstGeom>
          <a:noFill/>
        </p:spPr>
        <p:txBody>
          <a:bodyPr wrap="square" anchor="t" lIns="0" rIns="0" tIns="0" bIns="0">
            <a:spAutoFit/>
          </a:bodyPr>
          <a:lstStyle/>
          <a:p>
            <a:pPr algn="l">
              <a:lnSpc>
                <a:spcPct val="125000"/>
              </a:lnSpc>
            </a:pPr>
            <a:r>
              <a:rPr sz="1050" b="1">
                <a:solidFill>
                  <a:srgbClr val="145F6B"/>
                </a:solidFill>
                <a:latin typeface="Noto Sans JP"/>
                <a:ea typeface="Noto Sans JP"/>
                <a:cs typeface="Noto Sans JP"/>
              </a:rPr>
              <a:t>THANK YOU</a:t>
            </a:r>
          </a:p>
        </p:txBody>
      </p:sp>
      <p:sp>
        <p:nvSpPr>
          <p:cNvPr id="5" name="TextBox 4"/>
          <p:cNvSpPr txBox="1"/>
          <p:nvPr/>
        </p:nvSpPr>
        <p:spPr>
          <a:xfrm>
            <a:off x="992000" y="840000"/>
            <a:ext cx="10438000" cy="600000"/>
          </a:xfrm>
          <a:prstGeom prst="rect">
            <a:avLst/>
          </a:prstGeom>
          <a:noFill/>
        </p:spPr>
        <p:txBody>
          <a:bodyPr wrap="square" anchor="t" lIns="0" rIns="0" tIns="0" bIns="0">
            <a:spAutoFit/>
          </a:bodyPr>
          <a:lstStyle/>
          <a:p>
            <a:pPr algn="l">
              <a:lnSpc>
                <a:spcPct val="125000"/>
              </a:lnSpc>
            </a:pPr>
            <a:r>
              <a:rPr sz="2600" b="1">
                <a:solidFill>
                  <a:srgbClr val="2A2F33"/>
                </a:solidFill>
                <a:latin typeface="Noto Sans JP"/>
                <a:ea typeface="Noto Sans JP"/>
                <a:cs typeface="Noto Sans JP"/>
              </a:rPr>
              <a:t>本日はありがとうございました</a:t>
            </a:r>
          </a:p>
        </p:txBody>
      </p:sp>
      <p:sp>
        <p:nvSpPr>
          <p:cNvPr id="6" name="Rectangle 5"/>
          <p:cNvSpPr/>
          <p:nvPr/>
        </p:nvSpPr>
        <p:spPr>
          <a:xfrm>
            <a:off x="762000" y="6380000"/>
            <a:ext cx="10668000" cy="9525"/>
          </a:xfrm>
          <a:prstGeom prst="rect">
            <a:avLst/>
          </a:prstGeom>
          <a:solidFill>
            <a:srgbClr val="E6DD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2000" y="6480000"/>
            <a:ext cx="4000000" cy="200000"/>
          </a:xfrm>
          <a:prstGeom prst="rect">
            <a:avLst/>
          </a:prstGeom>
          <a:noFill/>
        </p:spPr>
        <p:txBody>
          <a:bodyPr wrap="square" anchor="t" lIns="0" rIns="0" tIns="0" bIns="0">
            <a:spAutoFit/>
          </a:bodyPr>
          <a:lstStyle/>
          <a:p>
            <a:pPr algn="l">
              <a:lnSpc>
                <a:spcPct val="125000"/>
              </a:lnSpc>
            </a:pPr>
            <a:r>
              <a:rPr sz="800" b="0">
                <a:solidFill>
                  <a:srgbClr val="5F666B"/>
                </a:solidFill>
                <a:latin typeface="Noto Sans JP"/>
                <a:ea typeface="Noto Sans JP"/>
                <a:cs typeface="Noto Sans JP"/>
              </a:rPr>
              <a:t>© U-Writing All Rights Reserved.</a:t>
            </a:r>
          </a:p>
        </p:txBody>
      </p:sp>
      <p:sp>
        <p:nvSpPr>
          <p:cNvPr id="8" name="Rounded Rectangle 7"/>
          <p:cNvSpPr/>
          <p:nvPr/>
        </p:nvSpPr>
        <p:spPr>
          <a:xfrm>
            <a:off x="11010000" y="6430000"/>
            <a:ext cx="420000" cy="300000"/>
          </a:xfrm>
          <a:prstGeom prst="round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010000" y="6430000"/>
            <a:ext cx="420000" cy="300000"/>
          </a:xfrm>
          <a:prstGeom prst="rect">
            <a:avLst/>
          </a:prstGeom>
          <a:noFill/>
        </p:spPr>
        <p:txBody>
          <a:bodyPr wrap="square" anchor="ctr" lIns="0" rIns="0" tIns="0" bIns="0">
            <a:spAutoFit/>
          </a:bodyPr>
          <a:lstStyle/>
          <a:p>
            <a:pPr algn="ctr">
              <a:lnSpc>
                <a:spcPct val="125000"/>
              </a:lnSpc>
            </a:pPr>
            <a:r>
              <a:rPr sz="1100" b="1">
                <a:solidFill>
                  <a:srgbClr val="FFFFFF"/>
                </a:solidFill>
                <a:latin typeface="Noto Sans JP"/>
                <a:ea typeface="Noto Sans JP"/>
                <a:cs typeface="Noto Sans JP"/>
              </a:rPr>
              <a:t>26</a:t>
            </a:r>
          </a:p>
        </p:txBody>
      </p:sp>
      <p:sp>
        <p:nvSpPr>
          <p:cNvPr id="10" name="Rectangle 9"/>
          <p:cNvSpPr/>
          <p:nvPr/>
        </p:nvSpPr>
        <p:spPr>
          <a:xfrm>
            <a:off x="762000" y="1750000"/>
            <a:ext cx="10668000" cy="1900000"/>
          </a:xfrm>
          <a:prstGeom prst="rect">
            <a:avLst/>
          </a:prstGeom>
          <a:solidFill>
            <a:srgbClr val="F1E9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62000" y="1750000"/>
            <a:ext cx="76200" cy="19000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2000" y="2050000"/>
            <a:ext cx="10668000" cy="400000"/>
          </a:xfrm>
          <a:prstGeom prst="rect">
            <a:avLst/>
          </a:prstGeom>
          <a:noFill/>
        </p:spPr>
        <p:txBody>
          <a:bodyPr wrap="square" anchor="t" lIns="0" rIns="0" tIns="0" bIns="0">
            <a:spAutoFit/>
          </a:bodyPr>
          <a:lstStyle/>
          <a:p>
            <a:pPr algn="ctr">
              <a:lnSpc>
                <a:spcPct val="125000"/>
              </a:lnSpc>
            </a:pPr>
            <a:r>
              <a:rPr sz="1400" b="0">
                <a:solidFill>
                  <a:srgbClr val="5F666B"/>
                </a:solidFill>
                <a:latin typeface="Noto Sans JP"/>
                <a:ea typeface="Noto Sans JP"/>
                <a:cs typeface="Noto Sans JP"/>
              </a:rPr>
              <a:t>最後に教えてください</a:t>
            </a:r>
          </a:p>
        </p:txBody>
      </p:sp>
      <p:sp>
        <p:nvSpPr>
          <p:cNvPr id="13" name="TextBox 12"/>
          <p:cNvSpPr txBox="1"/>
          <p:nvPr/>
        </p:nvSpPr>
        <p:spPr>
          <a:xfrm>
            <a:off x="762000" y="2550000"/>
            <a:ext cx="10668000" cy="700000"/>
          </a:xfrm>
          <a:prstGeom prst="rect">
            <a:avLst/>
          </a:prstGeom>
          <a:noFill/>
        </p:spPr>
        <p:txBody>
          <a:bodyPr wrap="square" anchor="t" lIns="0" rIns="0" tIns="0" bIns="0">
            <a:spAutoFit/>
          </a:bodyPr>
          <a:lstStyle/>
          <a:p>
            <a:pPr algn="ctr">
              <a:lnSpc>
                <a:spcPct val="125000"/>
              </a:lnSpc>
            </a:pPr>
            <a:r>
              <a:rPr sz="2400" b="1">
                <a:solidFill>
                  <a:srgbClr val="2A2F33"/>
                </a:solidFill>
                <a:latin typeface="Noto Sans JP"/>
                <a:ea typeface="Noto Sans JP"/>
                <a:cs typeface="Noto Sans JP"/>
              </a:rPr>
              <a:t>私から○○様にご紹介できるのは、どんな方ですか？</a:t>
            </a:r>
          </a:p>
        </p:txBody>
      </p:sp>
      <p:sp>
        <p:nvSpPr>
          <p:cNvPr id="14" name="Rectangle 13"/>
          <p:cNvSpPr/>
          <p:nvPr/>
        </p:nvSpPr>
        <p:spPr>
          <a:xfrm>
            <a:off x="3600000" y="4100000"/>
            <a:ext cx="4992000" cy="1650000"/>
          </a:xfrm>
          <a:prstGeom prst="rect">
            <a:avLst/>
          </a:prstGeom>
          <a:solidFill>
            <a:srgbClr val="FFFFFF"/>
          </a:solidFill>
          <a:ln w="12700">
            <a:solidFill>
              <a:srgbClr val="E6DD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850000" y="4300000"/>
            <a:ext cx="3200000" cy="400000"/>
          </a:xfrm>
          <a:prstGeom prst="rect">
            <a:avLst/>
          </a:prstGeom>
          <a:noFill/>
        </p:spPr>
        <p:txBody>
          <a:bodyPr wrap="square" anchor="t" lIns="0" rIns="0" tIns="0" bIns="0">
            <a:spAutoFit/>
          </a:bodyPr>
          <a:lstStyle/>
          <a:p>
            <a:pPr algn="l">
              <a:lnSpc>
                <a:spcPct val="150000"/>
              </a:lnSpc>
            </a:pPr>
            <a:r>
              <a:rPr sz="1300" b="1">
                <a:solidFill>
                  <a:srgbClr val="2A2F33"/>
                </a:solidFill>
                <a:latin typeface="Noto Sans JP"/>
                <a:ea typeface="Noto Sans JP"/>
                <a:cs typeface="Noto Sans JP"/>
              </a:rPr>
              <a:t>U-ライティング 上原 龍之介</a:t>
            </a:r>
          </a:p>
          <a:p>
            <a:pPr algn="l">
              <a:lnSpc>
                <a:spcPct val="150000"/>
              </a:lnSpc>
            </a:pPr>
            <a:r>
              <a:rPr sz="1000" b="0">
                <a:solidFill>
                  <a:srgbClr val="5F666B"/>
                </a:solidFill>
                <a:latin typeface="Noto Sans JP"/>
                <a:ea typeface="Noto Sans JP"/>
                <a:cs typeface="Noto Sans JP"/>
              </a:rPr>
              <a:t>サービスサイト</a:t>
            </a:r>
          </a:p>
          <a:p>
            <a:pPr algn="l">
              <a:lnSpc>
                <a:spcPct val="150000"/>
              </a:lnSpc>
            </a:pPr>
            <a:r>
              <a:rPr sz="1100" b="1">
                <a:solidFill>
                  <a:srgbClr val="145F6B"/>
                </a:solidFill>
                <a:latin typeface="Noto Sans JP"/>
                <a:ea typeface="Noto Sans JP"/>
                <a:cs typeface="Noto Sans JP"/>
              </a:rPr>
              <a:t>https://www.u-promotion.com/</a:t>
            </a:r>
          </a:p>
        </p:txBody>
      </p:sp>
      <p:pic>
        <p:nvPicPr>
          <p:cNvPr id="16" name="Picture 15" descr="qr.png"/>
          <p:cNvPicPr>
            <a:picLocks noChangeAspect="1"/>
          </p:cNvPicPr>
          <p:nvPr/>
        </p:nvPicPr>
        <p:blipFill>
          <a:blip r:embed="rId3"/>
          <a:stretch>
            <a:fillRect/>
          </a:stretch>
        </p:blipFill>
        <p:spPr>
          <a:xfrm>
            <a:off x="7300000" y="4350000"/>
            <a:ext cx="1150000" cy="1150000"/>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Rectangle 1"/>
          <p:cNvSpPr/>
          <p:nvPr/>
        </p:nvSpPr>
        <p:spPr>
          <a:xfrm>
            <a:off x="0" y="0"/>
            <a:ext cx="12192000" cy="762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62000" y="600000"/>
            <a:ext cx="76200" cy="820000"/>
          </a:xfrm>
          <a:prstGeom prst="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92000" y="560000"/>
            <a:ext cx="10668000" cy="260000"/>
          </a:xfrm>
          <a:prstGeom prst="rect">
            <a:avLst/>
          </a:prstGeom>
          <a:noFill/>
        </p:spPr>
        <p:txBody>
          <a:bodyPr wrap="square" anchor="t" lIns="0" rIns="0" tIns="0" bIns="0">
            <a:spAutoFit/>
          </a:bodyPr>
          <a:lstStyle/>
          <a:p>
            <a:pPr algn="l">
              <a:lnSpc>
                <a:spcPct val="125000"/>
              </a:lnSpc>
            </a:pPr>
            <a:r>
              <a:rPr sz="1050" b="1">
                <a:solidFill>
                  <a:srgbClr val="145F6B"/>
                </a:solidFill>
                <a:latin typeface="Noto Sans JP"/>
                <a:ea typeface="Noto Sans JP"/>
                <a:cs typeface="Noto Sans JP"/>
              </a:rPr>
              <a:t>APPENDIX  MICHISUJI</a:t>
            </a:r>
          </a:p>
        </p:txBody>
      </p:sp>
      <p:sp>
        <p:nvSpPr>
          <p:cNvPr id="5" name="TextBox 4"/>
          <p:cNvSpPr txBox="1"/>
          <p:nvPr/>
        </p:nvSpPr>
        <p:spPr>
          <a:xfrm>
            <a:off x="992000" y="840000"/>
            <a:ext cx="10438000" cy="600000"/>
          </a:xfrm>
          <a:prstGeom prst="rect">
            <a:avLst/>
          </a:prstGeom>
          <a:noFill/>
        </p:spPr>
        <p:txBody>
          <a:bodyPr wrap="square" anchor="t" lIns="0" rIns="0" tIns="0" bIns="0">
            <a:spAutoFit/>
          </a:bodyPr>
          <a:lstStyle/>
          <a:p>
            <a:pPr algn="l">
              <a:lnSpc>
                <a:spcPct val="125000"/>
              </a:lnSpc>
            </a:pPr>
            <a:r>
              <a:rPr sz="2600" b="1">
                <a:solidFill>
                  <a:srgbClr val="2A2F33"/>
                </a:solidFill>
                <a:latin typeface="Noto Sans JP"/>
                <a:ea typeface="Noto Sans JP"/>
                <a:cs typeface="Noto Sans JP"/>
              </a:rPr>
              <a:t>集客顧問「ミチスジ」― 迷子にならない道筋を、一緒に</a:t>
            </a:r>
          </a:p>
        </p:txBody>
      </p:sp>
      <p:sp>
        <p:nvSpPr>
          <p:cNvPr id="6" name="Rectangle 5"/>
          <p:cNvSpPr/>
          <p:nvPr/>
        </p:nvSpPr>
        <p:spPr>
          <a:xfrm>
            <a:off x="762000" y="6380000"/>
            <a:ext cx="10668000" cy="9525"/>
          </a:xfrm>
          <a:prstGeom prst="rect">
            <a:avLst/>
          </a:prstGeom>
          <a:solidFill>
            <a:srgbClr val="E6DD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2000" y="6480000"/>
            <a:ext cx="4000000" cy="200000"/>
          </a:xfrm>
          <a:prstGeom prst="rect">
            <a:avLst/>
          </a:prstGeom>
          <a:noFill/>
        </p:spPr>
        <p:txBody>
          <a:bodyPr wrap="square" anchor="t" lIns="0" rIns="0" tIns="0" bIns="0">
            <a:spAutoFit/>
          </a:bodyPr>
          <a:lstStyle/>
          <a:p>
            <a:pPr algn="l">
              <a:lnSpc>
                <a:spcPct val="125000"/>
              </a:lnSpc>
            </a:pPr>
            <a:r>
              <a:rPr sz="800" b="0">
                <a:solidFill>
                  <a:srgbClr val="5F666B"/>
                </a:solidFill>
                <a:latin typeface="Noto Sans JP"/>
                <a:ea typeface="Noto Sans JP"/>
                <a:cs typeface="Noto Sans JP"/>
              </a:rPr>
              <a:t>© U-Writing All Rights Reserved.</a:t>
            </a:r>
          </a:p>
        </p:txBody>
      </p:sp>
      <p:sp>
        <p:nvSpPr>
          <p:cNvPr id="8" name="Rounded Rectangle 7"/>
          <p:cNvSpPr/>
          <p:nvPr/>
        </p:nvSpPr>
        <p:spPr>
          <a:xfrm>
            <a:off x="11010000" y="6430000"/>
            <a:ext cx="420000" cy="300000"/>
          </a:xfrm>
          <a:prstGeom prst="roundRect">
            <a:avLst/>
          </a:prstGeom>
          <a:solidFill>
            <a:srgbClr val="14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010000" y="6430000"/>
            <a:ext cx="420000" cy="300000"/>
          </a:xfrm>
          <a:prstGeom prst="rect">
            <a:avLst/>
          </a:prstGeom>
          <a:noFill/>
        </p:spPr>
        <p:txBody>
          <a:bodyPr wrap="square" anchor="ctr" lIns="0" rIns="0" tIns="0" bIns="0">
            <a:spAutoFit/>
          </a:bodyPr>
          <a:lstStyle/>
          <a:p>
            <a:pPr algn="ctr">
              <a:lnSpc>
                <a:spcPct val="125000"/>
              </a:lnSpc>
            </a:pPr>
            <a:r>
              <a:rPr sz="1100" b="1">
                <a:solidFill>
                  <a:srgbClr val="FFFFFF"/>
                </a:solidFill>
                <a:latin typeface="Noto Sans JP"/>
                <a:ea typeface="Noto Sans JP"/>
                <a:cs typeface="Noto Sans JP"/>
              </a:rPr>
              <a:t>27</a:t>
            </a:r>
          </a:p>
        </p:txBody>
      </p:sp>
      <p:sp>
        <p:nvSpPr>
          <p:cNvPr id="10" name="Rectangle 9"/>
          <p:cNvSpPr/>
          <p:nvPr/>
        </p:nvSpPr>
        <p:spPr>
          <a:xfrm>
            <a:off x="762000" y="2300000"/>
            <a:ext cx="3400000" cy="3850000"/>
          </a:xfrm>
          <a:prstGeom prst="rect">
            <a:avLst/>
          </a:prstGeom>
          <a:solidFill>
            <a:srgbClr val="F1E9DC"/>
          </a:solidFill>
          <a:ln w="12700">
            <a:solidFill>
              <a:srgbClr val="E6DD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12000" y="2530000"/>
            <a:ext cx="2900000" cy="300000"/>
          </a:xfrm>
          <a:prstGeom prst="rect">
            <a:avLst/>
          </a:prstGeom>
          <a:noFill/>
        </p:spPr>
        <p:txBody>
          <a:bodyPr wrap="square" anchor="t" lIns="0" rIns="0" tIns="0" bIns="0">
            <a:spAutoFit/>
          </a:bodyPr>
          <a:lstStyle/>
          <a:p>
            <a:pPr algn="l">
              <a:lnSpc>
                <a:spcPct val="125000"/>
              </a:lnSpc>
            </a:pPr>
            <a:r>
              <a:rPr sz="1100" b="1">
                <a:solidFill>
                  <a:srgbClr val="145F6B"/>
                </a:solidFill>
                <a:latin typeface="Noto Sans JP"/>
                <a:ea typeface="Noto Sans JP"/>
                <a:cs typeface="Noto Sans JP"/>
              </a:rPr>
              <a:t>STEP 1</a:t>
            </a:r>
          </a:p>
        </p:txBody>
      </p:sp>
      <p:sp>
        <p:nvSpPr>
          <p:cNvPr id="12" name="TextBox 11"/>
          <p:cNvSpPr txBox="1"/>
          <p:nvPr/>
        </p:nvSpPr>
        <p:spPr>
          <a:xfrm>
            <a:off x="1012000" y="2820000"/>
            <a:ext cx="2900000" cy="450000"/>
          </a:xfrm>
          <a:prstGeom prst="rect">
            <a:avLst/>
          </a:prstGeom>
          <a:noFill/>
        </p:spPr>
        <p:txBody>
          <a:bodyPr wrap="square" anchor="t" lIns="0" rIns="0" tIns="0" bIns="0">
            <a:spAutoFit/>
          </a:bodyPr>
          <a:lstStyle/>
          <a:p>
            <a:pPr algn="l">
              <a:lnSpc>
                <a:spcPct val="125000"/>
              </a:lnSpc>
            </a:pPr>
            <a:r>
              <a:rPr sz="2000" b="1">
                <a:solidFill>
                  <a:srgbClr val="2A2F33"/>
                </a:solidFill>
                <a:latin typeface="Noto Sans JP"/>
                <a:ea typeface="Noto Sans JP"/>
                <a:cs typeface="Noto Sans JP"/>
              </a:rPr>
              <a:t>相談プラン</a:t>
            </a:r>
          </a:p>
        </p:txBody>
      </p:sp>
      <p:sp>
        <p:nvSpPr>
          <p:cNvPr id="13" name="TextBox 12"/>
          <p:cNvSpPr txBox="1"/>
          <p:nvPr/>
        </p:nvSpPr>
        <p:spPr>
          <a:xfrm>
            <a:off x="1012000" y="3350000"/>
            <a:ext cx="2900000" cy="500000"/>
          </a:xfrm>
          <a:prstGeom prst="rect">
            <a:avLst/>
          </a:prstGeom>
          <a:noFill/>
        </p:spPr>
        <p:txBody>
          <a:bodyPr wrap="square" anchor="t" lIns="0" rIns="0" tIns="0" bIns="0">
            <a:spAutoFit/>
          </a:bodyPr>
          <a:lstStyle/>
          <a:p>
            <a:pPr algn="l">
              <a:lnSpc>
                <a:spcPct val="125000"/>
              </a:lnSpc>
            </a:pPr>
            <a:r>
              <a:rPr sz="1100" b="0">
                <a:solidFill>
                  <a:srgbClr val="5F666B"/>
                </a:solidFill>
                <a:latin typeface="Noto Sans JP"/>
                <a:ea typeface="Noto Sans JP"/>
                <a:cs typeface="Noto Sans JP"/>
              </a:rPr>
              <a:t>1回限り  </a:t>
            </a:r>
          </a:p>
        </p:txBody>
      </p:sp>
      <p:sp>
        <p:nvSpPr>
          <p:cNvPr id="14" name="TextBox 13"/>
          <p:cNvSpPr txBox="1"/>
          <p:nvPr/>
        </p:nvSpPr>
        <p:spPr>
          <a:xfrm>
            <a:off x="1662000" y="3260000"/>
            <a:ext cx="2250000" cy="500000"/>
          </a:xfrm>
          <a:prstGeom prst="rect">
            <a:avLst/>
          </a:prstGeom>
          <a:noFill/>
        </p:spPr>
        <p:txBody>
          <a:bodyPr wrap="square" anchor="t" lIns="0" rIns="0" tIns="0" bIns="0">
            <a:spAutoFit/>
          </a:bodyPr>
          <a:lstStyle/>
          <a:p>
            <a:pPr algn="l">
              <a:lnSpc>
                <a:spcPct val="125000"/>
              </a:lnSpc>
            </a:pPr>
            <a:r>
              <a:rPr sz="2000" b="1">
                <a:solidFill>
                  <a:srgbClr val="D9764A"/>
                </a:solidFill>
                <a:latin typeface="Noto Sans JP"/>
                <a:ea typeface="Noto Sans JP"/>
                <a:cs typeface="Noto Sans JP"/>
              </a:rPr>
              <a:t>14,800円〜</a:t>
            </a:r>
          </a:p>
        </p:txBody>
      </p:sp>
      <p:sp>
        <p:nvSpPr>
          <p:cNvPr id="15" name="TextBox 14"/>
          <p:cNvSpPr txBox="1"/>
          <p:nvPr/>
        </p:nvSpPr>
        <p:spPr>
          <a:xfrm>
            <a:off x="1012000" y="3900000"/>
            <a:ext cx="2900000" cy="1700000"/>
          </a:xfrm>
          <a:prstGeom prst="rect">
            <a:avLst/>
          </a:prstGeom>
          <a:noFill/>
        </p:spPr>
        <p:txBody>
          <a:bodyPr wrap="square" anchor="t" lIns="0" rIns="0" tIns="0" bIns="0">
            <a:spAutoFit/>
          </a:bodyPr>
          <a:lstStyle/>
          <a:p>
            <a:pPr algn="l">
              <a:lnSpc>
                <a:spcPct val="150000"/>
              </a:lnSpc>
            </a:pPr>
            <a:r>
              <a:rPr sz="1200" b="0">
                <a:solidFill>
                  <a:srgbClr val="2A2F33"/>
                </a:solidFill>
                <a:latin typeface="Noto Sans JP"/>
                <a:ea typeface="Noto Sans JP"/>
                <a:cs typeface="Noto Sans JP"/>
              </a:rPr>
              <a:t>・最大2時間のZoom相談</a:t>
            </a:r>
          </a:p>
          <a:p>
            <a:pPr algn="l">
              <a:lnSpc>
                <a:spcPct val="150000"/>
              </a:lnSpc>
            </a:pPr>
            <a:r>
              <a:rPr sz="1200" b="0">
                <a:solidFill>
                  <a:srgbClr val="2A2F33"/>
                </a:solidFill>
                <a:latin typeface="Noto Sans JP"/>
                <a:ea typeface="Noto Sans JP"/>
                <a:cs typeface="Noto Sans JP"/>
              </a:rPr>
              <a:t>・現状の広告物を添削</a:t>
            </a:r>
          </a:p>
          <a:p>
            <a:pPr algn="l">
              <a:lnSpc>
                <a:spcPct val="150000"/>
              </a:lnSpc>
            </a:pPr>
            <a:r>
              <a:rPr sz="1200" b="0">
                <a:solidFill>
                  <a:srgbClr val="2A2F33"/>
                </a:solidFill>
                <a:latin typeface="Noto Sans JP"/>
                <a:ea typeface="Noto Sans JP"/>
                <a:cs typeface="Noto Sans JP"/>
              </a:rPr>
              <a:t>・まず何から手をつけるか、優先順位をご提案</a:t>
            </a:r>
          </a:p>
        </p:txBody>
      </p:sp>
      <p:sp>
        <p:nvSpPr>
          <p:cNvPr id="16" name="TextBox 15"/>
          <p:cNvSpPr txBox="1"/>
          <p:nvPr/>
        </p:nvSpPr>
        <p:spPr>
          <a:xfrm>
            <a:off x="1012000" y="5700000"/>
            <a:ext cx="2900000" cy="300000"/>
          </a:xfrm>
          <a:prstGeom prst="rect">
            <a:avLst/>
          </a:prstGeom>
          <a:noFill/>
        </p:spPr>
        <p:txBody>
          <a:bodyPr wrap="square" anchor="t" lIns="0" rIns="0" tIns="0" bIns="0">
            <a:spAutoFit/>
          </a:bodyPr>
          <a:lstStyle/>
          <a:p>
            <a:pPr algn="l">
              <a:lnSpc>
                <a:spcPct val="125000"/>
              </a:lnSpc>
            </a:pPr>
            <a:r>
              <a:rPr sz="1100" b="1">
                <a:solidFill>
                  <a:srgbClr val="5F666B"/>
                </a:solidFill>
                <a:latin typeface="Noto Sans JP"/>
                <a:ea typeface="Noto Sans JP"/>
                <a:cs typeface="Noto Sans JP"/>
              </a:rPr>
              <a:t>→ まず1回、現状を整理したい方</a:t>
            </a:r>
          </a:p>
        </p:txBody>
      </p:sp>
      <p:sp>
        <p:nvSpPr>
          <p:cNvPr id="17" name="Rectangle 16"/>
          <p:cNvSpPr/>
          <p:nvPr/>
        </p:nvSpPr>
        <p:spPr>
          <a:xfrm>
            <a:off x="4396000" y="2050000"/>
            <a:ext cx="3400000" cy="4100000"/>
          </a:xfrm>
          <a:prstGeom prst="rect">
            <a:avLst/>
          </a:prstGeom>
          <a:solidFill>
            <a:srgbClr val="F1E9DC"/>
          </a:solidFill>
          <a:ln w="12700">
            <a:solidFill>
              <a:srgbClr val="E6DD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46000" y="2280000"/>
            <a:ext cx="2900000" cy="300000"/>
          </a:xfrm>
          <a:prstGeom prst="rect">
            <a:avLst/>
          </a:prstGeom>
          <a:noFill/>
        </p:spPr>
        <p:txBody>
          <a:bodyPr wrap="square" anchor="t" lIns="0" rIns="0" tIns="0" bIns="0">
            <a:spAutoFit/>
          </a:bodyPr>
          <a:lstStyle/>
          <a:p>
            <a:pPr algn="l">
              <a:lnSpc>
                <a:spcPct val="125000"/>
              </a:lnSpc>
            </a:pPr>
            <a:r>
              <a:rPr sz="1100" b="1">
                <a:solidFill>
                  <a:srgbClr val="145F6B"/>
                </a:solidFill>
                <a:latin typeface="Noto Sans JP"/>
                <a:ea typeface="Noto Sans JP"/>
                <a:cs typeface="Noto Sans JP"/>
              </a:rPr>
              <a:t>STEP 2</a:t>
            </a:r>
          </a:p>
        </p:txBody>
      </p:sp>
      <p:sp>
        <p:nvSpPr>
          <p:cNvPr id="19" name="TextBox 18"/>
          <p:cNvSpPr txBox="1"/>
          <p:nvPr/>
        </p:nvSpPr>
        <p:spPr>
          <a:xfrm>
            <a:off x="4646000" y="2570000"/>
            <a:ext cx="2900000" cy="450000"/>
          </a:xfrm>
          <a:prstGeom prst="rect">
            <a:avLst/>
          </a:prstGeom>
          <a:noFill/>
        </p:spPr>
        <p:txBody>
          <a:bodyPr wrap="square" anchor="t" lIns="0" rIns="0" tIns="0" bIns="0">
            <a:spAutoFit/>
          </a:bodyPr>
          <a:lstStyle/>
          <a:p>
            <a:pPr algn="l">
              <a:lnSpc>
                <a:spcPct val="125000"/>
              </a:lnSpc>
            </a:pPr>
            <a:r>
              <a:rPr sz="2000" b="1">
                <a:solidFill>
                  <a:srgbClr val="2A2F33"/>
                </a:solidFill>
                <a:latin typeface="Noto Sans JP"/>
                <a:ea typeface="Noto Sans JP"/>
                <a:cs typeface="Noto Sans JP"/>
              </a:rPr>
              <a:t>提案プラン</a:t>
            </a:r>
          </a:p>
        </p:txBody>
      </p:sp>
      <p:sp>
        <p:nvSpPr>
          <p:cNvPr id="20" name="TextBox 19"/>
          <p:cNvSpPr txBox="1"/>
          <p:nvPr/>
        </p:nvSpPr>
        <p:spPr>
          <a:xfrm>
            <a:off x="4646000" y="3100000"/>
            <a:ext cx="2900000" cy="500000"/>
          </a:xfrm>
          <a:prstGeom prst="rect">
            <a:avLst/>
          </a:prstGeom>
          <a:noFill/>
        </p:spPr>
        <p:txBody>
          <a:bodyPr wrap="square" anchor="t" lIns="0" rIns="0" tIns="0" bIns="0">
            <a:spAutoFit/>
          </a:bodyPr>
          <a:lstStyle/>
          <a:p>
            <a:pPr algn="l">
              <a:lnSpc>
                <a:spcPct val="125000"/>
              </a:lnSpc>
            </a:pPr>
            <a:r>
              <a:rPr sz="1100" b="0">
                <a:solidFill>
                  <a:srgbClr val="5F666B"/>
                </a:solidFill>
                <a:latin typeface="Noto Sans JP"/>
                <a:ea typeface="Noto Sans JP"/>
                <a:cs typeface="Noto Sans JP"/>
              </a:rPr>
              <a:t>単発  </a:t>
            </a:r>
          </a:p>
        </p:txBody>
      </p:sp>
      <p:sp>
        <p:nvSpPr>
          <p:cNvPr id="21" name="TextBox 20"/>
          <p:cNvSpPr txBox="1"/>
          <p:nvPr/>
        </p:nvSpPr>
        <p:spPr>
          <a:xfrm>
            <a:off x="5296000" y="3010000"/>
            <a:ext cx="2250000" cy="500000"/>
          </a:xfrm>
          <a:prstGeom prst="rect">
            <a:avLst/>
          </a:prstGeom>
          <a:noFill/>
        </p:spPr>
        <p:txBody>
          <a:bodyPr wrap="square" anchor="t" lIns="0" rIns="0" tIns="0" bIns="0">
            <a:spAutoFit/>
          </a:bodyPr>
          <a:lstStyle/>
          <a:p>
            <a:pPr algn="l">
              <a:lnSpc>
                <a:spcPct val="125000"/>
              </a:lnSpc>
            </a:pPr>
            <a:r>
              <a:rPr sz="2000" b="1">
                <a:solidFill>
                  <a:srgbClr val="D9764A"/>
                </a:solidFill>
                <a:latin typeface="Noto Sans JP"/>
                <a:ea typeface="Noto Sans JP"/>
                <a:cs typeface="Noto Sans JP"/>
              </a:rPr>
              <a:t>49,800円〜</a:t>
            </a:r>
          </a:p>
        </p:txBody>
      </p:sp>
      <p:sp>
        <p:nvSpPr>
          <p:cNvPr id="22" name="TextBox 21"/>
          <p:cNvSpPr txBox="1"/>
          <p:nvPr/>
        </p:nvSpPr>
        <p:spPr>
          <a:xfrm>
            <a:off x="4646000" y="3650000"/>
            <a:ext cx="2900000" cy="1700000"/>
          </a:xfrm>
          <a:prstGeom prst="rect">
            <a:avLst/>
          </a:prstGeom>
          <a:noFill/>
        </p:spPr>
        <p:txBody>
          <a:bodyPr wrap="square" anchor="t" lIns="0" rIns="0" tIns="0" bIns="0">
            <a:spAutoFit/>
          </a:bodyPr>
          <a:lstStyle/>
          <a:p>
            <a:pPr algn="l">
              <a:lnSpc>
                <a:spcPct val="150000"/>
              </a:lnSpc>
            </a:pPr>
            <a:r>
              <a:rPr sz="1200" b="0">
                <a:solidFill>
                  <a:srgbClr val="2A2F33"/>
                </a:solidFill>
                <a:latin typeface="Noto Sans JP"/>
                <a:ea typeface="Noto Sans JP"/>
                <a:cs typeface="Noto Sans JP"/>
              </a:rPr>
              <a:t>・現状分析・競合リサーチ</a:t>
            </a:r>
          </a:p>
          <a:p>
            <a:pPr algn="l">
              <a:lnSpc>
                <a:spcPct val="150000"/>
              </a:lnSpc>
            </a:pPr>
            <a:r>
              <a:rPr sz="1200" b="0">
                <a:solidFill>
                  <a:srgbClr val="2A2F33"/>
                </a:solidFill>
                <a:latin typeface="Noto Sans JP"/>
                <a:ea typeface="Noto Sans JP"/>
                <a:cs typeface="Noto Sans JP"/>
              </a:rPr>
              <a:t>・具体的な施策の提案書を作成</a:t>
            </a:r>
          </a:p>
          <a:p>
            <a:pPr algn="l">
              <a:lnSpc>
                <a:spcPct val="150000"/>
              </a:lnSpc>
            </a:pPr>
            <a:r>
              <a:rPr sz="1200" b="0">
                <a:solidFill>
                  <a:srgbClr val="2A2F33"/>
                </a:solidFill>
                <a:latin typeface="Noto Sans JP"/>
                <a:ea typeface="Noto Sans JP"/>
                <a:cs typeface="Noto Sans JP"/>
              </a:rPr>
              <a:t>・提案プレゼン・質疑応答</a:t>
            </a:r>
          </a:p>
        </p:txBody>
      </p:sp>
      <p:sp>
        <p:nvSpPr>
          <p:cNvPr id="23" name="TextBox 22"/>
          <p:cNvSpPr txBox="1"/>
          <p:nvPr/>
        </p:nvSpPr>
        <p:spPr>
          <a:xfrm>
            <a:off x="4646000" y="5700000"/>
            <a:ext cx="2900000" cy="300000"/>
          </a:xfrm>
          <a:prstGeom prst="rect">
            <a:avLst/>
          </a:prstGeom>
          <a:noFill/>
        </p:spPr>
        <p:txBody>
          <a:bodyPr wrap="square" anchor="t" lIns="0" rIns="0" tIns="0" bIns="0">
            <a:spAutoFit/>
          </a:bodyPr>
          <a:lstStyle/>
          <a:p>
            <a:pPr algn="l">
              <a:lnSpc>
                <a:spcPct val="125000"/>
              </a:lnSpc>
            </a:pPr>
            <a:r>
              <a:rPr sz="1100" b="1">
                <a:solidFill>
                  <a:srgbClr val="5F666B"/>
                </a:solidFill>
                <a:latin typeface="Noto Sans JP"/>
                <a:ea typeface="Noto Sans JP"/>
                <a:cs typeface="Noto Sans JP"/>
              </a:rPr>
              <a:t>→ 集客の方向性を資料で欲しい方</a:t>
            </a:r>
          </a:p>
        </p:txBody>
      </p:sp>
      <p:sp>
        <p:nvSpPr>
          <p:cNvPr id="24" name="Rectangle 23"/>
          <p:cNvSpPr/>
          <p:nvPr/>
        </p:nvSpPr>
        <p:spPr>
          <a:xfrm>
            <a:off x="8030000" y="1800000"/>
            <a:ext cx="3400000" cy="4350000"/>
          </a:xfrm>
          <a:prstGeom prst="rect">
            <a:avLst/>
          </a:prstGeom>
          <a:solidFill>
            <a:srgbClr val="FFFFFF"/>
          </a:solidFill>
          <a:ln w="19050">
            <a:solidFill>
              <a:srgbClr val="145F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280000" y="2030000"/>
            <a:ext cx="2900000" cy="300000"/>
          </a:xfrm>
          <a:prstGeom prst="rect">
            <a:avLst/>
          </a:prstGeom>
          <a:noFill/>
        </p:spPr>
        <p:txBody>
          <a:bodyPr wrap="square" anchor="t" lIns="0" rIns="0" tIns="0" bIns="0">
            <a:spAutoFit/>
          </a:bodyPr>
          <a:lstStyle/>
          <a:p>
            <a:pPr algn="l">
              <a:lnSpc>
                <a:spcPct val="125000"/>
              </a:lnSpc>
            </a:pPr>
            <a:r>
              <a:rPr sz="1100" b="1">
                <a:solidFill>
                  <a:srgbClr val="145F6B"/>
                </a:solidFill>
                <a:latin typeface="Noto Sans JP"/>
                <a:ea typeface="Noto Sans JP"/>
                <a:cs typeface="Noto Sans JP"/>
              </a:rPr>
              <a:t>STEP 3</a:t>
            </a:r>
          </a:p>
        </p:txBody>
      </p:sp>
      <p:sp>
        <p:nvSpPr>
          <p:cNvPr id="26" name="TextBox 25"/>
          <p:cNvSpPr txBox="1"/>
          <p:nvPr/>
        </p:nvSpPr>
        <p:spPr>
          <a:xfrm>
            <a:off x="8280000" y="2320000"/>
            <a:ext cx="2900000" cy="450000"/>
          </a:xfrm>
          <a:prstGeom prst="rect">
            <a:avLst/>
          </a:prstGeom>
          <a:noFill/>
        </p:spPr>
        <p:txBody>
          <a:bodyPr wrap="square" anchor="t" lIns="0" rIns="0" tIns="0" bIns="0">
            <a:spAutoFit/>
          </a:bodyPr>
          <a:lstStyle/>
          <a:p>
            <a:pPr algn="l">
              <a:lnSpc>
                <a:spcPct val="125000"/>
              </a:lnSpc>
            </a:pPr>
            <a:r>
              <a:rPr sz="2000" b="1">
                <a:solidFill>
                  <a:srgbClr val="2A2F33"/>
                </a:solidFill>
                <a:latin typeface="Noto Sans JP"/>
                <a:ea typeface="Noto Sans JP"/>
                <a:cs typeface="Noto Sans JP"/>
              </a:rPr>
              <a:t>顧問プラン</a:t>
            </a:r>
          </a:p>
        </p:txBody>
      </p:sp>
      <p:sp>
        <p:nvSpPr>
          <p:cNvPr id="27" name="TextBox 26"/>
          <p:cNvSpPr txBox="1"/>
          <p:nvPr/>
        </p:nvSpPr>
        <p:spPr>
          <a:xfrm>
            <a:off x="8280000" y="2850000"/>
            <a:ext cx="2900000" cy="500000"/>
          </a:xfrm>
          <a:prstGeom prst="rect">
            <a:avLst/>
          </a:prstGeom>
          <a:noFill/>
        </p:spPr>
        <p:txBody>
          <a:bodyPr wrap="square" anchor="t" lIns="0" rIns="0" tIns="0" bIns="0">
            <a:spAutoFit/>
          </a:bodyPr>
          <a:lstStyle/>
          <a:p>
            <a:pPr algn="l">
              <a:lnSpc>
                <a:spcPct val="125000"/>
              </a:lnSpc>
            </a:pPr>
            <a:r>
              <a:rPr sz="1100" b="0">
                <a:solidFill>
                  <a:srgbClr val="5F666B"/>
                </a:solidFill>
                <a:latin typeface="Noto Sans JP"/>
                <a:ea typeface="Noto Sans JP"/>
                <a:cs typeface="Noto Sans JP"/>
              </a:rPr>
              <a:t>月額  </a:t>
            </a:r>
          </a:p>
        </p:txBody>
      </p:sp>
      <p:sp>
        <p:nvSpPr>
          <p:cNvPr id="28" name="TextBox 27"/>
          <p:cNvSpPr txBox="1"/>
          <p:nvPr/>
        </p:nvSpPr>
        <p:spPr>
          <a:xfrm>
            <a:off x="8930000" y="2760000"/>
            <a:ext cx="2250000" cy="500000"/>
          </a:xfrm>
          <a:prstGeom prst="rect">
            <a:avLst/>
          </a:prstGeom>
          <a:noFill/>
        </p:spPr>
        <p:txBody>
          <a:bodyPr wrap="square" anchor="t" lIns="0" rIns="0" tIns="0" bIns="0">
            <a:spAutoFit/>
          </a:bodyPr>
          <a:lstStyle/>
          <a:p>
            <a:pPr algn="l">
              <a:lnSpc>
                <a:spcPct val="125000"/>
              </a:lnSpc>
            </a:pPr>
            <a:r>
              <a:rPr sz="2000" b="1">
                <a:solidFill>
                  <a:srgbClr val="D9764A"/>
                </a:solidFill>
                <a:latin typeface="Noto Sans JP"/>
                <a:ea typeface="Noto Sans JP"/>
                <a:cs typeface="Noto Sans JP"/>
              </a:rPr>
              <a:t>49,800円〜</a:t>
            </a:r>
          </a:p>
        </p:txBody>
      </p:sp>
      <p:sp>
        <p:nvSpPr>
          <p:cNvPr id="29" name="TextBox 28"/>
          <p:cNvSpPr txBox="1"/>
          <p:nvPr/>
        </p:nvSpPr>
        <p:spPr>
          <a:xfrm>
            <a:off x="8280000" y="3400000"/>
            <a:ext cx="2900000" cy="1700000"/>
          </a:xfrm>
          <a:prstGeom prst="rect">
            <a:avLst/>
          </a:prstGeom>
          <a:noFill/>
        </p:spPr>
        <p:txBody>
          <a:bodyPr wrap="square" anchor="t" lIns="0" rIns="0" tIns="0" bIns="0">
            <a:spAutoFit/>
          </a:bodyPr>
          <a:lstStyle/>
          <a:p>
            <a:pPr algn="l">
              <a:lnSpc>
                <a:spcPct val="150000"/>
              </a:lnSpc>
            </a:pPr>
            <a:r>
              <a:rPr sz="1200" b="0">
                <a:solidFill>
                  <a:srgbClr val="2A2F33"/>
                </a:solidFill>
                <a:latin typeface="Noto Sans JP"/>
                <a:ea typeface="Noto Sans JP"/>
                <a:cs typeface="Noto Sans JP"/>
              </a:rPr>
              <a:t>・月最大4時間のZoom相談</a:t>
            </a:r>
          </a:p>
          <a:p>
            <a:pPr algn="l">
              <a:lnSpc>
                <a:spcPct val="150000"/>
              </a:lnSpc>
            </a:pPr>
            <a:r>
              <a:rPr sz="1200" b="0">
                <a:solidFill>
                  <a:srgbClr val="2A2F33"/>
                </a:solidFill>
                <a:latin typeface="Noto Sans JP"/>
                <a:ea typeface="Noto Sans JP"/>
                <a:cs typeface="Noto Sans JP"/>
              </a:rPr>
              <a:t>・制作物への添削・アドバイス</a:t>
            </a:r>
          </a:p>
          <a:p>
            <a:pPr algn="l">
              <a:lnSpc>
                <a:spcPct val="150000"/>
              </a:lnSpc>
            </a:pPr>
            <a:r>
              <a:rPr sz="1200" b="0">
                <a:solidFill>
                  <a:srgbClr val="2A2F33"/>
                </a:solidFill>
                <a:latin typeface="Noto Sans JP"/>
                <a:ea typeface="Noto Sans JP"/>
                <a:cs typeface="Noto Sans JP"/>
              </a:rPr>
              <a:t>・施策の分析・仮説検証</a:t>
            </a:r>
          </a:p>
          <a:p>
            <a:pPr algn="l">
              <a:lnSpc>
                <a:spcPct val="150000"/>
              </a:lnSpc>
            </a:pPr>
            <a:r>
              <a:rPr sz="1200" b="0">
                <a:solidFill>
                  <a:srgbClr val="2A2F33"/>
                </a:solidFill>
                <a:latin typeface="Noto Sans JP"/>
                <a:ea typeface="Noto Sans JP"/>
                <a:cs typeface="Noto Sans JP"/>
              </a:rPr>
              <a:t>・カワリミ 20%OFF</a:t>
            </a:r>
          </a:p>
        </p:txBody>
      </p:sp>
      <p:sp>
        <p:nvSpPr>
          <p:cNvPr id="30" name="TextBox 29"/>
          <p:cNvSpPr txBox="1"/>
          <p:nvPr/>
        </p:nvSpPr>
        <p:spPr>
          <a:xfrm>
            <a:off x="8280000" y="5700000"/>
            <a:ext cx="2900000" cy="300000"/>
          </a:xfrm>
          <a:prstGeom prst="rect">
            <a:avLst/>
          </a:prstGeom>
          <a:noFill/>
        </p:spPr>
        <p:txBody>
          <a:bodyPr wrap="square" anchor="t" lIns="0" rIns="0" tIns="0" bIns="0">
            <a:spAutoFit/>
          </a:bodyPr>
          <a:lstStyle/>
          <a:p>
            <a:pPr algn="l">
              <a:lnSpc>
                <a:spcPct val="125000"/>
              </a:lnSpc>
            </a:pPr>
            <a:r>
              <a:rPr sz="1100" b="1">
                <a:solidFill>
                  <a:srgbClr val="5F666B"/>
                </a:solidFill>
                <a:latin typeface="Noto Sans JP"/>
                <a:ea typeface="Noto Sans JP"/>
                <a:cs typeface="Noto Sans JP"/>
              </a:rPr>
              <a:t>→ 継続して伴走してほしい方</a:t>
            </a:r>
          </a:p>
        </p:txBody>
      </p:sp>
      <p:sp>
        <p:nvSpPr>
          <p:cNvPr id="31" name="TextBox 30"/>
          <p:cNvSpPr txBox="1"/>
          <p:nvPr/>
        </p:nvSpPr>
        <p:spPr>
          <a:xfrm>
            <a:off x="762000" y="1600000"/>
            <a:ext cx="5000000" cy="400000"/>
          </a:xfrm>
          <a:prstGeom prst="rect">
            <a:avLst/>
          </a:prstGeom>
          <a:noFill/>
        </p:spPr>
        <p:txBody>
          <a:bodyPr wrap="square" anchor="t" lIns="0" rIns="0" tIns="0" bIns="0">
            <a:spAutoFit/>
          </a:bodyPr>
          <a:lstStyle/>
          <a:p>
            <a:pPr algn="l">
              <a:lnSpc>
                <a:spcPct val="125000"/>
              </a:lnSpc>
            </a:pPr>
            <a:r>
              <a:rPr sz="1400" b="1">
                <a:solidFill>
                  <a:srgbClr val="2A2F33"/>
                </a:solidFill>
                <a:latin typeface="Noto Sans JP"/>
                <a:ea typeface="Noto Sans JP"/>
                <a:cs typeface="Noto Sans JP"/>
              </a:rPr>
              <a:t>小さく始めて、必要なら次へ。</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